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40"/>
  </p:notesMasterIdLst>
  <p:handoutMasterIdLst>
    <p:handoutMasterId r:id="rId41"/>
  </p:handoutMasterIdLst>
  <p:sldIdLst>
    <p:sldId id="314" r:id="rId2"/>
    <p:sldId id="261" r:id="rId3"/>
    <p:sldId id="320" r:id="rId4"/>
    <p:sldId id="321" r:id="rId5"/>
    <p:sldId id="323" r:id="rId6"/>
    <p:sldId id="324" r:id="rId7"/>
    <p:sldId id="325" r:id="rId8"/>
    <p:sldId id="315" r:id="rId9"/>
    <p:sldId id="353" r:id="rId10"/>
    <p:sldId id="354" r:id="rId11"/>
    <p:sldId id="355" r:id="rId12"/>
    <p:sldId id="318" r:id="rId13"/>
    <p:sldId id="319" r:id="rId14"/>
    <p:sldId id="356" r:id="rId15"/>
    <p:sldId id="326" r:id="rId16"/>
    <p:sldId id="327" r:id="rId17"/>
    <p:sldId id="328" r:id="rId18"/>
    <p:sldId id="330" r:id="rId19"/>
    <p:sldId id="332" r:id="rId20"/>
    <p:sldId id="333" r:id="rId21"/>
    <p:sldId id="334" r:id="rId22"/>
    <p:sldId id="335" r:id="rId23"/>
    <p:sldId id="337" r:id="rId24"/>
    <p:sldId id="338" r:id="rId25"/>
    <p:sldId id="357" r:id="rId26"/>
    <p:sldId id="358" r:id="rId27"/>
    <p:sldId id="359" r:id="rId28"/>
    <p:sldId id="310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60" r:id="rId37"/>
    <p:sldId id="311" r:id="rId38"/>
    <p:sldId id="308" r:id="rId39"/>
  </p:sldIdLst>
  <p:sldSz cx="12192000" cy="6858000"/>
  <p:notesSz cx="6858000" cy="9144000"/>
  <p:embeddedFontLst>
    <p:embeddedFont>
      <p:font typeface="Impact" panose="020B0806030902050204" pitchFamily="34" charset="0"/>
      <p:regular r:id="rId42"/>
    </p:embeddedFont>
    <p:embeddedFont>
      <p:font typeface="나눔스퀘어 Bold" panose="020B0600000101010101" pitchFamily="50" charset="-127"/>
      <p:bold r:id="rId43"/>
    </p:embeddedFont>
    <p:embeddedFont>
      <p:font typeface="나눔바른고딕" panose="020B0603020101020101" pitchFamily="50" charset="-127"/>
      <p:regular r:id="rId44"/>
      <p:bold r:id="rId45"/>
    </p:embeddedFont>
    <p:embeddedFont>
      <p:font typeface="스웨거 TTF" panose="020B0600000101010101" pitchFamily="50" charset="-127"/>
      <p:regular r:id="rId46"/>
    </p:embeddedFont>
    <p:embeddedFont>
      <p:font typeface="맑은 고딕" panose="020B0503020000020004" pitchFamily="50" charset="-127"/>
      <p:regular r:id="rId47"/>
      <p:bold r:id="rId4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A8CF"/>
    <a:srgbClr val="3AA8D8"/>
    <a:srgbClr val="163E94"/>
    <a:srgbClr val="4DAED7"/>
    <a:srgbClr val="4EB4E1"/>
    <a:srgbClr val="FBFBFB"/>
    <a:srgbClr val="95D5E1"/>
    <a:srgbClr val="36AAD9"/>
    <a:srgbClr val="173F9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29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10251" y="2852777"/>
            <a:ext cx="63678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1. </a:t>
            </a:r>
            <a:r>
              <a:rPr lang="ko-KR" altLang="en-US" sz="6600" b="1" spc="-300" dirty="0" err="1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머신러닝이란</a:t>
            </a:r>
            <a:r>
              <a:rPr lang="ko-KR" altLang="en-US" sz="66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무엇인가</a:t>
            </a:r>
            <a:r>
              <a:rPr lang="en-US" altLang="ko-KR" sz="66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?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9" y="2037694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기본 개념과 특징을 살펴봅니다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2014682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3154574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분류를 살펴봅니다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3135145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2567078" y="424106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머신러닝을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위한 개발 환경을 구성합니다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1986130" y="4255609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1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2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9906000" y="2014682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906001" y="3151036"/>
            <a:ext cx="336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8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753714" y="4241067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15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머신러닝이란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70911" y="1889189"/>
            <a:ext cx="9149833" cy="332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데이터로부터 학습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하도록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4EB4E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컴퓨터를 프로그래밍하는 과학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4EB4E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명시적인 프로그래밍 없이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컴퓨터가 스스로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학습하는 능력을 갖게 하는 연구 분야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– Arthur Samuel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과거 경험에서 학습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을 통해 얻은 지식을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미래의 결정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이용하는 컴퓨터 과학의 한 분야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4EB4E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관측된 패턴을 일반화하거나 주어진 샘플을 통해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새로운 규칙을 생성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하는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목표를 가짐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12029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163E94"/>
                </a:solidFill>
              </a:rPr>
              <a:t>전통적인 접근방법</a:t>
            </a:r>
            <a:endParaRPr lang="ko-KR" altLang="en-US" dirty="0">
              <a:solidFill>
                <a:srgbClr val="163E94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372500" y="3671455"/>
            <a:ext cx="1968843" cy="83127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문제 연구</a:t>
            </a:r>
            <a:endParaRPr lang="ko-KR" altLang="en-US" sz="28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81601" y="3671454"/>
            <a:ext cx="1968843" cy="831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규칙 작성</a:t>
            </a:r>
            <a:endParaRPr lang="ko-KR" altLang="en-US" sz="28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81600" y="5140036"/>
            <a:ext cx="1968843" cy="87745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오차 분석</a:t>
            </a:r>
            <a:endParaRPr lang="ko-KR" altLang="en-US" sz="28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8" name="순서도: 판단 7"/>
          <p:cNvSpPr/>
          <p:nvPr/>
        </p:nvSpPr>
        <p:spPr>
          <a:xfrm>
            <a:off x="7990702" y="3671451"/>
            <a:ext cx="1968843" cy="831275"/>
          </a:xfrm>
          <a:prstGeom prst="flowChartDecision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평가</a:t>
            </a:r>
            <a:endParaRPr lang="ko-KR" altLang="en-US" sz="280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990701" y="1883288"/>
            <a:ext cx="1968843" cy="85487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배치</a:t>
            </a:r>
            <a:endParaRPr lang="ko-KR" altLang="en-US" sz="28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11" name="직선 화살표 연결선 10"/>
          <p:cNvCxnSpPr>
            <a:stCxn id="5" idx="3"/>
            <a:endCxn id="6" idx="1"/>
          </p:cNvCxnSpPr>
          <p:nvPr/>
        </p:nvCxnSpPr>
        <p:spPr>
          <a:xfrm flipV="1">
            <a:off x="4341343" y="4087091"/>
            <a:ext cx="840258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6" idx="3"/>
            <a:endCxn id="8" idx="1"/>
          </p:cNvCxnSpPr>
          <p:nvPr/>
        </p:nvCxnSpPr>
        <p:spPr>
          <a:xfrm flipV="1">
            <a:off x="7150444" y="4087089"/>
            <a:ext cx="840258" cy="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8" idx="0"/>
            <a:endCxn id="9" idx="2"/>
          </p:cNvCxnSpPr>
          <p:nvPr/>
        </p:nvCxnSpPr>
        <p:spPr>
          <a:xfrm flipH="1" flipV="1">
            <a:off x="8975123" y="2738167"/>
            <a:ext cx="1" cy="93328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8" idx="2"/>
            <a:endCxn id="7" idx="3"/>
          </p:cNvCxnSpPr>
          <p:nvPr/>
        </p:nvCxnSpPr>
        <p:spPr>
          <a:xfrm rot="5400000">
            <a:off x="7524765" y="4128405"/>
            <a:ext cx="1076038" cy="1824681"/>
          </a:xfrm>
          <a:prstGeom prst="bentConnector2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7" idx="1"/>
            <a:endCxn id="5" idx="2"/>
          </p:cNvCxnSpPr>
          <p:nvPr/>
        </p:nvCxnSpPr>
        <p:spPr>
          <a:xfrm rot="10800000">
            <a:off x="3356922" y="4502730"/>
            <a:ext cx="1824678" cy="1076035"/>
          </a:xfrm>
          <a:prstGeom prst="bentConnector2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9067616" y="3296439"/>
            <a:ext cx="594620" cy="416930"/>
          </a:xfrm>
          <a:prstGeom prst="rect">
            <a:avLst/>
          </a:prstGeom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Yes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067616" y="4784230"/>
            <a:ext cx="594620" cy="416930"/>
          </a:xfrm>
          <a:prstGeom prst="rect">
            <a:avLst/>
          </a:prstGeom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990701" y="5814315"/>
            <a:ext cx="1789403" cy="59572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길고 복잡해지는 규칙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높아지는 비용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오른쪽 화살표 3"/>
          <p:cNvSpPr/>
          <p:nvPr/>
        </p:nvSpPr>
        <p:spPr>
          <a:xfrm>
            <a:off x="7251700" y="6217600"/>
            <a:ext cx="622300" cy="145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4846061" y="4560717"/>
            <a:ext cx="2639920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예시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스팸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메일 필터 작성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(if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문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5334650" y="6103113"/>
            <a:ext cx="1701150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오차 발생 문제 반복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1474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>
                <a:solidFill>
                  <a:srgbClr val="163E94"/>
                </a:solidFill>
              </a:rPr>
              <a:t>머신러닝</a:t>
            </a:r>
            <a:r>
              <a:rPr lang="ko-KR" altLang="en-US" dirty="0" smtClean="0">
                <a:solidFill>
                  <a:srgbClr val="163E94"/>
                </a:solidFill>
              </a:rPr>
              <a:t> 접근방법</a:t>
            </a:r>
            <a:endParaRPr lang="ko-KR" altLang="en-US" dirty="0">
              <a:solidFill>
                <a:srgbClr val="163E94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372500" y="4027055"/>
            <a:ext cx="1968843" cy="83127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문제 연구</a:t>
            </a:r>
            <a:endParaRPr lang="ko-KR" altLang="en-US" sz="28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81601" y="4027054"/>
            <a:ext cx="1968843" cy="831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err="1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</a:t>
            </a:r>
            <a:r>
              <a:rPr lang="ko-KR" altLang="en-US" sz="28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훈련</a:t>
            </a:r>
            <a:endParaRPr lang="ko-KR" altLang="en-US" sz="28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81600" y="5495636"/>
            <a:ext cx="1968843" cy="87745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오차 분석</a:t>
            </a:r>
            <a:endParaRPr lang="ko-KR" altLang="en-US" sz="28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8" name="순서도: 판단 7"/>
          <p:cNvSpPr/>
          <p:nvPr/>
        </p:nvSpPr>
        <p:spPr>
          <a:xfrm>
            <a:off x="7990702" y="4027051"/>
            <a:ext cx="1968843" cy="831275"/>
          </a:xfrm>
          <a:prstGeom prst="flowChartDecision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평가</a:t>
            </a:r>
            <a:endParaRPr lang="ko-KR" altLang="en-US" sz="280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7990701" y="2238888"/>
            <a:ext cx="1968843" cy="85487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배치</a:t>
            </a:r>
            <a:endParaRPr lang="ko-KR" altLang="en-US" sz="28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11" name="직선 화살표 연결선 10"/>
          <p:cNvCxnSpPr>
            <a:stCxn id="5" idx="3"/>
            <a:endCxn id="6" idx="1"/>
          </p:cNvCxnSpPr>
          <p:nvPr/>
        </p:nvCxnSpPr>
        <p:spPr>
          <a:xfrm flipV="1">
            <a:off x="4341343" y="4442691"/>
            <a:ext cx="840258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6" idx="3"/>
            <a:endCxn id="8" idx="1"/>
          </p:cNvCxnSpPr>
          <p:nvPr/>
        </p:nvCxnSpPr>
        <p:spPr>
          <a:xfrm flipV="1">
            <a:off x="7150444" y="4442689"/>
            <a:ext cx="840258" cy="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8" idx="0"/>
            <a:endCxn id="9" idx="2"/>
          </p:cNvCxnSpPr>
          <p:nvPr/>
        </p:nvCxnSpPr>
        <p:spPr>
          <a:xfrm flipH="1" flipV="1">
            <a:off x="8975123" y="3093767"/>
            <a:ext cx="1" cy="93328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8" idx="2"/>
            <a:endCxn id="7" idx="3"/>
          </p:cNvCxnSpPr>
          <p:nvPr/>
        </p:nvCxnSpPr>
        <p:spPr>
          <a:xfrm rot="5400000">
            <a:off x="7524765" y="4484005"/>
            <a:ext cx="1076038" cy="1824681"/>
          </a:xfrm>
          <a:prstGeom prst="bentConnector2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7" idx="1"/>
            <a:endCxn id="5" idx="2"/>
          </p:cNvCxnSpPr>
          <p:nvPr/>
        </p:nvCxnSpPr>
        <p:spPr>
          <a:xfrm rot="10800000">
            <a:off x="3356922" y="4858330"/>
            <a:ext cx="1824678" cy="1076035"/>
          </a:xfrm>
          <a:prstGeom prst="bentConnector2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9067616" y="3652039"/>
            <a:ext cx="594620" cy="416930"/>
          </a:xfrm>
          <a:prstGeom prst="rect">
            <a:avLst/>
          </a:prstGeom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Yes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067616" y="5139830"/>
            <a:ext cx="594620" cy="416930"/>
          </a:xfrm>
          <a:prstGeom prst="rect">
            <a:avLst/>
          </a:prstGeom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No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순서도: 자기 디스크 15"/>
          <p:cNvSpPr/>
          <p:nvPr/>
        </p:nvSpPr>
        <p:spPr>
          <a:xfrm>
            <a:off x="5155700" y="2238888"/>
            <a:ext cx="2020641" cy="854880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ln w="38100">
                  <a:noFill/>
                </a:ln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데이터</a:t>
            </a:r>
            <a:endParaRPr lang="ko-KR" altLang="en-US" sz="2800" dirty="0">
              <a:ln w="38100">
                <a:noFill/>
              </a:ln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18" name="직선 화살표 연결선 17"/>
          <p:cNvCxnSpPr>
            <a:stCxn id="16" idx="3"/>
            <a:endCxn id="6" idx="0"/>
          </p:cNvCxnSpPr>
          <p:nvPr/>
        </p:nvCxnSpPr>
        <p:spPr>
          <a:xfrm>
            <a:off x="6166021" y="3093768"/>
            <a:ext cx="2" cy="93328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9620169" y="3262548"/>
            <a:ext cx="2054089" cy="59572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프로그램 길이가 짧아지고 분류 정확도가 높음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53264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dirty="0" err="1" smtClean="0">
                <a:solidFill>
                  <a:srgbClr val="163E94"/>
                </a:solidFill>
              </a:rPr>
              <a:t>머신러닝을</a:t>
            </a:r>
            <a:r>
              <a:rPr lang="ko-KR" altLang="en-US" sz="5400" dirty="0" smtClean="0">
                <a:solidFill>
                  <a:srgbClr val="163E94"/>
                </a:solidFill>
              </a:rPr>
              <a:t> 사용하는 이유 </a:t>
            </a:r>
            <a:r>
              <a:rPr lang="en-US" altLang="ko-KR" sz="5400" dirty="0" smtClean="0">
                <a:solidFill>
                  <a:srgbClr val="163E94"/>
                </a:solidFill>
              </a:rPr>
              <a:t>- </a:t>
            </a:r>
            <a:r>
              <a:rPr lang="ko-KR" altLang="en-US" sz="5400" dirty="0" smtClean="0">
                <a:solidFill>
                  <a:srgbClr val="3AA8D8"/>
                </a:solidFill>
              </a:rPr>
              <a:t>자동으로 변화에 적응</a:t>
            </a:r>
            <a:endParaRPr lang="ko-KR" altLang="en-US" sz="5400" dirty="0">
              <a:solidFill>
                <a:srgbClr val="3AA8D8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227783" y="5052291"/>
            <a:ext cx="1968843" cy="83127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 err="1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</a:t>
            </a:r>
            <a:r>
              <a:rPr lang="ko-KR" altLang="en-US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훈련</a:t>
            </a:r>
            <a:endParaRPr lang="ko-KR" altLang="en-US" sz="24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8" name="순서도: 판단 7"/>
          <p:cNvSpPr/>
          <p:nvPr/>
        </p:nvSpPr>
        <p:spPr>
          <a:xfrm>
            <a:off x="8036884" y="5052288"/>
            <a:ext cx="1968843" cy="831275"/>
          </a:xfrm>
          <a:prstGeom prst="flowChartDecision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평가</a:t>
            </a:r>
            <a:endParaRPr lang="ko-KR" altLang="en-US" sz="240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036883" y="2682234"/>
            <a:ext cx="1968843" cy="85487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배치</a:t>
            </a:r>
            <a:endParaRPr lang="ko-KR" altLang="en-US" sz="24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13" name="직선 화살표 연결선 12"/>
          <p:cNvCxnSpPr>
            <a:stCxn id="6" idx="3"/>
            <a:endCxn id="8" idx="1"/>
          </p:cNvCxnSpPr>
          <p:nvPr/>
        </p:nvCxnSpPr>
        <p:spPr>
          <a:xfrm flipV="1">
            <a:off x="7196626" y="5467926"/>
            <a:ext cx="840258" cy="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8" idx="0"/>
            <a:endCxn id="9" idx="2"/>
          </p:cNvCxnSpPr>
          <p:nvPr/>
        </p:nvCxnSpPr>
        <p:spPr>
          <a:xfrm flipH="1" flipV="1">
            <a:off x="9021305" y="3537113"/>
            <a:ext cx="1" cy="151517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9113798" y="4677276"/>
            <a:ext cx="594620" cy="416930"/>
          </a:xfrm>
          <a:prstGeom prst="rect">
            <a:avLst/>
          </a:prstGeom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Yes</a:t>
            </a:r>
            <a:endParaRPr lang="ko-KR" altLang="en-US" sz="24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6" name="순서도: 자기 디스크 15"/>
          <p:cNvSpPr/>
          <p:nvPr/>
        </p:nvSpPr>
        <p:spPr>
          <a:xfrm>
            <a:off x="1922973" y="3867260"/>
            <a:ext cx="2020641" cy="854880"/>
          </a:xfrm>
          <a:prstGeom prst="flowChartMagneticDisk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n w="38100">
                  <a:noFill/>
                </a:ln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데이터</a:t>
            </a:r>
            <a:endParaRPr lang="ko-KR" altLang="en-US" sz="2400" dirty="0">
              <a:ln w="38100">
                <a:noFill/>
              </a:ln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18" name="직선 화살표 연결선 17"/>
          <p:cNvCxnSpPr>
            <a:stCxn id="16" idx="4"/>
            <a:endCxn id="6" idx="1"/>
          </p:cNvCxnSpPr>
          <p:nvPr/>
        </p:nvCxnSpPr>
        <p:spPr>
          <a:xfrm>
            <a:off x="3943614" y="4294700"/>
            <a:ext cx="1284169" cy="117322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5227783" y="2682234"/>
            <a:ext cx="1968843" cy="8548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데이터 업데이트</a:t>
            </a:r>
            <a:endParaRPr lang="ko-KR" altLang="en-US" sz="24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24" name="직선 화살표 연결선 23"/>
          <p:cNvCxnSpPr>
            <a:stCxn id="9" idx="1"/>
            <a:endCxn id="23" idx="3"/>
          </p:cNvCxnSpPr>
          <p:nvPr/>
        </p:nvCxnSpPr>
        <p:spPr>
          <a:xfrm flipH="1">
            <a:off x="7196626" y="3109674"/>
            <a:ext cx="840257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23" idx="1"/>
            <a:endCxn id="16" idx="4"/>
          </p:cNvCxnSpPr>
          <p:nvPr/>
        </p:nvCxnSpPr>
        <p:spPr>
          <a:xfrm flipH="1">
            <a:off x="3943614" y="3109674"/>
            <a:ext cx="1284169" cy="11850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원호 36"/>
          <p:cNvSpPr/>
          <p:nvPr/>
        </p:nvSpPr>
        <p:spPr>
          <a:xfrm>
            <a:off x="5867152" y="3835664"/>
            <a:ext cx="2133600" cy="918076"/>
          </a:xfrm>
          <a:prstGeom prst="arc">
            <a:avLst>
              <a:gd name="adj1" fmla="val 16200000"/>
              <a:gd name="adj2" fmla="val 13874900"/>
            </a:avLst>
          </a:prstGeom>
          <a:ln w="38100">
            <a:headEnd type="triangl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ko-KR" altLang="en-US" sz="240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자동화</a:t>
            </a:r>
            <a:endParaRPr lang="ko-KR" altLang="en-US" sz="240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7278779" y="5653415"/>
            <a:ext cx="1077821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새로운 모델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37628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dirty="0" err="1">
                <a:solidFill>
                  <a:srgbClr val="163E94"/>
                </a:solidFill>
              </a:rPr>
              <a:t>머신러닝을</a:t>
            </a:r>
            <a:r>
              <a:rPr lang="ko-KR" altLang="en-US" sz="5400" dirty="0">
                <a:solidFill>
                  <a:srgbClr val="163E94"/>
                </a:solidFill>
              </a:rPr>
              <a:t> 사용하는 이유 </a:t>
            </a:r>
            <a:r>
              <a:rPr lang="en-US" altLang="ko-KR" sz="5400" dirty="0">
                <a:solidFill>
                  <a:srgbClr val="163E94"/>
                </a:solidFill>
              </a:rPr>
              <a:t>- </a:t>
            </a:r>
            <a:r>
              <a:rPr lang="ko-KR" altLang="en-US" sz="5400" dirty="0" smtClean="0">
                <a:solidFill>
                  <a:srgbClr val="5AA8CF"/>
                </a:solidFill>
              </a:rPr>
              <a:t>새로운 패턴을 발견</a:t>
            </a:r>
            <a:endParaRPr lang="ko-KR" altLang="en-US" sz="5400" dirty="0">
              <a:solidFill>
                <a:srgbClr val="5AA8CF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430983" y="2481615"/>
            <a:ext cx="1968843" cy="83127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 err="1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머신러닝</a:t>
            </a:r>
            <a:r>
              <a:rPr lang="ko-KR" altLang="en-US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훈련</a:t>
            </a:r>
            <a:endParaRPr lang="ko-KR" altLang="en-US" sz="24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395856" y="2469813"/>
            <a:ext cx="1968843" cy="83455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솔루션</a:t>
            </a:r>
            <a:endParaRPr lang="ko-KR" altLang="en-US" sz="24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13" name="직선 화살표 연결선 12"/>
          <p:cNvCxnSpPr>
            <a:stCxn id="6" idx="3"/>
            <a:endCxn id="9" idx="1"/>
          </p:cNvCxnSpPr>
          <p:nvPr/>
        </p:nvCxnSpPr>
        <p:spPr>
          <a:xfrm flipV="1">
            <a:off x="7399826" y="2887088"/>
            <a:ext cx="996030" cy="1016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9" idx="2"/>
            <a:endCxn id="25" idx="0"/>
          </p:cNvCxnSpPr>
          <p:nvPr/>
        </p:nvCxnSpPr>
        <p:spPr>
          <a:xfrm>
            <a:off x="9380278" y="3304363"/>
            <a:ext cx="0" cy="82289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자기 디스크 15"/>
          <p:cNvSpPr/>
          <p:nvPr/>
        </p:nvSpPr>
        <p:spPr>
          <a:xfrm>
            <a:off x="5405082" y="3995729"/>
            <a:ext cx="2020641" cy="854880"/>
          </a:xfrm>
          <a:prstGeom prst="flowChartMagneticDisk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n w="38100">
                  <a:noFill/>
                </a:ln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데이터</a:t>
            </a:r>
            <a:endParaRPr lang="ko-KR" altLang="en-US" sz="2400" dirty="0">
              <a:ln w="38100">
                <a:noFill/>
              </a:ln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18" name="직선 화살표 연결선 17"/>
          <p:cNvCxnSpPr>
            <a:stCxn id="23" idx="3"/>
            <a:endCxn id="6" idx="1"/>
          </p:cNvCxnSpPr>
          <p:nvPr/>
        </p:nvCxnSpPr>
        <p:spPr>
          <a:xfrm flipV="1">
            <a:off x="4434953" y="2897252"/>
            <a:ext cx="996030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2466110" y="2469813"/>
            <a:ext cx="1968843" cy="85487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문제 연구</a:t>
            </a:r>
            <a:endParaRPr lang="ko-KR" altLang="en-US" sz="24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24" name="직선 화살표 연결선 23"/>
          <p:cNvCxnSpPr>
            <a:stCxn id="16" idx="1"/>
            <a:endCxn id="6" idx="2"/>
          </p:cNvCxnSpPr>
          <p:nvPr/>
        </p:nvCxnSpPr>
        <p:spPr>
          <a:xfrm flipV="1">
            <a:off x="6415403" y="3312889"/>
            <a:ext cx="2" cy="68284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8395856" y="4127254"/>
            <a:ext cx="1968843" cy="834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솔루션 분석</a:t>
            </a:r>
            <a:endParaRPr lang="ko-KR" altLang="en-US" sz="24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430982" y="5533449"/>
            <a:ext cx="1968843" cy="8345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문제에 대한 </a:t>
            </a:r>
            <a:endParaRPr lang="en-US" altLang="ko-KR" sz="2400" dirty="0" smtClean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이해 증대</a:t>
            </a:r>
            <a:endParaRPr lang="ko-KR" altLang="en-US" sz="2400" dirty="0">
              <a:solidFill>
                <a:srgbClr val="163E94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31" name="꺾인 연결선 30"/>
          <p:cNvCxnSpPr>
            <a:endCxn id="26" idx="3"/>
          </p:cNvCxnSpPr>
          <p:nvPr/>
        </p:nvCxnSpPr>
        <p:spPr>
          <a:xfrm rot="10800000" flipV="1">
            <a:off x="7399826" y="5549900"/>
            <a:ext cx="2010875" cy="400824"/>
          </a:xfrm>
          <a:prstGeom prst="bentConnector3">
            <a:avLst>
              <a:gd name="adj1" fmla="val 106"/>
            </a:avLst>
          </a:prstGeom>
          <a:ln w="38100">
            <a:headEnd type="none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26" idx="1"/>
            <a:endCxn id="23" idx="2"/>
          </p:cNvCxnSpPr>
          <p:nvPr/>
        </p:nvCxnSpPr>
        <p:spPr>
          <a:xfrm rot="10800000">
            <a:off x="3450532" y="3324692"/>
            <a:ext cx="1980450" cy="2626032"/>
          </a:xfrm>
          <a:prstGeom prst="bentConnector2">
            <a:avLst/>
          </a:prstGeom>
          <a:ln w="38100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8053966" y="5069599"/>
            <a:ext cx="2652621" cy="400110"/>
          </a:xfrm>
          <a:prstGeom prst="rect">
            <a:avLst/>
          </a:prstGeom>
          <a:solidFill>
            <a:srgbClr val="3AA8D8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인간이 분석하지 못하는 규칙 발견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1473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70910" y="2740089"/>
            <a:ext cx="9646289" cy="22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학습 데이터가 입력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특징 행렬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과 출력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대상 벡터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쌍으로 제공됨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→ 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“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레이블 데이터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”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63E94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학습목표는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 특징 행렬과 출력 대산 벡터를 </a:t>
            </a:r>
            <a:r>
              <a:rPr lang="ko-KR" altLang="en-US" sz="2800" dirty="0" err="1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매핑시키는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규칙을 찾는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것임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특징 행렬에</a:t>
            </a: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대해 출력 대상 벡터가 알려져 있으므로 </a:t>
            </a: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‘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지도</a:t>
            </a: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’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라 부름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163E94"/>
                </a:solidFill>
              </a:rPr>
              <a:t>지도 방식에 따른 분류</a:t>
            </a:r>
            <a:endParaRPr lang="ko-KR" altLang="en-US" dirty="0">
              <a:solidFill>
                <a:srgbClr val="163E9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638301" y="1495489"/>
            <a:ext cx="8890000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 algn="ctr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36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지도학습</a:t>
            </a:r>
            <a:endParaRPr lang="en-US" altLang="ko-KR" sz="3600" dirty="0">
              <a:ln w="25400" cap="flat">
                <a:noFill/>
                <a:miter lim="800000"/>
              </a:ln>
              <a:solidFill>
                <a:srgbClr val="163E94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39200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70910" y="2300943"/>
            <a:ext cx="9646289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해결할 수 있는 대표적인 문제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163E94"/>
                </a:solidFill>
              </a:rPr>
              <a:t>지도 방식에 따른 분류</a:t>
            </a:r>
            <a:endParaRPr lang="ko-KR" altLang="en-US" dirty="0">
              <a:solidFill>
                <a:srgbClr val="163E9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638301" y="1495489"/>
            <a:ext cx="8890000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 algn="ctr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36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지도학습</a:t>
            </a:r>
            <a:endParaRPr lang="en-US" altLang="ko-KR" sz="3600" dirty="0">
              <a:ln w="25400" cap="flat">
                <a:noFill/>
                <a:miter lim="800000"/>
              </a:ln>
              <a:solidFill>
                <a:srgbClr val="163E94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6515102" y="3189679"/>
            <a:ext cx="4013199" cy="1598221"/>
          </a:xfrm>
          <a:prstGeom prst="roundRect">
            <a:avLst>
              <a:gd name="adj" fmla="val 11042"/>
            </a:avLst>
          </a:prstGeom>
          <a:noFill/>
          <a:ln w="31750">
            <a:solidFill>
              <a:srgbClr val="163E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6515102" y="3189679"/>
            <a:ext cx="4013199" cy="396225"/>
          </a:xfrm>
          <a:prstGeom prst="roundRect">
            <a:avLst>
              <a:gd name="adj" fmla="val 43094"/>
            </a:avLst>
          </a:prstGeom>
          <a:solidFill>
            <a:srgbClr val="163E94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분 류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16703" y="3662104"/>
            <a:ext cx="3259226" cy="1054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spcAft>
                <a:spcPts val="300"/>
              </a:spcAft>
              <a:buFontTx/>
              <a:buChar char="-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범주형 데이터인 클래스 레이블 예측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342900" indent="-342900" algn="l">
              <a:spcAft>
                <a:spcPts val="300"/>
              </a:spcAft>
              <a:buFontTx/>
              <a:buChar char="-"/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스팸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메일 필터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긍정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/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부정의 감정분석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</a:t>
            </a:r>
            <a:b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채무불이행 예측 등 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1638300" y="3189679"/>
            <a:ext cx="4013199" cy="1598221"/>
          </a:xfrm>
          <a:prstGeom prst="roundRect">
            <a:avLst>
              <a:gd name="adj" fmla="val 11042"/>
            </a:avLst>
          </a:prstGeom>
          <a:noFill/>
          <a:ln w="31750">
            <a:solidFill>
              <a:srgbClr val="3AA8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1638300" y="3189679"/>
            <a:ext cx="4013199" cy="396225"/>
          </a:xfrm>
          <a:prstGeom prst="roundRect">
            <a:avLst>
              <a:gd name="adj" fmla="val 43094"/>
            </a:avLst>
          </a:prstGeom>
          <a:solidFill>
            <a:srgbClr val="3AA8D8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회 귀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39901" y="3662104"/>
            <a:ext cx="2795958" cy="746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spcAft>
                <a:spcPts val="300"/>
              </a:spcAft>
              <a:buFontTx/>
              <a:buChar char="-"/>
            </a:pP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연속형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수치 데이터 예측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342900" indent="-342900" algn="l">
              <a:spcAft>
                <a:spcPts val="300"/>
              </a:spcAft>
              <a:buFontTx/>
              <a:buChar char="-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집 값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중고차 가격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주가 예측 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70910" y="5234643"/>
            <a:ext cx="9836790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k-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최근접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이웃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선형 회귀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로지스틱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회귀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서포트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벡터 머신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결정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트리와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랜덤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포레스트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신경망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54453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70910" y="2300943"/>
            <a:ext cx="9646289" cy="22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 데이터로 입력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특징 행렬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만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제공됨 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→  </a:t>
            </a: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“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레이블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없는 데이터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”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입력 특징 행렬에 대한 출력 대상 벡터가 없으므로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비지도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’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라 부름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endParaRPr lang="en-US" altLang="ko-KR" sz="2800" dirty="0">
              <a:ln w="25400" cap="flat">
                <a:noFill/>
                <a:miter lim="800000"/>
              </a:ln>
              <a:solidFill>
                <a:srgbClr val="5AA8CF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163E94"/>
                </a:solidFill>
              </a:rPr>
              <a:t>지도 방식에 따른 분류</a:t>
            </a:r>
            <a:endParaRPr lang="ko-KR" altLang="en-US" dirty="0">
              <a:solidFill>
                <a:srgbClr val="163E9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638301" y="1495489"/>
            <a:ext cx="8890000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 algn="ctr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3600" dirty="0" err="1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비지도학습</a:t>
            </a:r>
            <a:endParaRPr lang="en-US" altLang="ko-KR" sz="3600" dirty="0">
              <a:ln w="25400" cap="flat">
                <a:noFill/>
                <a:miter lim="800000"/>
              </a:ln>
              <a:solidFill>
                <a:srgbClr val="163E94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03177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70910" y="2300943"/>
            <a:ext cx="9646289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해결할 수 있는 대표적인 문제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163E94"/>
                </a:solidFill>
              </a:rPr>
              <a:t>지도 방식에 따른 분류</a:t>
            </a:r>
            <a:endParaRPr lang="ko-KR" altLang="en-US" dirty="0">
              <a:solidFill>
                <a:srgbClr val="163E9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638301" y="1495489"/>
            <a:ext cx="8890000" cy="81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8" algn="ctr">
              <a:lnSpc>
                <a:spcPct val="130000"/>
              </a:lnSpc>
              <a:spcAft>
                <a:spcPts val="1800"/>
              </a:spcAft>
              <a:buSzPct val="80000"/>
            </a:pPr>
            <a:r>
              <a:rPr lang="ko-KR" altLang="en-US" sz="3600" dirty="0" err="1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비지도학습</a:t>
            </a:r>
            <a:endParaRPr lang="en-US" altLang="ko-KR" sz="3600" dirty="0">
              <a:ln w="25400" cap="flat">
                <a:noFill/>
                <a:miter lim="800000"/>
              </a:ln>
              <a:solidFill>
                <a:srgbClr val="163E94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3971463" y="3113473"/>
            <a:ext cx="5448298" cy="798305"/>
          </a:xfrm>
          <a:prstGeom prst="roundRect">
            <a:avLst>
              <a:gd name="adj" fmla="val 11042"/>
            </a:avLst>
          </a:prstGeom>
          <a:noFill/>
          <a:ln w="31750">
            <a:solidFill>
              <a:srgbClr val="163E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1422403" y="3113473"/>
            <a:ext cx="2209798" cy="396225"/>
          </a:xfrm>
          <a:prstGeom prst="roundRect">
            <a:avLst>
              <a:gd name="adj" fmla="val 43094"/>
            </a:avLst>
          </a:prstGeom>
          <a:solidFill>
            <a:srgbClr val="163E94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군 집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73063" y="3156510"/>
            <a:ext cx="4059125" cy="746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spcAft>
                <a:spcPts val="300"/>
              </a:spcAft>
              <a:buFontTx/>
              <a:buChar char="-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특징이 비슷한 것들끼리 묶어 군을 만드는 것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342900" indent="-342900" algn="l">
              <a:spcAft>
                <a:spcPts val="300"/>
              </a:spcAft>
              <a:buFontTx/>
              <a:buChar char="-"/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K-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평균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계층 군집 분석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(HCA),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기대값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최대화 등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965388" y="4142084"/>
            <a:ext cx="5448298" cy="798305"/>
          </a:xfrm>
          <a:prstGeom prst="roundRect">
            <a:avLst>
              <a:gd name="adj" fmla="val 11042"/>
            </a:avLst>
          </a:prstGeom>
          <a:noFill/>
          <a:ln w="31750">
            <a:solidFill>
              <a:srgbClr val="163E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1422403" y="4142084"/>
            <a:ext cx="2209798" cy="396225"/>
          </a:xfrm>
          <a:prstGeom prst="roundRect">
            <a:avLst>
              <a:gd name="adj" fmla="val 43094"/>
            </a:avLst>
          </a:prstGeom>
          <a:solidFill>
            <a:srgbClr val="163E94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시각화와</a:t>
            </a:r>
            <a:r>
              <a:rPr lang="en-US" altLang="ko-KR" sz="240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차원축소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6988" y="4185121"/>
            <a:ext cx="5248553" cy="746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spcAft>
                <a:spcPts val="300"/>
              </a:spcAft>
              <a:buFontTx/>
              <a:buChar char="-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시각화 시 인간이 인지할 수 있는 차원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(2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차원 등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으로 축소하는 것</a:t>
            </a:r>
            <a:endParaRPr lang="en-US" altLang="ko-KR" sz="20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342900" indent="-342900" algn="l">
              <a:spcAft>
                <a:spcPts val="300"/>
              </a:spcAft>
              <a:buFontTx/>
              <a:buChar char="-"/>
            </a:pPr>
            <a:r>
              <a:rPr lang="ko-KR" altLang="en-US" sz="20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주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성분분석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(PCA),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커널</a:t>
            </a:r>
            <a:r>
              <a:rPr lang="en-US" altLang="ko-KR" sz="20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PCA, 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지역적 선형 </a:t>
            </a:r>
            <a:r>
              <a:rPr lang="ko-KR" altLang="en-US" sz="20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임베딩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(LLE), t-SNE</a:t>
            </a:r>
            <a:endParaRPr lang="ko-KR" altLang="en-US" sz="20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3965388" y="5170695"/>
            <a:ext cx="5448298" cy="798305"/>
          </a:xfrm>
          <a:prstGeom prst="roundRect">
            <a:avLst>
              <a:gd name="adj" fmla="val 11042"/>
            </a:avLst>
          </a:prstGeom>
          <a:noFill/>
          <a:ln w="31750">
            <a:solidFill>
              <a:srgbClr val="163E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422403" y="5170695"/>
            <a:ext cx="2209798" cy="396225"/>
          </a:xfrm>
          <a:prstGeom prst="roundRect">
            <a:avLst>
              <a:gd name="adj" fmla="val 43094"/>
            </a:avLst>
          </a:prstGeom>
          <a:solidFill>
            <a:srgbClr val="163E94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연관 규칙 학습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66988" y="5213732"/>
            <a:ext cx="3426515" cy="746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l">
              <a:spcAft>
                <a:spcPts val="300"/>
              </a:spcAft>
              <a:buFontTx/>
              <a:buChar char="-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구매 경향성 규칙 발견 등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장바구니 분석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</a:p>
          <a:p>
            <a:pPr marL="342900" indent="-342900" algn="l">
              <a:spcAft>
                <a:spcPts val="300"/>
              </a:spcAft>
              <a:buFontTx/>
              <a:buChar char="-"/>
            </a:pPr>
            <a:r>
              <a:rPr lang="en-US" altLang="ko-KR" sz="20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Apriori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en-US" altLang="ko-KR" sz="20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Eclat</a:t>
            </a:r>
            <a:endParaRPr lang="ko-KR" altLang="en-US" sz="20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70910" y="6068495"/>
            <a:ext cx="9646289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이외에도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추천 엔진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 있음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75180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163E94"/>
                </a:solidFill>
              </a:rPr>
              <a:t>강화 학습</a:t>
            </a:r>
            <a:endParaRPr lang="ko-KR" altLang="en-US" dirty="0">
              <a:solidFill>
                <a:srgbClr val="163E9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70910" y="3181350"/>
            <a:ext cx="964628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시스템이 어떤 목표를 달성하기 위해 동적인 조건에 적응하도록 함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학습하는 시스템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(“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에이전트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”)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환경 관찰 → 액션 실행 →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“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보상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”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또는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“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벌점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”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시간이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경과하면서 가장 큰 보상을 얻기 위해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최상의 전략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(“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정책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”)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을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스스로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63E94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63E94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5AA8CF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자율주행자동차</a:t>
            </a: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알파고</a:t>
            </a: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endParaRPr lang="en-US" altLang="ko-KR" sz="2800" dirty="0">
              <a:ln w="25400" cap="flat">
                <a:noFill/>
                <a:miter lim="800000"/>
              </a:ln>
              <a:solidFill>
                <a:srgbClr val="5AA8CF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33333" t="36154" r="57396" b="49808"/>
          <a:stretch/>
        </p:blipFill>
        <p:spPr>
          <a:xfrm>
            <a:off x="5216654" y="1673938"/>
            <a:ext cx="1755646" cy="144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415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163E94"/>
                </a:solidFill>
              </a:rPr>
              <a:t>준지도 학습</a:t>
            </a:r>
            <a:endParaRPr lang="ko-KR" altLang="en-US" dirty="0">
              <a:solidFill>
                <a:srgbClr val="163E9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70910" y="2168589"/>
            <a:ext cx="9646289" cy="302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학습 데이터에 레이블이 일부만 있는 경우 활용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세트 전체에 레이블을 붙이는 데 고비용이 발생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지도학습과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비지도학습의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조합으로 이루어짐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심층신뢰신경망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(DBN)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은 제한된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볼츠만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머신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(RBM)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과 같은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비지도학습에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기초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45210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163E94"/>
                </a:solidFill>
              </a:rPr>
              <a:t>준지도 학습</a:t>
            </a:r>
            <a:endParaRPr lang="ko-KR" altLang="en-US" dirty="0">
              <a:solidFill>
                <a:srgbClr val="163E9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70910" y="5038789"/>
            <a:ext cx="9646289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사진 입력을 통한 사람 식별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군집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 +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3AA8D8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개인정보 레이블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2813" t="32884" r="40937" b="39808"/>
          <a:stretch/>
        </p:blipFill>
        <p:spPr>
          <a:xfrm>
            <a:off x="1968500" y="1926918"/>
            <a:ext cx="849791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94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" altLang="ko-KR" dirty="0"/>
              <a:t>파이썬과 Anaconda 배포판</a:t>
            </a:r>
            <a:endParaRPr lang="ko-KR" altLang="en-US" dirty="0"/>
          </a:p>
        </p:txBody>
      </p:sp>
      <p:pic>
        <p:nvPicPr>
          <p:cNvPr id="4" name="Google Shape;74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30726" y="2251655"/>
            <a:ext cx="7924451" cy="3297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직사각형 4"/>
          <p:cNvSpPr/>
          <p:nvPr/>
        </p:nvSpPr>
        <p:spPr>
          <a:xfrm>
            <a:off x="4863545" y="5640833"/>
            <a:ext cx="2781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</a:t>
            </a:r>
            <a:r>
              <a:rPr lang="ko" altLang="ko-KR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</a:t>
            </a:r>
            <a:r>
              <a:rPr lang="en-US" altLang="ko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//</a:t>
            </a:r>
            <a:r>
              <a:rPr lang="ko" altLang="ko-KR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www.python.org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28648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866942" y="2119849"/>
            <a:ext cx="238257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" sz="2000" dirty="0" err="1" smtClean="0"/>
              <a:t>numpy</a:t>
            </a:r>
            <a:endParaRPr lang="en-US" altLang="ko" sz="2000" dirty="0" smtClean="0"/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" sz="2000" dirty="0"/>
              <a:t>p</a:t>
            </a:r>
            <a:r>
              <a:rPr lang="en-US" altLang="ko" sz="2000" dirty="0" smtClean="0"/>
              <a:t>andas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" sz="2000" dirty="0" err="1"/>
              <a:t>s</a:t>
            </a:r>
            <a:r>
              <a:rPr lang="en-US" altLang="ko" sz="2000" dirty="0" err="1" smtClean="0"/>
              <a:t>cipy</a:t>
            </a:r>
            <a:endParaRPr lang="en-US" altLang="ko" sz="2000" dirty="0" smtClean="0"/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" sz="2000" dirty="0" err="1"/>
              <a:t>m</a:t>
            </a:r>
            <a:r>
              <a:rPr lang="en-US" altLang="ko" sz="2000" dirty="0" err="1" smtClean="0"/>
              <a:t>atplotlib</a:t>
            </a:r>
            <a:endParaRPr lang="en-US" altLang="ko" sz="2000" dirty="0" smtClean="0"/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" sz="2000" dirty="0" err="1"/>
              <a:t>s</a:t>
            </a:r>
            <a:r>
              <a:rPr lang="en-US" altLang="ko" sz="2000" dirty="0" err="1" smtClean="0"/>
              <a:t>eaborn</a:t>
            </a:r>
            <a:endParaRPr lang="en-US" altLang="ko" sz="2000" dirty="0" smtClean="0"/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" sz="2000" dirty="0" err="1" smtClean="0"/>
              <a:t>scikit</a:t>
            </a:r>
            <a:r>
              <a:rPr lang="en-US" altLang="ko" sz="2000" dirty="0" smtClean="0"/>
              <a:t>-learn</a:t>
            </a: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" sz="2000" dirty="0" smtClean="0"/>
              <a:t>...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  <p:pic>
        <p:nvPicPr>
          <p:cNvPr id="6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3468" y="2280282"/>
            <a:ext cx="4318469" cy="277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4234" y="3665936"/>
            <a:ext cx="4090780" cy="19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0142" y="4427245"/>
            <a:ext cx="3802774" cy="195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9936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pic>
        <p:nvPicPr>
          <p:cNvPr id="6" name="Google Shape;9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10728" y="2279074"/>
            <a:ext cx="6764451" cy="31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직사각형 6"/>
          <p:cNvSpPr/>
          <p:nvPr/>
        </p:nvSpPr>
        <p:spPr>
          <a:xfrm>
            <a:off x="4866014" y="5778908"/>
            <a:ext cx="24538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1600"/>
              </a:spcAft>
            </a:pPr>
            <a:r>
              <a:rPr lang="en-US" alt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</a:t>
            </a:r>
            <a:r>
              <a:rPr lang="en-US" altLang="ko" dirty="0" smtClean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://anaconda.org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18479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774190" y="5690073"/>
            <a:ext cx="66375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1600"/>
              </a:spcAft>
            </a:pPr>
            <a:r>
              <a:rPr lang="en-US" alt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https://www.anaconda.com/distribution/#download-section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028" y="1961629"/>
            <a:ext cx="7735845" cy="3531581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008071" y="6116572"/>
            <a:ext cx="872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1600"/>
              </a:spcAft>
            </a:pPr>
            <a:r>
              <a:rPr lang="en-US" alt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https://repo.anaconda.com/archive/Anaconda2-2018.12-Windows-x86_64.exe</a:t>
            </a:r>
            <a:endParaRPr lang="en-US" altLang="ko-KR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582274" y="2075380"/>
            <a:ext cx="3102796" cy="4109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881522" y="1904462"/>
            <a:ext cx="2515082" cy="32517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운영체제에 맞는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배포판을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설치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2693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" altLang="ko-KR" dirty="0"/>
              <a:t>Anaconda 배포판 설치 및 환경설정하기</a:t>
            </a:r>
            <a:endParaRPr lang="ko-KR" altLang="en-US" dirty="0"/>
          </a:p>
        </p:txBody>
      </p:sp>
      <p:pic>
        <p:nvPicPr>
          <p:cNvPr id="8" name="Google Shape;12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3097" y="2546041"/>
            <a:ext cx="2931178" cy="296072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22;p22"/>
          <p:cNvSpPr/>
          <p:nvPr/>
        </p:nvSpPr>
        <p:spPr>
          <a:xfrm>
            <a:off x="1756151" y="3537927"/>
            <a:ext cx="2788124" cy="48847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Google Shape;129;p23"/>
          <p:cNvPicPr preferRelativeResize="0"/>
          <p:nvPr/>
        </p:nvPicPr>
        <p:blipFill rotWithShape="1">
          <a:blip r:embed="rId3">
            <a:alphaModFix/>
          </a:blip>
          <a:srcRect b="69062"/>
          <a:stretch/>
        </p:blipFill>
        <p:spPr>
          <a:xfrm>
            <a:off x="4876228" y="2546041"/>
            <a:ext cx="5866626" cy="117171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직사각형 6"/>
          <p:cNvSpPr/>
          <p:nvPr/>
        </p:nvSpPr>
        <p:spPr>
          <a:xfrm>
            <a:off x="6385392" y="3968242"/>
            <a:ext cx="2370301" cy="399011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명령프롬프트에서 명령 실행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24863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10" name="Google Shape;135;p24"/>
          <p:cNvSpPr txBox="1">
            <a:spLocks noGrp="1"/>
          </p:cNvSpPr>
          <p:nvPr>
            <p:ph type="body" idx="1"/>
          </p:nvPr>
        </p:nvSpPr>
        <p:spPr>
          <a:xfrm>
            <a:off x="1834177" y="1897360"/>
            <a:ext cx="8520600" cy="46451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사용법: conda [-h] [-V] command ...</a:t>
            </a:r>
            <a:endParaRPr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command</a:t>
            </a:r>
            <a:endParaRPr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clean        사용하지 않는 패키지와 캐시를 제거.</a:t>
            </a:r>
            <a:endParaRPr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config       .condarc 파일의 설정값들을 변경. .condarc 파일의 기본 위치는 </a:t>
            </a:r>
            <a:endParaRPr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                 </a:t>
            </a:r>
            <a:r>
              <a:rPr lang="en-US" altLang="ko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</a:t>
            </a:r>
            <a:r>
              <a:rPr lang="ko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</a:t>
            </a:r>
            <a:r>
              <a:rPr 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:\Users\계정명\.condarc</a:t>
            </a:r>
            <a:endParaRPr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create       기술된 패키지 목록으로 새로운 conda 환경을 구성</a:t>
            </a:r>
            <a:endParaRPr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help         사용 가능한 conda 명령과 도움말을 출력</a:t>
            </a:r>
            <a:endParaRPr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info         현재 conda 설치에 대한 정보를 출력</a:t>
            </a:r>
            <a:endParaRPr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1661375" y="1712890"/>
            <a:ext cx="8912180" cy="4829577"/>
          </a:xfrm>
          <a:prstGeom prst="roundRect">
            <a:avLst>
              <a:gd name="adj" fmla="val 4934"/>
            </a:avLst>
          </a:prstGeom>
          <a:noFill/>
          <a:ln w="38100">
            <a:solidFill>
              <a:srgbClr val="3AA8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7506532" y="4464950"/>
            <a:ext cx="3176412" cy="707886"/>
          </a:xfrm>
          <a:prstGeom prst="rect">
            <a:avLst/>
          </a:prstGeom>
          <a:solidFill>
            <a:srgbClr val="163E94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Python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의 버전과 관련된 라이브러리들을 환경마다 독립적으로 운영하게 해줌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9250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10" name="Google Shape;135;p24"/>
          <p:cNvSpPr txBox="1">
            <a:spLocks noGrp="1"/>
          </p:cNvSpPr>
          <p:nvPr>
            <p:ph type="body" idx="4294967295"/>
          </p:nvPr>
        </p:nvSpPr>
        <p:spPr>
          <a:xfrm>
            <a:off x="1834177" y="2116302"/>
            <a:ext cx="8520600" cy="41691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사용법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[-h] [-V] command ...</a:t>
            </a:r>
            <a:endParaRPr lang="ko-KR" altLang="en-US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command</a:t>
            </a:r>
            <a:endParaRPr lang="ko-KR" altLang="en-US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install     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패키지들을 특정 </a:t>
            </a: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환경에 설치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list         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 </a:t>
            </a:r>
            <a:r>
              <a:rPr lang="en-US" altLang="ko-KR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환경에 연결된 패키지 목록 보기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remove    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특정 </a:t>
            </a: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환경에서 패키지들을 제거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uninstall   </a:t>
            </a:r>
            <a:r>
              <a:rPr lang="en-US" altLang="ko-KR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remove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의 별칭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. </a:t>
            </a: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remove --help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를 확인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.</a:t>
            </a:r>
            <a:endParaRPr lang="ko-KR" altLang="en-US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search     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패키지를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검색하고 관련 정보를 조회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661375" y="1712890"/>
            <a:ext cx="8912180" cy="4829577"/>
          </a:xfrm>
          <a:prstGeom prst="roundRect">
            <a:avLst>
              <a:gd name="adj" fmla="val 4934"/>
            </a:avLst>
          </a:prstGeom>
          <a:noFill/>
          <a:ln w="38100">
            <a:solidFill>
              <a:srgbClr val="3AA8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9255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10" name="Google Shape;135;p24"/>
          <p:cNvSpPr txBox="1">
            <a:spLocks noGrp="1"/>
          </p:cNvSpPr>
          <p:nvPr>
            <p:ph type="body" idx="4294967295"/>
          </p:nvPr>
        </p:nvSpPr>
        <p:spPr>
          <a:xfrm>
            <a:off x="1834177" y="2116302"/>
            <a:ext cx="8520600" cy="41691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사용법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en-US" altLang="ko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[-h] [-V] command ...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command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update       </a:t>
            </a:r>
            <a:r>
              <a:rPr lang="en-US" altLang="ko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패키지들을 최신의 호환 버전으로 업데이트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</a:t>
            </a:r>
            <a:r>
              <a:rPr lang="en-US" altLang="ko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upgrade      </a:t>
            </a:r>
            <a:r>
              <a:rPr lang="en-US" altLang="ko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update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의 별칭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. </a:t>
            </a:r>
            <a:r>
              <a:rPr lang="en-US" altLang="ko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update --help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를 확인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-h, --help     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해당 명령의 도움말을 출력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-V, --version  </a:t>
            </a:r>
            <a:r>
              <a:rPr lang="en-US" altLang="ko-KR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버전을 출력</a:t>
            </a:r>
          </a:p>
          <a:p>
            <a:pPr marL="0" lvl="0" indent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lang="ko-KR" altLang="en-US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1661375" y="1712890"/>
            <a:ext cx="8912180" cy="4829577"/>
          </a:xfrm>
          <a:prstGeom prst="roundRect">
            <a:avLst>
              <a:gd name="adj" fmla="val 4934"/>
            </a:avLst>
          </a:prstGeom>
          <a:noFill/>
          <a:ln w="38100">
            <a:solidFill>
              <a:srgbClr val="3AA8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0810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567217"/>
            <a:ext cx="9149833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환경을 확인하기 위해 </a:t>
            </a:r>
            <a:r>
              <a:rPr lang="en-US" altLang="ko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env</a:t>
            </a: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list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혹은 </a:t>
            </a:r>
            <a:r>
              <a:rPr lang="en-US" altLang="ko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info --</a:t>
            </a:r>
            <a:r>
              <a:rPr lang="en-US" altLang="ko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envs</a:t>
            </a: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명령을 실행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.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1661375" y="2253803"/>
            <a:ext cx="8912180" cy="4288664"/>
          </a:xfrm>
          <a:prstGeom prst="roundRect">
            <a:avLst>
              <a:gd name="adj" fmla="val 4934"/>
            </a:avLst>
          </a:prstGeom>
          <a:noFill/>
          <a:ln w="38100">
            <a:solidFill>
              <a:srgbClr val="3AA8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Google Shape;135;p24"/>
          <p:cNvSpPr txBox="1">
            <a:spLocks noGrp="1"/>
          </p:cNvSpPr>
          <p:nvPr>
            <p:ph type="body" idx="4294967295"/>
          </p:nvPr>
        </p:nvSpPr>
        <p:spPr>
          <a:xfrm>
            <a:off x="1834177" y="2322464"/>
            <a:ext cx="8520600" cy="4347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(base) C:\Users\ai&gt;conda </a:t>
            </a:r>
            <a:r>
              <a:rPr lang="en-US" altLang="ko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env</a:t>
            </a: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list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# </a:t>
            </a:r>
            <a:r>
              <a:rPr lang="en-US" altLang="ko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environments: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#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base                  *  D:\Anaconda3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3378200">
              <a:lnSpc>
                <a:spcPct val="115000"/>
              </a:lnSpc>
              <a:spcBef>
                <a:spcPts val="0"/>
              </a:spcBef>
              <a:buNone/>
            </a:pP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(base) C:\Users\ai&gt;conda info --</a:t>
            </a:r>
            <a:r>
              <a:rPr lang="en-US" altLang="ko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envs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# </a:t>
            </a:r>
            <a:r>
              <a:rPr lang="en-US" altLang="ko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environments: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#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base                  *  D:\Anaconda3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5819399" y="2438104"/>
            <a:ext cx="4020060" cy="400110"/>
          </a:xfrm>
          <a:prstGeom prst="rect">
            <a:avLst/>
          </a:prstGeom>
          <a:solidFill>
            <a:srgbClr val="163E94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서브 명령 리스트를 이용하면 </a:t>
            </a:r>
            <a:r>
              <a:rPr lang="en-US" altLang="ko-KR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의 환경 정보가 나옴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397418" y="3646602"/>
            <a:ext cx="311697" cy="4109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397418" y="5771616"/>
            <a:ext cx="311697" cy="4109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3398171" y="4071026"/>
            <a:ext cx="1212466" cy="400110"/>
          </a:xfrm>
          <a:prstGeom prst="rect">
            <a:avLst/>
          </a:prstGeom>
          <a:solidFill>
            <a:srgbClr val="163E94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활성화된 환경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3398171" y="6182582"/>
            <a:ext cx="1212466" cy="400110"/>
          </a:xfrm>
          <a:prstGeom prst="rect">
            <a:avLst/>
          </a:prstGeom>
          <a:solidFill>
            <a:srgbClr val="163E94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활성화된 환경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6284890" y="4550239"/>
            <a:ext cx="1944710" cy="400110"/>
          </a:xfrm>
          <a:prstGeom prst="rect">
            <a:avLst/>
          </a:prstGeom>
          <a:solidFill>
            <a:srgbClr val="163E94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en-US" altLang="ko-KR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0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env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list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와 동일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10131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661375" y="2253803"/>
            <a:ext cx="8912180" cy="4288664"/>
          </a:xfrm>
          <a:prstGeom prst="roundRect">
            <a:avLst>
              <a:gd name="adj" fmla="val 4934"/>
            </a:avLst>
          </a:prstGeom>
          <a:noFill/>
          <a:ln w="38100">
            <a:solidFill>
              <a:srgbClr val="3AA8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Google Shape;135;p24"/>
          <p:cNvSpPr txBox="1">
            <a:spLocks noGrp="1"/>
          </p:cNvSpPr>
          <p:nvPr>
            <p:ph type="body" idx="4294967295"/>
          </p:nvPr>
        </p:nvSpPr>
        <p:spPr>
          <a:xfrm>
            <a:off x="1834177" y="2322464"/>
            <a:ext cx="8520600" cy="4347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it-IT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(base) C:\Users\ai&gt;python -V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it-IT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Python 3.7.0 :: Anaconda, Inc.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567217"/>
            <a:ext cx="9149833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 환경에 설치된 파이썬 버전을 </a:t>
            </a:r>
            <a:r>
              <a:rPr lang="ko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확인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3AA8D8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2785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661375" y="2253803"/>
            <a:ext cx="8912180" cy="4288664"/>
          </a:xfrm>
          <a:prstGeom prst="roundRect">
            <a:avLst>
              <a:gd name="adj" fmla="val 4934"/>
            </a:avLst>
          </a:prstGeom>
          <a:noFill/>
          <a:ln w="38100">
            <a:solidFill>
              <a:srgbClr val="3AA8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Google Shape;135;p24"/>
          <p:cNvSpPr txBox="1">
            <a:spLocks noGrp="1"/>
          </p:cNvSpPr>
          <p:nvPr>
            <p:ph type="body" idx="4294967295"/>
          </p:nvPr>
        </p:nvSpPr>
        <p:spPr>
          <a:xfrm>
            <a:off x="1834177" y="2322464"/>
            <a:ext cx="8520600" cy="4347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it-IT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(base) C:\Users\ai&gt;conda info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lang="it-IT" altLang="ko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it-IT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active environment : base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it-IT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active env location : D:\Anaconda3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it-IT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shell level : 1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it-IT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user config file : C:\Users\ai\.condarc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it-IT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...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lang="it-IT" altLang="ko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lang="it-IT" altLang="ko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567217"/>
            <a:ext cx="9149833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환경에 대한 자세한 정보를 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조회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4711816" y="3275231"/>
            <a:ext cx="1225345" cy="400110"/>
          </a:xfrm>
          <a:prstGeom prst="rect">
            <a:avLst/>
          </a:prstGeom>
          <a:solidFill>
            <a:srgbClr val="163E94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활성화된 환경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73142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661375" y="2253803"/>
            <a:ext cx="8912180" cy="4288664"/>
          </a:xfrm>
          <a:prstGeom prst="roundRect">
            <a:avLst>
              <a:gd name="adj" fmla="val 4934"/>
            </a:avLst>
          </a:prstGeom>
          <a:noFill/>
          <a:ln w="38100">
            <a:solidFill>
              <a:srgbClr val="3AA8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Google Shape;135;p24"/>
          <p:cNvSpPr txBox="1">
            <a:spLocks noGrp="1"/>
          </p:cNvSpPr>
          <p:nvPr>
            <p:ph type="body" idx="4294967295"/>
          </p:nvPr>
        </p:nvSpPr>
        <p:spPr>
          <a:xfrm>
            <a:off x="1834177" y="2322464"/>
            <a:ext cx="8520600" cy="4347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(base) C:\Users\ai&gt;conda create -n ml_py35 python=3.6 anaconda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Solving environment: done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lang="en-US" altLang="ko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...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The following NEW packages will be INSTALLED: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...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lang="en-US" altLang="ko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Proceed ([y]/n)? y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en-US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...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567217"/>
            <a:ext cx="9149833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Create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명령으로 </a:t>
            </a:r>
            <a:r>
              <a:rPr lang="ko-KR" altLang="en-US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새로운 </a:t>
            </a:r>
            <a:r>
              <a:rPr lang="en-US" altLang="ko-KR" sz="2400" dirty="0" err="1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ko-KR" altLang="en-US" sz="2400" dirty="0" smtClean="0">
                <a:solidFill>
                  <a:srgbClr val="163E94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환경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을 생성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5806602" y="3029467"/>
            <a:ext cx="2899598" cy="400110"/>
          </a:xfrm>
          <a:prstGeom prst="rect">
            <a:avLst/>
          </a:prstGeom>
          <a:solidFill>
            <a:srgbClr val="163E94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환경의 이름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직접 이름을 넣을 수 있음</a:t>
            </a:r>
            <a:r>
              <a:rPr lang="en-US" altLang="ko-KR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844404" y="2410230"/>
            <a:ext cx="1032914" cy="4109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165206" y="2410230"/>
            <a:ext cx="1081989" cy="4109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9368619" y="2113310"/>
            <a:ext cx="2332927" cy="707886"/>
          </a:xfrm>
          <a:prstGeom prst="rect">
            <a:avLst/>
          </a:prstGeom>
          <a:solidFill>
            <a:srgbClr val="163E94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패키지 리스트를 쓰면 제공하는 라이브러리가 모두 설치됨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4" name="직선 화살표 연결선 3"/>
          <p:cNvCxnSpPr>
            <a:stCxn id="10" idx="2"/>
          </p:cNvCxnSpPr>
          <p:nvPr/>
        </p:nvCxnSpPr>
        <p:spPr>
          <a:xfrm>
            <a:off x="6360861" y="2821196"/>
            <a:ext cx="0" cy="177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0617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1661375" y="2253803"/>
            <a:ext cx="8912180" cy="4288664"/>
          </a:xfrm>
          <a:prstGeom prst="roundRect">
            <a:avLst>
              <a:gd name="adj" fmla="val 4934"/>
            </a:avLst>
          </a:prstGeom>
          <a:noFill/>
          <a:ln w="38100">
            <a:solidFill>
              <a:srgbClr val="3AA8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Google Shape;135;p24"/>
          <p:cNvSpPr txBox="1">
            <a:spLocks noGrp="1"/>
          </p:cNvSpPr>
          <p:nvPr>
            <p:ph type="body" idx="4294967295"/>
          </p:nvPr>
        </p:nvSpPr>
        <p:spPr>
          <a:xfrm>
            <a:off x="1834177" y="2322464"/>
            <a:ext cx="8520600" cy="4347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fr-FR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(base) C:\Users\ai&gt;conda activate ml_py36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lang="fr-FR" altLang="ko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fr-FR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(ml_py36) C:\Users\ai&gt;python -V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fr-FR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Python 3.6.7 :: Anaconda, Inc.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endParaRPr lang="fr-FR" altLang="ko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fr-FR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(ml_py36) C:\Users\ai&gt;conda env list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fr-FR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# conda environments: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fr-FR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base                     D:\Anaconda3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  <a:buNone/>
            </a:pPr>
            <a:r>
              <a:rPr lang="fr-FR" altLang="ko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ml_py36               *  D:\Anaconda3\envs\ml_py36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567217"/>
            <a:ext cx="9149833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새로 생성한 </a:t>
            </a:r>
            <a:r>
              <a:rPr lang="en-US" altLang="ko-KR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conda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환경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(ml-py36)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을 활성화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1891343" y="2850228"/>
            <a:ext cx="1225345" cy="400110"/>
          </a:xfrm>
          <a:prstGeom prst="rect">
            <a:avLst/>
          </a:prstGeom>
          <a:solidFill>
            <a:srgbClr val="163E94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활성화된 환경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834177" y="2410230"/>
            <a:ext cx="805992" cy="4109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834176" y="3264375"/>
            <a:ext cx="1256753" cy="4109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1FB602C5-E855-4D86-B3E0-B12A2EADDDA0}"/>
              </a:ext>
            </a:extLst>
          </p:cNvPr>
          <p:cNvSpPr txBox="1"/>
          <p:nvPr/>
        </p:nvSpPr>
        <p:spPr>
          <a:xfrm>
            <a:off x="6218644" y="4502467"/>
            <a:ext cx="2126866" cy="400110"/>
          </a:xfrm>
          <a:prstGeom prst="rect">
            <a:avLst/>
          </a:prstGeom>
          <a:solidFill>
            <a:srgbClr val="163E94"/>
          </a:solidFill>
        </p:spPr>
        <p:txBody>
          <a:bodyPr wrap="square" rtlCol="0" anchor="ctr">
            <a:spAutoFit/>
          </a:bodyPr>
          <a:lstStyle/>
          <a:p>
            <a:pPr marL="14288" algn="ctr">
              <a:spcAft>
                <a:spcPts val="1200"/>
              </a:spcAft>
              <a:buSzPct val="80000"/>
            </a:pPr>
            <a:r>
              <a:rPr lang="ko-KR" altLang="en-US" sz="200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설치된 현재 환경 정보 출력</a:t>
            </a:r>
            <a:endParaRPr lang="en-US" altLang="ko-KR" sz="20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0917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59936B77-D2AF-4CC7-A065-A6C8038469C0}"/>
              </a:ext>
            </a:extLst>
          </p:cNvPr>
          <p:cNvGrpSpPr/>
          <p:nvPr/>
        </p:nvGrpSpPr>
        <p:grpSpPr>
          <a:xfrm>
            <a:off x="1656816" y="3257902"/>
            <a:ext cx="8878368" cy="349649"/>
            <a:chOff x="385449" y="2912549"/>
            <a:chExt cx="2153540" cy="0"/>
          </a:xfrm>
        </p:grpSpPr>
        <p:cxnSp>
          <p:nvCxnSpPr>
            <p:cNvPr id="4" name="직선 연결선 3">
              <a:extLst>
                <a:ext uri="{FF2B5EF4-FFF2-40B4-BE49-F238E27FC236}">
                  <a16:creationId xmlns="" xmlns:a16="http://schemas.microsoft.com/office/drawing/2014/main" id="{6FD7AC04-268F-4954-829A-C5CE5AC7BECE}"/>
                </a:ext>
              </a:extLst>
            </p:cNvPr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="" xmlns:a16="http://schemas.microsoft.com/office/drawing/2014/main" id="{87864A92-2A24-4328-A164-9E12EECAE563}"/>
                </a:ext>
              </a:extLst>
            </p:cNvPr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제목 13">
            <a:extLst>
              <a:ext uri="{FF2B5EF4-FFF2-40B4-BE49-F238E27FC236}">
                <a16:creationId xmlns="" xmlns:a16="http://schemas.microsoft.com/office/drawing/2014/main" id="{7EE843EC-B354-4A28-AE05-2BBC63C2A2B5}"/>
              </a:ext>
            </a:extLst>
          </p:cNvPr>
          <p:cNvSpPr txBox="1">
            <a:spLocks/>
          </p:cNvSpPr>
          <p:nvPr/>
        </p:nvSpPr>
        <p:spPr>
          <a:xfrm>
            <a:off x="-3046" y="2435161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실습 </a:t>
            </a:r>
            <a:r>
              <a:rPr lang="en-US" altLang="ko-KR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30177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graphicFrame>
        <p:nvGraphicFramePr>
          <p:cNvPr id="4" name="Google Shape;160;p28"/>
          <p:cNvGraphicFramePr/>
          <p:nvPr>
            <p:extLst>
              <p:ext uri="{D42A27DB-BD31-4B8C-83A1-F6EECF244321}">
                <p14:modId xmlns:p14="http://schemas.microsoft.com/office/powerpoint/2010/main" val="1440639040"/>
              </p:ext>
            </p:extLst>
          </p:nvPr>
        </p:nvGraphicFramePr>
        <p:xfrm>
          <a:off x="1752653" y="3362806"/>
          <a:ext cx="8743630" cy="144472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43630"/>
              </a:tblGrid>
              <a:tr h="138257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altLang="ko" sz="2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(ml_py36) C:\Users\ai&gt;jupyter notebook --generate-config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altLang="ko" sz="2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Writing default config to: C:\Users\ai\.jupyter\jupyter_notebook_config.py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fr-FR" altLang="ko" sz="24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스웨거 TTF" panose="020B0600000101010101" pitchFamily="50" charset="-127"/>
                        <a:ea typeface="스웨거 TTF" panose="020B0600000101010101" pitchFamily="50" charset="-127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2103375"/>
            <a:ext cx="9149833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Anaconda Prompt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에서 </a:t>
            </a: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Jupyter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Notebook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의 설정 파일을 생성하기 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위해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jupyter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notebook --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generate-</a:t>
            </a: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config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명령을 실행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6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 anchor="t"/>
          <a:lstStyle/>
          <a:p>
            <a:pPr marL="114300" lvl="0">
              <a:spcBef>
                <a:spcPts val="0"/>
              </a:spcBef>
              <a:buSzPts val="1800"/>
            </a:pPr>
            <a:r>
              <a:rPr lang="ko" altLang="ko-KR" dirty="0"/>
              <a:t>Jupyter Notebook 설정 및 실행하기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49632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graphicFrame>
        <p:nvGraphicFramePr>
          <p:cNvPr id="4" name="Google Shape;160;p28"/>
          <p:cNvGraphicFramePr/>
          <p:nvPr>
            <p:extLst>
              <p:ext uri="{D42A27DB-BD31-4B8C-83A1-F6EECF244321}">
                <p14:modId xmlns:p14="http://schemas.microsoft.com/office/powerpoint/2010/main" val="2382070353"/>
              </p:ext>
            </p:extLst>
          </p:nvPr>
        </p:nvGraphicFramePr>
        <p:xfrm>
          <a:off x="1872220" y="3649236"/>
          <a:ext cx="8444513" cy="270659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444513"/>
              </a:tblGrid>
              <a:tr h="138257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altLang="ko" sz="2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...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altLang="ko" sz="2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c.NotebookApp.open_browser = False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altLang="ko" sz="2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...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altLang="ko" sz="2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c.NotebookApp.port = 18888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fr-FR" altLang="ko" sz="24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...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fr-FR" altLang="ko" sz="2400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스웨거 TTF" panose="020B0600000101010101" pitchFamily="50" charset="-127"/>
                        <a:ea typeface="스웨거 TTF" panose="020B0600000101010101" pitchFamily="50" charset="-127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2103375"/>
            <a:ext cx="9149833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Jupyter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Notebook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의 설정 파일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(C:\Users\</a:t>
            </a:r>
            <a:r>
              <a:rPr lang="ko-KR" altLang="en-US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계정명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\.</a:t>
            </a: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jupyter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\ </a:t>
            </a:r>
            <a:r>
              <a:rPr lang="en-US" altLang="ko-KR" sz="24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jupyter_notebook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_</a:t>
            </a:r>
            <a:b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config.py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을 텍스트 편집기로 파일 열기하고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다음의 내용을 찾아 주석을 해제하고 값을 편집 후 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저장</a:t>
            </a: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53406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865203"/>
            <a:ext cx="9149833" cy="3896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설정을 마친 </a:t>
            </a: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Jupyter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Notebook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을 사용하기 위해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Anaconda Prompt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에서 </a:t>
            </a:r>
            <a:r>
              <a:rPr lang="en-US" altLang="ko-KR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jupyter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notebook</a:t>
            </a:r>
            <a:br>
              <a:rPr lang="en-US" altLang="ko-KR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명령을 실행</a:t>
            </a:r>
            <a:endParaRPr lang="en-US" altLang="ko-KR" sz="2400" dirty="0" smtClean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endParaRPr lang="en-US" altLang="ko-KR" sz="2400" dirty="0" smtClean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endParaRPr lang="en-US" altLang="ko-KR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endParaRPr lang="en-US" altLang="ko-KR" sz="2400" dirty="0" smtClean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터미널에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출력된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URL 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주소 전체를 복사해 웹 브라우저의 주소 표시줄에 </a:t>
            </a:r>
            <a:r>
              <a:rPr lang="ko-KR" altLang="en-US" sz="2400" dirty="0" err="1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붙여넣기해서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해당 </a:t>
            </a:r>
            <a:r>
              <a:rPr lang="en-US" altLang="ko-KR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URL</a:t>
            </a:r>
            <a:r>
              <a:rPr lang="ko-KR" altLang="en-US" sz="24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로 </a:t>
            </a:r>
            <a:r>
              <a:rPr lang="ko-KR" altLang="en-US" sz="24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이동</a:t>
            </a:r>
            <a:endParaRPr lang="ko-KR" altLang="en-US" sz="24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graphicFrame>
        <p:nvGraphicFramePr>
          <p:cNvPr id="4" name="Google Shape;160;p28"/>
          <p:cNvGraphicFramePr/>
          <p:nvPr>
            <p:extLst>
              <p:ext uri="{D42A27DB-BD31-4B8C-83A1-F6EECF244321}">
                <p14:modId xmlns:p14="http://schemas.microsoft.com/office/powerpoint/2010/main" val="3872205669"/>
              </p:ext>
            </p:extLst>
          </p:nvPr>
        </p:nvGraphicFramePr>
        <p:xfrm>
          <a:off x="1806317" y="3107999"/>
          <a:ext cx="8444513" cy="1935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444513"/>
              </a:tblGrid>
              <a:tr h="138257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" sz="2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(ml_py36) C:\Users\ai&gt;jupyter notebook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" sz="2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...   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" sz="2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Copy/paste this URL into your browser when you connect for the first time,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" sz="2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to login with a token:        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" sz="20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http://localhost:18888/?token=9cf7f357c13a0cd8062cf6d2f993e7a2f05dbb72e2e36e5a</a:t>
                      </a: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361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pic>
        <p:nvPicPr>
          <p:cNvPr id="6" name="Google Shape;222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531589" y="2124540"/>
            <a:ext cx="7125776" cy="3782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56142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2103375"/>
            <a:ext cx="9149833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명령모드</a:t>
            </a:r>
            <a:r>
              <a:rPr lang="en-US" altLang="ko-KR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블루 셀</a:t>
            </a:r>
            <a:r>
              <a:rPr lang="en-US" altLang="ko-KR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</a:p>
        </p:txBody>
      </p:sp>
      <p:pic>
        <p:nvPicPr>
          <p:cNvPr id="7" name="Google Shape;235;p39"/>
          <p:cNvPicPr preferRelativeResize="0"/>
          <p:nvPr/>
        </p:nvPicPr>
        <p:blipFill rotWithShape="1">
          <a:blip r:embed="rId3">
            <a:alphaModFix/>
          </a:blip>
          <a:srcRect t="3343"/>
          <a:stretch/>
        </p:blipFill>
        <p:spPr>
          <a:xfrm>
            <a:off x="2288566" y="2866768"/>
            <a:ext cx="7608775" cy="25212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53640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2103375"/>
            <a:ext cx="9149833" cy="594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편집모드</a:t>
            </a:r>
            <a:r>
              <a:rPr lang="en-US" altLang="ko-KR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그린 셀</a:t>
            </a:r>
            <a:r>
              <a:rPr lang="en-US" altLang="ko-KR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</a:p>
        </p:txBody>
      </p:sp>
      <p:pic>
        <p:nvPicPr>
          <p:cNvPr id="8" name="Google Shape;242;p40"/>
          <p:cNvPicPr preferRelativeResize="0"/>
          <p:nvPr/>
        </p:nvPicPr>
        <p:blipFill rotWithShape="1">
          <a:blip r:embed="rId3">
            <a:alphaModFix/>
          </a:blip>
          <a:srcRect t="4682"/>
          <a:stretch/>
        </p:blipFill>
        <p:spPr>
          <a:xfrm>
            <a:off x="2436786" y="2907956"/>
            <a:ext cx="7150625" cy="28136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8376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2103375"/>
            <a:ext cx="9149833" cy="59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명령모드에서 셀 </a:t>
            </a:r>
            <a:r>
              <a:rPr lang="ko-KR" altLang="en-US" sz="28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실행</a:t>
            </a:r>
            <a:r>
              <a:rPr lang="en-US" altLang="ko-KR" sz="28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ko-KR" altLang="en-US" sz="28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단축키</a:t>
            </a:r>
            <a:r>
              <a:rPr lang="en-US" altLang="ko-KR" sz="28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) </a:t>
            </a:r>
            <a:endParaRPr lang="en-US" altLang="ko-KR" sz="28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aphicFrame>
        <p:nvGraphicFramePr>
          <p:cNvPr id="4" name="Google Shape;160;p28"/>
          <p:cNvGraphicFramePr/>
          <p:nvPr>
            <p:extLst>
              <p:ext uri="{D42A27DB-BD31-4B8C-83A1-F6EECF244321}">
                <p14:modId xmlns:p14="http://schemas.microsoft.com/office/powerpoint/2010/main" val="4275060850"/>
              </p:ext>
            </p:extLst>
          </p:nvPr>
        </p:nvGraphicFramePr>
        <p:xfrm>
          <a:off x="1752653" y="3140933"/>
          <a:ext cx="8743630" cy="23042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743630"/>
              </a:tblGrid>
              <a:tr h="1382578">
                <a:tc>
                  <a:txBody>
                    <a:bodyPr/>
                    <a:lstStyle/>
                    <a:p>
                      <a:pPr marL="471488" lvl="1">
                        <a:lnSpc>
                          <a:spcPct val="130000"/>
                        </a:lnSpc>
                        <a:spcAft>
                          <a:spcPts val="1800"/>
                        </a:spcAft>
                        <a:buSzPct val="80000"/>
                      </a:pP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CTRL + Enter (</a:t>
                      </a:r>
                      <a:r>
                        <a:rPr lang="ko-KR" altLang="en-US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현재 셀 실행</a:t>
                      </a: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)</a:t>
                      </a:r>
                    </a:p>
                    <a:p>
                      <a:pPr marL="471488" lvl="1">
                        <a:lnSpc>
                          <a:spcPct val="130000"/>
                        </a:lnSpc>
                        <a:spcAft>
                          <a:spcPts val="1800"/>
                        </a:spcAft>
                        <a:buSzPct val="80000"/>
                      </a:pP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SHIFT + Enter (</a:t>
                      </a:r>
                      <a:r>
                        <a:rPr lang="ko-KR" altLang="en-US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현재 셀 실행 후 아래 셀로 이동</a:t>
                      </a: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) </a:t>
                      </a:r>
                    </a:p>
                    <a:p>
                      <a:pPr marL="471488" lvl="1">
                        <a:lnSpc>
                          <a:spcPct val="130000"/>
                        </a:lnSpc>
                        <a:spcAft>
                          <a:spcPts val="1800"/>
                        </a:spcAft>
                        <a:buSzPct val="80000"/>
                      </a:pP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ALT + Enter (</a:t>
                      </a:r>
                      <a:r>
                        <a:rPr lang="ko-KR" altLang="en-US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실행 후 아래에 셀 추가</a:t>
                      </a: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)</a:t>
                      </a: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01594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dirty="0"/>
              <a:t>머신러닝 개발환경 구성하기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678372"/>
            <a:ext cx="4485081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명령모드에서 셀 </a:t>
            </a:r>
            <a:r>
              <a:rPr lang="ko-KR" altLang="en-US" sz="28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추가</a:t>
            </a:r>
            <a:endParaRPr lang="en-US" altLang="ko-KR" sz="28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aphicFrame>
        <p:nvGraphicFramePr>
          <p:cNvPr id="4" name="Google Shape;160;p28"/>
          <p:cNvGraphicFramePr/>
          <p:nvPr>
            <p:extLst>
              <p:ext uri="{D42A27DB-BD31-4B8C-83A1-F6EECF244321}">
                <p14:modId xmlns:p14="http://schemas.microsoft.com/office/powerpoint/2010/main" val="3180182012"/>
              </p:ext>
            </p:extLst>
          </p:nvPr>
        </p:nvGraphicFramePr>
        <p:xfrm>
          <a:off x="1752653" y="2445474"/>
          <a:ext cx="4287539" cy="152092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87539"/>
              </a:tblGrid>
              <a:tr h="1382578">
                <a:tc>
                  <a:txBody>
                    <a:bodyPr/>
                    <a:lstStyle/>
                    <a:p>
                      <a:pPr marL="269875" lvl="1" indent="0">
                        <a:lnSpc>
                          <a:spcPct val="130000"/>
                        </a:lnSpc>
                        <a:spcAft>
                          <a:spcPts val="1800"/>
                        </a:spcAft>
                        <a:buSzPct val="80000"/>
                      </a:pP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A (</a:t>
                      </a:r>
                      <a:r>
                        <a:rPr lang="ko-KR" altLang="en-US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현재 셀 위에 셀 추가</a:t>
                      </a: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)</a:t>
                      </a:r>
                    </a:p>
                    <a:p>
                      <a:pPr marL="269875" lvl="1" indent="0">
                        <a:lnSpc>
                          <a:spcPct val="130000"/>
                        </a:lnSpc>
                        <a:spcAft>
                          <a:spcPts val="1800"/>
                        </a:spcAft>
                        <a:buSzPct val="80000"/>
                      </a:pP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B (</a:t>
                      </a:r>
                      <a:r>
                        <a:rPr lang="ko-KR" altLang="en-US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현재 셀 아래 셀 추가</a:t>
                      </a: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)</a:t>
                      </a:r>
                      <a:endParaRPr lang="en-US" alt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스웨거 TTF" panose="020B0600000101010101" pitchFamily="50" charset="-127"/>
                        <a:ea typeface="스웨거 TTF" panose="020B0600000101010101" pitchFamily="50" charset="-127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6281658" y="1678372"/>
            <a:ext cx="4485081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명령모드에서 셀 </a:t>
            </a:r>
            <a:r>
              <a:rPr lang="ko-KR" altLang="en-US" sz="28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복사 및 </a:t>
            </a:r>
            <a:r>
              <a:rPr lang="ko-KR" altLang="en-US" sz="2800" dirty="0" err="1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붙여넣기</a:t>
            </a:r>
            <a:endParaRPr lang="en-US" altLang="ko-KR" sz="28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aphicFrame>
        <p:nvGraphicFramePr>
          <p:cNvPr id="7" name="Google Shape;160;p28"/>
          <p:cNvGraphicFramePr/>
          <p:nvPr>
            <p:extLst>
              <p:ext uri="{D42A27DB-BD31-4B8C-83A1-F6EECF244321}">
                <p14:modId xmlns:p14="http://schemas.microsoft.com/office/powerpoint/2010/main" val="1758315440"/>
              </p:ext>
            </p:extLst>
          </p:nvPr>
        </p:nvGraphicFramePr>
        <p:xfrm>
          <a:off x="6479200" y="2445474"/>
          <a:ext cx="4287539" cy="152092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87539"/>
              </a:tblGrid>
              <a:tr h="1382578">
                <a:tc>
                  <a:txBody>
                    <a:bodyPr/>
                    <a:lstStyle/>
                    <a:p>
                      <a:pPr marL="269875" lvl="1" indent="0">
                        <a:lnSpc>
                          <a:spcPct val="130000"/>
                        </a:lnSpc>
                        <a:spcAft>
                          <a:spcPts val="1800"/>
                        </a:spcAft>
                        <a:buSzPct val="80000"/>
                      </a:pP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C (</a:t>
                      </a:r>
                      <a:r>
                        <a:rPr lang="ko-KR" altLang="en-US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선택한 셀 복사</a:t>
                      </a: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)</a:t>
                      </a:r>
                    </a:p>
                    <a:p>
                      <a:pPr marL="269875" lvl="1" indent="0">
                        <a:lnSpc>
                          <a:spcPct val="130000"/>
                        </a:lnSpc>
                        <a:spcAft>
                          <a:spcPts val="1800"/>
                        </a:spcAft>
                        <a:buSzPct val="80000"/>
                      </a:pP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V (</a:t>
                      </a:r>
                      <a:r>
                        <a:rPr lang="ko-KR" altLang="en-US" sz="280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붙여넣기</a:t>
                      </a: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)</a:t>
                      </a:r>
                      <a:endParaRPr lang="en-US" alt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스웨거 TTF" panose="020B0600000101010101" pitchFamily="50" charset="-127"/>
                        <a:ea typeface="스웨거 TTF" panose="020B0600000101010101" pitchFamily="50" charset="-127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4202631"/>
            <a:ext cx="4485081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30000"/>
              </a:lnSpc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800" dirty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명령모드에서 셀 </a:t>
            </a:r>
            <a:r>
              <a:rPr lang="ko-KR" altLang="en-US" sz="2800" dirty="0" smtClean="0">
                <a:solidFill>
                  <a:srgbClr val="3AA8D8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삭제</a:t>
            </a:r>
            <a:endParaRPr lang="en-US" altLang="ko-KR" sz="2800" dirty="0">
              <a:solidFill>
                <a:srgbClr val="3AA8D8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aphicFrame>
        <p:nvGraphicFramePr>
          <p:cNvPr id="11" name="Google Shape;160;p28"/>
          <p:cNvGraphicFramePr/>
          <p:nvPr>
            <p:extLst>
              <p:ext uri="{D42A27DB-BD31-4B8C-83A1-F6EECF244321}">
                <p14:modId xmlns:p14="http://schemas.microsoft.com/office/powerpoint/2010/main" val="2655155135"/>
              </p:ext>
            </p:extLst>
          </p:nvPr>
        </p:nvGraphicFramePr>
        <p:xfrm>
          <a:off x="1752653" y="4969733"/>
          <a:ext cx="4287539" cy="138257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287539"/>
              </a:tblGrid>
              <a:tr h="1382578">
                <a:tc>
                  <a:txBody>
                    <a:bodyPr/>
                    <a:lstStyle/>
                    <a:p>
                      <a:pPr marL="269875" lvl="1" indent="0">
                        <a:lnSpc>
                          <a:spcPct val="130000"/>
                        </a:lnSpc>
                        <a:spcAft>
                          <a:spcPts val="1800"/>
                        </a:spcAft>
                        <a:buSzPct val="80000"/>
                      </a:pP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DD (</a:t>
                      </a:r>
                      <a:r>
                        <a:rPr lang="ko-KR" altLang="en-US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현재 셀 삭제</a:t>
                      </a:r>
                      <a:r>
                        <a:rPr lang="en-US" altLang="ko-KR" sz="280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스웨거 TTF" panose="020B0600000101010101" pitchFamily="50" charset="-127"/>
                          <a:ea typeface="스웨거 TTF" panose="020B0600000101010101" pitchFamily="50" charset="-127"/>
                        </a:rPr>
                        <a:t>)</a:t>
                      </a:r>
                      <a:endParaRPr lang="en-US" altLang="ko-KR" sz="28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스웨거 TTF" panose="020B0600000101010101" pitchFamily="50" charset="-127"/>
                        <a:ea typeface="스웨거 TTF" panose="020B0600000101010101" pitchFamily="50" charset="-127"/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878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59936B77-D2AF-4CC7-A065-A6C8038469C0}"/>
              </a:ext>
            </a:extLst>
          </p:cNvPr>
          <p:cNvGrpSpPr/>
          <p:nvPr/>
        </p:nvGrpSpPr>
        <p:grpSpPr>
          <a:xfrm>
            <a:off x="1656816" y="3257902"/>
            <a:ext cx="8878368" cy="349649"/>
            <a:chOff x="385449" y="2912549"/>
            <a:chExt cx="2153540" cy="0"/>
          </a:xfrm>
        </p:grpSpPr>
        <p:cxnSp>
          <p:nvCxnSpPr>
            <p:cNvPr id="4" name="직선 연결선 3">
              <a:extLst>
                <a:ext uri="{FF2B5EF4-FFF2-40B4-BE49-F238E27FC236}">
                  <a16:creationId xmlns="" xmlns:a16="http://schemas.microsoft.com/office/drawing/2014/main" id="{6FD7AC04-268F-4954-829A-C5CE5AC7BECE}"/>
                </a:ext>
              </a:extLst>
            </p:cNvPr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직선 연결선 4">
              <a:extLst>
                <a:ext uri="{FF2B5EF4-FFF2-40B4-BE49-F238E27FC236}">
                  <a16:creationId xmlns="" xmlns:a16="http://schemas.microsoft.com/office/drawing/2014/main" id="{87864A92-2A24-4328-A164-9E12EECAE563}"/>
                </a:ext>
              </a:extLst>
            </p:cNvPr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제목 13">
            <a:extLst>
              <a:ext uri="{FF2B5EF4-FFF2-40B4-BE49-F238E27FC236}">
                <a16:creationId xmlns="" xmlns:a16="http://schemas.microsoft.com/office/drawing/2014/main" id="{7EE843EC-B354-4A28-AE05-2BBC63C2A2B5}"/>
              </a:ext>
            </a:extLst>
          </p:cNvPr>
          <p:cNvSpPr txBox="1">
            <a:spLocks/>
          </p:cNvSpPr>
          <p:nvPr/>
        </p:nvSpPr>
        <p:spPr>
          <a:xfrm>
            <a:off x="-3046" y="2435161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실습 </a:t>
            </a:r>
            <a:r>
              <a:rPr lang="en-US" altLang="ko-K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387031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" altLang="ko-KR" smtClean="0"/>
              <a:t>주요 </a:t>
            </a:r>
            <a:r>
              <a:rPr lang="ko" altLang="ko-KR" dirty="0"/>
              <a:t>정리</a:t>
            </a:r>
            <a:endParaRPr lang="ko-KR" altLang="en-US" dirty="0"/>
          </a:p>
        </p:txBody>
      </p:sp>
      <p:grpSp>
        <p:nvGrpSpPr>
          <p:cNvPr id="58" name="그룹 57"/>
          <p:cNvGrpSpPr/>
          <p:nvPr/>
        </p:nvGrpSpPr>
        <p:grpSpPr>
          <a:xfrm>
            <a:off x="1609058" y="1786843"/>
            <a:ext cx="8930109" cy="954107"/>
            <a:chOff x="1609058" y="1786843"/>
            <a:chExt cx="8930109" cy="95410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1786843"/>
              <a:ext cx="8349161" cy="95410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지도학습은 레이블을 가진 데이터를 이용해 학습하는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머신러닝의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방식으로 회귀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</a:t>
              </a:r>
            </a:p>
            <a:p>
              <a:pPr marL="14288"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분류와 같은 문제를 해결할 수 있습니다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1979275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5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6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7" name="그룹 56"/>
          <p:cNvGrpSpPr/>
          <p:nvPr/>
        </p:nvGrpSpPr>
        <p:grpSpPr>
          <a:xfrm>
            <a:off x="1609058" y="2928578"/>
            <a:ext cx="8930109" cy="954107"/>
            <a:chOff x="1609058" y="2894426"/>
            <a:chExt cx="8930109" cy="95410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2894426"/>
              <a:ext cx="8349161" cy="95410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800" dirty="0" err="1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비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지도학습은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레이블이 없는 데이터를 이용해 학습하는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머신러닝의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방식으로 군집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차원축소와 같은 문제를 해결할 수 있습니다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308685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6" name="그룹 55"/>
          <p:cNvGrpSpPr/>
          <p:nvPr/>
        </p:nvGrpSpPr>
        <p:grpSpPr>
          <a:xfrm>
            <a:off x="1609058" y="4070313"/>
            <a:ext cx="8930109" cy="954107"/>
            <a:chOff x="1609058" y="4038396"/>
            <a:chExt cx="8930109" cy="954107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4038396"/>
              <a:ext cx="8349161" cy="954107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ko-KR" altLang="en-US" sz="28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파이썬을</a:t>
              </a:r>
              <a:r>
                <a:rPr lang="ko-KR" altLang="en-US" sz="28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위한 </a:t>
              </a:r>
              <a:r>
                <a:rPr lang="ko-KR" altLang="en-US" sz="28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머신러닝</a:t>
              </a:r>
              <a:r>
                <a:rPr lang="ko-KR" altLang="en-US" sz="28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개발을 위해 최신의 아나콘다 </a:t>
              </a:r>
              <a:r>
                <a:rPr lang="ko-KR" altLang="en-US" sz="28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배포판을</a:t>
              </a:r>
              <a:r>
                <a:rPr lang="ko-KR" altLang="en-US" sz="28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설치하고</a:t>
              </a:r>
              <a:r>
                <a:rPr lang="en-US" altLang="ko-KR" sz="28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</a:t>
              </a:r>
              <a:r>
                <a:rPr lang="en-US" altLang="ko-KR" sz="2800" spc="-5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conda</a:t>
              </a:r>
              <a:r>
                <a:rPr lang="ko-KR" altLang="en-US" sz="2800" spc="-5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의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en-US" altLang="ko-KR" sz="2800" spc="-7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create </a:t>
              </a:r>
              <a:r>
                <a:rPr lang="ko-KR" altLang="en-US" sz="2800" spc="-7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명령을 이용해 가상환경을 구성하고</a:t>
              </a:r>
              <a:r>
                <a:rPr lang="en-US" altLang="ko-KR" sz="2800" spc="-7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, install </a:t>
              </a:r>
              <a:r>
                <a:rPr lang="ko-KR" altLang="en-US" sz="2800" spc="-7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명령으로 라이브러리를 설치합니다</a:t>
              </a:r>
              <a:r>
                <a:rPr lang="en-US" altLang="ko-KR" sz="2800" spc="-7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spc="-7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4230828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7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8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55" name="그룹 54"/>
          <p:cNvGrpSpPr/>
          <p:nvPr/>
        </p:nvGrpSpPr>
        <p:grpSpPr>
          <a:xfrm>
            <a:off x="1609058" y="5212047"/>
            <a:ext cx="8930109" cy="1384995"/>
            <a:chOff x="1609058" y="5212047"/>
            <a:chExt cx="8930109" cy="138499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190006" y="5212047"/>
              <a:ext cx="8349161" cy="1384995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Conda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의 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activate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명령으로 가상환경을 활성화하고 </a:t>
              </a: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jupyter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notebook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명령의 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–generate-</a:t>
              </a: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config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옵션으로 생성한 주피터 노트북 설정파일을 편집한 후 다시 </a:t>
              </a: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jupyter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notebook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명령으로 주피터 노트북을 실행합니다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.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609058" y="561992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5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99910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2577</TotalTime>
  <Words>1296</Words>
  <Application>Microsoft Office PowerPoint</Application>
  <PresentationFormat>와이드스크린</PresentationFormat>
  <Paragraphs>252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5" baseType="lpstr">
      <vt:lpstr>Impact</vt:lpstr>
      <vt:lpstr>나눔스퀘어 Bold</vt:lpstr>
      <vt:lpstr>나눔바른고딕</vt:lpstr>
      <vt:lpstr>Arial</vt:lpstr>
      <vt:lpstr>스웨거 TTF</vt:lpstr>
      <vt:lpstr>맑은 고딕</vt:lpstr>
      <vt:lpstr>1_Office 테마</vt:lpstr>
      <vt:lpstr>PowerPoint 프레젠테이션</vt:lpstr>
      <vt:lpstr>PowerPoint 프레젠테이션</vt:lpstr>
      <vt:lpstr>머신러닝이란?</vt:lpstr>
      <vt:lpstr>전통적인 접근방법</vt:lpstr>
      <vt:lpstr>머신러닝 접근방법</vt:lpstr>
      <vt:lpstr>머신러닝을 사용하는 이유 - 자동으로 변화에 적응</vt:lpstr>
      <vt:lpstr>머신러닝을 사용하는 이유 - 새로운 패턴을 발견</vt:lpstr>
      <vt:lpstr>지도 방식에 따른 분류</vt:lpstr>
      <vt:lpstr>지도 방식에 따른 분류</vt:lpstr>
      <vt:lpstr>지도 방식에 따른 분류</vt:lpstr>
      <vt:lpstr>지도 방식에 따른 분류</vt:lpstr>
      <vt:lpstr>강화 학습</vt:lpstr>
      <vt:lpstr>준지도 학습</vt:lpstr>
      <vt:lpstr>준지도 학습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PowerPoint 프레젠테이션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머신러닝 개발환경 구성하기</vt:lpstr>
      <vt:lpstr>PowerPoint 프레젠테이션</vt:lpstr>
      <vt:lpstr>주요 정리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573</cp:revision>
  <dcterms:created xsi:type="dcterms:W3CDTF">2019-01-19T08:23:23Z</dcterms:created>
  <dcterms:modified xsi:type="dcterms:W3CDTF">2020-03-10T06:33:37Z</dcterms:modified>
</cp:coreProperties>
</file>