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27"/>
  </p:notesMasterIdLst>
  <p:handoutMasterIdLst>
    <p:handoutMasterId r:id="rId28"/>
  </p:handoutMasterIdLst>
  <p:sldIdLst>
    <p:sldId id="314" r:id="rId2"/>
    <p:sldId id="261" r:id="rId3"/>
    <p:sldId id="331" r:id="rId4"/>
    <p:sldId id="330" r:id="rId5"/>
    <p:sldId id="332" r:id="rId6"/>
    <p:sldId id="334" r:id="rId7"/>
    <p:sldId id="267" r:id="rId8"/>
    <p:sldId id="333" r:id="rId9"/>
    <p:sldId id="335" r:id="rId10"/>
    <p:sldId id="315" r:id="rId11"/>
    <p:sldId id="336" r:id="rId12"/>
    <p:sldId id="337" r:id="rId13"/>
    <p:sldId id="339" r:id="rId14"/>
    <p:sldId id="338" r:id="rId15"/>
    <p:sldId id="316" r:id="rId16"/>
    <p:sldId id="340" r:id="rId17"/>
    <p:sldId id="341" r:id="rId18"/>
    <p:sldId id="317" r:id="rId19"/>
    <p:sldId id="342" r:id="rId20"/>
    <p:sldId id="343" r:id="rId21"/>
    <p:sldId id="318" r:id="rId22"/>
    <p:sldId id="319" r:id="rId23"/>
    <p:sldId id="344" r:id="rId24"/>
    <p:sldId id="320" r:id="rId25"/>
    <p:sldId id="308" r:id="rId26"/>
  </p:sldIdLst>
  <p:sldSz cx="12192000" cy="6858000"/>
  <p:notesSz cx="6858000" cy="9144000"/>
  <p:embeddedFontLst>
    <p:embeddedFont>
      <p:font typeface="나눔바른고딕" panose="020B0603020101020101" pitchFamily="50" charset="-127"/>
      <p:regular r:id="rId29"/>
      <p:bold r:id="rId30"/>
    </p:embeddedFont>
    <p:embeddedFont>
      <p:font typeface="Cambria Math" panose="02040503050406030204" pitchFamily="18" charset="0"/>
      <p:regular r:id="rId31"/>
    </p:embeddedFont>
    <p:embeddedFont>
      <p:font typeface="Impact" panose="020B0806030902050204" pitchFamily="34" charset="0"/>
      <p:regular r:id="rId32"/>
    </p:embeddedFont>
    <p:embeddedFont>
      <p:font typeface="휴먼모음T" panose="02030504000101010101" pitchFamily="18" charset="-127"/>
      <p:regular r:id="rId33"/>
    </p:embeddedFont>
    <p:embeddedFont>
      <p:font typeface="나눔스퀘어 Bold" panose="020B0600000101010101" pitchFamily="50" charset="-127"/>
      <p:bold r:id="rId34"/>
    </p:embeddedFont>
    <p:embeddedFont>
      <p:font typeface="스웨거 TTF" panose="020B0600000101010101" pitchFamily="50" charset="-127"/>
      <p:regular r:id="rId35"/>
    </p:embeddedFont>
    <p:embeddedFont>
      <p:font typeface="맑은 고딕" panose="020B0503020000020004" pitchFamily="50" charset="-127"/>
      <p:regular r:id="rId36"/>
      <p:bold r:id="rId3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A8CF"/>
    <a:srgbClr val="FBFBFB"/>
    <a:srgbClr val="163E94"/>
    <a:srgbClr val="95D5E1"/>
    <a:srgbClr val="36AAD9"/>
    <a:srgbClr val="173F95"/>
    <a:srgbClr val="000000"/>
    <a:srgbClr val="9D6D6C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6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29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font" Target="fonts/font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="" xmlns:a16="http://schemas.microsoft.com/office/drawing/2014/main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="" xmlns:a16="http://schemas.microsoft.com/office/drawing/2014/main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7886" y="2852777"/>
            <a:ext cx="89725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4. </a:t>
            </a:r>
            <a:r>
              <a:rPr lang="ko-KR" altLang="en-US" sz="6600" b="1" spc="-300" dirty="0" err="1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머신러닝을</a:t>
            </a:r>
            <a:r>
              <a:rPr lang="ko-KR" altLang="en-US" sz="6600" b="1" spc="-30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위한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통계 모델링의 이해</a:t>
            </a:r>
            <a:endParaRPr lang="ko-KR" altLang="en-US" sz="6600" b="1" spc="-30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60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그룹 6"/>
          <p:cNvGrpSpPr/>
          <p:nvPr/>
        </p:nvGrpSpPr>
        <p:grpSpPr>
          <a:xfrm>
            <a:off x="1986130" y="1953785"/>
            <a:ext cx="8345735" cy="546232"/>
            <a:chOff x="1986130" y="2609767"/>
            <a:chExt cx="8345735" cy="546232"/>
          </a:xfrm>
        </p:grpSpPr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9" y="2632779"/>
              <a:ext cx="7764786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통계학의 용어와 통계 모델링에 대해 살펴본다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2609767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7" name="그룹 26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9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0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8" name="TextBox 27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45" name="그룹 44"/>
          <p:cNvGrpSpPr/>
          <p:nvPr/>
        </p:nvGrpSpPr>
        <p:grpSpPr>
          <a:xfrm>
            <a:off x="1986130" y="3074248"/>
            <a:ext cx="8345735" cy="542649"/>
            <a:chOff x="1986130" y="3730230"/>
            <a:chExt cx="8345735" cy="542649"/>
          </a:xfrm>
        </p:grpSpPr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374965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기술 통계학과 추론 통계학의 핵심 내용에 대해 살펴본다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373023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3" name="그룹 32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5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6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34" name="TextBox 33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sp>
        <p:nvSpPr>
          <p:cNvPr id="37" name="TextBox 36"/>
          <p:cNvSpPr txBox="1"/>
          <p:nvPr/>
        </p:nvSpPr>
        <p:spPr>
          <a:xfrm>
            <a:off x="9906000" y="1953785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스웨거 TTF" panose="020B0600000101010101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906001" y="3090139"/>
            <a:ext cx="3369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5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스웨거 TTF" panose="020B0600000101010101" pitchFamily="50" charset="-127"/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1986130" y="4227825"/>
            <a:ext cx="8345735" cy="542649"/>
            <a:chOff x="1986130" y="4883807"/>
            <a:chExt cx="8345735" cy="542649"/>
          </a:xfrm>
        </p:grpSpPr>
        <p:sp>
          <p:nvSpPr>
            <p:cNvPr id="39" name="TextBox 38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4903236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가설 검정의 방법과 절차에 대해 살펴본다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4883807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1" name="그룹 40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3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4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sp>
        <p:nvSpPr>
          <p:cNvPr id="48" name="TextBox 47"/>
          <p:cNvSpPr txBox="1"/>
          <p:nvPr/>
        </p:nvSpPr>
        <p:spPr>
          <a:xfrm>
            <a:off x="9753714" y="4249222"/>
            <a:ext cx="489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14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통계학이란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61A756B-0E00-489D-808E-F421EA8214E0}"/>
              </a:ext>
            </a:extLst>
          </p:cNvPr>
          <p:cNvSpPr txBox="1"/>
          <p:nvPr/>
        </p:nvSpPr>
        <p:spPr>
          <a:xfrm>
            <a:off x="1133776" y="2516064"/>
            <a:ext cx="9921402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 데이터의 수집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분석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해석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표현 등을 다루는 수학의 한 분야로 크게 기술 통계학과 추론 통계학으로 분류됨</a:t>
            </a:r>
            <a:endParaRPr lang="en-US" altLang="ko-KR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endParaRPr lang="en-US" altLang="ko-KR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 통계학 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연속형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데이터            평균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표준편차와 같은 자료 요약</a:t>
            </a:r>
            <a:endParaRPr lang="en-US" altLang="ko-KR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4288">
              <a:spcAft>
                <a:spcPts val="1200"/>
              </a:spcAft>
              <a:buSzPct val="80000"/>
            </a:pP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  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범주형 데이터            빈도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백분율과 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같은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자료 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요약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추론 통계학 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표본이라 불리는 일부 자료를 수집해 전체 </a:t>
            </a:r>
            <a:r>
              <a:rPr lang="ko-KR" altLang="en-US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모집합에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대한 결론을 유추</a:t>
            </a:r>
            <a:endParaRPr lang="en-US" altLang="ko-KR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4288">
              <a:spcAft>
                <a:spcPts val="1200"/>
              </a:spcAft>
              <a:buSzPct val="80000"/>
            </a:pP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  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추론은 가설 검정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수치의 특징 계산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간의 상관관계 등을 통해 이루어짐</a:t>
            </a:r>
            <a:endParaRPr lang="en-US" altLang="ko-KR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4288">
              <a:spcAft>
                <a:spcPts val="1200"/>
              </a:spcAft>
              <a:buSzPct val="80000"/>
            </a:pP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L="265113" indent="-250825">
              <a:spcAft>
                <a:spcPts val="1200"/>
              </a:spcAft>
              <a:buSzPct val="80000"/>
              <a:buBlip>
                <a:blip r:embed="rId2"/>
              </a:buBlip>
            </a:pP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데이터에 통계학을 적용해 변수의 유의성을 분석함으로써 데이터의 숨겨진 특징을 찾아내는 것을 통계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모델링이라고 함</a:t>
            </a:r>
            <a:endParaRPr lang="en-US" altLang="ko-KR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="" xmlns:a16="http://schemas.microsoft.com/office/drawing/2014/main" id="{C662B3EE-B88D-4548-BA26-7EAD03EB3E9A}"/>
              </a:ext>
            </a:extLst>
          </p:cNvPr>
          <p:cNvGrpSpPr/>
          <p:nvPr/>
        </p:nvGrpSpPr>
        <p:grpSpPr>
          <a:xfrm>
            <a:off x="4120395" y="1874859"/>
            <a:ext cx="3951209" cy="513261"/>
            <a:chOff x="6591542" y="2491579"/>
            <a:chExt cx="4311531" cy="623886"/>
          </a:xfrm>
        </p:grpSpPr>
        <p:grpSp>
          <p:nvGrpSpPr>
            <p:cNvPr id="6" name="그룹 5">
              <a:extLst>
                <a:ext uri="{FF2B5EF4-FFF2-40B4-BE49-F238E27FC236}">
                  <a16:creationId xmlns="" xmlns:a16="http://schemas.microsoft.com/office/drawing/2014/main" id="{53553AF3-D3F6-48AE-BE1E-27A36AAACACB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</p:grpSpPr>
          <p:sp>
            <p:nvSpPr>
              <p:cNvPr id="8" name="오른쪽 대괄호 8">
                <a:extLst>
                  <a:ext uri="{FF2B5EF4-FFF2-40B4-BE49-F238E27FC236}">
                    <a16:creationId xmlns="" xmlns:a16="http://schemas.microsoft.com/office/drawing/2014/main" id="{B5EC88CB-C3C6-4B80-8229-0D062B917CE9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9" name="오른쪽 대괄호 8">
                <a:extLst>
                  <a:ext uri="{FF2B5EF4-FFF2-40B4-BE49-F238E27FC236}">
                    <a16:creationId xmlns="" xmlns:a16="http://schemas.microsoft.com/office/drawing/2014/main" id="{59022FD4-E5DB-47B1-AA2E-1F1B953BB8FF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55FFD393-6DFB-460E-B3AC-CFB9CBF9850E}"/>
                </a:ext>
              </a:extLst>
            </p:cNvPr>
            <p:cNvSpPr txBox="1"/>
            <p:nvPr/>
          </p:nvSpPr>
          <p:spPr>
            <a:xfrm>
              <a:off x="6591542" y="2543175"/>
              <a:ext cx="4311531" cy="561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b="1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통계학</a:t>
              </a:r>
              <a:endParaRPr lang="en-US" altLang="ko-KR" sz="2400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12" name="오른쪽 화살표 11"/>
          <p:cNvSpPr/>
          <p:nvPr/>
        </p:nvSpPr>
        <p:spPr>
          <a:xfrm>
            <a:off x="4130642" y="3681237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화살표 12"/>
          <p:cNvSpPr/>
          <p:nvPr/>
        </p:nvSpPr>
        <p:spPr>
          <a:xfrm>
            <a:off x="3941799" y="4113723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8646122" y="3622187"/>
            <a:ext cx="1392400" cy="400110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키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나이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가격 등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8646122" y="4071501"/>
            <a:ext cx="1392400" cy="400110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성별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성씨 등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63723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이해에 필요한 통계학 핵심 개념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451113" y="1813675"/>
            <a:ext cx="9470376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12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통계 모델은 수학적 모델            변수들로 이루어진 수학식을 계산해 실제 값을 추정하는 방법</a:t>
            </a:r>
            <a:endParaRPr lang="en-US" altLang="ko-KR" sz="2000" spc="-12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12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통계 모델을 이루는 여러 가정은 확률 분포를 따름</a:t>
            </a:r>
            <a:endParaRPr lang="en-US" altLang="ko-KR" sz="2000" spc="-12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통계 모델은 모든 변수가 만족해야 하는 기본 가정으로 시작하며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조건이 만족할 때만 </a:t>
            </a:r>
            <a:r>
              <a:rPr lang="ko-KR" altLang="en-US" sz="2000" spc="-12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모델의 성능이 통계학적으로 의미를 가짐 </a:t>
            </a:r>
            <a:endParaRPr lang="ko-KR" altLang="en-US" sz="2000" spc="-12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오른쪽 화살표 3"/>
          <p:cNvSpPr/>
          <p:nvPr/>
        </p:nvSpPr>
        <p:spPr>
          <a:xfrm>
            <a:off x="4158937" y="1916280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0176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이해에 필요한 통계학 핵심 개념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6320" y="2119849"/>
            <a:ext cx="9259962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모집단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모든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관측값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또는 분석 대상의 전체 데이터를 의미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표본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모집단의 부분 집합으로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분석 대상 중인 전체 데이터의 일부분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모집단과 표본</a:t>
            </a:r>
            <a:endParaRPr lang="ko-KR" altLang="en-US" dirty="0"/>
          </a:p>
        </p:txBody>
      </p:sp>
      <p:sp>
        <p:nvSpPr>
          <p:cNvPr id="7" name="타원 6"/>
          <p:cNvSpPr/>
          <p:nvPr/>
        </p:nvSpPr>
        <p:spPr>
          <a:xfrm>
            <a:off x="2916195" y="3870804"/>
            <a:ext cx="3196281" cy="201101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4506099" y="4399007"/>
            <a:ext cx="1449859" cy="856735"/>
          </a:xfrm>
          <a:prstGeom prst="ellipse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7956387" y="4452060"/>
            <a:ext cx="1449859" cy="85673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오른쪽 화살표 9"/>
          <p:cNvSpPr/>
          <p:nvPr/>
        </p:nvSpPr>
        <p:spPr>
          <a:xfrm>
            <a:off x="6524369" y="4592103"/>
            <a:ext cx="864973" cy="568411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208104" y="4691450"/>
            <a:ext cx="1006088" cy="271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모집단</a:t>
            </a:r>
            <a:endParaRPr lang="ko-KR" altLang="en-US" sz="16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885038" y="4691450"/>
            <a:ext cx="691979" cy="271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표본</a:t>
            </a:r>
            <a:endParaRPr lang="ko-KR" altLang="en-US" sz="16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8335327" y="4740384"/>
            <a:ext cx="691979" cy="271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표본</a:t>
            </a:r>
            <a:endParaRPr lang="ko-KR" altLang="en-US" sz="16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03723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이해에 필요한 통계학 핵심 개념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462973" y="2119849"/>
            <a:ext cx="9259962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모수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모집단의 특징을 나타내는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수치값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통계량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표본의 특징을 나타내는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수치값으로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모수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추정을 위해 사용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4288">
              <a:lnSpc>
                <a:spcPct val="130000"/>
              </a:lnSpc>
              <a:spcAft>
                <a:spcPts val="1800"/>
              </a:spcAft>
              <a:buSzPct val="80000"/>
            </a:pP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평균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중앙값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최빈값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분산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등과 같은 데이터를 대표하는 값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endParaRPr lang="ko-KR" altLang="en-US" sz="20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err="1" smtClean="0"/>
              <a:t>모수와</a:t>
            </a:r>
            <a:r>
              <a:rPr lang="ko-KR" altLang="en-US" dirty="0" smtClean="0"/>
              <a:t> 통계량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702789" y="4151174"/>
            <a:ext cx="3390165" cy="707886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통계량이 실제 모집단을 대표하는 값이 될 때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7030A0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통계적 유의성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을 확보할 수 있음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36390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이해에 필요한 통계학 핵심 개념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평균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중간값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최빈값</a:t>
            </a:r>
            <a:endParaRPr lang="ko-KR" altLang="en-US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3476368" y="6005383"/>
            <a:ext cx="62442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stCxn id="19" idx="2"/>
          </p:cNvCxnSpPr>
          <p:nvPr/>
        </p:nvCxnSpPr>
        <p:spPr>
          <a:xfrm flipH="1">
            <a:off x="5041107" y="2756474"/>
            <a:ext cx="451" cy="3248909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>
            <a:stCxn id="20" idx="2"/>
          </p:cNvCxnSpPr>
          <p:nvPr/>
        </p:nvCxnSpPr>
        <p:spPr>
          <a:xfrm>
            <a:off x="5329883" y="3114818"/>
            <a:ext cx="0" cy="2890565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>
            <a:stCxn id="18" idx="2"/>
          </p:cNvCxnSpPr>
          <p:nvPr/>
        </p:nvCxnSpPr>
        <p:spPr>
          <a:xfrm>
            <a:off x="5618206" y="3460810"/>
            <a:ext cx="8238" cy="2544573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자유형 16"/>
          <p:cNvSpPr/>
          <p:nvPr/>
        </p:nvSpPr>
        <p:spPr>
          <a:xfrm>
            <a:off x="4201297" y="3319848"/>
            <a:ext cx="4967417" cy="2644346"/>
          </a:xfrm>
          <a:custGeom>
            <a:avLst/>
            <a:gdLst>
              <a:gd name="connsiteX0" fmla="*/ 0 w 5420498"/>
              <a:gd name="connsiteY0" fmla="*/ 3110235 h 3110235"/>
              <a:gd name="connsiteX1" fmla="*/ 288325 w 5420498"/>
              <a:gd name="connsiteY1" fmla="*/ 2929003 h 3110235"/>
              <a:gd name="connsiteX2" fmla="*/ 486033 w 5420498"/>
              <a:gd name="connsiteY2" fmla="*/ 2508873 h 3110235"/>
              <a:gd name="connsiteX3" fmla="*/ 601363 w 5420498"/>
              <a:gd name="connsiteY3" fmla="*/ 1413241 h 3110235"/>
              <a:gd name="connsiteX4" fmla="*/ 659027 w 5420498"/>
              <a:gd name="connsiteY4" fmla="*/ 292895 h 3110235"/>
              <a:gd name="connsiteX5" fmla="*/ 799071 w 5420498"/>
              <a:gd name="connsiteY5" fmla="*/ 37522 h 3110235"/>
              <a:gd name="connsiteX6" fmla="*/ 1062681 w 5420498"/>
              <a:gd name="connsiteY6" fmla="*/ 21046 h 3110235"/>
              <a:gd name="connsiteX7" fmla="*/ 1392195 w 5420498"/>
              <a:gd name="connsiteY7" fmla="*/ 226992 h 3110235"/>
              <a:gd name="connsiteX8" fmla="*/ 1696995 w 5420498"/>
              <a:gd name="connsiteY8" fmla="*/ 564743 h 3110235"/>
              <a:gd name="connsiteX9" fmla="*/ 2224217 w 5420498"/>
              <a:gd name="connsiteY9" fmla="*/ 1347338 h 3110235"/>
              <a:gd name="connsiteX10" fmla="*/ 2734963 w 5420498"/>
              <a:gd name="connsiteY10" fmla="*/ 2253500 h 3110235"/>
              <a:gd name="connsiteX11" fmla="*/ 3080952 w 5420498"/>
              <a:gd name="connsiteY11" fmla="*/ 2624203 h 3110235"/>
              <a:gd name="connsiteX12" fmla="*/ 3814119 w 5420498"/>
              <a:gd name="connsiteY12" fmla="*/ 2904289 h 3110235"/>
              <a:gd name="connsiteX13" fmla="*/ 4539049 w 5420498"/>
              <a:gd name="connsiteY13" fmla="*/ 3036095 h 3110235"/>
              <a:gd name="connsiteX14" fmla="*/ 5420498 w 5420498"/>
              <a:gd name="connsiteY14" fmla="*/ 3101997 h 311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420498" h="3110235">
                <a:moveTo>
                  <a:pt x="0" y="3110235"/>
                </a:moveTo>
                <a:cubicBezTo>
                  <a:pt x="103660" y="3069732"/>
                  <a:pt x="207320" y="3029230"/>
                  <a:pt x="288325" y="2929003"/>
                </a:cubicBezTo>
                <a:cubicBezTo>
                  <a:pt x="369330" y="2828776"/>
                  <a:pt x="433860" y="2761500"/>
                  <a:pt x="486033" y="2508873"/>
                </a:cubicBezTo>
                <a:cubicBezTo>
                  <a:pt x="538206" y="2256246"/>
                  <a:pt x="572531" y="1782571"/>
                  <a:pt x="601363" y="1413241"/>
                </a:cubicBezTo>
                <a:cubicBezTo>
                  <a:pt x="630195" y="1043911"/>
                  <a:pt x="626076" y="522181"/>
                  <a:pt x="659027" y="292895"/>
                </a:cubicBezTo>
                <a:cubicBezTo>
                  <a:pt x="691978" y="63608"/>
                  <a:pt x="731795" y="82830"/>
                  <a:pt x="799071" y="37522"/>
                </a:cubicBezTo>
                <a:cubicBezTo>
                  <a:pt x="866347" y="-7786"/>
                  <a:pt x="963827" y="-10532"/>
                  <a:pt x="1062681" y="21046"/>
                </a:cubicBezTo>
                <a:cubicBezTo>
                  <a:pt x="1161535" y="52624"/>
                  <a:pt x="1286476" y="136376"/>
                  <a:pt x="1392195" y="226992"/>
                </a:cubicBezTo>
                <a:cubicBezTo>
                  <a:pt x="1497914" y="317608"/>
                  <a:pt x="1558325" y="378019"/>
                  <a:pt x="1696995" y="564743"/>
                </a:cubicBezTo>
                <a:cubicBezTo>
                  <a:pt x="1835665" y="751467"/>
                  <a:pt x="2051222" y="1065878"/>
                  <a:pt x="2224217" y="1347338"/>
                </a:cubicBezTo>
                <a:cubicBezTo>
                  <a:pt x="2397212" y="1628797"/>
                  <a:pt x="2592174" y="2040689"/>
                  <a:pt x="2734963" y="2253500"/>
                </a:cubicBezTo>
                <a:cubicBezTo>
                  <a:pt x="2877752" y="2466311"/>
                  <a:pt x="2901093" y="2515738"/>
                  <a:pt x="3080952" y="2624203"/>
                </a:cubicBezTo>
                <a:cubicBezTo>
                  <a:pt x="3260811" y="2732668"/>
                  <a:pt x="3571103" y="2835640"/>
                  <a:pt x="3814119" y="2904289"/>
                </a:cubicBezTo>
                <a:cubicBezTo>
                  <a:pt x="4057135" y="2972938"/>
                  <a:pt x="4271319" y="3003144"/>
                  <a:pt x="4539049" y="3036095"/>
                </a:cubicBezTo>
                <a:cubicBezTo>
                  <a:pt x="4806779" y="3069046"/>
                  <a:pt x="5113638" y="3085521"/>
                  <a:pt x="5420498" y="310199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5272216" y="3188962"/>
            <a:ext cx="691979" cy="271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평균</a:t>
            </a:r>
            <a:endParaRPr lang="ko-KR" altLang="en-US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695568" y="2484626"/>
            <a:ext cx="691979" cy="271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최빈값</a:t>
            </a:r>
            <a:endParaRPr lang="ko-KR" altLang="en-US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983893" y="2842970"/>
            <a:ext cx="691979" cy="271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중앙값</a:t>
            </a:r>
            <a:endParaRPr lang="ko-KR" altLang="en-US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6231090" y="2611962"/>
            <a:ext cx="3081785" cy="707886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분포가 좌우로 치우친 경우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최빈값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중앙값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평균이 모두 다름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89349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이해에 필요한 통계학 핵심 개념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821" y="2119849"/>
            <a:ext cx="7906265" cy="313555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295963" y="4141148"/>
            <a:ext cx="1464879" cy="3215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134678" y="4565234"/>
            <a:ext cx="4065105" cy="493783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numpy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라이브러리는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최빈값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관련 함수를 제공하지 않으므로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scipy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패키지의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status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모듈에 있는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mode()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함수를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915401" y="4500028"/>
            <a:ext cx="1808922" cy="493783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mode[0] :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최빈값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mode[1] :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최빈값의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빈도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29600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이해에 필요한 통계학 핵심 개념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462973" y="2119849"/>
            <a:ext cx="9259962" cy="44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변량의 측정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산포는 데이터의 변량을 의미하며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데이터가 얼마나 중심으로 모이지 않고</a:t>
            </a:r>
            <a:r>
              <a:rPr lang="en-US" altLang="ko-KR" sz="2000" spc="-1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흩어져 있는지를 설명</a:t>
            </a:r>
            <a:endParaRPr lang="en-US" altLang="ko-KR" sz="2000" spc="-1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분산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평균과의 거리를 제곱한 값의 평균</a:t>
            </a:r>
            <a:endParaRPr lang="en-US" altLang="ko-KR" sz="2000" spc="-1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표준편차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분산의 제곱근</a:t>
            </a:r>
            <a:endParaRPr lang="en-US" altLang="ko-KR" sz="2000" spc="-1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범위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최대값과 최소값의 차이</a:t>
            </a:r>
            <a:endParaRPr lang="en-US" altLang="ko-KR" sz="2000" spc="-1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사분위수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데이터를 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등분한 값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25% 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사분위수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</a:t>
            </a:r>
            <a:r>
              <a:rPr lang="en-US" altLang="ko-KR" sz="2000" spc="-100" baseline="-25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), 50% 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사분위수</a:t>
            </a:r>
            <a:r>
              <a:rPr lang="en-US" altLang="ko-KR" sz="2000" spc="-1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</a:t>
            </a:r>
            <a:r>
              <a:rPr lang="en-US" altLang="ko-KR" sz="2000" spc="-100" baseline="-25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), 75% 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사분위수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</a:t>
            </a:r>
            <a:r>
              <a:rPr lang="en-US" altLang="ko-KR" sz="2000" spc="-100" baseline="-25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IQR: Interquartile Range. Q</a:t>
            </a:r>
            <a:r>
              <a:rPr lang="en-US" altLang="ko-KR" sz="2000" spc="-100" baseline="-25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 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</a:t>
            </a:r>
            <a:r>
              <a:rPr lang="en-US" altLang="ko-KR" sz="2000" spc="-100" baseline="-25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 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차이</a:t>
            </a:r>
            <a:endParaRPr lang="ko-KR" altLang="en-US" sz="2000" spc="-1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/>
              <a:t>분산</a:t>
            </a:r>
            <a:r>
              <a:rPr lang="en-US" altLang="ko-KR" dirty="0"/>
              <a:t>, </a:t>
            </a:r>
            <a:r>
              <a:rPr lang="ko-KR" altLang="en-US" dirty="0"/>
              <a:t>표준편차</a:t>
            </a:r>
            <a:r>
              <a:rPr lang="en-US" altLang="ko-KR" dirty="0"/>
              <a:t>, </a:t>
            </a:r>
            <a:r>
              <a:rPr lang="ko-KR" altLang="en-US" dirty="0"/>
              <a:t>범위</a:t>
            </a:r>
            <a:r>
              <a:rPr lang="en-US" altLang="ko-KR" dirty="0"/>
              <a:t>, </a:t>
            </a:r>
            <a:r>
              <a:rPr lang="ko-KR" altLang="en-US" dirty="0"/>
              <a:t>사분위수</a:t>
            </a:r>
          </a:p>
        </p:txBody>
      </p:sp>
    </p:spTree>
    <p:extLst>
      <p:ext uri="{BB962C8B-B14F-4D97-AF65-F5344CB8AC3E}">
        <p14:creationId xmlns:p14="http://schemas.microsoft.com/office/powerpoint/2010/main" val="40675157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이해에 필요한 통계학 핵심 개념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2907" y="1619745"/>
            <a:ext cx="4383137" cy="4776935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458368" y="6458464"/>
            <a:ext cx="5272216" cy="271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 </a:t>
            </a:r>
            <a:r>
              <a:rPr lang="ko-KR" altLang="en-US" sz="1200" dirty="0" smtClea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출처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https://en.wikipedia.org/wiki/Interquartile_range</a:t>
            </a:r>
            <a:endParaRPr lang="ko-KR" altLang="en-US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65763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이해에 필요한 통계학 핵심 개념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38025"/>
          <a:stretch/>
        </p:blipFill>
        <p:spPr>
          <a:xfrm>
            <a:off x="1820776" y="2119849"/>
            <a:ext cx="6143625" cy="352489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61468" r="70932"/>
          <a:stretch/>
        </p:blipFill>
        <p:spPr>
          <a:xfrm>
            <a:off x="8293916" y="3453216"/>
            <a:ext cx="1789199" cy="2191526"/>
          </a:xfrm>
          <a:prstGeom prst="rect">
            <a:avLst/>
          </a:prstGeom>
        </p:spPr>
      </p:pic>
      <p:sp>
        <p:nvSpPr>
          <p:cNvPr id="6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err="1" smtClean="0"/>
              <a:t>파이썬</a:t>
            </a:r>
            <a:r>
              <a:rPr lang="ko-KR" altLang="en-US" dirty="0" smtClean="0"/>
              <a:t> 라이브러리를 이용한 분산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표준편차</a:t>
            </a:r>
            <a:r>
              <a:rPr lang="en-US" altLang="ko-KR" dirty="0" smtClean="0"/>
              <a:t>, </a:t>
            </a:r>
            <a:r>
              <a:rPr lang="ko-KR" altLang="en-US" dirty="0" smtClean="0"/>
              <a:t>범위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사분위수</a:t>
            </a:r>
            <a:r>
              <a:rPr lang="en-US" altLang="ko-KR" dirty="0" smtClean="0"/>
              <a:t>, IQR </a:t>
            </a:r>
            <a:r>
              <a:rPr lang="ko-KR" altLang="en-US" dirty="0" smtClean="0"/>
              <a:t>구하기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94174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이해에 필요한 통계학 핵심 개념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462973" y="2119849"/>
            <a:ext cx="925996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가설 검정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</a:p>
          <a:p>
            <a:pPr marL="357188" indent="-342900">
              <a:spcAft>
                <a:spcPts val="1800"/>
              </a:spcAft>
              <a:buSzPct val="80000"/>
              <a:buFontTx/>
              <a:buChar char="-"/>
            </a:pPr>
            <a:r>
              <a:rPr lang="ko-KR" altLang="en-US" sz="2000" spc="-9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표본에 대한 </a:t>
            </a:r>
            <a:r>
              <a:rPr lang="ko-KR" altLang="en-US" sz="2000" spc="-9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통계적 테스트를 수행해 전체 모집단에 대한 추론을 만드는 </a:t>
            </a:r>
            <a:r>
              <a:rPr lang="ko-KR" altLang="en-US" sz="2000" spc="-9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과정으로</a:t>
            </a:r>
            <a:r>
              <a:rPr lang="en-US" altLang="ko-KR" sz="2000" spc="-9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2000" spc="-9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spc="-5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귀무가설과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spc="-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대립가설을 통해 가정이 통계적으로 의미가 있는지 검정함</a:t>
            </a:r>
            <a:endParaRPr lang="en-US" altLang="ko-KR" sz="2000" spc="-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57188" indent="-342900">
              <a:spcAft>
                <a:spcPts val="1800"/>
              </a:spcAft>
              <a:buSzPct val="80000"/>
              <a:buFontTx/>
              <a:buChar char="-"/>
            </a:pP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모델링에서 </a:t>
            </a:r>
            <a:r>
              <a:rPr lang="ko-KR" altLang="en-US" sz="2000" spc="-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각 독립 변수에 대해 </a:t>
            </a:r>
            <a:r>
              <a:rPr lang="en-US" altLang="ko-KR" sz="2000" spc="-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0.05</a:t>
            </a:r>
            <a:r>
              <a:rPr lang="ko-KR" altLang="en-US" sz="2000" spc="-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</a:t>
            </a:r>
            <a:r>
              <a:rPr lang="en-US" altLang="ko-KR" sz="2000" spc="-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p-value </a:t>
            </a:r>
            <a:r>
              <a:rPr lang="ko-KR" altLang="en-US" sz="2000" spc="-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유의미하다고 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간주함</a:t>
            </a:r>
            <a:endParaRPr lang="en-US" altLang="ko-KR" sz="2000" spc="-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가설</a:t>
            </a:r>
            <a:r>
              <a:rPr lang="en-US" altLang="ko-KR" dirty="0" smtClean="0"/>
              <a:t> </a:t>
            </a:r>
            <a:r>
              <a:rPr lang="ko-KR" altLang="en-US" dirty="0" smtClean="0"/>
              <a:t>검정과</a:t>
            </a:r>
            <a:r>
              <a:rPr lang="en-US" altLang="ko-KR" dirty="0" smtClean="0"/>
              <a:t> p-value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1539821" y="4220595"/>
            <a:ext cx="4344144" cy="861774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대립가설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연구가설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 :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연구를 할 때 세우는 가설을 의미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14288">
              <a:spcAft>
                <a:spcPts val="1200"/>
              </a:spcAft>
              <a:buSzPct val="80000"/>
            </a:pP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귀무가설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통계적으로 의미가 있다는 것을 검정할 때 사용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06518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이해에 필요한 통계학 핵심 개념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462973" y="2119849"/>
            <a:ext cx="925996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가설 검정의 단계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endParaRPr lang="ko-KR" altLang="en-US" sz="20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오른쪽 화살표 4"/>
          <p:cNvSpPr/>
          <p:nvPr/>
        </p:nvSpPr>
        <p:spPr>
          <a:xfrm rot="5400000">
            <a:off x="6067316" y="5168615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286908" y="2474548"/>
            <a:ext cx="1844184" cy="5201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귀무가설</a:t>
            </a:r>
            <a:r>
              <a:rPr lang="ko-KR" altLang="en-US" dirty="0" smtClea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정의</a:t>
            </a:r>
            <a:endParaRPr lang="ko-KR" altLang="en-US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86908" y="3411013"/>
            <a:ext cx="1844184" cy="5201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표본 추출</a:t>
            </a:r>
            <a:endParaRPr lang="ko-KR" altLang="en-US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088690" y="4465634"/>
            <a:ext cx="6240618" cy="5201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검정 통계량에 따른  </a:t>
            </a:r>
            <a:r>
              <a:rPr lang="ko-KR" altLang="en-US" dirty="0" err="1" smtClea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귀무가설의</a:t>
            </a:r>
            <a:r>
              <a:rPr lang="ko-KR" altLang="en-US" dirty="0" smtClea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통계적 유의성 확인</a:t>
            </a:r>
            <a:endParaRPr lang="ko-KR" altLang="en-US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오른쪽 화살표 9"/>
          <p:cNvSpPr/>
          <p:nvPr/>
        </p:nvSpPr>
        <p:spPr>
          <a:xfrm rot="5400000">
            <a:off x="6042356" y="3070120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3624603" y="5547536"/>
            <a:ext cx="5218714" cy="5201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검정통계량에 따라 </a:t>
            </a:r>
            <a:r>
              <a:rPr lang="ko-KR" altLang="en-US" dirty="0" err="1" smtClea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귀무가설</a:t>
            </a:r>
            <a:r>
              <a:rPr lang="ko-KR" altLang="en-US" dirty="0" smtClean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채택 또는 기각</a:t>
            </a:r>
            <a:endParaRPr lang="ko-KR" altLang="en-US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오른쪽 화살표 12"/>
          <p:cNvSpPr/>
          <p:nvPr/>
        </p:nvSpPr>
        <p:spPr>
          <a:xfrm rot="5400000">
            <a:off x="6042356" y="4039830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8099647" y="4942922"/>
            <a:ext cx="1014536" cy="400110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p-value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79990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이해에 필요한 통계학 핵심 개념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462973" y="2119849"/>
            <a:ext cx="9259962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p-value: </a:t>
            </a:r>
            <a:r>
              <a:rPr lang="ko-KR" altLang="en-US" sz="2000" spc="-5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귀무가설이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옳다는 전제 하에 표본에서 실제로 관측된 </a:t>
            </a:r>
            <a:r>
              <a:rPr lang="ko-KR" altLang="en-US" sz="2000" spc="-5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통계값과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같거나 더 극단적인 </a:t>
            </a:r>
            <a:r>
              <a:rPr lang="ko-KR" altLang="en-US" sz="2000" spc="-5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통계값이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관측될 확률</a:t>
            </a:r>
            <a:endParaRPr lang="en-US" altLang="ko-KR" sz="2000" spc="-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 빵집에서 생산되는 식빵의 무게가 최소 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200g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이라고 주장할 경우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표본 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개를 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추출해 구한 평균 무게가 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196g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이고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표준편차는 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5.3g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이었다면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유의수준 </a:t>
            </a:r>
            <a:r>
              <a:rPr lang="en-US" altLang="ko-KR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5%(0.05)</a:t>
            </a:r>
            <a:r>
              <a:rPr lang="ko-KR" altLang="en-US" sz="2000" spc="-1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위의 주장을 기각할 수 있을까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  <a:endParaRPr lang="ko-KR" altLang="en-US" sz="2000" spc="-5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/>
              <p:cNvSpPr/>
              <p:nvPr/>
            </p:nvSpPr>
            <p:spPr>
              <a:xfrm>
                <a:off x="3607632" y="4666871"/>
                <a:ext cx="5268636" cy="12726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dirty="0" smtClean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귀무가설</a:t>
                </a:r>
                <a:r>
                  <a:rPr lang="en-US" altLang="ko-KR" dirty="0" smtClean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: </a:t>
                </a:r>
                <a:r>
                  <a:rPr lang="ko-KR" altLang="en-US" dirty="0" smtClean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모든 식빵의 무게는 </a:t>
                </a:r>
                <a:r>
                  <a:rPr lang="en-US" altLang="ko-KR" dirty="0" smtClean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200g</a:t>
                </a:r>
                <a:r>
                  <a:rPr lang="ko-KR" altLang="en-US" dirty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dirty="0" smtClean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이상이다</a:t>
                </a:r>
                <a:r>
                  <a:rPr lang="en-US" altLang="ko-KR" dirty="0" smtClean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.</a:t>
                </a:r>
              </a:p>
              <a:p>
                <a:endParaRPr lang="en-US" altLang="ko-KR" dirty="0" smtClean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r>
                  <a:rPr lang="ko-KR" altLang="en-US" dirty="0" smtClean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표본</a:t>
                </a:r>
                <a:r>
                  <a:rPr lang="en-US" altLang="ko-KR" dirty="0" smtClean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𝑥</m:t>
                        </m:r>
                      </m:e>
                    </m:acc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=196,  </m:t>
                    </m:r>
                    <m:r>
                      <a:rPr lang="ko-KR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𝜎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=5.3,  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𝑛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=20</m:t>
                    </m:r>
                  </m:oMath>
                </a14:m>
                <a:endParaRPr lang="ko-KR" altLang="en-US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5" name="직사각형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632" y="4666871"/>
                <a:ext cx="5268636" cy="1272610"/>
              </a:xfrm>
              <a:prstGeom prst="rect">
                <a:avLst/>
              </a:prstGeom>
              <a:blipFill rotWithShape="0">
                <a:blip r:embed="rId3"/>
                <a:stretch>
                  <a:fillRect l="-10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4213447" y="5793458"/>
            <a:ext cx="2743945" cy="369332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표본 평균 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/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표본 표준편차 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/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표본의 크기</a:t>
            </a:r>
            <a:endParaRPr lang="en-US" altLang="ko-KR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30742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이해에 필요한 통계학 핵심 개념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204" y="2113520"/>
            <a:ext cx="5716545" cy="3892862"/>
          </a:xfrm>
          <a:prstGeom prst="rect">
            <a:avLst/>
          </a:prstGeom>
        </p:spPr>
      </p:pic>
      <p:sp>
        <p:nvSpPr>
          <p:cNvPr id="4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단일 표본에 대한 </a:t>
            </a:r>
            <a:r>
              <a:rPr lang="en-US" altLang="ko-KR" dirty="0" smtClean="0"/>
              <a:t>t-</a:t>
            </a:r>
            <a:r>
              <a:rPr lang="ko-KR" altLang="en-US" dirty="0" smtClean="0"/>
              <a:t>검정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106769" y="3278968"/>
                <a:ext cx="2078973" cy="650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𝑡</m:t>
                      </m:r>
                      <m:r>
                        <a:rPr lang="en-US" altLang="ko-KR" sz="2000" b="0" i="1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 </m:t>
                      </m:r>
                      <m:r>
                        <a:rPr lang="ko-KR" altLang="en-US" sz="2000" i="1" spc="-300">
                          <a:ln w="25400" cap="flat">
                            <a:noFill/>
                            <a:miter lim="800000"/>
                          </a:ln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통</m:t>
                      </m:r>
                      <m:r>
                        <a:rPr lang="ko-KR" altLang="en-US" sz="2000" i="1" spc="-300" smtClean="0">
                          <a:ln w="25400" cap="flat">
                            <a:noFill/>
                            <a:miter lim="800000"/>
                          </a:ln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계</m:t>
                      </m:r>
                      <m:r>
                        <a:rPr lang="ko-KR" altLang="en-US" sz="2000" i="1" spc="-300">
                          <a:ln w="25400" cap="flat">
                            <a:noFill/>
                            <a:miter lim="800000"/>
                          </a:ln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량</m:t>
                      </m:r>
                      <m:r>
                        <a:rPr lang="en-US" altLang="ko-KR" sz="2000" b="0" i="1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fPr>
                        <m:num>
                          <m:r>
                            <a:rPr lang="en-US" altLang="ko-KR" sz="20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altLang="ko-KR" sz="2000" b="0" i="1" spc="-30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pc="-30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altLang="ko-KR" sz="20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−</m:t>
                          </m:r>
                          <m:r>
                            <a:rPr lang="ko-KR" altLang="en-US" sz="20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𝜇</m:t>
                          </m:r>
                          <m:r>
                            <a:rPr lang="en-US" altLang="ko-KR" sz="20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20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𝑠</m:t>
                          </m:r>
                          <m:r>
                            <a:rPr lang="en-US" altLang="ko-KR" sz="20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US" altLang="ko-KR" sz="2000" b="0" i="1" spc="-30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b="0" i="1" spc="-30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sz="2000" spc="-300" dirty="0" smtClean="0">
                  <a:ln w="25400" cap="flat">
                    <a:noFill/>
                    <a:miter lim="800000"/>
                  </a:ln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769" y="3278968"/>
                <a:ext cx="2078973" cy="65075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/>
          <p:cNvSpPr/>
          <p:nvPr/>
        </p:nvSpPr>
        <p:spPr>
          <a:xfrm>
            <a:off x="6217433" y="5423770"/>
            <a:ext cx="1949538" cy="24607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p-value=0.05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때의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543109" y="5761973"/>
            <a:ext cx="2200058" cy="46138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=-3.38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해당하는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p-value</a:t>
            </a:r>
          </a:p>
          <a:p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귀무가설을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기각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43390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이해에 필요한 통계학 핵심 개념</a:t>
            </a:r>
            <a:endParaRPr lang="ko-KR" altLang="en-US" dirty="0"/>
          </a:p>
        </p:txBody>
      </p:sp>
      <p:grpSp>
        <p:nvGrpSpPr>
          <p:cNvPr id="23" name="그룹 22"/>
          <p:cNvGrpSpPr/>
          <p:nvPr/>
        </p:nvGrpSpPr>
        <p:grpSpPr>
          <a:xfrm>
            <a:off x="2883243" y="2080763"/>
            <a:ext cx="6422188" cy="4195337"/>
            <a:chOff x="2883243" y="2080763"/>
            <a:chExt cx="6422188" cy="4195337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83243" y="2080763"/>
              <a:ext cx="6422188" cy="4195337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5375983" y="5436971"/>
              <a:ext cx="637639" cy="3130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-1.792</a:t>
              </a:r>
              <a:endParaRPr lang="ko-KR" altLang="en-US" sz="10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127951" y="5099218"/>
              <a:ext cx="637639" cy="3130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-3.38</a:t>
              </a:r>
              <a:endParaRPr lang="ko-KR" altLang="en-US" sz="10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20" name="직선 연결선 19"/>
            <p:cNvCxnSpPr/>
            <p:nvPr/>
          </p:nvCxnSpPr>
          <p:spPr>
            <a:xfrm>
              <a:off x="4455008" y="5379305"/>
              <a:ext cx="0" cy="3707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직사각형 21"/>
                <p:cNvSpPr/>
                <p:nvPr/>
              </p:nvSpPr>
              <p:spPr>
                <a:xfrm>
                  <a:off x="4507326" y="5407570"/>
                  <a:ext cx="816339" cy="31303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ko-KR" alt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𝜶</m:t>
                      </m:r>
                      <m:r>
                        <a:rPr lang="en-US" altLang="ko-KR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=</m:t>
                      </m:r>
                    </m:oMath>
                  </a14:m>
                  <a:r>
                    <a:rPr lang="en-US" altLang="ko-KR" sz="1000" b="1" i="1" dirty="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나눔바른고딕" panose="020B0603020101020101" pitchFamily="50" charset="-127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ko-KR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𝟎</m:t>
                      </m:r>
                      <m:r>
                        <a:rPr lang="en-US" altLang="ko-KR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.</m:t>
                      </m:r>
                      <m:r>
                        <a:rPr lang="en-US" altLang="ko-KR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𝟎𝟓</m:t>
                      </m:r>
                    </m:oMath>
                  </a14:m>
                  <a:endParaRPr lang="ko-KR" altLang="en-US" sz="1000" b="1" dirty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mc:Choice>
          <mc:Fallback xmlns="">
            <p:sp>
              <p:nvSpPr>
                <p:cNvPr id="22" name="직사각형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7326" y="5407570"/>
                  <a:ext cx="816339" cy="313038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416785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이해에 필요한 통계학 핵심 개념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4032EFA2-320E-4454-952D-AE602BBB7FEB}"/>
                  </a:ext>
                </a:extLst>
              </p:cNvPr>
              <p:cNvSpPr txBox="1"/>
              <p:nvPr/>
            </p:nvSpPr>
            <p:spPr>
              <a:xfrm>
                <a:off x="1462973" y="2119849"/>
                <a:ext cx="9259962" cy="381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65113" indent="-250825">
                  <a:lnSpc>
                    <a:spcPct val="130000"/>
                  </a:lnSpc>
                  <a:spcAft>
                    <a:spcPts val="1800"/>
                  </a:spcAft>
                  <a:buSzPct val="80000"/>
                  <a:buBlip>
                    <a:blip r:embed="rId2"/>
                  </a:buBlip>
                </a:pP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정규분포</a:t>
                </a:r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: </a:t>
                </a:r>
              </a:p>
              <a:p>
                <a:pPr marL="357188" indent="-342900">
                  <a:lnSpc>
                    <a:spcPct val="130000"/>
                  </a:lnSpc>
                  <a:spcAft>
                    <a:spcPts val="1800"/>
                  </a:spcAft>
                  <a:buSzPct val="80000"/>
                  <a:buFontTx/>
                  <a:buChar char="-"/>
                </a:pPr>
                <a:r>
                  <a:rPr lang="ko-KR" altLang="en-US" sz="2000" spc="-1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중심극한정리에 </a:t>
                </a:r>
                <a:r>
                  <a:rPr lang="ko-KR" altLang="en-US" sz="2000" spc="-1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따르면 평균이 </a:t>
                </a:r>
                <a14:m>
                  <m:oMath xmlns:m="http://schemas.openxmlformats.org/officeDocument/2006/math">
                    <m:r>
                      <a:rPr lang="ko-KR" altLang="en-US" sz="2000" i="1" spc="-100">
                        <a:ln w="25400" cap="flat">
                          <a:noFill/>
                          <a:miter lim="800000"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𝜇</m:t>
                    </m:r>
                  </m:oMath>
                </a14:m>
                <a:r>
                  <a:rPr lang="ko-KR" altLang="en-US" sz="2000" spc="-1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이고</a:t>
                </a:r>
                <a:r>
                  <a:rPr lang="en-US" altLang="ko-KR" sz="2000" spc="-1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2000" spc="-1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분산이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pc="-10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</m:ctrlPr>
                      </m:sSupPr>
                      <m:e>
                        <m:r>
                          <a:rPr lang="ko-KR" altLang="en-US" sz="2000" i="1" spc="-10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𝜎</m:t>
                        </m:r>
                      </m:e>
                      <m:sup>
                        <m:r>
                          <a:rPr lang="en-US" altLang="ko-KR" sz="2000" i="1" spc="-10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2000" spc="-1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(</a:t>
                </a:r>
                <a:r>
                  <a:rPr lang="ko-KR" altLang="en-US" sz="2000" spc="-1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표준편차가 </a:t>
                </a:r>
                <a14:m>
                  <m:oMath xmlns:m="http://schemas.openxmlformats.org/officeDocument/2006/math">
                    <m:r>
                      <a:rPr lang="ko-KR" altLang="en-US" sz="2000" i="1" spc="-100">
                        <a:ln w="25400" cap="flat">
                          <a:noFill/>
                          <a:miter lim="800000"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𝜎</m:t>
                    </m:r>
                  </m:oMath>
                </a14:m>
                <a:r>
                  <a:rPr lang="en-US" altLang="ko-KR" sz="2000" spc="-1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)</a:t>
                </a:r>
                <a:r>
                  <a:rPr lang="ko-KR" altLang="en-US" sz="2000" spc="-1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인 </a:t>
                </a:r>
                <a:r>
                  <a:rPr lang="ko-KR" altLang="en-US" sz="2000" spc="-1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모집단으로부터 가능한 모든 </a:t>
                </a:r>
                <a14:m>
                  <m:oMath xmlns:m="http://schemas.openxmlformats.org/officeDocument/2006/math">
                    <m:r>
                      <a:rPr lang="en-US" altLang="ko-KR" sz="2000" i="1" spc="-100">
                        <a:ln w="25400" cap="flat">
                          <a:noFill/>
                          <a:miter lim="800000"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𝑛</m:t>
                    </m:r>
                  </m:oMath>
                </a14:m>
                <a:r>
                  <a:rPr lang="ko-KR" altLang="en-US" sz="2000" spc="-1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개의 조합을 표본으로 추출하면 표본의 평균들은 정규분포에 </a:t>
                </a:r>
                <a:r>
                  <a:rPr lang="ko-KR" altLang="en-US" sz="2000" spc="-1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접근함</a:t>
                </a:r>
                <a:endParaRPr lang="en-US" altLang="ko-KR" sz="2000" spc="-1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357188" indent="-342900">
                  <a:lnSpc>
                    <a:spcPct val="130000"/>
                  </a:lnSpc>
                  <a:spcAft>
                    <a:spcPts val="1800"/>
                  </a:spcAft>
                  <a:buSzPct val="80000"/>
                  <a:buFontTx/>
                  <a:buChar char="-"/>
                </a:pPr>
                <a:endParaRPr lang="en-US" altLang="ko-KR" sz="2000" spc="-5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357188" indent="-342900">
                  <a:lnSpc>
                    <a:spcPct val="130000"/>
                  </a:lnSpc>
                  <a:spcAft>
                    <a:spcPts val="1800"/>
                  </a:spcAft>
                  <a:buSzPct val="80000"/>
                  <a:buFontTx/>
                  <a:buChar char="-"/>
                </a:pPr>
                <a:endParaRPr lang="en-US" altLang="ko-KR" sz="2000" spc="-5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265113" indent="-250825">
                  <a:lnSpc>
                    <a:spcPct val="130000"/>
                  </a:lnSpc>
                  <a:spcAft>
                    <a:spcPts val="1800"/>
                  </a:spcAft>
                  <a:buSzPct val="80000"/>
                  <a:buBlip>
                    <a:blip r:embed="rId2"/>
                  </a:buBlip>
                </a:pPr>
                <a:r>
                  <a:rPr lang="ko-KR" altLang="en-US" sz="2000" spc="-8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시험 점수가 정규분포를 따른다고 가정할 경우</a:t>
                </a:r>
                <a:r>
                  <a:rPr lang="en-US" altLang="ko-KR" sz="2000" spc="-8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, </a:t>
                </a:r>
                <a:r>
                  <a:rPr lang="ko-KR" altLang="en-US" sz="2000" spc="-8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평균 점수가 </a:t>
                </a:r>
                <a:r>
                  <a:rPr lang="en-US" altLang="ko-KR" sz="2000" spc="-8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56</a:t>
                </a:r>
                <a:r>
                  <a:rPr lang="ko-KR" altLang="en-US" sz="2000" spc="-8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점이고 표준편차가 </a:t>
                </a:r>
                <a:r>
                  <a:rPr lang="en-US" altLang="ko-KR" sz="2000" spc="-5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13.6</a:t>
                </a:r>
                <a:r>
                  <a:rPr lang="ko-KR" altLang="en-US" sz="2000" spc="-5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인 경우</a:t>
                </a:r>
                <a:r>
                  <a:rPr lang="en-US" altLang="ko-KR" sz="2000" spc="-5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, 75</a:t>
                </a:r>
                <a:r>
                  <a:rPr lang="ko-KR" altLang="en-US" sz="2000" spc="-5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점 이상을 받은 학생들은 몇 </a:t>
                </a:r>
                <a:r>
                  <a:rPr lang="en-US" altLang="ko-KR" sz="2000" spc="-5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%</a:t>
                </a:r>
                <a:r>
                  <a:rPr lang="ko-KR" altLang="en-US" sz="2000" spc="-5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일까</a:t>
                </a:r>
                <a:r>
                  <a:rPr lang="en-US" altLang="ko-KR" sz="2000" spc="-5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? </a:t>
                </a:r>
                <a:endParaRPr lang="en-US" altLang="ko-KR" sz="2000" spc="-5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032EFA2-320E-4454-952D-AE602BBB7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973" y="2119849"/>
                <a:ext cx="9259962" cy="3816429"/>
              </a:xfrm>
              <a:prstGeom prst="rect">
                <a:avLst/>
              </a:prstGeom>
              <a:blipFill rotWithShape="0">
                <a:blip r:embed="rId3"/>
                <a:stretch>
                  <a:fillRect l="-132" b="-9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정규분포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/>
              <p:cNvSpPr/>
              <p:nvPr/>
            </p:nvSpPr>
            <p:spPr>
              <a:xfrm>
                <a:off x="3284645" y="3772925"/>
                <a:ext cx="2808309" cy="9885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𝒇</m:t>
                      </m:r>
                      <m:d>
                        <m:dPr>
                          <m:ctrlPr>
                            <a:rPr lang="en-US" altLang="ko-K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</m:ctrlPr>
                        </m:dPr>
                        <m:e>
                          <m:r>
                            <a:rPr lang="en-US" altLang="ko-K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𝒙</m:t>
                          </m:r>
                        </m:e>
                      </m:d>
                      <m:r>
                        <a:rPr lang="en-US" altLang="ko-K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= </m:t>
                      </m:r>
                      <m:sSup>
                        <m:sSupPr>
                          <m:ctrlPr>
                            <a:rPr lang="en-US" altLang="ko-K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ko-KR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나눔바른고딕" panose="020B0603020101020101" pitchFamily="50" charset="-127"/>
                                </a:rPr>
                              </m:ctrlPr>
                            </m:fPr>
                            <m:num>
                              <m:r>
                                <a:rPr lang="en-US" altLang="ko-KR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나눔바른고딕" panose="020B0603020101020101" pitchFamily="50" charset="-127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ko-KR" alt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나눔바른고딕" panose="020B0603020101020101" pitchFamily="50" charset="-127"/>
                                </a:rPr>
                                <m:t>𝝈</m:t>
                              </m:r>
                              <m:rad>
                                <m:radPr>
                                  <m:degHide m:val="on"/>
                                  <m:ctrlPr>
                                    <a:rPr lang="ko-KR" altLang="en-US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  <m:t>𝟐</m:t>
                                  </m:r>
                                  <m:r>
                                    <a:rPr lang="ko-KR" altLang="en-US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  <m:t>𝚷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ko-K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𝒆</m:t>
                          </m:r>
                        </m:e>
                        <m:sup>
                          <m:r>
                            <a:rPr lang="en-US" altLang="ko-K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나눔바른고딕" panose="020B0603020101020101" pitchFamily="50" charset="-127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  <m:t>(</m:t>
                                  </m:r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  <m:t>𝒙</m:t>
                                  </m:r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  <m:t>−</m:t>
                                  </m:r>
                                  <m:r>
                                    <a:rPr lang="ko-KR" altLang="en-US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  <m:t>𝝁</m:t>
                                  </m:r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나눔바른고딕" panose="020B0603020101020101" pitchFamily="50" charset="-127"/>
                                </a:rPr>
                                <m:t>𝟐</m:t>
                              </m:r>
                              <m:sSup>
                                <m:sSupPr>
                                  <m:ctrlP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r>
                        <a:rPr lang="en-US" altLang="ko-K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 </m:t>
                      </m:r>
                    </m:oMath>
                  </m:oMathPara>
                </a14:m>
                <a:endParaRPr lang="ko-KR" altLang="en-US" sz="1600" b="1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5" name="직사각형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645" y="3772925"/>
                <a:ext cx="2808309" cy="98853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/>
              <p:cNvSpPr/>
              <p:nvPr/>
            </p:nvSpPr>
            <p:spPr>
              <a:xfrm>
                <a:off x="6216243" y="3772925"/>
                <a:ext cx="2808309" cy="9885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𝑿</m:t>
                      </m:r>
                      <m:r>
                        <a:rPr lang="en-US" altLang="ko-K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 ~ </m:t>
                      </m:r>
                      <m:r>
                        <a:rPr lang="en-US" altLang="ko-K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𝑵</m:t>
                      </m:r>
                      <m:r>
                        <a:rPr lang="en-US" altLang="ko-K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(</m:t>
                      </m:r>
                      <m:r>
                        <a:rPr lang="ko-KR" alt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𝝁</m:t>
                      </m:r>
                      <m:r>
                        <a:rPr lang="en-US" altLang="ko-K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, </m:t>
                      </m:r>
                      <m:sSup>
                        <m:sSupPr>
                          <m:ctrlPr>
                            <a:rPr lang="en-US" altLang="ko-K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</m:ctrlPr>
                        </m:sSupPr>
                        <m:e>
                          <m:r>
                            <a:rPr lang="ko-KR" alt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𝝈</m:t>
                          </m:r>
                        </m:e>
                        <m:sup>
                          <m:r>
                            <a:rPr lang="en-US" altLang="ko-K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𝟐</m:t>
                          </m:r>
                        </m:sup>
                      </m:sSup>
                      <m:r>
                        <a:rPr lang="en-US" altLang="ko-K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)</m:t>
                      </m:r>
                    </m:oMath>
                  </m:oMathPara>
                </a14:m>
                <a:endParaRPr lang="ko-KR" altLang="en-US" sz="1600" b="1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7" name="직사각형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243" y="3772925"/>
                <a:ext cx="2808309" cy="98853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7464632" y="5680166"/>
            <a:ext cx="3245121" cy="400110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정규분포를 표준정규분포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(N(0, 1))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로 변환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546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이해에 필요한 통계학 핵심 개념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01" y="2201176"/>
            <a:ext cx="7675305" cy="2911630"/>
          </a:xfrm>
          <a:prstGeom prst="rect">
            <a:avLst/>
          </a:prstGeom>
        </p:spPr>
      </p:pic>
      <p:sp>
        <p:nvSpPr>
          <p:cNvPr id="4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표준점수</a:t>
            </a:r>
            <a:r>
              <a:rPr lang="en-US" altLang="ko-KR" dirty="0" smtClean="0"/>
              <a:t>(z-score) </a:t>
            </a:r>
            <a:r>
              <a:rPr lang="ko-KR" altLang="en-US" dirty="0" smtClean="0"/>
              <a:t>계산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91668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이해에 필요한 통계학 핵심 개념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3164828" y="2146213"/>
            <a:ext cx="5859298" cy="3710889"/>
            <a:chOff x="3164828" y="2146213"/>
            <a:chExt cx="5859298" cy="3710889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64828" y="2146213"/>
              <a:ext cx="5859298" cy="3710889"/>
            </a:xfrm>
            <a:prstGeom prst="rect">
              <a:avLst/>
            </a:prstGeom>
          </p:spPr>
        </p:pic>
        <p:sp>
          <p:nvSpPr>
            <p:cNvPr id="10" name="직사각형 9"/>
            <p:cNvSpPr/>
            <p:nvPr/>
          </p:nvSpPr>
          <p:spPr>
            <a:xfrm>
              <a:off x="7151238" y="3845138"/>
              <a:ext cx="637639" cy="3130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75</a:t>
              </a:r>
              <a:endParaRPr lang="ko-KR" altLang="en-US" sz="10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7410730" y="5081451"/>
              <a:ext cx="637639" cy="3130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8.12%</a:t>
              </a:r>
              <a:endParaRPr lang="ko-KR" altLang="en-US" sz="10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30425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이해에 필요한 통계학 핵심 개념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462973" y="2119849"/>
            <a:ext cx="92599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15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/>
              </a:rPr>
              <a:t>카이제곱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/>
              </a:rPr>
              <a:t> 독립성 검정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/>
              </a:rPr>
              <a:t>: </a:t>
            </a:r>
          </a:p>
          <a:p>
            <a:pPr marL="357188" indent="-342900">
              <a:lnSpc>
                <a:spcPct val="130000"/>
              </a:lnSpc>
              <a:spcAft>
                <a:spcPts val="1800"/>
              </a:spcAft>
              <a:buSzPct val="80000"/>
              <a:buFontTx/>
              <a:buChar char="-"/>
            </a:pPr>
            <a:r>
              <a:rPr lang="ko-KR" altLang="en-US" sz="2000" spc="-16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/>
              </a:rPr>
              <a:t>범주형 데이터의 통계 분석에 가장 보편적으로 사용되는 검정으로</a:t>
            </a:r>
            <a:r>
              <a:rPr lang="en-US" altLang="ko-KR" sz="2000" spc="-16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/>
              </a:rPr>
              <a:t>, 2</a:t>
            </a:r>
            <a:r>
              <a:rPr lang="ko-KR" altLang="en-US" sz="2000" spc="-16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/>
              </a:rPr>
              <a:t>개의 범주형 변수 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/>
              </a:rPr>
              <a:t>사이에 통계적 상관성이 존재하는지를 판단함</a:t>
            </a:r>
            <a:endParaRPr lang="en-US" altLang="ko-KR" sz="2000" spc="-15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/>
            </a:endParaRPr>
          </a:p>
          <a:p>
            <a:pPr marL="357188" indent="-342900">
              <a:lnSpc>
                <a:spcPct val="130000"/>
              </a:lnSpc>
              <a:spcAft>
                <a:spcPts val="1800"/>
              </a:spcAft>
              <a:buSzPct val="80000"/>
              <a:buFontTx/>
              <a:buChar char="-"/>
            </a:pPr>
            <a:endParaRPr lang="en-US" altLang="ko-KR" sz="2000" spc="-1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/>
            </a:endParaRPr>
          </a:p>
          <a:p>
            <a:pPr marL="357188" indent="-342900">
              <a:lnSpc>
                <a:spcPct val="130000"/>
              </a:lnSpc>
              <a:spcAft>
                <a:spcPts val="1800"/>
              </a:spcAft>
              <a:buSzPct val="80000"/>
              <a:buFontTx/>
              <a:buChar char="-"/>
            </a:pPr>
            <a:endParaRPr lang="en-US" altLang="ko-KR" sz="2000" spc="-1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/>
              </a:rPr>
              <a:t>흡연이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/>
              </a:rPr>
              <a:t> 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/>
              </a:rPr>
              <a:t>운동에 영향을 미칠까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/>
              </a:rPr>
              <a:t>? </a:t>
            </a:r>
            <a:endParaRPr lang="en-US" altLang="ko-KR" sz="2000" spc="-15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/>
            </a:endParaRPr>
          </a:p>
        </p:txBody>
      </p:sp>
      <p:sp>
        <p:nvSpPr>
          <p:cNvPr id="4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err="1" smtClean="0"/>
              <a:t>카이제곱</a:t>
            </a:r>
            <a:r>
              <a:rPr lang="en-US" altLang="ko-KR" dirty="0"/>
              <a:t> </a:t>
            </a:r>
            <a:r>
              <a:rPr lang="ko-KR" altLang="en-US" dirty="0" smtClean="0"/>
              <a:t>독립성 검정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/>
              <p:cNvSpPr/>
              <p:nvPr/>
            </p:nvSpPr>
            <p:spPr>
              <a:xfrm>
                <a:off x="3284645" y="3772925"/>
                <a:ext cx="2808309" cy="9885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</m:ctrlPr>
                        </m:sSupPr>
                        <m:e>
                          <m:r>
                            <a:rPr lang="ko-KR" alt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𝝌</m:t>
                          </m:r>
                        </m:e>
                        <m:sup>
                          <m:r>
                            <a:rPr lang="en-US" altLang="ko-K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𝟐</m:t>
                          </m:r>
                        </m:sup>
                      </m:sSup>
                      <m:r>
                        <a:rPr lang="en-US" altLang="ko-K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𝒊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ko-KR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나눔바른고딕" panose="020B0603020101020101" pitchFamily="50" charset="-127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6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나눔바른고딕" panose="020B0603020101020101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나눔바른고딕" panose="020B0603020101020101" pitchFamily="50" charset="-127"/>
                                        </a:rPr>
                                        <m:t>𝒐</m:t>
                                      </m:r>
                                    </m:e>
                                    <m:sub>
                                      <m:r>
                                        <a:rPr lang="en-US" altLang="ko-KR" sz="16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나눔바른고딕" panose="020B0603020101020101" pitchFamily="50" charset="-127"/>
                                        </a:rPr>
                                        <m:t>𝒊</m:t>
                                      </m:r>
                                      <m:r>
                                        <a:rPr lang="en-US" altLang="ko-KR" sz="16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나눔바른고딕" panose="020B0603020101020101" pitchFamily="50" charset="-127"/>
                                        </a:rPr>
                                        <m:t> </m:t>
                                      </m:r>
                                    </m:sub>
                                  </m:sSub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6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나눔바른고딕" panose="020B0603020101020101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나눔바른고딕" panose="020B0603020101020101" pitchFamily="50" charset="-127"/>
                                        </a:rPr>
                                        <m:t>𝒆</m:t>
                                      </m:r>
                                    </m:e>
                                    <m:sub>
                                      <m:r>
                                        <a:rPr lang="en-US" altLang="ko-KR" sz="16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나눔바른고딕" panose="020B0603020101020101" pitchFamily="50" charset="-127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altLang="ko-KR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나눔바른고딕" panose="020B0603020101020101" pitchFamily="50" charset="-127"/>
                                    </a:rPr>
                                    <m:t>𝒊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altLang="ko-K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 </m:t>
                      </m:r>
                    </m:oMath>
                  </m:oMathPara>
                </a14:m>
                <a:endParaRPr lang="ko-KR" altLang="en-US" sz="1600" b="1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5" name="직사각형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645" y="3772925"/>
                <a:ext cx="2808309" cy="98853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/>
              <p:cNvSpPr/>
              <p:nvPr/>
            </p:nvSpPr>
            <p:spPr>
              <a:xfrm>
                <a:off x="6216243" y="3772925"/>
                <a:ext cx="2808309" cy="9885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𝒐</m:t>
                        </m:r>
                      </m:e>
                      <m:sub>
                        <m:r>
                          <a:rPr lang="en-US" altLang="ko-KR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𝒊</m:t>
                        </m:r>
                      </m:sub>
                    </m:sSub>
                    <m:r>
                      <a:rPr lang="en-US" altLang="ko-KR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=</m:t>
                    </m:r>
                  </m:oMath>
                </a14:m>
                <a:r>
                  <a:rPr lang="ko-KR" altLang="en-US" sz="1600" b="1" dirty="0" smtClean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  </a:t>
                </a:r>
                <a:r>
                  <a:rPr lang="ko-KR" altLang="en-US" sz="1600" dirty="0" smtClean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관측값</a:t>
                </a:r>
                <a:r>
                  <a:rPr lang="en-US" altLang="ko-KR" sz="1600" dirty="0" smtClean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,</a:t>
                </a:r>
                <a:r>
                  <a:rPr lang="ko-KR" altLang="en-US" sz="1600" b="1" dirty="0" smtClean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𝒆</m:t>
                        </m:r>
                      </m:e>
                      <m:sub>
                        <m:r>
                          <a:rPr lang="en-US" altLang="ko-KR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𝒊</m:t>
                        </m:r>
                      </m:sub>
                    </m:sSub>
                    <m:r>
                      <a:rPr lang="en-US" altLang="ko-KR" sz="16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=</m:t>
                    </m:r>
                  </m:oMath>
                </a14:m>
                <a:r>
                  <a:rPr lang="ko-KR" altLang="en-US" sz="1600" b="1" dirty="0" smtClean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1600" dirty="0" smtClean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기대값</a:t>
                </a:r>
                <a:endParaRPr lang="ko-KR" altLang="en-US" sz="16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7" name="직사각형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243" y="3772925"/>
                <a:ext cx="2808309" cy="98853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01673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이해에 필요한 통계학 핵심 개념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43348"/>
          <a:stretch/>
        </p:blipFill>
        <p:spPr>
          <a:xfrm>
            <a:off x="2194611" y="2119849"/>
            <a:ext cx="5387933" cy="282120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59216" r="67809"/>
          <a:stretch/>
        </p:blipFill>
        <p:spPr>
          <a:xfrm>
            <a:off x="7796728" y="2910058"/>
            <a:ext cx="1734451" cy="2030994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295963" y="4006962"/>
            <a:ext cx="4157023" cy="45570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226524" y="3642483"/>
            <a:ext cx="1226462" cy="28233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dictionary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타입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12655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이해에 필요한 통계학 핵심 개념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015" y="2119849"/>
            <a:ext cx="4437878" cy="399741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117953" y="2189464"/>
            <a:ext cx="2479065" cy="26563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카이제곱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검정을 위한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분할표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만들기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406051" y="4995294"/>
            <a:ext cx="2980108" cy="56626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tats.chi2_contingency() :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카이제곱검정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범주형 변수로 구성된 두 개의 집단에 사용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9348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이해에 필요한 통계학 핵심 개념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462973" y="2119849"/>
            <a:ext cx="9259962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ANOVA 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분산 분석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</a:p>
          <a:p>
            <a:pPr marL="357188" indent="-342900">
              <a:lnSpc>
                <a:spcPct val="130000"/>
              </a:lnSpc>
              <a:spcAft>
                <a:spcPts val="1800"/>
              </a:spcAft>
              <a:buSzPct val="80000"/>
              <a:buFontTx/>
              <a:buChar char="-"/>
            </a:pP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Analysis of Variance</a:t>
            </a:r>
          </a:p>
          <a:p>
            <a:pPr marL="357188" indent="-342900">
              <a:lnSpc>
                <a:spcPct val="130000"/>
              </a:lnSpc>
              <a:spcAft>
                <a:spcPts val="1800"/>
              </a:spcAft>
              <a:buSzPct val="80000"/>
              <a:buFontTx/>
              <a:buChar char="-"/>
            </a:pP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모집단이 셋 이상인 경우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이들의 평균이 서로 동일한지 테스트함</a:t>
            </a:r>
            <a:endParaRPr lang="en-US" altLang="ko-KR" sz="2000" spc="-15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57188" indent="-342900">
              <a:lnSpc>
                <a:spcPct val="130000"/>
              </a:lnSpc>
              <a:spcAft>
                <a:spcPts val="1800"/>
              </a:spcAft>
              <a:buSzPct val="80000"/>
              <a:buFontTx/>
              <a:buChar char="-"/>
            </a:pPr>
            <a:r>
              <a:rPr lang="ko-KR" altLang="en-US" sz="2000" spc="-15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귀무가설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모든 모집단의 평균은 동일하다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357188" indent="-342900">
              <a:lnSpc>
                <a:spcPct val="130000"/>
              </a:lnSpc>
              <a:spcAft>
                <a:spcPts val="1800"/>
              </a:spcAft>
              <a:buSzPct val="80000"/>
              <a:buFontTx/>
              <a:buChar char="-"/>
            </a:pP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대립가설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적어도 하나의 모집단은 평균이 다르다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명의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환자를 대상으로 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A, B, C 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 가지 수면제 약효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수면시간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각각 테스트할 경우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유의수준 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0.05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A, B, C 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수면제의 평균 수면시간은 동일한가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 </a:t>
            </a:r>
            <a:endParaRPr lang="en-US" altLang="ko-KR" sz="2000" spc="-15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-KR" dirty="0" smtClean="0"/>
              <a:t>ANOVA </a:t>
            </a:r>
            <a:r>
              <a:rPr lang="ko-KR" altLang="en-US" dirty="0" smtClean="0"/>
              <a:t>분산 분석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8642080" y="3412955"/>
            <a:ext cx="2794184" cy="400110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모집단이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개인 경우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t-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검정을 수행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96533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이해에 필요한 통계학 핵심 개념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551" y="2299902"/>
            <a:ext cx="6873446" cy="2035341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551" y="4625365"/>
            <a:ext cx="6873446" cy="1173312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414" y="2061261"/>
            <a:ext cx="1381696" cy="339218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287070" y="5522537"/>
            <a:ext cx="3026927" cy="27614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tats.f_oneway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() : 1-way ANOVA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44482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smtClean="0"/>
              <a:t>주요 </a:t>
            </a:r>
            <a:r>
              <a:rPr lang="ko" altLang="ko-KR" dirty="0"/>
              <a:t>정리</a:t>
            </a:r>
            <a:endParaRPr lang="ko-KR" altLang="en-US" dirty="0"/>
          </a:p>
        </p:txBody>
      </p:sp>
      <p:grpSp>
        <p:nvGrpSpPr>
          <p:cNvPr id="31" name="그룹 30"/>
          <p:cNvGrpSpPr/>
          <p:nvPr/>
        </p:nvGrpSpPr>
        <p:grpSpPr>
          <a:xfrm>
            <a:off x="1609058" y="1920042"/>
            <a:ext cx="8930109" cy="539110"/>
            <a:chOff x="1609058" y="1979275"/>
            <a:chExt cx="8930109" cy="53911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2033064"/>
              <a:ext cx="8349161" cy="461665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spc="-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귀무가설과</a:t>
              </a: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대립가설을 통해 가정이 통계적으로 의미가 있는지 검정하는 절차를 가설 검정이라고 한다</a:t>
              </a:r>
              <a:r>
                <a:rPr lang="en-US" altLang="ko-KR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spc="-5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1979275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6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7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38" name="그룹 37"/>
          <p:cNvGrpSpPr/>
          <p:nvPr/>
        </p:nvGrpSpPr>
        <p:grpSpPr>
          <a:xfrm>
            <a:off x="1609058" y="2504089"/>
            <a:ext cx="8930109" cy="830997"/>
            <a:chOff x="1609058" y="2955981"/>
            <a:chExt cx="8930109" cy="83099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2955981"/>
              <a:ext cx="8349161" cy="83099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가설검정은 </a:t>
              </a:r>
              <a:r>
                <a:rPr lang="ko-KR" altLang="en-US" sz="24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귀무가설을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정의하고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표본을 추출하고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검정 통계량에 따른 통계적 유의성을 확인 후 </a:t>
              </a:r>
              <a:r>
                <a:rPr lang="ko-KR" altLang="en-US" sz="24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귀무가설을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채택하거나 기각하는 순으로 절차를 진행한다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3086858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3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4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45" name="그룹 44"/>
          <p:cNvGrpSpPr/>
          <p:nvPr/>
        </p:nvGrpSpPr>
        <p:grpSpPr>
          <a:xfrm>
            <a:off x="1609058" y="3403118"/>
            <a:ext cx="8930109" cy="830997"/>
            <a:chOff x="1609058" y="4099951"/>
            <a:chExt cx="8930109" cy="83099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4099951"/>
              <a:ext cx="8349161" cy="83099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en-US" altLang="ko-KR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p-value</a:t>
              </a: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는 </a:t>
              </a:r>
              <a:r>
                <a:rPr lang="ko-KR" altLang="en-US" sz="2400" spc="-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귀무가설이</a:t>
              </a: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옳다는 전제 하에 표본에서 실제로 관측된 </a:t>
              </a:r>
              <a:r>
                <a:rPr lang="ko-KR" altLang="en-US" sz="2400" spc="-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통계값과</a:t>
              </a: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같거나 더 극단적인 </a:t>
              </a:r>
              <a:r>
                <a:rPr lang="ko-KR" altLang="en-US" sz="2400" spc="-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통계값이</a:t>
              </a: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관측될 확률이다</a:t>
              </a:r>
              <a:r>
                <a:rPr lang="en-US" altLang="ko-KR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spc="-7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4230828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50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51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52" name="그룹 51"/>
          <p:cNvGrpSpPr/>
          <p:nvPr/>
        </p:nvGrpSpPr>
        <p:grpSpPr>
          <a:xfrm>
            <a:off x="1609544" y="4308298"/>
            <a:ext cx="8930109" cy="830997"/>
            <a:chOff x="1609058" y="5489046"/>
            <a:chExt cx="8930109" cy="830997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5489046"/>
              <a:ext cx="8349161" cy="83099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평균이 </a:t>
              </a:r>
              <a:r>
                <a:rPr lang="en-US" altLang="ko-KR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μ</a:t>
              </a:r>
              <a:r>
                <a:rPr lang="ko-KR" altLang="en-US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이고 분산이 </a:t>
              </a:r>
              <a:r>
                <a:rPr lang="en-US" altLang="ko-KR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σ</a:t>
              </a:r>
              <a:r>
                <a:rPr lang="en-US" altLang="ko-KR" sz="2400" baseline="300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</a:t>
              </a:r>
              <a:r>
                <a:rPr lang="ko-KR" altLang="en-US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인 모집단으로부터 가능한 모든 </a:t>
              </a:r>
              <a:r>
                <a:rPr lang="en-US" altLang="ko-KR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n</a:t>
              </a:r>
              <a:r>
                <a:rPr lang="ko-KR" altLang="en-US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개의 조합을 표본으로 추출하면 표본의 평균은 정규분포에 접근한다</a:t>
              </a:r>
              <a:r>
                <a:rPr lang="en-US" altLang="ko-KR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561992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57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58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59" name="그룹 58"/>
          <p:cNvGrpSpPr/>
          <p:nvPr/>
        </p:nvGrpSpPr>
        <p:grpSpPr>
          <a:xfrm>
            <a:off x="1609058" y="5206877"/>
            <a:ext cx="8930109" cy="830997"/>
            <a:chOff x="1609058" y="5489046"/>
            <a:chExt cx="8930109" cy="83099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5489046"/>
              <a:ext cx="8349161" cy="83099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카이제곱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검정은 범주형 데이터의 통계 분석에 사용되는 검정으로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2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개의 범주형 변수 사이에 독립성을 판단한다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spc="-4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561992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64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65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66" name="그룹 65"/>
          <p:cNvGrpSpPr/>
          <p:nvPr/>
        </p:nvGrpSpPr>
        <p:grpSpPr>
          <a:xfrm>
            <a:off x="1609058" y="6075668"/>
            <a:ext cx="8930109" cy="539110"/>
            <a:chOff x="1609058" y="5619923"/>
            <a:chExt cx="8930109" cy="53911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5673712"/>
              <a:ext cx="8349161" cy="461665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ANOVA 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분산분석은 모집단이 셋 이상인 경우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이들의 평균이 서로 동일한지 테스트한다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spc="-4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561992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69" name="그룹 68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71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72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6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99910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2270</TotalTime>
  <Words>969</Words>
  <Application>Microsoft Office PowerPoint</Application>
  <PresentationFormat>와이드스크린</PresentationFormat>
  <Paragraphs>146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4" baseType="lpstr">
      <vt:lpstr>나눔바른고딕</vt:lpstr>
      <vt:lpstr>Cambria Math</vt:lpstr>
      <vt:lpstr>Impact</vt:lpstr>
      <vt:lpstr>휴먼모음T</vt:lpstr>
      <vt:lpstr>나눔스퀘어 Bold</vt:lpstr>
      <vt:lpstr>스웨거 TTF</vt:lpstr>
      <vt:lpstr>Arial</vt:lpstr>
      <vt:lpstr>맑은 고딕</vt:lpstr>
      <vt:lpstr>1_Office 테마</vt:lpstr>
      <vt:lpstr>PowerPoint 프레젠테이션</vt:lpstr>
      <vt:lpstr>PowerPoint 프레젠테이션</vt:lpstr>
      <vt:lpstr>통계학이란?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머신러닝 이해에 필요한 통계학 핵심 개념</vt:lpstr>
      <vt:lpstr>주요 정리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580</cp:revision>
  <dcterms:created xsi:type="dcterms:W3CDTF">2019-01-19T08:23:23Z</dcterms:created>
  <dcterms:modified xsi:type="dcterms:W3CDTF">2020-03-10T06:44:13Z</dcterms:modified>
</cp:coreProperties>
</file>