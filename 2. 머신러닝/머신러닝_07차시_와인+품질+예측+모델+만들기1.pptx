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5" r:id="rId1"/>
  </p:sldMasterIdLst>
  <p:notesMasterIdLst>
    <p:notesMasterId r:id="rId33"/>
  </p:notesMasterIdLst>
  <p:handoutMasterIdLst>
    <p:handoutMasterId r:id="rId34"/>
  </p:handoutMasterIdLst>
  <p:sldIdLst>
    <p:sldId id="314" r:id="rId2"/>
    <p:sldId id="261" r:id="rId3"/>
    <p:sldId id="263" r:id="rId4"/>
    <p:sldId id="267" r:id="rId5"/>
    <p:sldId id="315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26" r:id="rId17"/>
    <p:sldId id="327" r:id="rId18"/>
    <p:sldId id="328" r:id="rId19"/>
    <p:sldId id="329" r:id="rId20"/>
    <p:sldId id="330" r:id="rId21"/>
    <p:sldId id="338" r:id="rId22"/>
    <p:sldId id="339" r:id="rId23"/>
    <p:sldId id="340" r:id="rId24"/>
    <p:sldId id="341" r:id="rId25"/>
    <p:sldId id="342" r:id="rId26"/>
    <p:sldId id="343" r:id="rId27"/>
    <p:sldId id="344" r:id="rId28"/>
    <p:sldId id="345" r:id="rId29"/>
    <p:sldId id="346" r:id="rId30"/>
    <p:sldId id="347" r:id="rId31"/>
    <p:sldId id="308" r:id="rId32"/>
  </p:sldIdLst>
  <p:sldSz cx="12192000" cy="6858000"/>
  <p:notesSz cx="6858000" cy="9144000"/>
  <p:embeddedFontLst>
    <p:embeddedFont>
      <p:font typeface="나눔바른고딕" panose="020B0603020101020101" pitchFamily="50" charset="-127"/>
      <p:regular r:id="rId35"/>
      <p:bold r:id="rId36"/>
    </p:embeddedFont>
    <p:embeddedFont>
      <p:font typeface="Cambria Math" panose="02040503050406030204" pitchFamily="18" charset="0"/>
      <p:regular r:id="rId37"/>
    </p:embeddedFont>
    <p:embeddedFont>
      <p:font typeface="Impact" panose="020B0806030902050204" pitchFamily="34" charset="0"/>
      <p:regular r:id="rId38"/>
    </p:embeddedFont>
    <p:embeddedFont>
      <p:font typeface="휴먼모음T" panose="02030504000101010101" pitchFamily="18" charset="-127"/>
      <p:regular r:id="rId39"/>
    </p:embeddedFont>
    <p:embeddedFont>
      <p:font typeface="나눔스퀘어 Bold" panose="020B0600000101010101" pitchFamily="50" charset="-127"/>
      <p:bold r:id="rId40"/>
    </p:embeddedFont>
    <p:embeddedFont>
      <p:font typeface="스웨거 TTF" panose="020B0600000101010101" pitchFamily="50" charset="-127"/>
      <p:regular r:id="rId41"/>
    </p:embeddedFont>
    <p:embeddedFont>
      <p:font typeface="맑은 고딕" panose="020B0503020000020004" pitchFamily="50" charset="-127"/>
      <p:regular r:id="rId42"/>
      <p:bold r:id="rId4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62" userDrawn="1">
          <p15:clr>
            <a:srgbClr val="A4A3A4"/>
          </p15:clr>
        </p15:guide>
        <p15:guide id="2" pos="7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A8CF"/>
    <a:srgbClr val="FBFBFB"/>
    <a:srgbClr val="163E94"/>
    <a:srgbClr val="95D5E1"/>
    <a:srgbClr val="36AAD9"/>
    <a:srgbClr val="173F95"/>
    <a:srgbClr val="000000"/>
    <a:srgbClr val="9D6D6C"/>
    <a:srgbClr val="2323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1" autoAdjust="0"/>
    <p:restoredTop sz="94660"/>
  </p:normalViewPr>
  <p:slideViewPr>
    <p:cSldViewPr snapToGrid="0">
      <p:cViewPr varScale="1">
        <p:scale>
          <a:sx n="96" d="100"/>
          <a:sy n="96" d="100"/>
        </p:scale>
        <p:origin x="306" y="78"/>
      </p:cViewPr>
      <p:guideLst>
        <p:guide orient="horz" pos="1162"/>
        <p:guide pos="7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295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42" Type="http://schemas.openxmlformats.org/officeDocument/2006/relationships/font" Target="fonts/font8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4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81BE3-DC48-429B-8783-84C1870EC1BE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A8EEA-F0DD-4139-861A-A080A8C11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81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9-01-26T03:13:53.411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0 405 100 0,'0'0'81'0,"0"4"-60"16,0-4-21-16,0 0 0 0,0 0 2 15,0 0 7-15,0 0 0 16,0 0 7-16,0 0 5 16,0 0 10-16,0 0-2 15,0 0-4-15,0 0-6 16,0 0-5-16,0 0-4 15,0 0-3-15,0 0-3 16,0 0 3-16,0 0-2 16,0 0 1-16,0 0-3 15,0 0-2-15,0 0 2 16,0 0-2-16,0 0 0 16,0 0 3-16,0 0 3 0,0 0-2 15,0 0 1-15,0 0-3 16,0 0-3-16,0 0 1 15,0 0-1-15,0 0 0 16,0 0 0-16,0 0-2 16,0 0 2-16,0 0-1 15,0 0-4-15,0 0-3 16,0 0-12-16,0 0-12 16,0 0-7-16,0 0-4 15,0 0-7-15,0 0-3 16,0 0-19-16,0 0-9 15,0-6 48-15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09B64-F0CB-4B7F-99D4-51DC397D2E29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26306-6D90-4D79-8F24-CD46E2BCC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20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0CB424CF-7778-4EEC-9173-283868AE4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6554" cy="365125"/>
          </a:xfrm>
          <a:prstGeom prst="rect">
            <a:avLst/>
          </a:prstGeom>
        </p:spPr>
        <p:txBody>
          <a:bodyPr/>
          <a:lstStyle/>
          <a:p>
            <a:fld id="{479A1CA8-FDF9-4AA7-97B1-737D2510CD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1201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959" y="0"/>
            <a:ext cx="4078995" cy="407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20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2332401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lang="ko-KR" altLang="en-US" sz="2000" kern="1200" spc="-100" baseline="0" dirty="0" smtClean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  <a:outerShdw dist="31750" dir="1800000" algn="tl">
                    <a:srgbClr val="E7E6E6">
                      <a:lumMod val="50000"/>
                      <a:alpha val="45000"/>
                    </a:srgbClr>
                  </a:outerShdw>
                </a:effectLst>
                <a:latin typeface="나눔바른고딕"/>
                <a:ea typeface="나눔스퀘어 Bold" panose="020B0600000101010101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8815630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75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04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E0279611-B52C-4EDF-976E-2D9201541E3A}"/>
              </a:ext>
            </a:extLst>
          </p:cNvPr>
          <p:cNvGrpSpPr/>
          <p:nvPr userDrawn="1"/>
        </p:nvGrpSpPr>
        <p:grpSpPr>
          <a:xfrm>
            <a:off x="485775" y="828676"/>
            <a:ext cx="11220450" cy="5664200"/>
            <a:chOff x="258210" y="394051"/>
            <a:chExt cx="11694630" cy="6030137"/>
          </a:xfrm>
          <a:solidFill>
            <a:srgbClr val="FBFBFB"/>
          </a:solidFill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xmlns="" id="{59A7459B-F787-44A0-972B-BF9AB6D5B50B}"/>
                </a:ext>
              </a:extLst>
            </p:cNvPr>
            <p:cNvSpPr/>
            <p:nvPr userDrawn="1"/>
          </p:nvSpPr>
          <p:spPr>
            <a:xfrm rot="151375">
              <a:off x="277260" y="430490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xmlns="" id="{2CF2DB29-6C69-43EF-821A-FBF64128BEE5}"/>
                </a:ext>
              </a:extLst>
            </p:cNvPr>
            <p:cNvSpPr/>
            <p:nvPr userDrawn="1"/>
          </p:nvSpPr>
          <p:spPr>
            <a:xfrm>
              <a:off x="258210" y="394051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7994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07886" y="2375699"/>
            <a:ext cx="897257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7. </a:t>
            </a:r>
            <a:r>
              <a:rPr lang="ko-KR" altLang="en-US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와인 품질 예측을 위한</a:t>
            </a:r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ko-KR" altLang="en-US" sz="6600" b="1" spc="-300" dirty="0" err="1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머신러닝</a:t>
            </a:r>
            <a:r>
              <a:rPr lang="ko-KR" altLang="en-US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모델 만들기 </a:t>
            </a:r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I</a:t>
            </a:r>
            <a:endParaRPr lang="ko-KR" altLang="en-US" sz="6600" b="1" spc="-300" dirty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6061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잉크 4"/>
              <p14:cNvContentPartPr/>
              <p14:nvPr/>
            </p14:nvContentPartPr>
            <p14:xfrm>
              <a:off x="0" y="145080"/>
              <a:ext cx="360" cy="2520"/>
            </p14:xfrm>
          </p:contentPart>
        </mc:Choice>
        <mc:Fallback xmlns="">
          <p:pic>
            <p:nvPicPr>
              <p:cNvPr id="5" name="잉크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8640" y="138600"/>
                <a:ext cx="17640" cy="1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그룹 38"/>
          <p:cNvGrpSpPr/>
          <p:nvPr/>
        </p:nvGrpSpPr>
        <p:grpSpPr>
          <a:xfrm>
            <a:off x="1986130" y="1576098"/>
            <a:ext cx="8345735" cy="546232"/>
            <a:chOff x="1986130" y="2609767"/>
            <a:chExt cx="8345735" cy="5462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567079" y="2632779"/>
              <a:ext cx="7764786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머신러닝을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위한 와인 품질 데이터를 탐색하고 분석하는 방법을 살펴본다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86130" y="2609767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27" name="그룹 26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29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30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9906000" y="2609767"/>
              <a:ext cx="3369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3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스웨거 TTF" panose="020B0600000101010101" pitchFamily="50" charset="-127"/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1986130" y="2613497"/>
            <a:ext cx="8345735" cy="542649"/>
            <a:chOff x="1986130" y="3730230"/>
            <a:chExt cx="8345735" cy="542649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567078" y="3749659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단순 선형 회귀의 특징을 살펴본다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86130" y="3730230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33" name="그룹 32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35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36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8" name="TextBox 37"/>
            <p:cNvSpPr txBox="1"/>
            <p:nvPr/>
          </p:nvSpPr>
          <p:spPr>
            <a:xfrm>
              <a:off x="9753714" y="3746121"/>
              <a:ext cx="4892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21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스웨거 TTF" panose="020B0600000101010101" pitchFamily="50" charset="-127"/>
              </a:endParaRPr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1986130" y="3647313"/>
            <a:ext cx="8345735" cy="542649"/>
            <a:chOff x="1986130" y="3730230"/>
            <a:chExt cx="8345735" cy="542649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567078" y="3749659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다중 선형 회귀의 특징을 살펴본다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86130" y="3730230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44" name="그룹 43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46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47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43" name="TextBox 42"/>
            <p:cNvSpPr txBox="1"/>
            <p:nvPr/>
          </p:nvSpPr>
          <p:spPr>
            <a:xfrm>
              <a:off x="9753714" y="3746121"/>
              <a:ext cx="4892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27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스웨거 TTF" panose="020B0600000101010101" pitchFamily="50" charset="-127"/>
              </a:endParaRPr>
            </a:p>
          </p:txBody>
        </p:sp>
      </p:grpSp>
      <p:grpSp>
        <p:nvGrpSpPr>
          <p:cNvPr id="49" name="그룹 48"/>
          <p:cNvGrpSpPr/>
          <p:nvPr/>
        </p:nvGrpSpPr>
        <p:grpSpPr>
          <a:xfrm>
            <a:off x="1986130" y="4681130"/>
            <a:ext cx="8345735" cy="542649"/>
            <a:chOff x="1986130" y="3730230"/>
            <a:chExt cx="8345735" cy="542649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567078" y="3749659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다항 회귀의 특징을 살펴본다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86130" y="3730230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53" name="그룹 52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55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56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4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52" name="TextBox 51"/>
            <p:cNvSpPr txBox="1"/>
            <p:nvPr/>
          </p:nvSpPr>
          <p:spPr>
            <a:xfrm>
              <a:off x="9753714" y="3746121"/>
              <a:ext cx="4892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30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스웨거 TTF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59225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와인 품질 데이터의 탐색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56320" y="2119849"/>
            <a:ext cx="9482384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관측값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총 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6,497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건 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0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레드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와인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1,599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건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화이트 와인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4,898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건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입력변수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12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 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0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고정산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휘발산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구연산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잔여당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염화물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무수아황산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총이산화황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밀도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산성도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황산염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알콜도수와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같은 와인의 물리화학적 특성들과 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red, white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와인 타입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출력변수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1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 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와인품질평가점수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가장 낮은 품질 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점 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~ 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가장 높은 품질 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점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https://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archive.ics.uci.edu/ml/machine-learning-databases/wine-quality/winequality-red.csv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https://archive.ics.uci.edu/ml/machine-learning-databases/wine-quality/winequality-white.csv</a:t>
            </a:r>
          </a:p>
        </p:txBody>
      </p:sp>
      <p:sp>
        <p:nvSpPr>
          <p:cNvPr id="4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smtClean="0"/>
              <a:t>와인 품질 데이터 개요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87248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와인 품질 데이터의 탐색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smtClean="0"/>
              <a:t>데이터프레임의 구성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89" y="2210465"/>
            <a:ext cx="11064469" cy="3275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9349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와인 품질 데이터의 탐색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05" y="2119849"/>
            <a:ext cx="11100361" cy="3242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1987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와인 품질 데이터의 탐색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754" y="2119849"/>
            <a:ext cx="10058400" cy="3958893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6553295" y="2222175"/>
            <a:ext cx="3008147" cy="252670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redwine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whitewine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데이터프레임 합치기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553295" y="3335358"/>
            <a:ext cx="3008147" cy="43157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컬럼명에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들어있는 공백을 </a:t>
            </a:r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언더바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(_)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바꾸기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실행 중 발생할 수 있는 에러 방지를 위함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34613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와인 품질 데이터의 탐색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smtClean="0"/>
              <a:t>요약통계량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2471351" y="6081349"/>
            <a:ext cx="79495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DataFrame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객체의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describe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함수를 이용한 </a:t>
            </a:r>
            <a:r>
              <a:rPr lang="ko-KR" altLang="en-US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수치형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변수들의 요약통계 출력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456" y="2023641"/>
            <a:ext cx="9316995" cy="393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2149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와인 품질 데이터의 탐색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2998573" y="4771525"/>
            <a:ext cx="79495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Series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객체의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describe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함수를 이용한 </a:t>
            </a:r>
            <a:r>
              <a:rPr lang="ko-KR" altLang="en-US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수치형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변수의 요약통계 출력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573" y="2081029"/>
            <a:ext cx="6303361" cy="260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0390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와인 품질 데이터의 탐색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2982096" y="5422316"/>
            <a:ext cx="79495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quality </a:t>
            </a:r>
            <a:r>
              <a:rPr lang="ko-KR" altLang="en-US" dirty="0"/>
              <a:t>변수의 </a:t>
            </a:r>
            <a:r>
              <a:rPr lang="ko-KR" altLang="en-US" dirty="0" err="1"/>
              <a:t>유일값을</a:t>
            </a:r>
            <a:r>
              <a:rPr lang="ko-KR" altLang="en-US" dirty="0"/>
              <a:t> 오름차순으로 확인 및 빈도수 계산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822" y="2198621"/>
            <a:ext cx="4655022" cy="295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5503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spcBef>
                <a:spcPts val="0"/>
              </a:spcBef>
              <a:buSzPts val="1800"/>
            </a:pPr>
            <a:r>
              <a:rPr lang="ko-KR" altLang="en-US" dirty="0"/>
              <a:t>그룹의 분포</a:t>
            </a:r>
            <a:r>
              <a:rPr lang="en-US" altLang="ko-KR" dirty="0"/>
              <a:t>, </a:t>
            </a:r>
            <a:r>
              <a:rPr lang="ko-KR" altLang="en-US" dirty="0"/>
              <a:t>히스토그램</a:t>
            </a:r>
            <a:r>
              <a:rPr lang="en-US" altLang="ko-KR" dirty="0"/>
              <a:t>, t </a:t>
            </a:r>
            <a:r>
              <a:rPr lang="ko-KR" altLang="en-US" dirty="0"/>
              <a:t>검정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r>
              <a:rPr lang="ko-KR" altLang="en-US" dirty="0"/>
              <a:t>와인 종류별 품질의 기술통계량</a:t>
            </a:r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767" y="2233998"/>
            <a:ext cx="5473701" cy="213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4537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그룹의 분포</a:t>
            </a:r>
            <a:r>
              <a:rPr lang="en-US" altLang="ko-KR" dirty="0"/>
              <a:t>, </a:t>
            </a:r>
            <a:r>
              <a:rPr lang="ko-KR" altLang="en-US" dirty="0"/>
              <a:t>히스토그램</a:t>
            </a:r>
            <a:r>
              <a:rPr lang="en-US" altLang="ko-KR" dirty="0"/>
              <a:t>, t </a:t>
            </a:r>
            <a:r>
              <a:rPr lang="ko-KR" altLang="en-US" dirty="0"/>
              <a:t>검정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062" y="2076893"/>
            <a:ext cx="8290342" cy="2783431"/>
          </a:xfrm>
          <a:prstGeom prst="rect">
            <a:avLst/>
          </a:prstGeom>
        </p:spPr>
      </p:pic>
      <p:sp>
        <p:nvSpPr>
          <p:cNvPr id="8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r>
              <a:rPr lang="ko-KR" altLang="en-US" dirty="0"/>
              <a:t>와인 종류별 품질의 사분위수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9100415" y="2540490"/>
            <a:ext cx="1729408" cy="252670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데이터프레임으로 변환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9100415" y="2147931"/>
            <a:ext cx="1581989" cy="32152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83691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그룹의 분포</a:t>
            </a:r>
            <a:r>
              <a:rPr lang="en-US" altLang="ko-KR" dirty="0"/>
              <a:t>, </a:t>
            </a:r>
            <a:r>
              <a:rPr lang="ko-KR" altLang="en-US" dirty="0"/>
              <a:t>히스토그램</a:t>
            </a:r>
            <a:r>
              <a:rPr lang="en-US" altLang="ko-KR" dirty="0"/>
              <a:t>, t </a:t>
            </a:r>
            <a:r>
              <a:rPr lang="ko-KR" altLang="en-US" dirty="0"/>
              <a:t>검정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8" y="2124075"/>
            <a:ext cx="8029962" cy="222468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460" y="3606464"/>
            <a:ext cx="4312379" cy="3056198"/>
          </a:xfrm>
          <a:prstGeom prst="rect">
            <a:avLst/>
          </a:prstGeom>
        </p:spPr>
      </p:pic>
      <p:sp>
        <p:nvSpPr>
          <p:cNvPr id="8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r>
              <a:rPr lang="ko-KR" altLang="en-US" dirty="0"/>
              <a:t>와인 종류별 품질의 분포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414561" y="4576291"/>
            <a:ext cx="4042022" cy="252670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sns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: ‘import </a:t>
            </a:r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seaborn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as </a:t>
            </a:r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sns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’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코드로 먼저 </a:t>
            </a:r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임포트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해야 함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07854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그룹의 분포</a:t>
            </a:r>
            <a:r>
              <a:rPr lang="en-US" altLang="ko-KR" dirty="0"/>
              <a:t>, </a:t>
            </a:r>
            <a:r>
              <a:rPr lang="ko-KR" altLang="en-US" dirty="0"/>
              <a:t>히스토그램</a:t>
            </a:r>
            <a:r>
              <a:rPr lang="en-US" altLang="ko-KR" dirty="0"/>
              <a:t>, t </a:t>
            </a:r>
            <a:r>
              <a:rPr lang="ko-KR" altLang="en-US" dirty="0"/>
              <a:t>검정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4476" y="2138930"/>
            <a:ext cx="5994314" cy="3516989"/>
          </a:xfrm>
          <a:prstGeom prst="rect">
            <a:avLst/>
          </a:prstGeom>
        </p:spPr>
      </p:pic>
      <p:sp>
        <p:nvSpPr>
          <p:cNvPr id="7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r>
              <a:rPr lang="ko-KR" altLang="en-US" dirty="0"/>
              <a:t>와인 종류별 품질 차이의 통계적 유의성 검정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953562" y="4210264"/>
            <a:ext cx="1763055" cy="431310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통계정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검정에 사용되는 라이브러리 중 하나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8832058" y="4691269"/>
            <a:ext cx="898351" cy="275290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t-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검정 수행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94488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spcBef>
                <a:spcPts val="0"/>
              </a:spcBef>
              <a:buSzPts val="1800"/>
            </a:pPr>
            <a:r>
              <a:rPr lang="ko-KR" altLang="en-US" dirty="0"/>
              <a:t>상관분석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754" y="2139096"/>
            <a:ext cx="8696520" cy="3852583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2118197" y="6166446"/>
            <a:ext cx="79495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corr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()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함수는 모든 변수 쌍 사이의 상관계수를 계산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r>
              <a:rPr lang="ko-KR" altLang="en-US" dirty="0" smtClean="0"/>
              <a:t>변수들 사이의 상관 계수 계산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7808199" y="2019777"/>
            <a:ext cx="2742325" cy="799057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상관계수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은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-1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≤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≤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범위의 값을 가짐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1450" indent="-171450">
              <a:buFontTx/>
              <a:buChar char="-"/>
            </a:pP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가까우면 양의 상관관계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1450" indent="-171450">
              <a:buFontTx/>
              <a:buChar char="-"/>
            </a:pP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-1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가까우면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음의 상관관계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1450" indent="-171450">
              <a:buFontTx/>
              <a:buChar char="-"/>
            </a:pP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가까우면 상관관계 없음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28540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상관분석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443" y="2301703"/>
            <a:ext cx="5886707" cy="2179626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2118197" y="4812664"/>
            <a:ext cx="79495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양의 상관 관계를 가지는 변수들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구연산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무수아황산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산성도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황산염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알콜도수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6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r>
              <a:rPr lang="ko-KR" altLang="en-US" dirty="0" smtClean="0"/>
              <a:t>양의 상관관계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51733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상관분석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762179" y="4770593"/>
            <a:ext cx="86645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음의 상관 관계를 가지는 변수들 </a:t>
            </a:r>
            <a:r>
              <a:rPr lang="en-US" altLang="ko-KR" dirty="0"/>
              <a:t>(</a:t>
            </a:r>
            <a:r>
              <a:rPr lang="ko-KR" altLang="en-US" dirty="0" err="1"/>
              <a:t>고정산</a:t>
            </a:r>
            <a:r>
              <a:rPr lang="en-US" altLang="ko-KR" dirty="0"/>
              <a:t>, </a:t>
            </a:r>
            <a:r>
              <a:rPr lang="ko-KR" altLang="en-US" dirty="0" err="1"/>
              <a:t>휘발산</a:t>
            </a:r>
            <a:r>
              <a:rPr lang="en-US" altLang="ko-KR" dirty="0"/>
              <a:t>, </a:t>
            </a:r>
            <a:r>
              <a:rPr lang="ko-KR" altLang="en-US" dirty="0"/>
              <a:t>잔여당</a:t>
            </a:r>
            <a:r>
              <a:rPr lang="en-US" altLang="ko-KR" dirty="0"/>
              <a:t>, </a:t>
            </a:r>
            <a:r>
              <a:rPr lang="ko-KR" altLang="en-US" dirty="0" err="1"/>
              <a:t>염화물</a:t>
            </a:r>
            <a:r>
              <a:rPr lang="en-US" altLang="ko-KR" dirty="0"/>
              <a:t>, </a:t>
            </a:r>
            <a:r>
              <a:rPr lang="ko-KR" altLang="en-US" dirty="0" err="1"/>
              <a:t>총이산화황</a:t>
            </a:r>
            <a:r>
              <a:rPr lang="en-US" altLang="ko-KR" dirty="0"/>
              <a:t>, </a:t>
            </a:r>
            <a:r>
              <a:rPr lang="ko-KR" altLang="en-US" dirty="0"/>
              <a:t>밀도</a:t>
            </a:r>
            <a:r>
              <a:rPr lang="en-US" altLang="ko-KR" dirty="0"/>
              <a:t>)</a:t>
            </a:r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647" y="2163462"/>
            <a:ext cx="5647553" cy="2259021"/>
          </a:xfrm>
          <a:prstGeom prst="rect">
            <a:avLst/>
          </a:prstGeom>
        </p:spPr>
      </p:pic>
      <p:sp>
        <p:nvSpPr>
          <p:cNvPr id="5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r>
              <a:rPr lang="ko-KR" altLang="en-US" dirty="0"/>
              <a:t>음</a:t>
            </a:r>
            <a:r>
              <a:rPr lang="ko-KR" altLang="en-US" dirty="0" smtClean="0"/>
              <a:t>의 상관관계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11526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산점도</a:t>
            </a:r>
            <a:r>
              <a:rPr lang="ko-KR" altLang="en-US" dirty="0"/>
              <a:t> 행렬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466" y="2119849"/>
            <a:ext cx="8137571" cy="4355092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9384931" y="2232377"/>
            <a:ext cx="1574212" cy="431310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red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와인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white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와인 데이터를 분리 추출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9398589" y="2947994"/>
            <a:ext cx="1560554" cy="431310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각</a:t>
            </a:r>
            <a:r>
              <a:rPr lang="en-US" altLang="ko-KR" sz="12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집단별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추출할 샘플 인덱스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200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 생성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9398589" y="3633794"/>
            <a:ext cx="1633846" cy="431310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생성한 인덱스를 통해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샘플 데이터 추출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97056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산점도</a:t>
            </a:r>
            <a:r>
              <a:rPr lang="ko-KR" altLang="en-US" dirty="0"/>
              <a:t> 행렬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335" y="2150665"/>
            <a:ext cx="9530625" cy="1427775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1284538" y="3733185"/>
            <a:ext cx="3814235" cy="65765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</a:t>
            </a:r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airplot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: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히스토그램과 </a:t>
            </a:r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스캐터플롯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개의 그림을 그려줌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kind=“</a:t>
            </a:r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reg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” : </a:t>
            </a:r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산점도에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회귀선을 표시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01871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산점도</a:t>
            </a:r>
            <a:r>
              <a:rPr lang="ko-KR" altLang="en-US" dirty="0"/>
              <a:t> 행렬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20" y="1996579"/>
            <a:ext cx="5231027" cy="46887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A61A756B-0E00-489D-808E-F421EA8214E0}"/>
              </a:ext>
            </a:extLst>
          </p:cNvPr>
          <p:cNvSpPr txBox="1"/>
          <p:nvPr/>
        </p:nvSpPr>
        <p:spPr>
          <a:xfrm>
            <a:off x="5302603" y="2075329"/>
            <a:ext cx="6614414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200"/>
              </a:spcAft>
              <a:buSzPct val="80000"/>
              <a:buBlip>
                <a:blip r:embed="rId3"/>
              </a:buBlip>
            </a:pP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히스토그램 </a:t>
            </a: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</a:t>
            </a:r>
            <a:r>
              <a:rPr lang="ko-KR" altLang="en-US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알코올 </a:t>
            </a:r>
            <a:r>
              <a:rPr lang="ko-KR" altLang="en-US" spc="-15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도수의 평균과 표준편차는 두 </a:t>
            </a:r>
            <a:r>
              <a:rPr lang="ko-KR" altLang="en-US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그룹이 비슷함</a:t>
            </a:r>
            <a:endParaRPr lang="en-US" altLang="ko-KR" spc="-15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4288">
              <a:spcAft>
                <a:spcPts val="1200"/>
              </a:spcAft>
              <a:buSzPct val="80000"/>
            </a:pPr>
            <a:r>
              <a:rPr lang="en-US" altLang="ko-KR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                      </a:t>
            </a:r>
            <a:r>
              <a:rPr lang="ko-KR" altLang="en-US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잔여당의 </a:t>
            </a:r>
            <a:r>
              <a:rPr lang="ko-KR" altLang="en-US" spc="-15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평균과 표준편차는 </a:t>
            </a:r>
            <a:r>
              <a:rPr lang="ko-KR" altLang="en-US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화이트와인이 더 </a:t>
            </a:r>
            <a:r>
              <a:rPr lang="ko-KR" altLang="en-US" spc="-15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큼</a:t>
            </a:r>
          </a:p>
          <a:p>
            <a:pPr marL="265113" indent="-250825">
              <a:spcAft>
                <a:spcPts val="1200"/>
              </a:spcAft>
              <a:buSzPct val="80000"/>
              <a:buBlip>
                <a:blip r:embed="rId3"/>
              </a:buBlip>
            </a:pPr>
            <a:endParaRPr lang="en-US" altLang="ko-KR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spcAft>
                <a:spcPts val="1200"/>
              </a:spcAft>
              <a:buSzPct val="80000"/>
              <a:buBlip>
                <a:blip r:embed="rId3"/>
              </a:buBlip>
            </a:pP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회귀선         </a:t>
            </a: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</a:t>
            </a: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알코올 </a:t>
            </a: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도수가 증가하면 품질이 </a:t>
            </a: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높아짐</a:t>
            </a:r>
            <a:endParaRPr lang="en-US" altLang="ko-KR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4288">
              <a:spcAft>
                <a:spcPts val="1200"/>
              </a:spcAft>
              <a:buSzPct val="80000"/>
            </a:pPr>
            <a:r>
              <a:rPr lang="en-US" altLang="ko-KR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                      </a:t>
            </a: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잔여당이 </a:t>
            </a:r>
            <a:r>
              <a:rPr lang="ko-KR" altLang="en-US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증가하면 품질이 낮아짐 </a:t>
            </a:r>
          </a:p>
        </p:txBody>
      </p:sp>
      <p:sp>
        <p:nvSpPr>
          <p:cNvPr id="10" name="오른쪽 화살표 9"/>
          <p:cNvSpPr/>
          <p:nvPr/>
        </p:nvSpPr>
        <p:spPr>
          <a:xfrm>
            <a:off x="6845421" y="2117743"/>
            <a:ext cx="333286" cy="282011"/>
          </a:xfrm>
          <a:prstGeom prst="rightArrow">
            <a:avLst/>
          </a:prstGeom>
          <a:solidFill>
            <a:srgbClr val="5AA8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오른쪽 화살표 10"/>
          <p:cNvSpPr/>
          <p:nvPr/>
        </p:nvSpPr>
        <p:spPr>
          <a:xfrm>
            <a:off x="6845421" y="3381386"/>
            <a:ext cx="333286" cy="282011"/>
          </a:xfrm>
          <a:prstGeom prst="rightArrow">
            <a:avLst/>
          </a:prstGeom>
          <a:solidFill>
            <a:srgbClr val="5AA8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r>
              <a:rPr lang="ko-KR" altLang="en-US" dirty="0" err="1" smtClean="0"/>
              <a:t>산점도</a:t>
            </a:r>
            <a:r>
              <a:rPr lang="en-US" altLang="ko-KR" dirty="0" smtClean="0"/>
              <a:t> </a:t>
            </a:r>
            <a:r>
              <a:rPr lang="ko-KR" altLang="en-US" dirty="0" smtClean="0"/>
              <a:t>행렬의 히스토그램과 회귀선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54034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59936B77-D2AF-4CC7-A065-A6C8038469C0}"/>
              </a:ext>
            </a:extLst>
          </p:cNvPr>
          <p:cNvGrpSpPr/>
          <p:nvPr/>
        </p:nvGrpSpPr>
        <p:grpSpPr>
          <a:xfrm>
            <a:off x="1656816" y="3257902"/>
            <a:ext cx="8878368" cy="349649"/>
            <a:chOff x="385449" y="2912549"/>
            <a:chExt cx="2153540" cy="0"/>
          </a:xfrm>
        </p:grpSpPr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xmlns="" id="{6FD7AC04-268F-4954-829A-C5CE5AC7BECE}"/>
                </a:ext>
              </a:extLst>
            </p:cNvPr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xmlns="" id="{87864A92-2A24-4328-A164-9E12EECAE563}"/>
                </a:ext>
              </a:extLst>
            </p:cNvPr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제목 13">
            <a:extLst>
              <a:ext uri="{FF2B5EF4-FFF2-40B4-BE49-F238E27FC236}">
                <a16:creationId xmlns:a16="http://schemas.microsoft.com/office/drawing/2014/main" xmlns="" id="{7EE843EC-B354-4A28-AE05-2BBC63C2A2B5}"/>
              </a:ext>
            </a:extLst>
          </p:cNvPr>
          <p:cNvSpPr txBox="1">
            <a:spLocks/>
          </p:cNvSpPr>
          <p:nvPr/>
        </p:nvSpPr>
        <p:spPr>
          <a:xfrm>
            <a:off x="-3046" y="2435161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실습 </a:t>
            </a:r>
            <a:r>
              <a:rPr lang="en-US" altLang="ko-KR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34798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단순 선형 회귀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56319" y="2119849"/>
            <a:ext cx="966700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회귀의 목표는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연속형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반응 변수의 값을 예측하는 것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단순 선형 회귀란 설명 변수인 단일 특징과 단일 반응 변수 간에 선형 관계가 있다고 가정하고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초평면이라고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하는 선형 평면을 이용해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모델링한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것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단순 회귀는 설명 변수의 차원과 반응 변수의 차원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모두 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개의 차원을 가지며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초평면은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한 차원 낮은 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차원이 됨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(1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차원의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초평면은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선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4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smtClean="0"/>
              <a:t>단순 선형 회귀의 개요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266204" y="4897703"/>
                <a:ext cx="206261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3600" b="0" i="0" spc="-300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y</m:t>
                      </m:r>
                      <m:r>
                        <a:rPr lang="en-US" altLang="ko-KR" sz="3600" b="0" i="0" spc="-300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ko-KR" sz="3600" b="0" i="1" spc="-300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α</m:t>
                      </m:r>
                      <m:r>
                        <a:rPr lang="en-US" altLang="ko-KR" sz="3600" b="0" i="1" spc="-300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ko-KR" altLang="el-GR" sz="3600" b="0" i="1" spc="-300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altLang="ko-KR" sz="3600" b="0" i="1" spc="-300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ko-KR" altLang="en-US" sz="3600" spc="-300" dirty="0" smtClean="0">
                  <a:ln w="25400" cap="flat">
                    <a:noFill/>
                    <a:miter lim="800000"/>
                  </a:ln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  <a:latin typeface="Impact" panose="020B0806030902050204" pitchFamily="34" charset="0"/>
                  <a:ea typeface="스웨거 TTF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6204" y="4897703"/>
                <a:ext cx="2062616" cy="55399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2954609" y="5577032"/>
            <a:ext cx="5884140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8">
              <a:lnSpc>
                <a:spcPct val="130000"/>
              </a:lnSpc>
              <a:spcAft>
                <a:spcPts val="1800"/>
              </a:spcAft>
              <a:buSzPct val="80000"/>
            </a:pPr>
            <a:r>
              <a:rPr lang="en-US" altLang="ko-KR" sz="16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y : </a:t>
            </a:r>
            <a:r>
              <a:rPr lang="ko-KR" altLang="en-US" sz="16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반응 변수의 예측 값</a:t>
            </a:r>
            <a:r>
              <a:rPr lang="en-US" altLang="ko-KR" sz="16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6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6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절편 항 </a:t>
            </a:r>
            <a:r>
              <a:rPr lang="en-US" altLang="ko-KR" sz="16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α</a:t>
            </a:r>
            <a:r>
              <a:rPr lang="ko-KR" altLang="en-US" sz="16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와 계수 </a:t>
            </a:r>
            <a:r>
              <a:rPr lang="en-US" altLang="ko-KR" sz="16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β : </a:t>
            </a:r>
            <a:r>
              <a:rPr lang="ko-KR" altLang="en-US" sz="16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알고리즘을 통해 학습하게 되는 모델의 </a:t>
            </a:r>
            <a:r>
              <a:rPr lang="ko-KR" altLang="en-US" sz="16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파라미터</a:t>
            </a:r>
            <a:r>
              <a:rPr lang="en-US" altLang="ko-KR" sz="16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6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6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x : </a:t>
            </a:r>
            <a:r>
              <a:rPr lang="ko-KR" altLang="en-US" sz="16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설명 변수</a:t>
            </a:r>
            <a:endParaRPr lang="en-US" altLang="ko-KR" sz="16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773020" y="4978300"/>
            <a:ext cx="3450300" cy="294826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알고리즘을 통해 학습하면 최적의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α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와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β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값을 찾아냄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06977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단순 선형 회귀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56319" y="2119849"/>
            <a:ext cx="9667001" cy="404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OLS(Ordinary Least Squares)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또는 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LLS(Linear Least Squares)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부름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단순 선형 회귀에서 모델을 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적화하는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파라미터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값을 훈련 데이터로부터 학습하는 방법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비용 함수 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손실 함수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모델의 오차를 정의하고 측정하기 위해 사용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잔차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residual.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훈련 오차로 훈련 데이터의 관측 값과 모델에 의한 예측 값의 차이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예측 오차 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prediction error.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테스트 오차로 테스트 데이터의 관측 값과 모델에 의한 예측 값의 차이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잔차의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합을 최소화           값을 예측할 수 있는 추정기를 만들 수 있음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smtClean="0"/>
              <a:t>최소 </a:t>
            </a:r>
            <a:r>
              <a:rPr lang="ko-KR" altLang="en-US" dirty="0" err="1" smtClean="0"/>
              <a:t>제곱법</a:t>
            </a:r>
            <a:endParaRPr lang="ko-KR" altLang="en-US" dirty="0"/>
          </a:p>
        </p:txBody>
      </p:sp>
      <p:sp>
        <p:nvSpPr>
          <p:cNvPr id="9" name="오른쪽 화살표 8"/>
          <p:cNvSpPr/>
          <p:nvPr/>
        </p:nvSpPr>
        <p:spPr>
          <a:xfrm>
            <a:off x="4006950" y="5760540"/>
            <a:ext cx="333286" cy="282011"/>
          </a:xfrm>
          <a:prstGeom prst="rightArrow">
            <a:avLst/>
          </a:prstGeom>
          <a:solidFill>
            <a:srgbClr val="5AA8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21903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단순 선형 회귀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56319" y="2119849"/>
            <a:ext cx="9667001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반응 변수의 예측 값이 훈련 데이터의 관측 값과 가까워지면 모델이 적합화되었다고 할 수 있음</a:t>
            </a:r>
            <a:endParaRPr lang="en-US" altLang="ko-KR" sz="2000" spc="-5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 적합화의 척도 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잔차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제곱 합 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(RSS. Residual Sum of Squares)</a:t>
            </a:r>
          </a:p>
        </p:txBody>
      </p:sp>
      <p:sp>
        <p:nvSpPr>
          <p:cNvPr id="4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smtClean="0"/>
              <a:t>비용함수를 사용한 모델의 적합화 척도</a:t>
            </a:r>
            <a:r>
              <a:rPr lang="en-US" altLang="ko-KR" dirty="0" smtClean="0"/>
              <a:t>: RSS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073508" y="3716427"/>
                <a:ext cx="3815853" cy="1008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400" b="0" i="0" spc="-150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RSS</m:t>
                      </m:r>
                      <m:r>
                        <a:rPr lang="en-US" altLang="ko-KR" sz="2400" b="0" i="0" spc="-150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24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𝑆𝑆</m:t>
                          </m:r>
                        </m:e>
                        <m:sub>
                          <m:r>
                            <a:rPr lang="en-US" altLang="ko-KR" sz="24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𝑟𝑒𝑠</m:t>
                          </m:r>
                        </m:sub>
                      </m:sSub>
                      <m:r>
                        <a:rPr lang="en-US" altLang="ko-KR" sz="2400" b="0" i="1" spc="-150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ko-KR" sz="24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24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𝑖</m:t>
                          </m:r>
                          <m:r>
                            <a:rPr lang="en-US" altLang="ko-KR" sz="24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24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sz="2400" b="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</m:ctrlPr>
                            </m:sSupPr>
                            <m:e>
                              <m:r>
                                <a:rPr lang="en-US" altLang="ko-KR" sz="2400" b="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2400" b="0" i="1" spc="-150" smtClean="0">
                                      <a:ln w="25400" cap="flat">
                                        <a:noFill/>
                                        <a:miter lim="800000"/>
                                      </a:ln>
                                      <a:solidFill>
                                        <a:schemeClr val="tx1"/>
                                      </a:solidFill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0" i="1" spc="-150" smtClean="0">
                                      <a:ln w="25400" cap="flat">
                                        <a:noFill/>
                                        <a:miter lim="800000"/>
                                      </a:ln>
                                      <a:solidFill>
                                        <a:schemeClr val="tx1"/>
                                      </a:solidFill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sz="2400" b="0" i="1" spc="-150" smtClean="0">
                                      <a:ln w="25400" cap="flat">
                                        <a:noFill/>
                                        <a:miter lim="800000"/>
                                      </a:ln>
                                      <a:solidFill>
                                        <a:schemeClr val="tx1"/>
                                      </a:solidFill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2400" b="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−</m:t>
                              </m:r>
                              <m:r>
                                <a:rPr lang="en-US" altLang="ko-KR" sz="2400" b="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𝑓</m:t>
                              </m:r>
                              <m:r>
                                <a:rPr lang="en-US" altLang="ko-KR" sz="2400" b="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2400" b="0" i="1" spc="-150" smtClean="0">
                                      <a:ln w="25400" cap="flat">
                                        <a:noFill/>
                                        <a:miter lim="800000"/>
                                      </a:ln>
                                      <a:solidFill>
                                        <a:schemeClr val="tx1"/>
                                      </a:solidFill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0" i="1" spc="-150" smtClean="0">
                                      <a:ln w="25400" cap="flat">
                                        <a:noFill/>
                                        <a:miter lim="800000"/>
                                      </a:ln>
                                      <a:solidFill>
                                        <a:schemeClr val="tx1"/>
                                      </a:solidFill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400" b="0" i="1" spc="-150" smtClean="0">
                                      <a:ln w="25400" cap="flat">
                                        <a:noFill/>
                                        <a:miter lim="800000"/>
                                      </a:ln>
                                      <a:solidFill>
                                        <a:schemeClr val="tx1"/>
                                      </a:solidFill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2400" b="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))</m:t>
                              </m:r>
                            </m:e>
                            <m:sup>
                              <m:r>
                                <a:rPr lang="en-US" altLang="ko-KR" sz="2400" b="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ko-KR" altLang="en-US" sz="2400" spc="-150" dirty="0" smtClean="0">
                  <a:ln w="25400" cap="flat">
                    <a:noFill/>
                    <a:miter lim="800000"/>
                  </a:ln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  <a:latin typeface="Impact" panose="020B0806030902050204" pitchFamily="34" charset="0"/>
                  <a:ea typeface="스웨거 TTF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508" y="3716427"/>
                <a:ext cx="3815853" cy="100822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3789496" y="5111374"/>
            <a:ext cx="5884140" cy="732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8">
              <a:lnSpc>
                <a:spcPct val="130000"/>
              </a:lnSpc>
              <a:spcAft>
                <a:spcPts val="1800"/>
              </a:spcAft>
              <a:buSzPct val="80000"/>
            </a:pPr>
            <a:r>
              <a:rPr lang="en-US" altLang="ko-KR" sz="16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y</a:t>
            </a:r>
            <a:r>
              <a:rPr lang="en-US" altLang="ko-KR" sz="1600" baseline="-25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16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: </a:t>
            </a:r>
            <a:r>
              <a:rPr lang="en-US" altLang="ko-KR" sz="16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ko-KR" altLang="en-US" sz="16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 훈련 데이터에 대한 반응 변수의 관측 값</a:t>
            </a:r>
            <a:r>
              <a:rPr lang="en-US" altLang="ko-KR" sz="16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6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6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f(x</a:t>
            </a:r>
            <a:r>
              <a:rPr lang="en-US" altLang="ko-KR" sz="1600" baseline="-25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16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: </a:t>
            </a:r>
            <a:r>
              <a:rPr lang="en-US" altLang="ko-KR" sz="16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ko-KR" altLang="en-US" sz="16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 훈련 데이터에 대한 반응 변수의 예측 값</a:t>
            </a:r>
            <a:endParaRPr lang="en-US" altLang="ko-KR" sz="16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68006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단순 선형 회귀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56319" y="2119849"/>
            <a:ext cx="96670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단순 선형 </a:t>
            </a:r>
            <a:r>
              <a:rPr lang="ko-KR" altLang="en-US" sz="2000" spc="-5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회귀식</a:t>
            </a:r>
            <a:r>
              <a:rPr lang="en-US" altLang="ko-KR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비용 함수를 최소화하는 </a:t>
            </a:r>
            <a:r>
              <a:rPr lang="en-US" altLang="ko-KR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α </a:t>
            </a: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값과 </a:t>
            </a:r>
            <a:r>
              <a:rPr lang="en-US" altLang="ko-KR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β </a:t>
            </a: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값을 찾는 것이 목표</a:t>
            </a:r>
            <a:endParaRPr lang="en-US" altLang="ko-KR" sz="2000" spc="-5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β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계산하기 위해 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x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분산과 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x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와 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y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공분산을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계산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smtClean="0"/>
              <a:t>단순 선형 회귀를 위한 </a:t>
            </a:r>
            <a:r>
              <a:rPr lang="en-US" altLang="ko-KR" dirty="0" smtClean="0"/>
              <a:t>OLS</a:t>
            </a:r>
            <a:r>
              <a:rPr lang="ko-KR" altLang="en-US" dirty="0" smtClean="0"/>
              <a:t>의 계산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006168" y="4097484"/>
                <a:ext cx="2594043" cy="741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400" i="1" spc="-300" smtClean="0">
                          <a:ln w="25400" cap="flat">
                            <a:noFill/>
                            <a:miter lim="800000"/>
                          </a:ln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v</m:t>
                      </m:r>
                      <m:r>
                        <a:rPr lang="en-US" altLang="ko-KR" sz="2400" b="0" i="1" spc="-300" smtClean="0">
                          <a:ln w="25400" cap="flat">
                            <a:noFill/>
                            <a:miter lim="800000"/>
                          </a:ln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𝑎𝑟</m:t>
                      </m:r>
                      <m:d>
                        <m:dPr>
                          <m:ctrlPr>
                            <a:rPr lang="en-US" altLang="ko-KR" sz="2400" b="0" i="1" spc="-300" smtClean="0">
                              <a:ln w="25400" cap="flat">
                                <a:noFill/>
                                <a:miter lim="800000"/>
                              </a:ln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</m:ctrlPr>
                        </m:dPr>
                        <m:e>
                          <m:r>
                            <a:rPr lang="en-US" altLang="ko-KR" sz="2400" b="0" i="1" spc="-300" smtClean="0">
                              <a:ln w="25400" cap="flat">
                                <a:noFill/>
                                <a:miter lim="800000"/>
                              </a:ln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𝑥</m:t>
                          </m:r>
                        </m:e>
                      </m:d>
                      <m:r>
                        <a:rPr lang="en-US" altLang="ko-KR" sz="2400" b="0" i="0" spc="-300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=</m:t>
                      </m:r>
                      <m:f>
                        <m:fPr>
                          <m:ctrlPr>
                            <a:rPr lang="en-US" altLang="ko-KR" sz="2400" b="0" i="1" spc="-30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ko-KR" sz="2400" i="1" spc="-300">
                                  <a:ln w="25400" cap="flat">
                                    <a:noFill/>
                                    <a:miter lim="800000"/>
                                  </a:ln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ko-KR" sz="2400" i="1" spc="-300">
                                  <a:ln w="25400" cap="flat">
                                    <a:noFill/>
                                    <a:miter lim="800000"/>
                                  </a:ln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𝑖</m:t>
                              </m:r>
                              <m:r>
                                <a:rPr lang="en-US" altLang="ko-KR" sz="2400" i="1" spc="-300">
                                  <a:ln w="25400" cap="flat">
                                    <a:noFill/>
                                    <a:miter lim="800000"/>
                                  </a:ln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sz="2400" i="1" spc="-300">
                                  <a:ln w="25400" cap="flat">
                                    <a:noFill/>
                                    <a:miter lim="800000"/>
                                  </a:ln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ko-KR" sz="2400" i="1" spc="-30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400" i="1" spc="-30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ko-KR" sz="2400" i="1" spc="-300">
                                          <a:ln w="25400" cap="flat">
                                            <a:noFill/>
                                            <a:miter lim="800000"/>
                                          </a:ln>
                                          <a:effectLst>
                                            <a:glow>
                                              <a:schemeClr val="bg1"/>
                                            </a:glow>
                                          </a:effectLst>
                                          <a:latin typeface="Cambria Math" panose="02040503050406030204" pitchFamily="18" charset="0"/>
                                          <a:ea typeface="휴먼모음T" panose="02030504000101010101" pitchFamily="18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400" i="1" spc="-300">
                                          <a:ln w="25400" cap="flat">
                                            <a:noFill/>
                                            <a:miter lim="800000"/>
                                          </a:ln>
                                          <a:effectLst>
                                            <a:glow>
                                              <a:schemeClr val="bg1"/>
                                            </a:glow>
                                          </a:effectLst>
                                          <a:latin typeface="Cambria Math" panose="02040503050406030204" pitchFamily="18" charset="0"/>
                                          <a:ea typeface="휴먼모음T" panose="02030504000101010101" pitchFamily="18" charset="-127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sz="2400" i="1" spc="-300">
                                          <a:ln w="25400" cap="flat">
                                            <a:noFill/>
                                            <a:miter lim="800000"/>
                                          </a:ln>
                                          <a:effectLst>
                                            <a:glow>
                                              <a:schemeClr val="bg1"/>
                                            </a:glow>
                                          </a:effectLst>
                                          <a:latin typeface="Cambria Math" panose="02040503050406030204" pitchFamily="18" charset="0"/>
                                          <a:ea typeface="휴먼모음T" panose="02030504000101010101" pitchFamily="18" charset="-127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sz="2400" i="1" spc="-30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ko-KR" sz="2400" i="1" spc="-300">
                                          <a:ln w="25400" cap="flat">
                                            <a:noFill/>
                                            <a:miter lim="800000"/>
                                          </a:ln>
                                          <a:effectLst>
                                            <a:glow>
                                              <a:schemeClr val="bg1"/>
                                            </a:glow>
                                          </a:effectLst>
                                          <a:latin typeface="Cambria Math" panose="02040503050406030204" pitchFamily="18" charset="0"/>
                                          <a:ea typeface="휴먼모음T" panose="02030504000101010101" pitchFamily="18" charset="-127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2400" i="1" spc="-300">
                                          <a:ln w="25400" cap="flat">
                                            <a:noFill/>
                                            <a:miter lim="800000"/>
                                          </a:ln>
                                          <a:effectLst>
                                            <a:glow>
                                              <a:schemeClr val="bg1"/>
                                            </a:glow>
                                          </a:effectLst>
                                          <a:latin typeface="Cambria Math" panose="02040503050406030204" pitchFamily="18" charset="0"/>
                                          <a:ea typeface="휴먼모음T" panose="02030504000101010101" pitchFamily="18" charset="-127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US" altLang="ko-KR" sz="2400" i="1" spc="-30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ko-KR" sz="2400" i="1" spc="-30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US" altLang="ko-KR" sz="2400" b="0" i="1" spc="-30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𝑛</m:t>
                          </m:r>
                          <m:r>
                            <a:rPr lang="en-US" altLang="ko-KR" sz="2400" b="0" i="1" spc="-30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ko-KR" altLang="en-US" sz="2400" spc="-300" dirty="0" smtClean="0">
                  <a:ln w="25400" cap="flat">
                    <a:noFill/>
                    <a:miter lim="800000"/>
                  </a:ln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  <a:latin typeface="Impact" panose="020B0806030902050204" pitchFamily="34" charset="0"/>
                  <a:ea typeface="스웨거 TTF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6168" y="4097484"/>
                <a:ext cx="2594043" cy="7411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4032EFA2-320E-4454-952D-AE602BBB7FEB}"/>
                  </a:ext>
                </a:extLst>
              </p:cNvPr>
              <p:cNvSpPr txBox="1"/>
              <p:nvPr/>
            </p:nvSpPr>
            <p:spPr>
              <a:xfrm>
                <a:off x="4385844" y="5169992"/>
                <a:ext cx="2740513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288">
                  <a:buSzPct val="80000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1600" i="1" spc="-300" smtClean="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</m:ctrlPr>
                      </m:accPr>
                      <m:e>
                        <m:r>
                          <a:rPr lang="en-US" altLang="ko-KR" sz="1600" i="1" spc="-30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𝑥</m:t>
                        </m:r>
                      </m:e>
                    </m:acc>
                    <m:r>
                      <a:rPr lang="en-US" altLang="ko-KR" sz="1600" b="0" i="1" spc="-300" smtClean="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 </m:t>
                    </m:r>
                  </m:oMath>
                </a14:m>
                <a:r>
                  <a:rPr lang="en-US" altLang="ko-KR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 : x</a:t>
                </a:r>
                <a:r>
                  <a:rPr lang="ko-KR" altLang="en-US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의</a:t>
                </a:r>
                <a:r>
                  <a:rPr lang="en-US" altLang="ko-KR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ko-KR" altLang="en-US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평균</a:t>
                </a:r>
                <a:endParaRPr lang="en-US" altLang="ko-KR" sz="1600" dirty="0" smtClean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 marL="14288">
                  <a:buSzPct val="80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30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</m:ctrlPr>
                      </m:sSubPr>
                      <m:e>
                        <m:r>
                          <a:rPr lang="en-US" altLang="ko-KR" sz="1600" i="1" spc="-30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30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: x</a:t>
                </a:r>
                <a:r>
                  <a:rPr lang="ko-KR" altLang="en-US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의 </a:t>
                </a:r>
                <a:r>
                  <a:rPr lang="en-US" altLang="ko-KR" sz="1600" dirty="0" err="1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i</a:t>
                </a:r>
                <a:r>
                  <a:rPr lang="ko-KR" altLang="en-US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번째 훈련 데이터의 값</a:t>
                </a:r>
                <a:endParaRPr lang="en-US" altLang="ko-KR" sz="1600" dirty="0" smtClean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 marL="14288">
                  <a:buSzPct val="80000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1600" i="1" spc="-30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</m:ctrlPr>
                      </m:accPr>
                      <m:e>
                        <m:r>
                          <a:rPr lang="en-US" altLang="ko-KR" sz="1600" i="1" spc="-30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altLang="ko-KR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 : y</a:t>
                </a:r>
                <a:r>
                  <a:rPr lang="ko-KR" altLang="en-US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의 평균</a:t>
                </a:r>
                <a:endParaRPr lang="en-US" altLang="ko-KR" sz="1600" dirty="0" smtClean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 marL="14288">
                  <a:buSzPct val="80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30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</m:ctrlPr>
                      </m:sSubPr>
                      <m:e>
                        <m:r>
                          <a:rPr lang="en-US" altLang="ko-KR" sz="1600" i="1" spc="-30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𝑦</m:t>
                        </m:r>
                      </m:e>
                      <m:sub>
                        <m:r>
                          <a:rPr lang="en-US" altLang="ko-KR" sz="1600" i="1" spc="-30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: y</a:t>
                </a:r>
                <a:r>
                  <a:rPr lang="ko-KR" altLang="en-US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의 </a:t>
                </a:r>
                <a:r>
                  <a:rPr lang="en-US" altLang="ko-KR" sz="1600" dirty="0" err="1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i</a:t>
                </a:r>
                <a:r>
                  <a:rPr lang="ko-KR" altLang="en-US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번째 관측 값</a:t>
                </a:r>
                <a:endParaRPr lang="en-US" altLang="ko-KR" sz="1600" dirty="0" smtClean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 marL="14288">
                  <a:buSzPct val="80000"/>
                </a:pPr>
                <a14:m>
                  <m:oMath xmlns:m="http://schemas.openxmlformats.org/officeDocument/2006/math">
                    <m:r>
                      <a:rPr lang="en-US" altLang="ko-KR" sz="1600" i="1" spc="-30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𝑛</m:t>
                    </m:r>
                    <m:r>
                      <a:rPr lang="en-US" altLang="ko-KR" sz="1600" i="1" spc="-30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 </m:t>
                    </m:r>
                  </m:oMath>
                </a14:m>
                <a:r>
                  <a:rPr lang="en-US" altLang="ko-KR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 : </a:t>
                </a:r>
                <a:r>
                  <a:rPr lang="ko-KR" altLang="en-US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훈련 데이터의 개수</a:t>
                </a:r>
                <a:endParaRPr lang="en-US" altLang="ko-KR" sz="1600" dirty="0" smtClean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032EFA2-320E-4454-952D-AE602BBB7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5844" y="5169992"/>
                <a:ext cx="2740513" cy="1323439"/>
              </a:xfrm>
              <a:prstGeom prst="rect">
                <a:avLst/>
              </a:prstGeom>
              <a:blipFill rotWithShape="0">
                <a:blip r:embed="rId4"/>
                <a:stretch>
                  <a:fillRect t="-922" b="-55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815091" y="2162296"/>
                <a:ext cx="12708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400" b="0" i="0" spc="-300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y</m:t>
                      </m:r>
                      <m:r>
                        <a:rPr lang="en-US" altLang="ko-KR" sz="2400" b="0" i="0" spc="-300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ko-KR" sz="2400" b="0" i="1" spc="-300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α</m:t>
                      </m:r>
                      <m:r>
                        <a:rPr lang="en-US" altLang="ko-KR" sz="2400" b="0" i="1" spc="-300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ko-KR" altLang="el-GR" sz="2400" b="0" i="1" spc="-300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altLang="ko-KR" sz="2400" b="0" i="1" spc="-300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ko-KR" altLang="en-US" sz="2400" spc="-300" dirty="0" smtClean="0">
                  <a:ln w="25400" cap="flat">
                    <a:noFill/>
                    <a:miter lim="800000"/>
                  </a:ln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  <a:latin typeface="Impact" panose="020B0806030902050204" pitchFamily="34" charset="0"/>
                  <a:ea typeface="스웨거 TTF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5091" y="2162296"/>
                <a:ext cx="1270861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7692" r="-4808" b="-3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092954" y="4097484"/>
                <a:ext cx="3614131" cy="7243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pc="-300" smtClean="0">
                          <a:ln w="25400" cap="flat">
                            <a:noFill/>
                            <a:miter lim="800000"/>
                          </a:ln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𝑐𝑜𝑣</m:t>
                      </m:r>
                      <m:d>
                        <m:dPr>
                          <m:ctrlPr>
                            <a:rPr lang="en-US" altLang="ko-KR" sz="2400" b="0" i="1" spc="-300" smtClean="0">
                              <a:ln w="25400" cap="flat">
                                <a:noFill/>
                                <a:miter lim="800000"/>
                              </a:ln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</m:ctrlPr>
                        </m:dPr>
                        <m:e>
                          <m:r>
                            <a:rPr lang="en-US" altLang="ko-KR" sz="2400" b="0" i="1" spc="-300" smtClean="0">
                              <a:ln w="25400" cap="flat">
                                <a:noFill/>
                                <a:miter lim="800000"/>
                              </a:ln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𝑥</m:t>
                          </m:r>
                          <m:r>
                            <a:rPr lang="en-US" altLang="ko-KR" sz="2400" b="0" i="1" spc="-300" smtClean="0">
                              <a:ln w="25400" cap="flat">
                                <a:noFill/>
                                <a:miter lim="800000"/>
                              </a:ln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,</m:t>
                          </m:r>
                          <m:r>
                            <a:rPr lang="en-US" altLang="ko-KR" sz="2400" b="0" i="1" spc="-300" smtClean="0">
                              <a:ln w="25400" cap="flat">
                                <a:noFill/>
                                <a:miter lim="800000"/>
                              </a:ln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𝑦</m:t>
                          </m:r>
                        </m:e>
                      </m:d>
                      <m:r>
                        <a:rPr lang="en-US" altLang="ko-KR" sz="2400" b="0" i="0" spc="-300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=</m:t>
                      </m:r>
                      <m:f>
                        <m:fPr>
                          <m:ctrlPr>
                            <a:rPr lang="en-US" altLang="ko-KR" sz="2400" b="0" i="1" spc="-30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ko-KR" sz="2400" i="1" spc="-300">
                                  <a:ln w="25400" cap="flat">
                                    <a:noFill/>
                                    <a:miter lim="800000"/>
                                  </a:ln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ko-KR" sz="2400" i="1" spc="-300">
                                  <a:ln w="25400" cap="flat">
                                    <a:noFill/>
                                    <a:miter lim="800000"/>
                                  </a:ln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𝑖</m:t>
                              </m:r>
                              <m:r>
                                <a:rPr lang="en-US" altLang="ko-KR" sz="2400" i="1" spc="-300">
                                  <a:ln w="25400" cap="flat">
                                    <a:noFill/>
                                    <a:miter lim="800000"/>
                                  </a:ln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sz="2400" i="1" spc="-300">
                                  <a:ln w="25400" cap="flat">
                                    <a:noFill/>
                                    <a:miter lim="800000"/>
                                  </a:ln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altLang="ko-KR" sz="2400" i="1" spc="-300">
                                  <a:ln w="25400" cap="flat">
                                    <a:noFill/>
                                    <a:miter lim="800000"/>
                                  </a:ln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2400" i="1" spc="-30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 spc="-30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400" i="1" spc="-30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2400" i="1" spc="-300">
                                  <a:ln w="25400" cap="flat">
                                    <a:noFill/>
                                    <a:miter lim="800000"/>
                                  </a:ln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ko-KR" sz="2400" i="1" spc="-30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400" i="1" spc="-30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altLang="ko-KR" sz="2400" i="1" spc="-300">
                                  <a:ln w="25400" cap="flat">
                                    <a:noFill/>
                                    <a:miter lim="800000"/>
                                  </a:ln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altLang="ko-KR" sz="2400" i="1" spc="-30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0" i="1" spc="-300" smtClean="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sz="2400" i="1" spc="-30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2400" i="1" spc="-300">
                                  <a:ln w="25400" cap="flat">
                                    <a:noFill/>
                                    <a:miter lim="800000"/>
                                  </a:ln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ko-KR" sz="2400" i="1" spc="-30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400" b="0" i="1" spc="-300" smtClean="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altLang="ko-KR" sz="2400" i="1" spc="-300">
                                  <a:ln w="25400" cap="flat">
                                    <a:noFill/>
                                    <a:miter lim="800000"/>
                                  </a:ln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>
                            <a:rPr lang="en-US" altLang="ko-KR" sz="2400" b="0" i="1" spc="-30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𝑛</m:t>
                          </m:r>
                          <m:r>
                            <a:rPr lang="en-US" altLang="ko-KR" sz="2400" b="0" i="1" spc="-30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ko-KR" altLang="en-US" sz="2400" spc="-300" dirty="0" smtClean="0">
                  <a:ln w="25400" cap="flat">
                    <a:noFill/>
                    <a:miter lim="800000"/>
                  </a:ln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  <a:latin typeface="Impact" panose="020B0806030902050204" pitchFamily="34" charset="0"/>
                  <a:ea typeface="스웨거 TTF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2954" y="4097484"/>
                <a:ext cx="3614131" cy="7243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34471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단순 선형 회귀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56319" y="2119849"/>
            <a:ext cx="96670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β</a:t>
            </a: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값 계산 </a:t>
            </a:r>
            <a:r>
              <a:rPr lang="en-US" altLang="ko-KR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</a:p>
          <a:p>
            <a:pPr marL="14288">
              <a:lnSpc>
                <a:spcPct val="130000"/>
              </a:lnSpc>
              <a:spcAft>
                <a:spcPts val="1800"/>
              </a:spcAft>
              <a:buSzPct val="80000"/>
            </a:pPr>
            <a:endParaRPr lang="en-US" altLang="ko-KR" sz="2000" spc="-5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α</a:t>
            </a: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값 계산 </a:t>
            </a:r>
            <a:r>
              <a:rPr lang="en-US" altLang="ko-KR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695820" y="3391806"/>
                <a:ext cx="142455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sz="2400" i="1" spc="-150" smtClean="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𝛼</m:t>
                    </m:r>
                    <m:r>
                      <a:rPr lang="en-US" altLang="ko-KR" sz="2400" b="0" i="1" spc="-150" smtClean="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ko-KR" sz="2400" b="0" i="1" spc="-150" smtClean="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</m:ctrlPr>
                      </m:accPr>
                      <m:e>
                        <m:r>
                          <a:rPr lang="en-US" altLang="ko-KR" sz="2400" b="0" i="1" spc="-150" smtClean="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𝑦</m:t>
                        </m:r>
                      </m:e>
                    </m:acc>
                    <m:r>
                      <a:rPr lang="en-US" altLang="ko-KR" sz="2400" b="0" i="1" spc="-150" smtClean="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−</m:t>
                    </m:r>
                    <m:r>
                      <a:rPr lang="ko-KR" altLang="en-US" sz="2400" b="0" i="1" spc="-150" smtClean="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𝛽</m:t>
                    </m:r>
                    <m:acc>
                      <m:accPr>
                        <m:chr m:val="̅"/>
                        <m:ctrlPr>
                          <a:rPr lang="ko-KR" altLang="en-US" sz="2400" b="0" i="1" spc="-150" smtClean="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</m:ctrlPr>
                      </m:accPr>
                      <m:e>
                        <m:r>
                          <a:rPr lang="en-US" altLang="ko-KR" sz="2400" b="0" i="1" spc="-150" smtClean="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𝑥</m:t>
                        </m:r>
                      </m:e>
                    </m:acc>
                  </m:oMath>
                </a14:m>
                <a:r>
                  <a:rPr lang="ko-KR" altLang="en-US" sz="2400" spc="-150" dirty="0" smtClean="0">
                    <a:ln w="25400" cap="flat">
                      <a:noFill/>
                      <a:miter lim="800000"/>
                    </a:ln>
                    <a:solidFill>
                      <a:schemeClr val="tx1"/>
                    </a:solidFill>
                    <a:effectLst>
                      <a:glow>
                        <a:schemeClr val="bg1"/>
                      </a:glow>
                    </a:effectLst>
                    <a:latin typeface="Impact" panose="020B0806030902050204" pitchFamily="34" charset="0"/>
                    <a:ea typeface="스웨거 TTF" panose="020B0600000101010101" pitchFamily="50" charset="-127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820" y="3391806"/>
                <a:ext cx="1424557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5128" r="-30342" b="-377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4032EFA2-320E-4454-952D-AE602BBB7FEB}"/>
                  </a:ext>
                </a:extLst>
              </p:cNvPr>
              <p:cNvSpPr txBox="1"/>
              <p:nvPr/>
            </p:nvSpPr>
            <p:spPr>
              <a:xfrm>
                <a:off x="3564460" y="4245653"/>
                <a:ext cx="489374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288">
                  <a:buSzPct val="80000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1600" i="1" spc="-300" smtClean="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</m:ctrlPr>
                      </m:accPr>
                      <m:e>
                        <m:r>
                          <a:rPr lang="en-US" altLang="ko-KR" sz="1600" i="1" spc="-30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𝑥</m:t>
                        </m:r>
                      </m:e>
                    </m:acc>
                    <m:r>
                      <a:rPr lang="en-US" altLang="ko-KR" sz="1600" b="0" i="1" spc="-300" smtClean="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 </m:t>
                    </m:r>
                  </m:oMath>
                </a14:m>
                <a:r>
                  <a:rPr lang="en-US" altLang="ko-KR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 : x</a:t>
                </a:r>
                <a:r>
                  <a:rPr lang="ko-KR" altLang="en-US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의</a:t>
                </a:r>
                <a:r>
                  <a:rPr lang="en-US" altLang="ko-KR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ko-KR" altLang="en-US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평균</a:t>
                </a:r>
                <a:endParaRPr lang="en-US" altLang="ko-KR" sz="1600" dirty="0" smtClean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 marL="14288">
                  <a:buSzPct val="80000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1600" i="1" spc="-30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</m:ctrlPr>
                      </m:accPr>
                      <m:e>
                        <m:r>
                          <a:rPr lang="en-US" altLang="ko-KR" sz="1600" i="1" spc="-30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altLang="ko-KR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 : y</a:t>
                </a:r>
                <a:r>
                  <a:rPr lang="ko-KR" altLang="en-US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의 평균</a:t>
                </a:r>
                <a:endParaRPr lang="en-US" altLang="ko-KR" sz="16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 marL="14288">
                  <a:buSzPct val="80000"/>
                </a:pPr>
                <a:r>
                  <a:rPr lang="en-US" altLang="ko-KR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1600" i="1" spc="-30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</m:ctrlPr>
                      </m:accPr>
                      <m:e>
                        <m:r>
                          <a:rPr lang="en-US" altLang="ko-KR" sz="1600" i="1" spc="-30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ko-KR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,</a:t>
                </a:r>
                <a:r>
                  <a:rPr lang="en-US" altLang="ko-KR" sz="1600" spc="-300" dirty="0">
                    <a:ln w="25400" cap="flat">
                      <a:noFill/>
                      <a:miter lim="800000"/>
                    </a:ln>
                    <a:effectLst>
                      <a:glow>
                        <a:schemeClr val="bg1"/>
                      </a:glow>
                    </a:effectLst>
                    <a:ea typeface="스웨거 TTF" panose="020B0600000101010101" pitchFamily="50" charset="-127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1600" i="1" spc="-30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</m:ctrlPr>
                      </m:accPr>
                      <m:e>
                        <m:r>
                          <a:rPr lang="en-US" altLang="ko-KR" sz="1600" i="1" spc="-30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altLang="ko-KR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en-US" altLang="ko-KR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) : </a:t>
                </a:r>
                <a:r>
                  <a:rPr lang="ko-KR" altLang="en-US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모델이 반드시 지나가야 하는 </a:t>
                </a:r>
                <a:r>
                  <a:rPr lang="ko-KR" altLang="en-US" sz="1600" dirty="0" err="1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센트로이드</a:t>
                </a:r>
                <a:r>
                  <a:rPr lang="ko-KR" altLang="en-US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좌표</a:t>
                </a:r>
                <a:endParaRPr lang="en-US" altLang="ko-KR" sz="1600" dirty="0" smtClean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032EFA2-320E-4454-952D-AE602BBB7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4460" y="4245653"/>
                <a:ext cx="4893741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498" t="-1460" b="-87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656065" y="1953025"/>
                <a:ext cx="1638525" cy="768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l-GR" sz="2400" i="1" spc="-150" smtClean="0">
                          <a:ln w="25400" cap="flat">
                            <a:noFill/>
                            <a:miter lim="800000"/>
                          </a:ln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altLang="ko-KR" sz="2400" b="0" i="0" spc="-150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=</m:t>
                      </m:r>
                      <m:f>
                        <m:fPr>
                          <m:ctrlPr>
                            <a:rPr lang="en-US" altLang="ko-KR" sz="24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</m:ctrlPr>
                        </m:fPr>
                        <m:num>
                          <m:r>
                            <a:rPr lang="en-US" altLang="ko-KR" sz="24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𝑐𝑜𝑣</m:t>
                          </m:r>
                          <m:r>
                            <a:rPr lang="en-US" altLang="ko-KR" sz="24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(</m:t>
                          </m:r>
                          <m:r>
                            <a:rPr lang="en-US" altLang="ko-KR" sz="24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𝑥</m:t>
                          </m:r>
                          <m:r>
                            <a:rPr lang="en-US" altLang="ko-KR" sz="24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, </m:t>
                          </m:r>
                          <m:r>
                            <a:rPr lang="en-US" altLang="ko-KR" sz="24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𝑦</m:t>
                          </m:r>
                          <m:r>
                            <a:rPr lang="en-US" altLang="ko-KR" sz="24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)</m:t>
                          </m:r>
                        </m:num>
                        <m:den>
                          <m:r>
                            <a:rPr lang="en-US" altLang="ko-KR" sz="24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𝑣𝑎𝑟</m:t>
                          </m:r>
                          <m:r>
                            <a:rPr lang="en-US" altLang="ko-KR" sz="24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(</m:t>
                          </m:r>
                          <m:r>
                            <a:rPr lang="en-US" altLang="ko-KR" sz="24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𝑥</m:t>
                          </m:r>
                          <m:r>
                            <a:rPr lang="en-US" altLang="ko-KR" sz="24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ko-KR" altLang="en-US" sz="2400" spc="-150" dirty="0" smtClean="0">
                  <a:ln w="25400" cap="flat">
                    <a:noFill/>
                    <a:miter lim="800000"/>
                  </a:ln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  <a:latin typeface="Impact" panose="020B0806030902050204" pitchFamily="34" charset="0"/>
                  <a:ea typeface="스웨거 TTF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6065" y="1953025"/>
                <a:ext cx="1638525" cy="76899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16781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단순 선형 회귀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56319" y="2119849"/>
            <a:ext cx="966700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회귀 모델의 기본 예측 능력 평가 지표</a:t>
            </a:r>
            <a:r>
              <a:rPr lang="en-US" altLang="ko-KR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결정계수 </a:t>
            </a:r>
            <a:r>
              <a:rPr lang="en-US" altLang="ko-KR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</a:t>
            </a:r>
            <a:r>
              <a:rPr lang="en-US" altLang="ko-KR" sz="2000" spc="-50" baseline="30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lang="en-US" altLang="ko-KR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데이터가 회귀선에 얼마나 가깝게 분포하는지를 측정</a:t>
            </a:r>
            <a:endParaRPr lang="en-US" altLang="ko-KR" sz="2000" spc="-5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모델에 의해 설명된 반응 변수 분산의 비율을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기술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</a:t>
            </a:r>
            <a:r>
              <a:rPr lang="en-US" altLang="ko-KR" sz="2000" baseline="30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은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이상치에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민감하고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모델에 새로운 특징이 추가되면 값이 증가하는 문제를 가짐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smtClean="0"/>
              <a:t>단순 선형 회귀 모델의 평가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208802" y="5187794"/>
                <a:ext cx="1569789" cy="6301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0" i="1" spc="-150" smtClean="0">
                              <a:ln w="25400" cap="flat">
                                <a:noFill/>
                                <a:miter lim="800000"/>
                              </a:ln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</m:ctrlPr>
                        </m:sSupPr>
                        <m:e>
                          <m:r>
                            <a:rPr lang="en-US" altLang="ko-KR" sz="2000" b="0" i="1" spc="-150" smtClean="0">
                              <a:ln w="25400" cap="flat">
                                <a:noFill/>
                                <a:miter lim="800000"/>
                              </a:ln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𝑅</m:t>
                          </m:r>
                        </m:e>
                        <m:sup>
                          <m:r>
                            <a:rPr lang="en-US" altLang="ko-KR" sz="2000" b="0" i="1" spc="-150" smtClean="0">
                              <a:ln w="25400" cap="flat">
                                <a:noFill/>
                                <a:miter lim="800000"/>
                              </a:ln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2</m:t>
                          </m:r>
                        </m:sup>
                      </m:sSup>
                      <m:r>
                        <a:rPr lang="en-US" altLang="ko-KR" sz="2000" b="0" i="1" spc="-150" smtClean="0">
                          <a:ln w="25400" cap="flat">
                            <a:noFill/>
                            <a:miter lim="800000"/>
                          </a:ln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=1 − </m:t>
                      </m:r>
                      <m:f>
                        <m:fPr>
                          <m:ctrlPr>
                            <a:rPr lang="en-US" altLang="ko-KR" sz="20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2000" b="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𝑆𝑆</m:t>
                              </m:r>
                            </m:e>
                            <m:sub>
                              <m:r>
                                <a:rPr lang="en-US" altLang="ko-KR" sz="2000" b="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𝑟𝑒𝑠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sz="2000" b="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𝑆𝑆</m:t>
                              </m:r>
                            </m:e>
                            <m:sub>
                              <m:r>
                                <a:rPr lang="en-US" altLang="ko-KR" sz="2000" b="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𝑡𝑜𝑡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 sz="2400" spc="-150" dirty="0" smtClean="0">
                  <a:ln w="25400" cap="flat">
                    <a:noFill/>
                    <a:miter lim="800000"/>
                  </a:ln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  <a:latin typeface="Impact" panose="020B0806030902050204" pitchFamily="34" charset="0"/>
                  <a:ea typeface="스웨거 TTF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8802" y="5187794"/>
                <a:ext cx="1569789" cy="630173"/>
              </a:xfrm>
              <a:prstGeom prst="rect">
                <a:avLst/>
              </a:prstGeom>
              <a:blipFill rotWithShape="0">
                <a:blip r:embed="rId3"/>
                <a:stretch>
                  <a:fillRect b="-9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오른쪽 화살표 10"/>
          <p:cNvSpPr/>
          <p:nvPr/>
        </p:nvSpPr>
        <p:spPr>
          <a:xfrm>
            <a:off x="7231669" y="3484730"/>
            <a:ext cx="333286" cy="282011"/>
          </a:xfrm>
          <a:prstGeom prst="rightArrow">
            <a:avLst/>
          </a:prstGeom>
          <a:solidFill>
            <a:srgbClr val="5AA8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900073" y="3434506"/>
                <a:ext cx="131504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0" spc="-300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0</m:t>
                      </m:r>
                      <m:r>
                        <a:rPr lang="en-US" altLang="ko-KR" sz="2400" b="0" i="1" spc="-300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 </m:t>
                      </m:r>
                      <m:sSup>
                        <m:sSupPr>
                          <m:ctrlPr>
                            <a:rPr lang="en-US" altLang="ko-KR" sz="2400" b="0" i="1" spc="-30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0" i="1" spc="-30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ko-KR" sz="2400" b="0" i="1" spc="-30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400" b="0" i="1" spc="-300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ko-KR" altLang="en-US" sz="2400" spc="-300" dirty="0" smtClean="0">
                  <a:ln w="25400" cap="flat">
                    <a:noFill/>
                    <a:miter lim="800000"/>
                  </a:ln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  <a:latin typeface="Impact" panose="020B0806030902050204" pitchFamily="34" charset="0"/>
                  <a:ea typeface="스웨거 TTF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0073" y="3434506"/>
                <a:ext cx="1315040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7407" r="-6944" b="-14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531780" y="4552083"/>
                <a:ext cx="2442592" cy="8402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20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𝑆𝑆</m:t>
                          </m:r>
                        </m:e>
                        <m:sub>
                          <m:r>
                            <a:rPr lang="en-US" altLang="ko-KR" sz="20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𝑟𝑒𝑠</m:t>
                          </m:r>
                        </m:sub>
                      </m:sSub>
                      <m:r>
                        <a:rPr lang="en-US" altLang="ko-KR" sz="2000" b="0" i="1" spc="-150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ko-KR" sz="20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20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𝑖</m:t>
                          </m:r>
                          <m:r>
                            <a:rPr lang="en-US" altLang="ko-KR" sz="20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20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sz="2000" b="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2000" b="0" i="1" spc="-150" smtClean="0">
                                      <a:ln w="25400" cap="flat">
                                        <a:noFill/>
                                        <a:miter lim="800000"/>
                                      </a:ln>
                                      <a:solidFill>
                                        <a:schemeClr val="tx1"/>
                                      </a:solidFill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pc="-150" smtClean="0">
                                      <a:ln w="25400" cap="flat">
                                        <a:noFill/>
                                        <a:miter lim="800000"/>
                                      </a:ln>
                                      <a:solidFill>
                                        <a:schemeClr val="tx1"/>
                                      </a:solidFill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sz="2000" b="0" i="1" spc="-150" smtClean="0">
                                      <a:ln w="25400" cap="flat">
                                        <a:noFill/>
                                        <a:miter lim="800000"/>
                                      </a:ln>
                                      <a:solidFill>
                                        <a:schemeClr val="tx1"/>
                                      </a:solidFill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2000" b="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−</m:t>
                              </m:r>
                              <m:r>
                                <a:rPr lang="en-US" altLang="ko-KR" sz="2000" b="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𝑓</m:t>
                              </m:r>
                              <m:r>
                                <a:rPr lang="en-US" altLang="ko-KR" sz="2000" b="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2000" b="0" i="1" spc="-150" smtClean="0">
                                      <a:ln w="25400" cap="flat">
                                        <a:noFill/>
                                        <a:miter lim="800000"/>
                                      </a:ln>
                                      <a:solidFill>
                                        <a:schemeClr val="tx1"/>
                                      </a:solidFill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pc="-150" smtClean="0">
                                      <a:ln w="25400" cap="flat">
                                        <a:noFill/>
                                        <a:miter lim="800000"/>
                                      </a:ln>
                                      <a:solidFill>
                                        <a:schemeClr val="tx1"/>
                                      </a:solidFill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000" b="0" i="1" spc="-150" smtClean="0">
                                      <a:ln w="25400" cap="flat">
                                        <a:noFill/>
                                        <a:miter lim="800000"/>
                                      </a:ln>
                                      <a:solidFill>
                                        <a:schemeClr val="tx1"/>
                                      </a:solidFill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2000" b="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))</m:t>
                              </m:r>
                            </m:e>
                            <m:sup>
                              <m:r>
                                <a:rPr lang="en-US" altLang="ko-KR" sz="2000" b="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ko-KR" altLang="en-US" sz="2000" spc="-150" dirty="0" smtClean="0">
                  <a:ln w="25400" cap="flat">
                    <a:noFill/>
                    <a:miter lim="800000"/>
                  </a:ln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  <a:latin typeface="Impact" panose="020B0806030902050204" pitchFamily="34" charset="0"/>
                  <a:ea typeface="스웨거 TTF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1780" y="4552083"/>
                <a:ext cx="2442592" cy="84029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531780" y="5649002"/>
                <a:ext cx="2069797" cy="8402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20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𝑆𝑆</m:t>
                          </m:r>
                        </m:e>
                        <m:sub>
                          <m:r>
                            <a:rPr lang="en-US" altLang="ko-KR" sz="20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𝑡𝑜𝑡</m:t>
                          </m:r>
                        </m:sub>
                      </m:sSub>
                      <m:r>
                        <a:rPr lang="en-US" altLang="ko-KR" sz="2000" b="0" i="1" spc="-150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ko-KR" sz="20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20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𝑖</m:t>
                          </m:r>
                          <m:r>
                            <a:rPr lang="en-US" altLang="ko-KR" sz="20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20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sz="2000" b="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2000" b="0" i="1" spc="-150" smtClean="0">
                                      <a:ln w="25400" cap="flat">
                                        <a:noFill/>
                                        <a:miter lim="800000"/>
                                      </a:ln>
                                      <a:solidFill>
                                        <a:schemeClr val="tx1"/>
                                      </a:solidFill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pc="-150" smtClean="0">
                                      <a:ln w="25400" cap="flat">
                                        <a:noFill/>
                                        <a:miter lim="800000"/>
                                      </a:ln>
                                      <a:solidFill>
                                        <a:schemeClr val="tx1"/>
                                      </a:solidFill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sz="2000" b="0" i="1" spc="-150" smtClean="0">
                                      <a:ln w="25400" cap="flat">
                                        <a:noFill/>
                                        <a:miter lim="800000"/>
                                      </a:ln>
                                      <a:solidFill>
                                        <a:schemeClr val="tx1"/>
                                      </a:solidFill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2000" b="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ko-KR" sz="2000" b="0" i="1" spc="-150" smtClean="0">
                                      <a:ln w="25400" cap="flat">
                                        <a:noFill/>
                                        <a:miter lim="800000"/>
                                      </a:ln>
                                      <a:solidFill>
                                        <a:schemeClr val="tx1"/>
                                      </a:solidFill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000" b="0" i="1" spc="-150" smtClean="0">
                                      <a:ln w="25400" cap="flat">
                                        <a:noFill/>
                                        <a:miter lim="800000"/>
                                      </a:ln>
                                      <a:solidFill>
                                        <a:schemeClr val="tx1"/>
                                      </a:solidFill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altLang="ko-KR" sz="2000" b="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ko-KR" sz="2000" b="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ko-KR" altLang="en-US" sz="2000" spc="-150" dirty="0" smtClean="0">
                  <a:ln w="25400" cap="flat">
                    <a:noFill/>
                    <a:miter lim="800000"/>
                  </a:ln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  <a:latin typeface="Impact" panose="020B0806030902050204" pitchFamily="34" charset="0"/>
                  <a:ea typeface="스웨거 TTF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1780" y="5649002"/>
                <a:ext cx="2069797" cy="84029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82341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다중 선형 회귀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56319" y="2119849"/>
            <a:ext cx="9667001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다중 선형 회귀란 설명 변수인 다수의 특징과 단일 반응 변수 간에 선형 관계가 있다고 가정하고 </a:t>
            </a:r>
            <a:r>
              <a:rPr lang="ko-KR" altLang="en-US" sz="2000" spc="-5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초평면이라고</a:t>
            </a: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하는 선형 평면을 이용해 </a:t>
            </a:r>
            <a:r>
              <a:rPr lang="ko-KR" altLang="en-US" sz="2000" spc="-5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모델링한</a:t>
            </a: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것</a:t>
            </a:r>
            <a:endParaRPr lang="en-US" altLang="ko-KR" sz="2000" spc="-5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다중 회귀는 설명 변수의 </a:t>
            </a:r>
            <a:r>
              <a:rPr lang="en-US" altLang="ko-KR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</a:t>
            </a: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차원과 반응 변수의 </a:t>
            </a:r>
            <a:r>
              <a:rPr lang="en-US" altLang="ko-KR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차원</a:t>
            </a:r>
            <a:r>
              <a:rPr lang="en-US" altLang="ko-KR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모두 </a:t>
            </a:r>
            <a:r>
              <a:rPr lang="en-US" altLang="ko-KR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 + 1</a:t>
            </a: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개의 차원을 가지며</a:t>
            </a:r>
            <a:r>
              <a:rPr lang="en-US" altLang="ko-KR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spc="-5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초평면은</a:t>
            </a: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한 차원 낮은 </a:t>
            </a:r>
            <a:r>
              <a:rPr lang="en-US" altLang="ko-KR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</a:t>
            </a: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차원이 됨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smtClean="0"/>
              <a:t>다중 선형 회귀의 개요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947227" y="4266762"/>
                <a:ext cx="452822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25400" cap="flat">
                          <a:noFill/>
                          <a:miter lim="800000"/>
                        </a:ln>
                        <a:solidFill>
                          <a:schemeClr val="tx1"/>
                        </a:solidFill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𝑦</m:t>
                    </m:r>
                    <m:r>
                      <a:rPr lang="en-US" altLang="ko-KR" sz="2000" b="0" i="1" smtClean="0">
                        <a:ln w="25400" cap="flat">
                          <a:noFill/>
                          <a:miter lim="800000"/>
                        </a:ln>
                        <a:solidFill>
                          <a:schemeClr val="tx1"/>
                        </a:solidFill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= </m:t>
                    </m:r>
                    <m:r>
                      <a:rPr lang="ko-KR" altLang="en-US" sz="2000" b="0" i="1" smtClean="0">
                        <a:ln w="25400" cap="flat">
                          <a:noFill/>
                          <a:miter lim="800000"/>
                        </a:ln>
                        <a:solidFill>
                          <a:schemeClr val="tx1"/>
                        </a:solidFill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𝛼</m:t>
                    </m:r>
                    <m:r>
                      <a:rPr lang="en-US" altLang="ko-KR" sz="2000" b="0" i="1" smtClean="0">
                        <a:ln w="25400" cap="flat">
                          <a:noFill/>
                          <a:miter lim="800000"/>
                        </a:ln>
                        <a:solidFill>
                          <a:schemeClr val="tx1"/>
                        </a:solidFill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+</m:t>
                    </m:r>
                    <m:sSub>
                      <m:sSubPr>
                        <m:ctrlPr>
                          <a:rPr lang="en-US" altLang="ko-KR" sz="2000" b="0" i="1" smtClean="0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tx1"/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</m:ctrlPr>
                      </m:sSubPr>
                      <m:e>
                        <m:r>
                          <a:rPr lang="ko-KR" altLang="en-US" sz="2000" b="0" i="1" smtClean="0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tx1"/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𝛽</m:t>
                        </m:r>
                      </m:e>
                      <m:sub>
                        <m:r>
                          <a:rPr lang="en-US" altLang="ko-KR" sz="2000" b="0" i="1" smtClean="0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tx1"/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2000" b="0" i="1" smtClean="0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tx1"/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tx1"/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1</m:t>
                        </m:r>
                      </m:sub>
                    </m:sSub>
                    <m:r>
                      <a:rPr lang="en-US" altLang="ko-KR" sz="2000" b="0" i="1" smtClean="0">
                        <a:ln w="25400" cap="flat">
                          <a:noFill/>
                          <a:miter lim="800000"/>
                        </a:ln>
                        <a:solidFill>
                          <a:schemeClr val="tx1"/>
                        </a:solidFill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+</m:t>
                    </m:r>
                    <m:sSub>
                      <m:sSubPr>
                        <m:ctrlPr>
                          <a:rPr lang="en-US" altLang="ko-KR" sz="2000" i="1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</m:ctrlPr>
                      </m:sSubPr>
                      <m:e>
                        <m:r>
                          <a:rPr lang="ko-KR" altLang="en-US" sz="2000" i="1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𝛽</m:t>
                        </m:r>
                      </m:e>
                      <m:sub>
                        <m:r>
                          <a:rPr lang="en-US" altLang="ko-KR" sz="2000" b="0" i="1" smtClean="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ko-KR" sz="2000" i="1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2</m:t>
                        </m:r>
                      </m:sub>
                    </m:sSub>
                    <m:r>
                      <a:rPr lang="en-US" altLang="ko-KR" sz="2000" i="1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+</m:t>
                    </m:r>
                  </m:oMath>
                </a14:m>
                <a:r>
                  <a:rPr lang="ko-KR" altLang="en-US" sz="2000" dirty="0">
                    <a:ln w="25400" cap="flat">
                      <a:noFill/>
                      <a:miter lim="800000"/>
                    </a:ln>
                    <a:effectLst>
                      <a:glow>
                        <a:schemeClr val="bg1"/>
                      </a:glow>
                    </a:effectLst>
                    <a:latin typeface="Impact" panose="020B0806030902050204" pitchFamily="34" charset="0"/>
                    <a:ea typeface="스웨거 TTF" panose="020B0600000101010101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</m:ctrlPr>
                      </m:sSubPr>
                      <m:e>
                        <m:r>
                          <a:rPr lang="ko-KR" altLang="en-US" sz="2000" i="1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𝛽</m:t>
                        </m:r>
                      </m:e>
                      <m:sub>
                        <m:r>
                          <a:rPr lang="en-US" altLang="ko-KR" sz="2000" b="0" i="1" smtClean="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ko-KR" sz="2000" i="1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3</m:t>
                        </m:r>
                      </m:sub>
                    </m:sSub>
                    <m:r>
                      <a:rPr lang="en-US" altLang="ko-KR" sz="2000" i="1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+</m:t>
                    </m:r>
                    <m:r>
                      <a:rPr lang="en-US" altLang="ko-KR" sz="2000" i="1" smtClean="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ko-KR" sz="2000" i="1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+</m:t>
                    </m:r>
                  </m:oMath>
                </a14:m>
                <a:r>
                  <a:rPr lang="ko-KR" altLang="en-US" sz="2000" dirty="0">
                    <a:ln w="25400" cap="flat">
                      <a:noFill/>
                      <a:miter lim="800000"/>
                    </a:ln>
                    <a:effectLst>
                      <a:glow>
                        <a:schemeClr val="bg1"/>
                      </a:glow>
                    </a:effectLst>
                    <a:latin typeface="Impact" panose="020B0806030902050204" pitchFamily="34" charset="0"/>
                    <a:ea typeface="스웨거 TTF" panose="020B0600000101010101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</m:ctrlPr>
                      </m:sSubPr>
                      <m:e>
                        <m:r>
                          <a:rPr lang="ko-KR" altLang="en-US" sz="2000" i="1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𝛽</m:t>
                        </m:r>
                      </m:e>
                      <m:sub>
                        <m:r>
                          <a:rPr lang="en-US" altLang="ko-KR" sz="2000" b="0" i="1" smtClean="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ko-KR" sz="2000" i="1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sz="2000" dirty="0">
                    <a:ln w="25400" cap="flat">
                      <a:noFill/>
                      <a:miter lim="800000"/>
                    </a:ln>
                    <a:effectLst>
                      <a:glow>
                        <a:schemeClr val="bg1"/>
                      </a:glow>
                    </a:effectLst>
                    <a:latin typeface="Impact" panose="020B0806030902050204" pitchFamily="34" charset="0"/>
                    <a:ea typeface="스웨거 TTF" panose="020B0600000101010101" pitchFamily="50" charset="-127"/>
                  </a:rPr>
                  <a:t> 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7227" y="4266762"/>
                <a:ext cx="4528227" cy="307777"/>
              </a:xfrm>
              <a:prstGeom prst="rect">
                <a:avLst/>
              </a:prstGeom>
              <a:blipFill rotWithShape="0">
                <a:blip r:embed="rId3"/>
                <a:stretch>
                  <a:fillRect l="-2022" b="-3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4032EFA2-320E-4454-952D-AE602BBB7FEB}"/>
                  </a:ext>
                </a:extLst>
              </p:cNvPr>
              <p:cNvSpPr txBox="1"/>
              <p:nvPr/>
            </p:nvSpPr>
            <p:spPr>
              <a:xfrm>
                <a:off x="3047627" y="5090479"/>
                <a:ext cx="5927408" cy="9787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288">
                  <a:buSzPct val="80000"/>
                </a:pPr>
                <a14:m>
                  <m:oMath xmlns:m="http://schemas.openxmlformats.org/officeDocument/2006/math">
                    <m:r>
                      <a:rPr lang="en-US" altLang="ko-KR" sz="1600" b="0" i="1" spc="-300" smtClean="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𝑦</m:t>
                    </m:r>
                    <m:r>
                      <a:rPr lang="en-US" altLang="ko-KR" sz="1600" b="0" i="1" spc="-300" smtClean="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 </m:t>
                    </m:r>
                  </m:oMath>
                </a14:m>
                <a:r>
                  <a:rPr lang="en-US" altLang="ko-KR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 : </a:t>
                </a:r>
                <a:r>
                  <a:rPr lang="ko-KR" altLang="en-US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반응 변수의 예측 값</a:t>
                </a:r>
                <a:endParaRPr lang="en-US" altLang="ko-KR" sz="1600" dirty="0" smtClean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 marL="14288">
                  <a:lnSpc>
                    <a:spcPct val="130000"/>
                  </a:lnSpc>
                  <a:spcAft>
                    <a:spcPts val="1800"/>
                  </a:spcAft>
                  <a:buSzPct val="80000"/>
                </a:pPr>
                <a:r>
                  <a:rPr lang="ko-KR" altLang="en-US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절편 항 </a:t>
                </a:r>
                <a:r>
                  <a:rPr lang="en-US" altLang="ko-KR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α</a:t>
                </a:r>
                <a:r>
                  <a:rPr lang="ko-KR" altLang="en-US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와 계수 </a:t>
                </a:r>
                <a:r>
                  <a:rPr lang="en-US" altLang="ko-KR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β</a:t>
                </a:r>
                <a:r>
                  <a:rPr lang="en-US" altLang="ko-KR" sz="1600" baseline="-25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n</a:t>
                </a:r>
                <a:r>
                  <a:rPr lang="en-US" altLang="ko-KR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en-US" altLang="ko-KR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: </a:t>
                </a:r>
                <a:r>
                  <a:rPr lang="ko-KR" altLang="en-US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알고리즘을 통해 학습하게 되는 모델의 </a:t>
                </a:r>
                <a:r>
                  <a:rPr lang="ko-KR" altLang="en-US" sz="1600" dirty="0" err="1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파라미터</a:t>
                </a:r>
                <a:r>
                  <a:rPr lang="en-US" altLang="ko-KR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/>
                </a:r>
                <a:br>
                  <a:rPr lang="en-US" altLang="ko-KR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300" smtClean="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</m:ctrlPr>
                      </m:sSubPr>
                      <m:e>
                        <m:r>
                          <a:rPr lang="en-US" altLang="ko-KR" sz="1600" b="0" i="1" spc="-300" smtClean="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300" smtClean="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𝑛</m:t>
                        </m:r>
                      </m:sub>
                    </m:sSub>
                    <m:r>
                      <a:rPr lang="en-US" altLang="ko-KR" sz="1600" i="1" spc="-30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 </m:t>
                    </m:r>
                  </m:oMath>
                </a14:m>
                <a:r>
                  <a:rPr lang="en-US" altLang="ko-KR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en-US" altLang="ko-KR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: </a:t>
                </a:r>
                <a:r>
                  <a:rPr lang="ko-KR" altLang="en-US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설명 변수</a:t>
                </a:r>
                <a:endParaRPr lang="en-US" altLang="ko-KR" sz="16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032EFA2-320E-4454-952D-AE602BBB7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627" y="5090479"/>
                <a:ext cx="5927408" cy="978729"/>
              </a:xfrm>
              <a:prstGeom prst="rect">
                <a:avLst/>
              </a:prstGeom>
              <a:blipFill rotWithShape="0">
                <a:blip r:embed="rId4"/>
                <a:stretch>
                  <a:fillRect l="-412" t="-1242" b="-5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0933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다중 선형 회귀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56319" y="2119849"/>
            <a:ext cx="9667001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선형 회귀 모델의 벡터 표기법</a:t>
            </a:r>
            <a:endParaRPr lang="en-US" altLang="ko-KR" sz="2000" spc="-5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smtClean="0"/>
              <a:t>다중 선형 회귀의 벡터 정리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808079" y="3520357"/>
                <a:ext cx="3924344" cy="12056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sz="2000" i="1" smtClean="0">
                              <a:ln w="25400" cap="flat">
                                <a:noFill/>
                                <a:miter lim="800000"/>
                              </a:ln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i="1">
                                  <a:ln w="25400" cap="flat">
                                    <a:noFill/>
                                    <a:miter lim="800000"/>
                                  </a:ln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i="1" smtClean="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i="1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sz="2000" i="1">
                                    <a:ln w="25400" cap="flat">
                                      <a:noFill/>
                                      <a:miter lim="800000"/>
                                    </a:ln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i="1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ko-KR" sz="2000" b="0" i="1" smtClean="0">
                          <a:ln w="25400" cap="flat">
                            <a:noFill/>
                            <a:miter lim="800000"/>
                          </a:ln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2000" b="0" i="1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ko-KR" altLang="en-US" sz="2000" b="0" i="1" smtClean="0">
                                    <a:ln w="25400" cap="flat">
                                      <a:noFill/>
                                      <a:miter lim="800000"/>
                                    </a:ln>
                                    <a:solidFill>
                                      <a:schemeClr val="tx1"/>
                                    </a:solidFill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휴먼모음T" panose="02030504000101010101" pitchFamily="18" charset="-127"/>
                                  </a:rPr>
                                  <m:t>𝛼</m:t>
                                </m:r>
                                <m:r>
                                  <a:rPr lang="en-US" altLang="ko-KR" sz="2000" b="0" i="1" smtClean="0">
                                    <a:ln w="25400" cap="flat">
                                      <a:noFill/>
                                      <a:miter lim="800000"/>
                                    </a:ln>
                                    <a:solidFill>
                                      <a:schemeClr val="tx1"/>
                                    </a:solidFill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휴먼모음T" panose="02030504000101010101" pitchFamily="18" charset="-127"/>
                                  </a:rPr>
                                  <m:t>+</m:t>
                                </m:r>
                                <m:r>
                                  <a:rPr lang="ko-KR" altLang="en-US" sz="2000" b="0" i="1" smtClean="0">
                                    <a:ln w="25400" cap="flat">
                                      <a:noFill/>
                                      <a:miter lim="800000"/>
                                    </a:ln>
                                    <a:solidFill>
                                      <a:schemeClr val="tx1"/>
                                    </a:solidFill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휴먼모음T" panose="02030504000101010101" pitchFamily="18" charset="-127"/>
                                  </a:rPr>
                                  <m:t>𝛽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solidFill>
                                          <a:schemeClr val="tx1"/>
                                        </a:solidFill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solidFill>
                                          <a:schemeClr val="tx1"/>
                                        </a:solidFill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solidFill>
                                          <a:schemeClr val="tx1"/>
                                        </a:solidFill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ko-KR" altLang="en-US" sz="2000" i="1">
                                    <a:ln w="25400" cap="flat">
                                      <a:noFill/>
                                      <a:miter lim="800000"/>
                                    </a:ln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휴먼모음T" panose="02030504000101010101" pitchFamily="18" charset="-127"/>
                                  </a:rPr>
                                  <m:t>𝛼</m:t>
                                </m:r>
                                <m:r>
                                  <a:rPr lang="en-US" altLang="ko-KR" sz="2000" i="1">
                                    <a:ln w="25400" cap="flat">
                                      <a:noFill/>
                                      <a:miter lim="800000"/>
                                    </a:ln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휴먼모음T" panose="02030504000101010101" pitchFamily="18" charset="-127"/>
                                  </a:rPr>
                                  <m:t>+</m:t>
                                </m:r>
                                <m:r>
                                  <a:rPr lang="ko-KR" altLang="en-US" sz="2000" i="1">
                                    <a:ln w="25400" cap="flat">
                                      <a:noFill/>
                                      <a:miter lim="800000"/>
                                    </a:ln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휴먼모음T" panose="02030504000101010101" pitchFamily="18" charset="-127"/>
                                  </a:rPr>
                                  <m:t>𝛽</m:t>
                                </m:r>
                                <m:sSub>
                                  <m:sSubPr>
                                    <m:ctrlPr>
                                      <a:rPr lang="en-US" altLang="ko-KR" sz="2000" i="1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n w="25400" cap="flat">
                                      <a:noFill/>
                                      <a:miter lim="800000"/>
                                    </a:ln>
                                    <a:solidFill>
                                      <a:schemeClr val="tx1"/>
                                    </a:solidFill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ko-KR" altLang="en-US" sz="2000" i="1">
                                    <a:ln w="25400" cap="flat">
                                      <a:noFill/>
                                      <a:miter lim="800000"/>
                                    </a:ln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휴먼모음T" panose="02030504000101010101" pitchFamily="18" charset="-127"/>
                                  </a:rPr>
                                  <m:t>𝛼</m:t>
                                </m:r>
                                <m:r>
                                  <a:rPr lang="en-US" altLang="ko-KR" sz="2000" i="1">
                                    <a:ln w="25400" cap="flat">
                                      <a:noFill/>
                                      <a:miter lim="800000"/>
                                    </a:ln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휴먼모음T" panose="02030504000101010101" pitchFamily="18" charset="-127"/>
                                  </a:rPr>
                                  <m:t>+</m:t>
                                </m:r>
                                <m:r>
                                  <a:rPr lang="ko-KR" altLang="en-US" sz="2000" i="1">
                                    <a:ln w="25400" cap="flat">
                                      <a:noFill/>
                                      <a:miter lim="800000"/>
                                    </a:ln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휴먼모음T" panose="02030504000101010101" pitchFamily="18" charset="-127"/>
                                  </a:rPr>
                                  <m:t>𝛽</m:t>
                                </m:r>
                                <m:sSub>
                                  <m:sSubPr>
                                    <m:ctrlPr>
                                      <a:rPr lang="en-US" altLang="ko-KR" sz="2000" i="1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ko-KR" sz="2000" b="0" i="1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2000" i="1">
                              <a:ln w="25400" cap="flat">
                                <a:noFill/>
                                <a:miter lim="800000"/>
                              </a:ln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i="1">
                                  <a:ln w="25400" cap="flat">
                                    <a:noFill/>
                                    <a:miter lim="800000"/>
                                  </a:ln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2000" b="0" i="1" smtClean="0">
                                    <a:ln w="25400" cap="flat">
                                      <a:noFill/>
                                      <a:miter lim="800000"/>
                                    </a:ln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휴먼모음T" panose="02030504000101010101" pitchFamily="18" charset="-127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i="1" smtClean="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n w="25400" cap="flat">
                                      <a:noFill/>
                                      <a:miter lim="800000"/>
                                    </a:ln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휴먼모음T" panose="02030504000101010101" pitchFamily="18" charset="-127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i="1" smtClean="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sz="2000" i="1">
                                    <a:ln w="25400" cap="flat">
                                      <a:noFill/>
                                      <a:miter lim="800000"/>
                                    </a:ln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ko-KR" sz="2000" i="1">
                                    <a:ln w="25400" cap="flat">
                                      <a:noFill/>
                                      <a:miter lim="800000"/>
                                    </a:ln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n w="25400" cap="flat">
                                      <a:noFill/>
                                      <a:miter lim="800000"/>
                                    </a:ln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휴먼모음T" panose="02030504000101010101" pitchFamily="18" charset="-127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i="1" smtClean="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ko-KR" sz="2000" i="1" smtClean="0">
                          <a:ln w="25400" cap="flat">
                            <a:noFill/>
                            <a:miter lim="800000"/>
                          </a:ln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2000" i="1">
                              <a:ln w="25400" cap="flat">
                                <a:noFill/>
                                <a:miter lim="800000"/>
                              </a:ln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i="1">
                                  <a:ln w="25400" cap="flat">
                                    <a:noFill/>
                                    <a:miter lim="800000"/>
                                  </a:ln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ko-KR" altLang="en-US" sz="2000" i="1" smtClean="0">
                                    <a:ln w="25400" cap="flat">
                                      <a:noFill/>
                                      <a:miter lim="800000"/>
                                    </a:ln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휴먼모음T" panose="02030504000101010101" pitchFamily="18" charset="-127"/>
                                  </a:rPr>
                                  <m:t>𝛼</m:t>
                                </m:r>
                              </m:e>
                            </m:mr>
                            <m:mr>
                              <m:e>
                                <m:r>
                                  <a:rPr lang="ko-KR" altLang="en-US" sz="2000" i="1" smtClean="0">
                                    <a:ln w="25400" cap="flat">
                                      <a:noFill/>
                                      <a:miter lim="800000"/>
                                    </a:ln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휴먼모음T" panose="02030504000101010101" pitchFamily="18" charset="-127"/>
                                  </a:rPr>
                                  <m:t>𝛽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000" dirty="0">
                  <a:ln w="25400" cap="flat">
                    <a:noFill/>
                    <a:miter lim="800000"/>
                  </a:ln>
                  <a:effectLst>
                    <a:glow>
                      <a:schemeClr val="bg1"/>
                    </a:glow>
                  </a:effectLst>
                  <a:latin typeface="Impact" panose="020B0806030902050204" pitchFamily="34" charset="0"/>
                  <a:ea typeface="스웨거 TTF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8079" y="3520357"/>
                <a:ext cx="3924344" cy="120565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4032EFA2-320E-4454-952D-AE602BBB7FEB}"/>
                  </a:ext>
                </a:extLst>
              </p:cNvPr>
              <p:cNvSpPr txBox="1"/>
              <p:nvPr/>
            </p:nvSpPr>
            <p:spPr>
              <a:xfrm>
                <a:off x="2582598" y="5090479"/>
                <a:ext cx="7020712" cy="9787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288">
                  <a:buSzPct val="80000"/>
                </a:pPr>
                <a14:m>
                  <m:oMath xmlns:m="http://schemas.openxmlformats.org/officeDocument/2006/math">
                    <m:r>
                      <a:rPr lang="en-US" altLang="ko-KR" sz="1600" b="0" i="1" spc="-300" smtClean="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𝑌</m:t>
                    </m:r>
                    <m:r>
                      <a:rPr lang="en-US" altLang="ko-KR" sz="1600" b="0" i="1" spc="-300" smtClean="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 </m:t>
                    </m:r>
                  </m:oMath>
                </a14:m>
                <a:r>
                  <a:rPr lang="en-US" altLang="ko-KR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 : </a:t>
                </a:r>
                <a:r>
                  <a:rPr lang="ko-KR" altLang="en-US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반응 변수의 예측 값을 가진 열 벡터</a:t>
                </a:r>
                <a:endParaRPr lang="en-US" altLang="ko-KR" sz="1600" dirty="0" smtClean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 marL="14288">
                  <a:lnSpc>
                    <a:spcPct val="130000"/>
                  </a:lnSpc>
                  <a:spcAft>
                    <a:spcPts val="1800"/>
                  </a:spcAft>
                  <a:buSzPct val="80000"/>
                </a:pPr>
                <a:r>
                  <a:rPr lang="en-US" altLang="ko-KR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β </a:t>
                </a:r>
                <a:r>
                  <a:rPr lang="en-US" altLang="ko-KR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: </a:t>
                </a:r>
                <a:r>
                  <a:rPr lang="ko-KR" altLang="en-US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알고리즘을 통해 학습하게 되는 모델의 </a:t>
                </a:r>
                <a:r>
                  <a:rPr lang="ko-KR" altLang="en-US" sz="1600" dirty="0" err="1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파라미터</a:t>
                </a:r>
                <a:r>
                  <a:rPr lang="ko-KR" altLang="en-US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값을 갖는 열 벡터</a:t>
                </a:r>
                <a:r>
                  <a:rPr lang="en-US" altLang="ko-KR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/>
                </a:r>
                <a:br>
                  <a:rPr lang="en-US" altLang="ko-KR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300" smtClean="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X</m:t>
                    </m:r>
                    <m:r>
                      <a:rPr lang="en-US" altLang="ko-KR" sz="1600" i="1" spc="-30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 </m:t>
                    </m:r>
                  </m:oMath>
                </a14:m>
                <a:r>
                  <a:rPr lang="en-US" altLang="ko-KR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en-US" altLang="ko-KR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: </a:t>
                </a:r>
                <a:r>
                  <a:rPr lang="ko-KR" altLang="en-US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설명 </a:t>
                </a:r>
                <a:r>
                  <a:rPr lang="ko-KR" altLang="en-US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변수 값을 갖는 </a:t>
                </a:r>
                <a14:m>
                  <m:oMath xmlns:m="http://schemas.openxmlformats.org/officeDocument/2006/math">
                    <m:r>
                      <a:rPr lang="en-US" altLang="ko-KR" sz="1600" b="0" i="1" spc="-300" smtClean="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𝑚</m:t>
                    </m:r>
                    <m:r>
                      <a:rPr lang="en-US" altLang="ko-KR" sz="1600" b="0" i="1" spc="-300" smtClean="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600" b="0" i="1" spc="-300" smtClean="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ko-KR" altLang="en-US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차원</a:t>
                </a:r>
                <a:r>
                  <a:rPr lang="en-US" altLang="ko-KR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ko-KR" altLang="en-US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행렬로 </a:t>
                </a:r>
                <a14:m>
                  <m:oMath xmlns:m="http://schemas.openxmlformats.org/officeDocument/2006/math">
                    <m:r>
                      <a:rPr lang="en-US" altLang="ko-KR" sz="1600" i="1" spc="-30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𝑚</m:t>
                    </m:r>
                    <m:r>
                      <a:rPr lang="en-US" altLang="ko-KR" sz="1600" i="1" spc="-30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 </m:t>
                    </m:r>
                  </m:oMath>
                </a14:m>
                <a:r>
                  <a:rPr lang="ko-KR" altLang="en-US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은 훈련 데이터의 개수</a:t>
                </a:r>
                <a:r>
                  <a:rPr lang="en-US" altLang="ko-KR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600" b="0" i="1" spc="-300" smtClean="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𝑛</m:t>
                    </m:r>
                    <m:r>
                      <a:rPr lang="en-US" altLang="ko-KR" sz="1600" b="0" i="1" spc="-300" smtClean="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 </m:t>
                    </m:r>
                  </m:oMath>
                </a14:m>
                <a:r>
                  <a:rPr lang="ko-KR" altLang="en-US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은 특징의 개수</a:t>
                </a:r>
                <a:endParaRPr lang="en-US" altLang="ko-KR" sz="16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032EFA2-320E-4454-952D-AE602BBB7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2598" y="5090479"/>
                <a:ext cx="7020712" cy="978729"/>
              </a:xfrm>
              <a:prstGeom prst="rect">
                <a:avLst/>
              </a:prstGeom>
              <a:blipFill rotWithShape="0">
                <a:blip r:embed="rId4"/>
                <a:stretch>
                  <a:fillRect l="-348" t="-1242" b="-5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947227" y="2862238"/>
                <a:ext cx="91313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25400" cap="flat">
                          <a:noFill/>
                          <a:miter lim="800000"/>
                        </a:ln>
                        <a:solidFill>
                          <a:schemeClr val="tx1"/>
                        </a:solidFill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𝑌</m:t>
                    </m:r>
                    <m:r>
                      <a:rPr lang="en-US" altLang="ko-KR" sz="2000" b="0" i="1" smtClean="0">
                        <a:ln w="25400" cap="flat">
                          <a:noFill/>
                          <a:miter lim="800000"/>
                        </a:ln>
                        <a:solidFill>
                          <a:schemeClr val="tx1"/>
                        </a:solidFill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=</m:t>
                    </m:r>
                    <m:r>
                      <a:rPr lang="en-US" altLang="ko-KR" sz="2000" b="0" i="1" smtClean="0">
                        <a:ln w="25400" cap="flat">
                          <a:noFill/>
                          <a:miter lim="800000"/>
                        </a:ln>
                        <a:solidFill>
                          <a:schemeClr val="tx1"/>
                        </a:solidFill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𝑋</m:t>
                    </m:r>
                    <m:r>
                      <a:rPr lang="ko-KR" altLang="en-US" sz="2000" i="1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𝛽</m:t>
                    </m:r>
                  </m:oMath>
                </a14:m>
                <a:r>
                  <a:rPr lang="ko-KR" altLang="en-US" sz="2000" dirty="0">
                    <a:ln w="25400" cap="flat">
                      <a:noFill/>
                      <a:miter lim="800000"/>
                    </a:ln>
                    <a:effectLst>
                      <a:glow>
                        <a:schemeClr val="bg1"/>
                      </a:glow>
                    </a:effectLst>
                    <a:ea typeface="스웨거 TTF" panose="020B0600000101010101" pitchFamily="50" charset="-127"/>
                  </a:rPr>
                  <a:t> </a:t>
                </a:r>
                <a:endParaRPr lang="ko-KR" altLang="en-US" sz="2000" dirty="0">
                  <a:ln w="25400" cap="flat">
                    <a:noFill/>
                    <a:miter lim="800000"/>
                  </a:ln>
                  <a:effectLst>
                    <a:glow>
                      <a:schemeClr val="bg1"/>
                    </a:glow>
                  </a:effectLst>
                  <a:latin typeface="Impact" panose="020B0806030902050204" pitchFamily="34" charset="0"/>
                  <a:ea typeface="스웨거 TTF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7227" y="2862238"/>
                <a:ext cx="913135" cy="307777"/>
              </a:xfrm>
              <a:prstGeom prst="rect">
                <a:avLst/>
              </a:prstGeom>
              <a:blipFill rotWithShape="0">
                <a:blip r:embed="rId5"/>
                <a:stretch>
                  <a:fillRect l="-10067" r="-1342" b="-3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99985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다중 선형 회귀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56319" y="2119849"/>
            <a:ext cx="966700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훈련 데이터로부터 </a:t>
            </a:r>
            <a:r>
              <a:rPr lang="en-US" altLang="ko-KR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X</a:t>
            </a: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와 </a:t>
            </a:r>
            <a:r>
              <a:rPr lang="en-US" altLang="ko-KR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Y</a:t>
            </a: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값을 알고 있으므로 비용함수를 최소화하는 </a:t>
            </a:r>
            <a:r>
              <a:rPr lang="en-US" altLang="ko-KR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β</a:t>
            </a: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계산</a:t>
            </a:r>
            <a:endParaRPr lang="en-US" altLang="ko-KR" sz="2000" spc="-5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4032EFA2-320E-4454-952D-AE602BBB7FEB}"/>
                  </a:ext>
                </a:extLst>
              </p:cNvPr>
              <p:cNvSpPr txBox="1"/>
              <p:nvPr/>
            </p:nvSpPr>
            <p:spPr>
              <a:xfrm>
                <a:off x="2584121" y="4474253"/>
                <a:ext cx="7020712" cy="12994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288">
                  <a:buSzPct val="80000"/>
                </a:pPr>
                <a14:m>
                  <m:oMath xmlns:m="http://schemas.openxmlformats.org/officeDocument/2006/math">
                    <m:r>
                      <a:rPr lang="en-US" altLang="ko-KR" sz="1600" b="0" i="1" spc="-300" smtClean="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𝑌</m:t>
                    </m:r>
                    <m:r>
                      <a:rPr lang="en-US" altLang="ko-KR" sz="1600" b="0" i="1" spc="-300" smtClean="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 </m:t>
                    </m:r>
                  </m:oMath>
                </a14:m>
                <a:r>
                  <a:rPr lang="en-US" altLang="ko-KR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 : </a:t>
                </a:r>
                <a:r>
                  <a:rPr lang="ko-KR" altLang="en-US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반응 변수의 예측 값을 가진 열 벡터</a:t>
                </a:r>
                <a:endParaRPr lang="en-US" altLang="ko-KR" sz="1600" dirty="0" smtClean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 marL="14288">
                  <a:lnSpc>
                    <a:spcPct val="130000"/>
                  </a:lnSpc>
                  <a:spcAft>
                    <a:spcPts val="1800"/>
                  </a:spcAft>
                  <a:buSzPct val="80000"/>
                </a:pPr>
                <a:r>
                  <a:rPr lang="en-US" altLang="ko-KR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β </a:t>
                </a:r>
                <a:r>
                  <a:rPr lang="en-US" altLang="ko-KR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: </a:t>
                </a:r>
                <a:r>
                  <a:rPr lang="ko-KR" altLang="en-US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알고리즘을 통해 학습하게 되는 모델의 </a:t>
                </a:r>
                <a:r>
                  <a:rPr lang="ko-KR" altLang="en-US" sz="1600" dirty="0" err="1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파라미터</a:t>
                </a:r>
                <a:r>
                  <a:rPr lang="ko-KR" altLang="en-US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값을 갖는 열 벡터</a:t>
                </a:r>
                <a:r>
                  <a:rPr lang="en-US" altLang="ko-KR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/>
                </a:r>
                <a:br>
                  <a:rPr lang="en-US" altLang="ko-KR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300" smtClean="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X</m:t>
                    </m:r>
                    <m:r>
                      <a:rPr lang="en-US" altLang="ko-KR" sz="1600" i="1" spc="-30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 </m:t>
                    </m:r>
                  </m:oMath>
                </a14:m>
                <a:r>
                  <a:rPr lang="en-US" altLang="ko-KR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en-US" altLang="ko-KR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: </a:t>
                </a:r>
                <a:r>
                  <a:rPr lang="ko-KR" altLang="en-US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설명 </a:t>
                </a:r>
                <a:r>
                  <a:rPr lang="ko-KR" altLang="en-US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변수 값을 갖는 </a:t>
                </a:r>
                <a14:m>
                  <m:oMath xmlns:m="http://schemas.openxmlformats.org/officeDocument/2006/math">
                    <m:r>
                      <a:rPr lang="en-US" altLang="ko-KR" sz="1600" b="0" i="1" spc="-300" smtClean="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𝑚</m:t>
                    </m:r>
                    <m:r>
                      <a:rPr lang="en-US" altLang="ko-KR" sz="1600" b="0" i="1" spc="-300" smtClean="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600" b="0" i="1" spc="-300" smtClean="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ko-KR" altLang="en-US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차원</a:t>
                </a:r>
                <a:r>
                  <a:rPr lang="en-US" altLang="ko-KR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ko-KR" altLang="en-US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행렬로 </a:t>
                </a:r>
                <a14:m>
                  <m:oMath xmlns:m="http://schemas.openxmlformats.org/officeDocument/2006/math">
                    <m:r>
                      <a:rPr lang="en-US" altLang="ko-KR" sz="1600" i="1" spc="-30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𝑚</m:t>
                    </m:r>
                    <m:r>
                      <a:rPr lang="en-US" altLang="ko-KR" sz="1600" i="1" spc="-30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 </m:t>
                    </m:r>
                  </m:oMath>
                </a14:m>
                <a:r>
                  <a:rPr lang="ko-KR" altLang="en-US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은 훈련 데이터의 개수</a:t>
                </a:r>
                <a:r>
                  <a:rPr lang="en-US" altLang="ko-KR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600" b="0" i="1" spc="-300" smtClean="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𝑛</m:t>
                    </m:r>
                    <m:r>
                      <a:rPr lang="en-US" altLang="ko-KR" sz="1600" b="0" i="1" spc="-300" smtClean="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 </m:t>
                    </m:r>
                  </m:oMath>
                </a14:m>
                <a:r>
                  <a:rPr lang="ko-KR" altLang="en-US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은 특징의 개수</a:t>
                </a:r>
                <a:r>
                  <a:rPr lang="en-US" altLang="ko-KR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/>
                </a:r>
                <a:br>
                  <a:rPr lang="en-US" altLang="ko-KR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300" smtClean="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</m:ctrlPr>
                      </m:sSupPr>
                      <m:e>
                        <m:r>
                          <a:rPr lang="en-US" altLang="ko-KR" sz="1600" b="0" i="1" spc="-300" smtClean="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𝑋</m:t>
                        </m:r>
                      </m:e>
                      <m:sup>
                        <m:r>
                          <a:rPr lang="en-US" altLang="ko-KR" sz="1600" b="0" i="1" spc="-300" smtClean="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𝑇</m:t>
                        </m:r>
                      </m:sup>
                    </m:sSup>
                    <m:r>
                      <a:rPr lang="en-US" altLang="ko-KR" sz="1600" i="1" spc="-30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 </m:t>
                    </m:r>
                  </m:oMath>
                </a14:m>
                <a:r>
                  <a:rPr lang="en-US" altLang="ko-KR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30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X</m:t>
                    </m:r>
                    <m:r>
                      <a:rPr lang="en-US" altLang="ko-KR" sz="1600" i="1" spc="-30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 </m:t>
                    </m:r>
                  </m:oMath>
                </a14:m>
                <a:r>
                  <a:rPr lang="en-US" altLang="ko-KR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ko-KR" altLang="en-US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의 전치행렬</a:t>
                </a:r>
                <a:endParaRPr lang="en-US" altLang="ko-KR" sz="16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032EFA2-320E-4454-952D-AE602BBB7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4121" y="4474253"/>
                <a:ext cx="7020712" cy="1299458"/>
              </a:xfrm>
              <a:prstGeom prst="rect">
                <a:avLst/>
              </a:prstGeom>
              <a:blipFill rotWithShape="0">
                <a:blip r:embed="rId3"/>
                <a:stretch>
                  <a:fillRect l="-347" t="-939" b="-42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947227" y="2862238"/>
                <a:ext cx="10966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400" b="0" i="1" smtClean="0">
                        <a:ln w="25400" cap="flat">
                          <a:noFill/>
                          <a:miter lim="800000"/>
                        </a:ln>
                        <a:solidFill>
                          <a:schemeClr val="tx1"/>
                        </a:solidFill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𝑌</m:t>
                    </m:r>
                    <m:r>
                      <a:rPr lang="en-US" altLang="ko-KR" sz="2400" b="0" i="1" smtClean="0">
                        <a:ln w="25400" cap="flat">
                          <a:noFill/>
                          <a:miter lim="800000"/>
                        </a:ln>
                        <a:solidFill>
                          <a:schemeClr val="tx1"/>
                        </a:solidFill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=</m:t>
                    </m:r>
                    <m:r>
                      <a:rPr lang="en-US" altLang="ko-KR" sz="2400" b="0" i="1" smtClean="0">
                        <a:ln w="25400" cap="flat">
                          <a:noFill/>
                          <a:miter lim="800000"/>
                        </a:ln>
                        <a:solidFill>
                          <a:schemeClr val="tx1"/>
                        </a:solidFill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𝑋</m:t>
                    </m:r>
                    <m:r>
                      <a:rPr lang="ko-KR" altLang="en-US" sz="2400" i="1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𝛽</m:t>
                    </m:r>
                  </m:oMath>
                </a14:m>
                <a:r>
                  <a:rPr lang="ko-KR" altLang="en-US" sz="2400" dirty="0">
                    <a:ln w="25400" cap="flat">
                      <a:noFill/>
                      <a:miter lim="800000"/>
                    </a:ln>
                    <a:effectLst>
                      <a:glow>
                        <a:schemeClr val="bg1"/>
                      </a:glow>
                    </a:effectLst>
                    <a:ea typeface="스웨거 TTF" panose="020B0600000101010101" pitchFamily="50" charset="-127"/>
                  </a:rPr>
                  <a:t> </a:t>
                </a:r>
                <a:endParaRPr lang="ko-KR" altLang="en-US" sz="2400" dirty="0">
                  <a:ln w="25400" cap="flat">
                    <a:noFill/>
                    <a:miter lim="800000"/>
                  </a:ln>
                  <a:effectLst>
                    <a:glow>
                      <a:schemeClr val="bg1"/>
                    </a:glow>
                  </a:effectLst>
                  <a:latin typeface="Impact" panose="020B0806030902050204" pitchFamily="34" charset="0"/>
                  <a:ea typeface="스웨거 TTF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7227" y="2862238"/>
                <a:ext cx="1096647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10056" r="-1117" b="-3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947227" y="3631789"/>
                <a:ext cx="24086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sz="2400" i="1" smtClean="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𝛽</m:t>
                    </m:r>
                    <m:r>
                      <a:rPr lang="en-US" altLang="ko-KR" sz="2400" b="0" i="1" smtClean="0">
                        <a:ln w="25400" cap="flat">
                          <a:noFill/>
                          <a:miter lim="800000"/>
                        </a:ln>
                        <a:solidFill>
                          <a:schemeClr val="tx1"/>
                        </a:solidFill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=</m:t>
                    </m:r>
                    <m:sSup>
                      <m:sSupPr>
                        <m:ctrlPr>
                          <a:rPr lang="en-US" altLang="ko-KR" sz="2400" b="0" i="1" smtClean="0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tx1"/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</m:ctrlPr>
                      </m:sSupPr>
                      <m:e>
                        <m:r>
                          <a:rPr lang="en-US" altLang="ko-KR" sz="2400" b="0" i="1" smtClean="0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tx1"/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2400" b="0" i="1" smtClean="0">
                                <a:ln w="25400" cap="flat">
                                  <a:noFill/>
                                  <a:miter lim="800000"/>
                                </a:ln>
                                <a:solidFill>
                                  <a:schemeClr val="tx1"/>
                                </a:solidFill>
                                <a:effectLst>
                                  <a:glow>
                                    <a:schemeClr val="bg1"/>
                                  </a:glow>
                                </a:effectLst>
                                <a:latin typeface="Cambria Math" panose="02040503050406030204" pitchFamily="18" charset="0"/>
                                <a:ea typeface="휴먼모음T" panose="02030504000101010101" pitchFamily="18" charset="-127"/>
                              </a:rPr>
                            </m:ctrlPr>
                          </m:sSupPr>
                          <m:e>
                            <m:r>
                              <a:rPr lang="en-US" altLang="ko-KR" sz="2400" b="0" i="1" smtClean="0">
                                <a:ln w="25400" cap="flat">
                                  <a:noFill/>
                                  <a:miter lim="800000"/>
                                </a:ln>
                                <a:solidFill>
                                  <a:schemeClr val="tx1"/>
                                </a:solidFill>
                                <a:effectLst>
                                  <a:glow>
                                    <a:schemeClr val="bg1"/>
                                  </a:glow>
                                </a:effectLst>
                                <a:latin typeface="Cambria Math" panose="02040503050406030204" pitchFamily="18" charset="0"/>
                                <a:ea typeface="휴먼모음T" panose="02030504000101010101" pitchFamily="18" charset="-127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ko-KR" sz="2400" b="0" i="1" smtClean="0">
                                <a:ln w="25400" cap="flat">
                                  <a:noFill/>
                                  <a:miter lim="800000"/>
                                </a:ln>
                                <a:solidFill>
                                  <a:schemeClr val="tx1"/>
                                </a:solidFill>
                                <a:effectLst>
                                  <a:glow>
                                    <a:schemeClr val="bg1"/>
                                  </a:glow>
                                </a:effectLst>
                                <a:latin typeface="Cambria Math" panose="02040503050406030204" pitchFamily="18" charset="0"/>
                                <a:ea typeface="휴먼모음T" panose="02030504000101010101" pitchFamily="18" charset="-127"/>
                              </a:rPr>
                              <m:t>𝑇</m:t>
                            </m:r>
                          </m:sup>
                        </m:sSup>
                        <m:r>
                          <a:rPr lang="en-US" altLang="ko-KR" sz="2400" b="0" i="1" smtClean="0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tx1"/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𝑋</m:t>
                        </m:r>
                        <m:r>
                          <a:rPr lang="en-US" altLang="ko-KR" sz="2400" b="0" i="1" smtClean="0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tx1"/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)</m:t>
                        </m:r>
                      </m:e>
                      <m:sup>
                        <m:r>
                          <a:rPr lang="en-US" altLang="ko-KR" sz="2400" b="0" i="1" smtClean="0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tx1"/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altLang="ko-KR" sz="2400" b="0" i="1" smtClean="0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tx1"/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</m:ctrlPr>
                      </m:sSupPr>
                      <m:e>
                        <m:r>
                          <a:rPr lang="en-US" altLang="ko-KR" sz="2400" b="0" i="1" smtClean="0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tx1"/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𝑋</m:t>
                        </m:r>
                      </m:e>
                      <m:sup>
                        <m:r>
                          <a:rPr lang="en-US" altLang="ko-KR" sz="2400" b="0" i="1" smtClean="0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tx1"/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𝑇</m:t>
                        </m:r>
                      </m:sup>
                    </m:sSup>
                    <m:r>
                      <a:rPr lang="en-US" altLang="ko-KR" sz="2400" b="0" i="1" smtClean="0">
                        <a:ln w="25400" cap="flat">
                          <a:noFill/>
                          <a:miter lim="800000"/>
                        </a:ln>
                        <a:solidFill>
                          <a:schemeClr val="tx1"/>
                        </a:solidFill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𝑌</m:t>
                    </m:r>
                  </m:oMath>
                </a14:m>
                <a:r>
                  <a:rPr lang="ko-KR" altLang="en-US" sz="2400" dirty="0" smtClean="0">
                    <a:ln w="25400" cap="flat">
                      <a:noFill/>
                      <a:miter lim="800000"/>
                    </a:ln>
                    <a:effectLst>
                      <a:glow>
                        <a:schemeClr val="bg1"/>
                      </a:glow>
                    </a:effectLst>
                    <a:ea typeface="스웨거 TTF" panose="020B0600000101010101" pitchFamily="50" charset="-127"/>
                  </a:rPr>
                  <a:t> </a:t>
                </a:r>
                <a:endParaRPr lang="ko-KR" altLang="en-US" sz="2400" dirty="0">
                  <a:ln w="25400" cap="flat">
                    <a:noFill/>
                    <a:miter lim="800000"/>
                  </a:ln>
                  <a:effectLst>
                    <a:glow>
                      <a:schemeClr val="bg1"/>
                    </a:glow>
                  </a:effectLst>
                  <a:latin typeface="Impact" panose="020B0806030902050204" pitchFamily="34" charset="0"/>
                  <a:ea typeface="스웨거 TTF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7227" y="3631789"/>
                <a:ext cx="2408608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6076" b="-3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09548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다항 회귀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56319" y="2119849"/>
            <a:ext cx="895928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다항 회귀란 반응 변수와 다항식으로 표현된 특징 사이의 선형 관계를 모델링 할 수 있는</a:t>
            </a:r>
            <a:r>
              <a:rPr lang="en-US" altLang="ko-KR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다중 선형 회귀의 특수한 형태</a:t>
            </a:r>
            <a:endParaRPr lang="en-US" altLang="ko-KR" sz="2000" spc="-5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특징을 변환한 후 다중 선형 회귀에서와 같은 방식으로 설명 변수와 반응 변수의 비선형 관계를 모델링 함</a:t>
            </a:r>
            <a:endParaRPr lang="en-US" altLang="ko-KR" sz="2000" spc="-5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단일 설명 변수의 단일 특징을 사용하고 있지만 모델의 항은 </a:t>
            </a:r>
            <a:r>
              <a:rPr lang="en-US" altLang="ko-KR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</a:t>
            </a:r>
            <a:r>
              <a:rPr lang="ko-KR" altLang="en-US" sz="2000" spc="-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smtClean="0"/>
              <a:t>다중 회귀의 개요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947227" y="4867886"/>
                <a:ext cx="360650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25400" cap="flat">
                          <a:noFill/>
                          <a:miter lim="800000"/>
                        </a:ln>
                        <a:solidFill>
                          <a:schemeClr val="tx1"/>
                        </a:solidFill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𝑦</m:t>
                    </m:r>
                    <m:r>
                      <a:rPr lang="en-US" altLang="ko-KR" sz="2000" b="0" i="1" smtClean="0">
                        <a:ln w="25400" cap="flat">
                          <a:noFill/>
                          <a:miter lim="800000"/>
                        </a:ln>
                        <a:solidFill>
                          <a:schemeClr val="tx1"/>
                        </a:solidFill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= </m:t>
                    </m:r>
                    <m:r>
                      <a:rPr lang="ko-KR" altLang="en-US" sz="2000" b="0" i="1" smtClean="0">
                        <a:ln w="25400" cap="flat">
                          <a:noFill/>
                          <a:miter lim="800000"/>
                        </a:ln>
                        <a:solidFill>
                          <a:schemeClr val="tx1"/>
                        </a:solidFill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𝛼</m:t>
                    </m:r>
                    <m:r>
                      <a:rPr lang="en-US" altLang="ko-KR" sz="2000" b="0" i="1" smtClean="0">
                        <a:ln w="25400" cap="flat">
                          <a:noFill/>
                          <a:miter lim="800000"/>
                        </a:ln>
                        <a:solidFill>
                          <a:schemeClr val="tx1"/>
                        </a:solidFill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+</m:t>
                    </m:r>
                    <m:sSub>
                      <m:sSubPr>
                        <m:ctrlPr>
                          <a:rPr lang="en-US" altLang="ko-KR" sz="2000" b="0" i="1" smtClean="0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tx1"/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</m:ctrlPr>
                      </m:sSubPr>
                      <m:e>
                        <m:r>
                          <a:rPr lang="ko-KR" altLang="en-US" sz="2000" b="0" i="1" smtClean="0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tx1"/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𝛽</m:t>
                        </m:r>
                      </m:e>
                      <m:sub>
                        <m:r>
                          <a:rPr lang="en-US" altLang="ko-KR" sz="2000" b="0" i="1" smtClean="0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tx1"/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1</m:t>
                        </m:r>
                      </m:sub>
                    </m:sSub>
                    <m:r>
                      <a:rPr lang="en-US" altLang="ko-KR" sz="2000" b="0" i="1" smtClean="0">
                        <a:ln w="25400" cap="flat">
                          <a:noFill/>
                          <a:miter lim="800000"/>
                        </a:ln>
                        <a:solidFill>
                          <a:schemeClr val="tx1"/>
                        </a:solidFill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𝑥</m:t>
                    </m:r>
                    <m:r>
                      <a:rPr lang="en-US" altLang="ko-KR" sz="2000" b="0" i="1" smtClean="0">
                        <a:ln w="25400" cap="flat">
                          <a:noFill/>
                          <a:miter lim="800000"/>
                        </a:ln>
                        <a:solidFill>
                          <a:schemeClr val="tx1"/>
                        </a:solidFill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+</m:t>
                    </m:r>
                    <m:sSub>
                      <m:sSubPr>
                        <m:ctrlPr>
                          <a:rPr lang="en-US" altLang="ko-KR" sz="2000" i="1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</m:ctrlPr>
                      </m:sSubPr>
                      <m:e>
                        <m:r>
                          <a:rPr lang="ko-KR" altLang="en-US" sz="2000" i="1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𝛽</m:t>
                        </m:r>
                      </m:e>
                      <m:sub>
                        <m:r>
                          <a:rPr lang="en-US" altLang="ko-KR" sz="2000" b="0" i="1" smtClean="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altLang="ko-KR" sz="2000" i="1" smtClean="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𝑥</m:t>
                        </m:r>
                      </m:e>
                      <m:sup>
                        <m:r>
                          <a:rPr lang="en-US" altLang="ko-KR" sz="2000" b="0" i="1" smtClean="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2</m:t>
                        </m:r>
                      </m:sup>
                    </m:sSup>
                    <m:r>
                      <a:rPr lang="en-US" altLang="ko-KR" sz="2000" i="1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+</m:t>
                    </m:r>
                    <m:r>
                      <a:rPr lang="en-US" altLang="ko-KR" sz="2000" i="1" smtClean="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ko-KR" sz="2000" i="1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+</m:t>
                    </m:r>
                  </m:oMath>
                </a14:m>
                <a:r>
                  <a:rPr lang="ko-KR" altLang="en-US" sz="2000" dirty="0">
                    <a:ln w="25400" cap="flat">
                      <a:noFill/>
                      <a:miter lim="800000"/>
                    </a:ln>
                    <a:effectLst>
                      <a:glow>
                        <a:schemeClr val="bg1"/>
                      </a:glow>
                    </a:effectLst>
                    <a:latin typeface="Impact" panose="020B0806030902050204" pitchFamily="34" charset="0"/>
                    <a:ea typeface="스웨거 TTF" panose="020B0600000101010101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</m:ctrlPr>
                      </m:sSubPr>
                      <m:e>
                        <m:r>
                          <a:rPr lang="ko-KR" altLang="en-US" sz="2000" i="1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𝛽</m:t>
                        </m:r>
                      </m:e>
                      <m:sub>
                        <m:r>
                          <a:rPr lang="en-US" altLang="ko-KR" sz="2000" b="0" i="1" smtClean="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altLang="ko-KR" sz="2000" i="1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</m:ctrlPr>
                      </m:sSupPr>
                      <m:e>
                        <m:r>
                          <a:rPr lang="en-US" altLang="ko-KR" sz="2000" i="1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𝑥</m:t>
                        </m:r>
                      </m:e>
                      <m:sup>
                        <m:r>
                          <a:rPr lang="en-US" altLang="ko-KR" sz="2000" i="1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𝑛</m:t>
                        </m:r>
                      </m:sup>
                    </m:sSup>
                  </m:oMath>
                </a14:m>
                <a:endParaRPr lang="ko-KR" altLang="en-US" sz="2000" dirty="0">
                  <a:ln w="25400" cap="flat">
                    <a:noFill/>
                    <a:miter lim="800000"/>
                  </a:ln>
                  <a:effectLst>
                    <a:glow>
                      <a:schemeClr val="bg1"/>
                    </a:glow>
                  </a:effectLst>
                  <a:latin typeface="Impact" panose="020B0806030902050204" pitchFamily="34" charset="0"/>
                  <a:ea typeface="스웨거 TTF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7227" y="4867886"/>
                <a:ext cx="3606500" cy="307777"/>
              </a:xfrm>
              <a:prstGeom prst="rect">
                <a:avLst/>
              </a:prstGeom>
              <a:blipFill rotWithShape="0">
                <a:blip r:embed="rId3"/>
                <a:stretch>
                  <a:fillRect l="-2538" b="-3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4032EFA2-320E-4454-952D-AE602BBB7FEB}"/>
                  </a:ext>
                </a:extLst>
              </p:cNvPr>
              <p:cNvSpPr txBox="1"/>
              <p:nvPr/>
            </p:nvSpPr>
            <p:spPr>
              <a:xfrm>
                <a:off x="3047627" y="5448288"/>
                <a:ext cx="5927408" cy="9793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288">
                  <a:buSzPct val="80000"/>
                </a:pPr>
                <a14:m>
                  <m:oMath xmlns:m="http://schemas.openxmlformats.org/officeDocument/2006/math">
                    <m:r>
                      <a:rPr lang="en-US" altLang="ko-KR" sz="1600" b="0" i="1" spc="-300" smtClean="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𝑦</m:t>
                    </m:r>
                    <m:r>
                      <a:rPr lang="en-US" altLang="ko-KR" sz="1600" b="0" i="1" spc="-300" smtClean="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 </m:t>
                    </m:r>
                  </m:oMath>
                </a14:m>
                <a:r>
                  <a:rPr lang="en-US" altLang="ko-KR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 : </a:t>
                </a:r>
                <a:r>
                  <a:rPr lang="ko-KR" altLang="en-US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반응 변수의 예측 값</a:t>
                </a:r>
                <a:endParaRPr lang="en-US" altLang="ko-KR" sz="1600" dirty="0" smtClean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 marL="14288">
                  <a:lnSpc>
                    <a:spcPct val="130000"/>
                  </a:lnSpc>
                  <a:spcAft>
                    <a:spcPts val="1800"/>
                  </a:spcAft>
                  <a:buSzPct val="80000"/>
                </a:pPr>
                <a:r>
                  <a:rPr lang="ko-KR" altLang="en-US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절편 항 </a:t>
                </a:r>
                <a:r>
                  <a:rPr lang="en-US" altLang="ko-KR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α</a:t>
                </a:r>
                <a:r>
                  <a:rPr lang="ko-KR" altLang="en-US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와 계수 </a:t>
                </a:r>
                <a:r>
                  <a:rPr lang="en-US" altLang="ko-KR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β</a:t>
                </a:r>
                <a:r>
                  <a:rPr lang="en-US" altLang="ko-KR" sz="1600" baseline="-25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n</a:t>
                </a:r>
                <a:r>
                  <a:rPr lang="en-US" altLang="ko-KR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en-US" altLang="ko-KR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: </a:t>
                </a:r>
                <a:r>
                  <a:rPr lang="ko-KR" altLang="en-US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알고리즘을 통해 학습하게 되는 모델의 </a:t>
                </a:r>
                <a:r>
                  <a:rPr lang="ko-KR" altLang="en-US" sz="1600" dirty="0" err="1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파라미터</a:t>
                </a:r>
                <a:r>
                  <a:rPr lang="en-US" altLang="ko-KR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/>
                </a:r>
                <a:br>
                  <a:rPr lang="en-US" altLang="ko-KR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300" smtClean="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</m:ctrlPr>
                      </m:sSupPr>
                      <m:e>
                        <m:r>
                          <a:rPr lang="en-US" altLang="ko-KR" sz="1600" b="0" i="1" spc="-300" smtClean="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pc="-300" smtClean="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𝑛</m:t>
                        </m:r>
                      </m:sup>
                    </m:sSup>
                    <m:r>
                      <a:rPr lang="en-US" altLang="ko-KR" sz="1600" i="1" spc="-300">
                        <a:ln w="25400" cap="flat">
                          <a:noFill/>
                          <a:miter lim="800000"/>
                        </a:ln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 </m:t>
                    </m:r>
                  </m:oMath>
                </a14:m>
                <a:r>
                  <a:rPr lang="en-US" altLang="ko-KR" sz="16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en-US" altLang="ko-KR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: </a:t>
                </a:r>
                <a:r>
                  <a:rPr lang="ko-KR" altLang="en-US" sz="16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설명 변수</a:t>
                </a:r>
                <a:endParaRPr lang="en-US" altLang="ko-KR" sz="16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032EFA2-320E-4454-952D-AE602BBB7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627" y="5448288"/>
                <a:ext cx="5927408" cy="979371"/>
              </a:xfrm>
              <a:prstGeom prst="rect">
                <a:avLst/>
              </a:prstGeom>
              <a:blipFill rotWithShape="0">
                <a:blip r:embed="rId4"/>
                <a:stretch>
                  <a:fillRect l="-412" t="-1250" b="-6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83325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smtClean="0"/>
              <a:t>주요 </a:t>
            </a:r>
            <a:r>
              <a:rPr lang="ko" altLang="ko-KR" dirty="0"/>
              <a:t>정리</a:t>
            </a:r>
            <a:endParaRPr lang="ko-KR" altLang="en-US" dirty="0"/>
          </a:p>
        </p:txBody>
      </p:sp>
      <p:grpSp>
        <p:nvGrpSpPr>
          <p:cNvPr id="29" name="그룹 28"/>
          <p:cNvGrpSpPr/>
          <p:nvPr/>
        </p:nvGrpSpPr>
        <p:grpSpPr>
          <a:xfrm>
            <a:off x="1609059" y="8316510"/>
            <a:ext cx="8930109" cy="458789"/>
            <a:chOff x="1609059" y="4040945"/>
            <a:chExt cx="8930109" cy="45878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190007" y="4047797"/>
              <a:ext cx="8349161" cy="40011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000" dirty="0">
                  <a:ln w="25400" cap="flat">
                    <a:noFill/>
                    <a:miter lim="800000"/>
                  </a:ln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회귀모델의 성능은 평가지표로 </a:t>
              </a:r>
              <a:r>
                <a:rPr lang="en-US" altLang="ko-KR" sz="2000" dirty="0">
                  <a:ln w="25400" cap="flat">
                    <a:noFill/>
                    <a:miter lim="800000"/>
                  </a:ln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RMSE</a:t>
              </a:r>
              <a:r>
                <a:rPr lang="ko-KR" altLang="en-US" sz="2000" dirty="0">
                  <a:ln w="25400" cap="flat">
                    <a:noFill/>
                    <a:miter lim="800000"/>
                  </a:ln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를 이용해 측정합니다</a:t>
              </a:r>
              <a:r>
                <a:rPr lang="en-US" altLang="ko-KR" sz="2000" dirty="0">
                  <a:ln w="25400" cap="flat">
                    <a:noFill/>
                    <a:miter lim="800000"/>
                  </a:ln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. </a:t>
              </a: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609059" y="4040945"/>
              <a:ext cx="404758" cy="458789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21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z="1600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22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z="1600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39137"/>
                <a:ext cx="4063626" cy="50223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grpSp>
        <p:nvGrpSpPr>
          <p:cNvPr id="24" name="그룹 23"/>
          <p:cNvGrpSpPr/>
          <p:nvPr/>
        </p:nvGrpSpPr>
        <p:grpSpPr>
          <a:xfrm>
            <a:off x="1609058" y="1789165"/>
            <a:ext cx="8930109" cy="830997"/>
            <a:chOff x="1609058" y="1848398"/>
            <a:chExt cx="8930109" cy="83099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190006" y="1848398"/>
              <a:ext cx="8349161" cy="830997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buSzPct val="80000"/>
              </a:pPr>
              <a:r>
                <a:rPr lang="ko-KR" altLang="en-US" sz="2400" spc="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선형회귀 모델을 생성하기에 앞서 상관분석</a:t>
              </a:r>
              <a:r>
                <a:rPr lang="en-US" altLang="ko-KR" sz="2400" spc="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, </a:t>
              </a:r>
              <a:r>
                <a:rPr lang="ko-KR" altLang="en-US" sz="2400" spc="5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산점도행렬</a:t>
              </a:r>
              <a:r>
                <a:rPr lang="ko-KR" altLang="en-US" sz="2400" spc="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등을 이용해 데이터에 대한 탐색적 분석을 </a:t>
              </a:r>
              <a:r>
                <a:rPr lang="ko-KR" altLang="en-US" sz="2400" spc="5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실햅합니다</a:t>
              </a:r>
              <a:r>
                <a:rPr lang="en-US" altLang="ko-KR" sz="2400" spc="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400" spc="5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609058" y="1979275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27" name="그룹 26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30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31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grpSp>
        <p:nvGrpSpPr>
          <p:cNvPr id="32" name="그룹 31"/>
          <p:cNvGrpSpPr/>
          <p:nvPr/>
        </p:nvGrpSpPr>
        <p:grpSpPr>
          <a:xfrm>
            <a:off x="1609058" y="2893400"/>
            <a:ext cx="8930109" cy="830997"/>
            <a:chOff x="1609058" y="2955981"/>
            <a:chExt cx="8930109" cy="83099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190006" y="2955981"/>
              <a:ext cx="8349161" cy="830997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buSzPct val="80000"/>
              </a:pPr>
              <a:r>
                <a:rPr lang="ko-KR" altLang="en-US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단순 선형 회귀란 설명 변수인 단일 특징과 단일 반응 변수 간에 선형 관계가 있다고 가정하고 </a:t>
              </a:r>
              <a:r>
                <a:rPr lang="ko-KR" altLang="en-US" sz="2400" spc="-4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초평면이라고</a:t>
              </a:r>
              <a:r>
                <a:rPr lang="ko-KR" altLang="en-US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하는 선형 평면을 이용해 </a:t>
              </a:r>
              <a:r>
                <a:rPr lang="ko-KR" altLang="en-US" sz="2400" spc="-4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모델링한</a:t>
              </a:r>
              <a:r>
                <a:rPr lang="ko-KR" altLang="en-US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것이다</a:t>
              </a:r>
              <a:r>
                <a:rPr lang="en-US" altLang="ko-KR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4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609058" y="3086858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37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38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grpSp>
        <p:nvGrpSpPr>
          <p:cNvPr id="39" name="그룹 38"/>
          <p:cNvGrpSpPr/>
          <p:nvPr/>
        </p:nvGrpSpPr>
        <p:grpSpPr>
          <a:xfrm>
            <a:off x="1609058" y="3997635"/>
            <a:ext cx="8930109" cy="830997"/>
            <a:chOff x="1609058" y="4099951"/>
            <a:chExt cx="8930109" cy="83099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190006" y="4099951"/>
              <a:ext cx="8349161" cy="830997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buSzPct val="80000"/>
              </a:pPr>
              <a:r>
                <a:rPr lang="ko-KR" altLang="en-US" sz="24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다중 선형 회귀는 설명 변수인 다수의 특징과 단일 반응 변수 간에 선형 관계가 있다고 가정하고 </a:t>
              </a:r>
              <a:r>
                <a:rPr lang="ko-KR" altLang="en-US" sz="2400" spc="-5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초평면이라고</a:t>
              </a:r>
              <a:r>
                <a:rPr lang="ko-KR" altLang="en-US" sz="24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하는 선형 평면을 이용해 </a:t>
              </a:r>
              <a:r>
                <a:rPr lang="ko-KR" altLang="en-US" sz="2400" spc="-5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모델링한</a:t>
              </a:r>
              <a:r>
                <a:rPr lang="ko-KR" altLang="en-US" sz="24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것이다</a:t>
              </a:r>
              <a:r>
                <a:rPr lang="en-US" altLang="ko-KR" sz="24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400" spc="-7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609058" y="4230828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44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45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grpSp>
        <p:nvGrpSpPr>
          <p:cNvPr id="46" name="그룹 45"/>
          <p:cNvGrpSpPr/>
          <p:nvPr/>
        </p:nvGrpSpPr>
        <p:grpSpPr>
          <a:xfrm>
            <a:off x="1609544" y="5101870"/>
            <a:ext cx="8930109" cy="539110"/>
            <a:chOff x="1609058" y="5619923"/>
            <a:chExt cx="8930109" cy="539110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190006" y="5673712"/>
              <a:ext cx="8349161" cy="461665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buSzPct val="80000"/>
              </a:pPr>
              <a:r>
                <a:rPr lang="ko-KR" altLang="en-US" sz="24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다항 회귀는 설명 변수와 반응 변수의 비선형 관계를 </a:t>
              </a:r>
              <a:r>
                <a:rPr lang="ko-KR" altLang="en-US" sz="24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모델링한다</a:t>
              </a:r>
              <a:r>
                <a:rPr lang="en-US" altLang="ko-KR" sz="2400" dirty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</a:p>
          </p:txBody>
        </p: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609058" y="5619923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49" name="그룹 48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51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52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4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grpSp>
        <p:nvGrpSpPr>
          <p:cNvPr id="53" name="그룹 52"/>
          <p:cNvGrpSpPr/>
          <p:nvPr/>
        </p:nvGrpSpPr>
        <p:grpSpPr>
          <a:xfrm>
            <a:off x="1609544" y="5914217"/>
            <a:ext cx="8930109" cy="539110"/>
            <a:chOff x="1609058" y="5619923"/>
            <a:chExt cx="8930109" cy="539110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190006" y="5673712"/>
              <a:ext cx="8349161" cy="461665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buSzPct val="80000"/>
              </a:pPr>
              <a:r>
                <a:rPr lang="ko-KR" altLang="en-US" sz="24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회귀모델 성능의 기본 평가지표는 결정계수 </a:t>
              </a:r>
              <a:r>
                <a:rPr lang="en-US" altLang="ko-KR" sz="24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R</a:t>
              </a:r>
              <a:r>
                <a:rPr lang="en-US" altLang="ko-KR" sz="2400" baseline="300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2</a:t>
              </a:r>
              <a:r>
                <a:rPr lang="ko-KR" altLang="en-US" sz="24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를 이용해 측정합니다</a:t>
              </a:r>
              <a:r>
                <a:rPr lang="en-US" altLang="ko-KR" sz="24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4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609058" y="5619923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56" name="그룹 55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58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59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5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399910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4800" b="1" spc="-300" dirty="0" smtClean="0">
            <a:ln w="25400" cap="flat">
              <a:solidFill>
                <a:schemeClr val="bg1"/>
              </a:solidFill>
              <a:miter lim="800000"/>
            </a:ln>
            <a:solidFill>
              <a:srgbClr val="173F95"/>
            </a:solidFill>
            <a:effectLst>
              <a:glow>
                <a:schemeClr val="bg1"/>
              </a:glow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Impact" panose="020B0806030902050204" pitchFamily="34" charset="0"/>
            <a:ea typeface="휴먼모음T" panose="02030504000101010101" pitchFamily="18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2115</TotalTime>
  <Words>1072</Words>
  <Application>Microsoft Office PowerPoint</Application>
  <PresentationFormat>와이드스크린</PresentationFormat>
  <Paragraphs>170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40" baseType="lpstr">
      <vt:lpstr>나눔바른고딕</vt:lpstr>
      <vt:lpstr>Cambria Math</vt:lpstr>
      <vt:lpstr>Impact</vt:lpstr>
      <vt:lpstr>휴먼모음T</vt:lpstr>
      <vt:lpstr>나눔스퀘어 Bold</vt:lpstr>
      <vt:lpstr>스웨거 TTF</vt:lpstr>
      <vt:lpstr>Arial</vt:lpstr>
      <vt:lpstr>맑은 고딕</vt:lpstr>
      <vt:lpstr>1_Office 테마</vt:lpstr>
      <vt:lpstr>PowerPoint 프레젠테이션</vt:lpstr>
      <vt:lpstr>PowerPoint 프레젠테이션</vt:lpstr>
      <vt:lpstr>와인 품질 데이터의 탐색</vt:lpstr>
      <vt:lpstr>와인 품질 데이터의 탐색</vt:lpstr>
      <vt:lpstr>와인 품질 데이터의 탐색</vt:lpstr>
      <vt:lpstr>와인 품질 데이터의 탐색</vt:lpstr>
      <vt:lpstr>와인 품질 데이터의 탐색</vt:lpstr>
      <vt:lpstr>와인 품질 데이터의 탐색</vt:lpstr>
      <vt:lpstr>와인 품질 데이터의 탐색</vt:lpstr>
      <vt:lpstr>그룹의 분포, 히스토그램, t 검정</vt:lpstr>
      <vt:lpstr>그룹의 분포, 히스토그램, t 검정</vt:lpstr>
      <vt:lpstr>그룹의 분포, 히스토그램, t 검정</vt:lpstr>
      <vt:lpstr>그룹의 분포, 히스토그램, t 검정</vt:lpstr>
      <vt:lpstr>상관분석</vt:lpstr>
      <vt:lpstr>상관분석</vt:lpstr>
      <vt:lpstr>상관분석</vt:lpstr>
      <vt:lpstr>산점도 행렬</vt:lpstr>
      <vt:lpstr>산점도 행렬</vt:lpstr>
      <vt:lpstr>산점도 행렬</vt:lpstr>
      <vt:lpstr>PowerPoint 프레젠테이션</vt:lpstr>
      <vt:lpstr>단순 선형 회귀</vt:lpstr>
      <vt:lpstr>단순 선형 회귀</vt:lpstr>
      <vt:lpstr>단순 선형 회귀</vt:lpstr>
      <vt:lpstr>단순 선형 회귀</vt:lpstr>
      <vt:lpstr>단순 선형 회귀</vt:lpstr>
      <vt:lpstr>단순 선형 회귀</vt:lpstr>
      <vt:lpstr>다중 선형 회귀</vt:lpstr>
      <vt:lpstr>다중 선형 회귀</vt:lpstr>
      <vt:lpstr>다중 선형 회귀</vt:lpstr>
      <vt:lpstr>다항 회귀</vt:lpstr>
      <vt:lpstr>주요 정리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aug559</dc:creator>
  <cp:lastModifiedBy>최 승우</cp:lastModifiedBy>
  <cp:revision>552</cp:revision>
  <dcterms:created xsi:type="dcterms:W3CDTF">2019-01-19T08:23:23Z</dcterms:created>
  <dcterms:modified xsi:type="dcterms:W3CDTF">2020-03-10T06:44:54Z</dcterms:modified>
</cp:coreProperties>
</file>