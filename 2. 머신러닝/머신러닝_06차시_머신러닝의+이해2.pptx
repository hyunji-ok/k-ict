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33"/>
  </p:notesMasterIdLst>
  <p:handoutMasterIdLst>
    <p:handoutMasterId r:id="rId34"/>
  </p:handoutMasterIdLst>
  <p:sldIdLst>
    <p:sldId id="347" r:id="rId2"/>
    <p:sldId id="261" r:id="rId3"/>
    <p:sldId id="325" r:id="rId4"/>
    <p:sldId id="330" r:id="rId5"/>
    <p:sldId id="331" r:id="rId6"/>
    <p:sldId id="329" r:id="rId7"/>
    <p:sldId id="332" r:id="rId8"/>
    <p:sldId id="326" r:id="rId9"/>
    <p:sldId id="327" r:id="rId10"/>
    <p:sldId id="334" r:id="rId11"/>
    <p:sldId id="342" r:id="rId12"/>
    <p:sldId id="343" r:id="rId13"/>
    <p:sldId id="348" r:id="rId14"/>
    <p:sldId id="333" r:id="rId15"/>
    <p:sldId id="335" r:id="rId16"/>
    <p:sldId id="328" r:id="rId17"/>
    <p:sldId id="336" r:id="rId18"/>
    <p:sldId id="337" r:id="rId19"/>
    <p:sldId id="339" r:id="rId20"/>
    <p:sldId id="340" r:id="rId21"/>
    <p:sldId id="316" r:id="rId22"/>
    <p:sldId id="315" r:id="rId23"/>
    <p:sldId id="324" r:id="rId24"/>
    <p:sldId id="317" r:id="rId25"/>
    <p:sldId id="318" r:id="rId26"/>
    <p:sldId id="319" r:id="rId27"/>
    <p:sldId id="320" r:id="rId28"/>
    <p:sldId id="321" r:id="rId29"/>
    <p:sldId id="322" r:id="rId30"/>
    <p:sldId id="311" r:id="rId31"/>
    <p:sldId id="308" r:id="rId32"/>
  </p:sldIdLst>
  <p:sldSz cx="12192000" cy="6858000"/>
  <p:notesSz cx="6858000" cy="9144000"/>
  <p:embeddedFontLst>
    <p:embeddedFont>
      <p:font typeface="나눔바른고딕" panose="020B0603020101020101" pitchFamily="50" charset="-127"/>
      <p:regular r:id="rId35"/>
      <p:bold r:id="rId36"/>
    </p:embeddedFont>
    <p:embeddedFont>
      <p:font typeface="Impact" panose="020B0806030902050204" pitchFamily="34" charset="0"/>
      <p:regular r:id="rId37"/>
    </p:embeddedFont>
    <p:embeddedFont>
      <p:font typeface="나눔스퀘어 Bold" panose="020B0600000101010101" pitchFamily="50" charset="-127"/>
      <p:bold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  <p:embeddedFont>
      <p:font typeface="스웨거 TTF" panose="020B0600000101010101" pitchFamily="50" charset="-127"/>
      <p:regular r:id="rId43"/>
    </p:embeddedFont>
    <p:embeddedFont>
      <p:font typeface="맑은 고딕" panose="020B0503020000020004" pitchFamily="50" charset="-127"/>
      <p:regular r:id="rId44"/>
      <p:bold r:id="rId4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8CF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62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6. 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머신러닝의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이해 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II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562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그룹 3"/>
          <p:cNvGrpSpPr/>
          <p:nvPr/>
        </p:nvGrpSpPr>
        <p:grpSpPr>
          <a:xfrm>
            <a:off x="1986130" y="1531489"/>
            <a:ext cx="8345735" cy="546232"/>
            <a:chOff x="1986130" y="1614980"/>
            <a:chExt cx="8345735" cy="546232"/>
          </a:xfrm>
        </p:grpSpPr>
        <p:sp>
          <p:nvSpPr>
            <p:cNvPr id="33" name="TextBox 32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1637992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교차 검증의 필요성과 절차 및 기법에 대해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161498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5" name="그룹 34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7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8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9906000" y="161498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1986130" y="2632793"/>
            <a:ext cx="8345735" cy="542649"/>
            <a:chOff x="1986130" y="2735443"/>
            <a:chExt cx="8345735" cy="542649"/>
          </a:xfrm>
        </p:grpSpPr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275487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검증 곡선과 학습 곡선의 특징을 이해한다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73544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1" name="그룹 4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9906001" y="275133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9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61" name="그룹 60"/>
          <p:cNvGrpSpPr/>
          <p:nvPr/>
        </p:nvGrpSpPr>
        <p:grpSpPr>
          <a:xfrm>
            <a:off x="1986130" y="3730514"/>
            <a:ext cx="8345735" cy="542649"/>
            <a:chOff x="1986130" y="3572239"/>
            <a:chExt cx="8345735" cy="542649"/>
          </a:xfrm>
        </p:grpSpPr>
        <p:sp>
          <p:nvSpPr>
            <p:cNvPr id="47" name="TextBox 46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591668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최적의 모델을 찾기 위한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그리드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서치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사용법을 익힌다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572239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9" name="그룹 4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0" name="TextBox 4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9753714" y="3588130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18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1986130" y="4828234"/>
            <a:ext cx="8345735" cy="542649"/>
            <a:chOff x="1986130" y="4637315"/>
            <a:chExt cx="8345735" cy="542649"/>
          </a:xfrm>
        </p:grpSpPr>
        <p:sp>
          <p:nvSpPr>
            <p:cNvPr id="54" name="TextBox 53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656744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특징 공학을 이용한 특징 변환 기법을 살펴본다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63731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6" name="그룹 55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8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9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7" name="TextBox 56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60" name="TextBox 59"/>
            <p:cNvSpPr txBox="1"/>
            <p:nvPr/>
          </p:nvSpPr>
          <p:spPr>
            <a:xfrm>
              <a:off x="9753714" y="4653206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21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스웨거 TTF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교차 검증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교차 검증의 기본 절차와 필요성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2119849"/>
            <a:ext cx="899084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교차검증의 기본 절차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</a:p>
          <a:p>
            <a:pPr marL="928688" lvl="1" indent="-457200">
              <a:spcAft>
                <a:spcPts val="1800"/>
              </a:spcAft>
              <a:buSzPct val="80000"/>
              <a:buFont typeface="+mj-lt"/>
              <a:buAutoNum type="arabicPeriod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교차 검증 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단계에서는 데이터를 학습용과 테스트용으로 나눔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28688" lvl="1" indent="-457200">
              <a:spcAft>
                <a:spcPts val="1800"/>
              </a:spcAft>
              <a:buSzPct val="80000"/>
              <a:buFont typeface="+mj-lt"/>
              <a:buAutoNum type="arabicPeriod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모델의 테스트 성능을 기록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28688" lvl="1" indent="-457200">
              <a:spcAft>
                <a:spcPts val="1800"/>
              </a:spcAft>
              <a:buSzPct val="80000"/>
              <a:buFont typeface="+mj-lt"/>
              <a:buAutoNum type="arabicPeriod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교차 검증의 매 단계마다 다른 파티션으로 위의 작업을 수행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928688" lvl="1" indent="-457200">
              <a:spcAft>
                <a:spcPts val="1800"/>
              </a:spcAft>
              <a:buSzPct val="80000"/>
              <a:buFont typeface="+mj-lt"/>
              <a:buAutoNum type="arabicPeriod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모델의 최종 성능은 매 단계의 테스트 성능을 평균 계산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교차 검증은 모델의 변동성을 줄여주며 </a:t>
            </a:r>
            <a:r>
              <a:rPr lang="ko-KR" altLang="en-US" sz="2000" spc="-1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오버피팅과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같은 문제를 막아줌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1883581" y="6051865"/>
            <a:ext cx="4828718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교차 검증을 통해 모든 데이터를 학습용 데이터로 사용할 수 있음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2430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교차 검증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1946851"/>
            <a:ext cx="8990843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 </a:t>
            </a:r>
            <a:r>
              <a:rPr lang="ko-KR" altLang="en-US" sz="2000" spc="-1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폴드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교차 검증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</a:p>
          <a:p>
            <a:pPr marL="471488" lvl="1">
              <a:spcAft>
                <a:spcPts val="1800"/>
              </a:spcAft>
              <a:buSzPct val="80000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데이터를 무작위로 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개의 동일한 크기인 </a:t>
            </a:r>
            <a:r>
              <a:rPr lang="ko-KR" altLang="en-US" sz="2000" spc="-1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폴드로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나눔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(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보통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k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값으로 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3, 5, 10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많이 사용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471488" lvl="1">
              <a:spcAft>
                <a:spcPts val="1800"/>
              </a:spcAft>
              <a:buSzPct val="80000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시행 단계에서 특정 </a:t>
            </a:r>
            <a:r>
              <a:rPr lang="ko-KR" altLang="en-US" sz="2000" spc="-1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폴드를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테스트용으로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나머지는 학습용으로 사용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71488" lvl="1">
              <a:spcAft>
                <a:spcPts val="1800"/>
              </a:spcAft>
              <a:buSzPct val="80000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</a:t>
            </a:r>
            <a:r>
              <a:rPr lang="ko-KR" altLang="en-US" sz="2000" spc="-15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폴드를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테스트 세트로 한 번씩 사용하고 이 과정을 </a:t>
            </a:r>
            <a:r>
              <a:rPr lang="en-US" altLang="ko-KR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k</a:t>
            </a: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번 반복 시행함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71488" lvl="1">
              <a:spcAft>
                <a:spcPts val="1800"/>
              </a:spcAft>
              <a:buSzPct val="80000"/>
            </a:pPr>
            <a:r>
              <a:rPr lang="ko-KR" altLang="en-US" sz="2000" spc="-15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최종적으로 모델 성능의 평균을 계산</a:t>
            </a:r>
            <a:endParaRPr lang="en-US" altLang="ko-KR" sz="2000" spc="-15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422765"/>
              </p:ext>
            </p:extLst>
          </p:nvPr>
        </p:nvGraphicFramePr>
        <p:xfrm>
          <a:off x="2030476" y="5058031"/>
          <a:ext cx="8128002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반복시행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bg1"/>
                          </a:solidFill>
                        </a:rPr>
                        <a:t>폴드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bg1"/>
                          </a:solidFill>
                        </a:rPr>
                        <a:t>폴드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bg1"/>
                          </a:solidFill>
                        </a:rPr>
                        <a:t>폴드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bg1"/>
                          </a:solidFill>
                        </a:rPr>
                        <a:t>폴드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bg1"/>
                          </a:solidFill>
                        </a:rPr>
                        <a:t>폴드</a:t>
                      </a:r>
                      <a:r>
                        <a:rPr lang="en-US" altLang="ko-KR" sz="1200" b="1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테스트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테스트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테스트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4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테스트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5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학습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테스트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교차 검증 기법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6783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교차 검증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b="56138"/>
          <a:stretch/>
        </p:blipFill>
        <p:spPr>
          <a:xfrm>
            <a:off x="2713957" y="2042984"/>
            <a:ext cx="6761039" cy="286676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127071" y="4172680"/>
            <a:ext cx="2172489" cy="2777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교차검증 수행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(cv=5 : 5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번 반복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0756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교차 검증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1946851"/>
            <a:ext cx="8990843" cy="3393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단일 관측치 제거 방식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(LOOCV)</a:t>
            </a: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Leave-one-out cross validation</a:t>
            </a: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매 시행 단계에서 테스트 샘플을 고정하는 방식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Verdana" panose="020B0604030504040204" pitchFamily="34" charset="0"/>
              <a:ea typeface="나눔바른고딕" panose="020B0603020101020101"/>
            </a:endParaRP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데이터를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n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개의 서브세트로 분할하고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, n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개 중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1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개를 테스트용으로 두고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n-1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개로 학습을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수행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Verdana" panose="020B0604030504040204" pitchFamily="34" charset="0"/>
              <a:ea typeface="나눔바른고딕" panose="020B0603020101020101"/>
            </a:endParaRP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데이터 크기가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n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이면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n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Verdana" panose="020B0604030504040204" pitchFamily="34" charset="0"/>
                <a:ea typeface="나눔바른고딕" panose="020B0603020101020101"/>
              </a:rPr>
              <a:t>번의 교차 검증을 수행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Verdana" panose="020B0604030504040204" pitchFamily="34" charset="0"/>
              <a:ea typeface="나눔바른고딕" panose="020B0603020101020101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6274710" y="2625377"/>
            <a:ext cx="4828718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검증을 시행할 때 마다 한 지점을 제외한 모든 지점에서 훈련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3080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교차 검증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t="44269"/>
          <a:stretch/>
        </p:blipFill>
        <p:spPr>
          <a:xfrm>
            <a:off x="2819230" y="2010032"/>
            <a:ext cx="6550494" cy="352913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076829" y="2230734"/>
            <a:ext cx="2574424" cy="38347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교차검증 함수에 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cv </a:t>
            </a:r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파라미터로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숫자 대신 </a:t>
            </a:r>
            <a:r>
              <a:rPr lang="en-US" altLang="ko-KR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LeaveOneOut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설정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076829" y="4772967"/>
            <a:ext cx="2745246" cy="4421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개수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(150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만큼 교차검증을 수행함</a:t>
            </a:r>
            <a:endParaRPr lang="en-US" altLang="ko-KR" sz="11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 결과값은 예측에 성공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실패여부를 나타냄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68668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최적의 모델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최적의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모델 선택 방법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2119849"/>
            <a:ext cx="8990843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모델의 성능이 기대에 못 미칠 경우 어떻게 개선할 것인가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?</a:t>
            </a: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 복잡하거나 더 유연한 모델을 사용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덜 복잡하거나 덜 유연한 모델을 사용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 많은 훈련 표본을 수집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471488" lvl="1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표본에 특징을 추가하기 위해 더 많은 데이터를 수집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494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r>
              <a:rPr lang="en-US" altLang="ko-KR" dirty="0" smtClean="0"/>
              <a:t>-</a:t>
            </a:r>
            <a:r>
              <a:rPr lang="ko-KR" altLang="en-US" dirty="0" smtClean="0"/>
              <a:t>분산 트레이드오프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err="1" smtClean="0"/>
              <a:t>고편향</a:t>
            </a:r>
            <a:r>
              <a:rPr lang="ko-KR" altLang="en-US" dirty="0" smtClean="0"/>
              <a:t> 모델과 </a:t>
            </a:r>
            <a:r>
              <a:rPr lang="ko-KR" altLang="en-US" dirty="0" err="1" smtClean="0"/>
              <a:t>고분산</a:t>
            </a:r>
            <a:r>
              <a:rPr lang="ko-KR" altLang="en-US" dirty="0" smtClean="0"/>
              <a:t> 모델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2119849"/>
            <a:ext cx="907856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언더피트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과소적합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모델이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고편향됨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모델이 모든 특징을 적절히 설명할 수 있을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만큼 모델 유연성이 충분치 않음 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r="52989"/>
          <a:stretch/>
        </p:blipFill>
        <p:spPr>
          <a:xfrm>
            <a:off x="3863903" y="3112886"/>
            <a:ext cx="4287836" cy="35858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1378976" y="5264931"/>
            <a:ext cx="2417114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 함수로는 모델을 설명하기에 유연성이 충분하지 않음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55412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r>
              <a:rPr lang="en-US" altLang="ko-KR" dirty="0" smtClean="0"/>
              <a:t>-</a:t>
            </a:r>
            <a:r>
              <a:rPr lang="ko-KR" altLang="en-US" dirty="0" smtClean="0"/>
              <a:t>분산 트레이드오프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1930375"/>
            <a:ext cx="8990843" cy="152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오버피트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과대적합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모델이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고분산됨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모델이 모든 특징을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세밀하게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설명할 수 있을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만큼 모델 유연성이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충분하지만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훈련 데이터의 잡음까지 반영하고 있음 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14288">
              <a:lnSpc>
                <a:spcPct val="130000"/>
              </a:lnSpc>
              <a:spcAft>
                <a:spcPts val="1800"/>
              </a:spcAft>
              <a:buSzPct val="80000"/>
            </a:pP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l="51762"/>
          <a:stretch/>
        </p:blipFill>
        <p:spPr>
          <a:xfrm>
            <a:off x="3770911" y="2897723"/>
            <a:ext cx="4473819" cy="3672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1828915" y="4304244"/>
            <a:ext cx="1625481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언더피트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→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고편향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오버피트 </a:t>
            </a: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→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고분산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8070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r>
              <a:rPr lang="en-US" altLang="ko-KR" dirty="0" smtClean="0"/>
              <a:t>-</a:t>
            </a:r>
            <a:r>
              <a:rPr lang="ko-KR" altLang="en-US" dirty="0" smtClean="0"/>
              <a:t>분산 트레이드오프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709" y="1898821"/>
            <a:ext cx="5803535" cy="4469803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639537" y="2049864"/>
            <a:ext cx="1740411" cy="28135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 복잡도 조절기능 있음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8639537" y="2493958"/>
            <a:ext cx="2343311" cy="59500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Pipeline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등록하면 객체들이 </a:t>
            </a:r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심리스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(seamless)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하게 수행되기 때문에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생산성이 높아짐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400800" y="2493958"/>
            <a:ext cx="1326381" cy="2683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9419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l="19000" t="28656" r="18676" b="11202"/>
          <a:stretch/>
        </p:blipFill>
        <p:spPr>
          <a:xfrm>
            <a:off x="2692938" y="2018612"/>
            <a:ext cx="6471159" cy="351259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r>
              <a:rPr lang="en-US" altLang="ko-KR" dirty="0" smtClean="0"/>
              <a:t>-</a:t>
            </a:r>
            <a:r>
              <a:rPr lang="ko-KR" altLang="en-US" dirty="0" smtClean="0"/>
              <a:t>분산 트레이드오프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865815" y="3667649"/>
            <a:ext cx="2072006" cy="46634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차수를 조정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(1,3,5,10)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해가면서 선형회귀 모델을 </a:t>
            </a:r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적합시킴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953838" y="4212226"/>
            <a:ext cx="3798276" cy="2683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455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r>
              <a:rPr lang="en-US" altLang="ko-KR" dirty="0" smtClean="0"/>
              <a:t>-</a:t>
            </a:r>
            <a:r>
              <a:rPr lang="ko-KR" altLang="en-US" dirty="0" smtClean="0"/>
              <a:t>분산 트레이드오프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l="24478" t="23151" r="24341" b="2124"/>
          <a:stretch/>
        </p:blipFill>
        <p:spPr>
          <a:xfrm>
            <a:off x="3376246" y="1738657"/>
            <a:ext cx="5456256" cy="448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54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r>
              <a:rPr lang="en-US" altLang="ko-KR" dirty="0" smtClean="0"/>
              <a:t>-</a:t>
            </a:r>
            <a:r>
              <a:rPr lang="ko-KR" altLang="en-US" dirty="0" smtClean="0"/>
              <a:t>분산 트레이드오프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검증 곡선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2119849"/>
            <a:ext cx="899084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편향과 분산 사이의 트레이드오프에서 가장 효율적인 지점          최적의 모델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오른쪽 화살표 4"/>
          <p:cNvSpPr/>
          <p:nvPr/>
        </p:nvSpPr>
        <p:spPr>
          <a:xfrm>
            <a:off x="7799077" y="2213522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94" y="2812517"/>
            <a:ext cx="6072453" cy="393289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288980" y="4563825"/>
            <a:ext cx="574800" cy="21513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정확도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509288" y="6573495"/>
            <a:ext cx="574800" cy="21513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차수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954592" y="2812517"/>
            <a:ext cx="2089455" cy="3717753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503055" y="2812517"/>
            <a:ext cx="592428" cy="3717753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87091" y="5780689"/>
            <a:ext cx="837012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언더피트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5959676" y="5810413"/>
            <a:ext cx="837012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오버피트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253388" y="2812517"/>
            <a:ext cx="373556" cy="3717753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4705643" y="3784838"/>
            <a:ext cx="1617884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가장 이상적인 지점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93750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편향</a:t>
            </a:r>
            <a:r>
              <a:rPr lang="en-US" altLang="ko-KR" dirty="0" smtClean="0"/>
              <a:t>-</a:t>
            </a:r>
            <a:r>
              <a:rPr lang="ko-KR" altLang="en-US" dirty="0" smtClean="0"/>
              <a:t>분산 트레이드오프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최적 모델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2119849"/>
            <a:ext cx="899084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편향과 분산 사이의 최적의 트레이드오프           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다항식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오른쪽 화살표 4"/>
          <p:cNvSpPr/>
          <p:nvPr/>
        </p:nvSpPr>
        <p:spPr>
          <a:xfrm>
            <a:off x="6167985" y="2213522"/>
            <a:ext cx="333286" cy="282011"/>
          </a:xfrm>
          <a:prstGeom prst="rightArrow">
            <a:avLst/>
          </a:prstGeom>
          <a:solidFill>
            <a:srgbClr val="5AA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60" y="2872350"/>
            <a:ext cx="4470819" cy="283647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241" y="2872350"/>
            <a:ext cx="5716030" cy="152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887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학습곡선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학습곡선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2119849"/>
            <a:ext cx="899084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최적의 모델은 훈련 데이터의 규모에도 의존함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21" y="2812517"/>
            <a:ext cx="4552170" cy="383646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400" y="2812517"/>
            <a:ext cx="4291347" cy="3669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7770814" y="2162759"/>
            <a:ext cx="1901219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규모 증가에 따라 학습곡선도 변화함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722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학습곡선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1620238"/>
            <a:ext cx="8990843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학습곡선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훈련집합의 크기에 따른 훈련 점수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검증 점수의 플롯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37" y="2312906"/>
            <a:ext cx="9877168" cy="34972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1988200" y="5820358"/>
            <a:ext cx="3910324" cy="707886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학습곡선과 검증 곡선이 수렴하는 것은 데이터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규모가 커져도 개선의 효과를 보이지 않는 지점을 의미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30650" y="2640169"/>
            <a:ext cx="373556" cy="57955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3328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그리드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서치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237" y="2210265"/>
            <a:ext cx="6461434" cy="3458356"/>
          </a:xfrm>
          <a:prstGeom prst="rect">
            <a:avLst/>
          </a:prstGeom>
        </p:spPr>
      </p:pic>
      <p:sp>
        <p:nvSpPr>
          <p:cNvPr id="8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최적의 다항식 모델을 구하기 위한 </a:t>
            </a:r>
            <a:r>
              <a:rPr lang="en-US" altLang="ko-KR" dirty="0" err="1" smtClean="0"/>
              <a:t>GridSearchCV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979873" y="5782291"/>
            <a:ext cx="4914875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그리드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서치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검증 점수를 최대화 하는 모델을 찾아내는 자동화 도구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137260" y="2146228"/>
            <a:ext cx="2343311" cy="49394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선형회귀에 사용되는 각종 </a:t>
            </a:r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파라미터의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다양한 값들을 미리 </a:t>
            </a:r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세팅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559121" y="2702324"/>
            <a:ext cx="4481848" cy="73633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242479" y="3541689"/>
            <a:ext cx="579549" cy="32197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242479" y="3939444"/>
            <a:ext cx="1418864" cy="23794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겹의 교차 검증 수행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242479" y="4559121"/>
            <a:ext cx="1777284" cy="27045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최적의 </a:t>
            </a:r>
            <a:r>
              <a:rPr lang="ko-KR" altLang="en-US" sz="1100" dirty="0" err="1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</a:t>
            </a:r>
            <a:r>
              <a:rPr lang="ko-KR" altLang="en-US" sz="11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값을 출력</a:t>
            </a:r>
          </a:p>
        </p:txBody>
      </p:sp>
    </p:spTree>
    <p:extLst>
      <p:ext uri="{BB962C8B-B14F-4D97-AF65-F5344CB8AC3E}">
        <p14:creationId xmlns:p14="http://schemas.microsoft.com/office/powerpoint/2010/main" val="30978119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그리드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서치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596" y="2421924"/>
            <a:ext cx="4267457" cy="363310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426" y="2421924"/>
            <a:ext cx="5033097" cy="2092411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최적 모델과 데이터 적합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417312" y="2550017"/>
            <a:ext cx="1481212" cy="25757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최적의 </a:t>
            </a:r>
            <a:r>
              <a:rPr lang="ko-KR" altLang="en-US" sz="11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모델 객체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49197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xmlns="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xmlns="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:a16="http://schemas.microsoft.com/office/drawing/2014/main" xmlns="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06917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공학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특징 공학의 개요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12400" y="2119849"/>
            <a:ext cx="8971003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특징 공학이란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머신러닝의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특징 행렬을 구축하는데 사용할 수 있는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데이터로 변환하는 것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범주형 특징을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특징으로 변환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복잡도를 증가시키기 위한 유도 특징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누락 데이터 대체</a:t>
            </a:r>
            <a:endParaRPr lang="ko-KR" altLang="en-US" sz="20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198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공학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범주 특징의 변환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114" y="2119849"/>
            <a:ext cx="6331680" cy="398436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671256" y="2369714"/>
            <a:ext cx="2009106" cy="106894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838578" y="2904186"/>
            <a:ext cx="1722098" cy="25113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location 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범주형 정보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838578" y="4301545"/>
            <a:ext cx="1722098" cy="45379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수치형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데이터가 아닌 것을 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0, 1 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수치 데이터로 변환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28921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공학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338" y="2119849"/>
            <a:ext cx="6567231" cy="204539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8838578" y="2247363"/>
            <a:ext cx="2198616" cy="26401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데이터와 값을 연결해 키를 만듦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8838578" y="3142545"/>
            <a:ext cx="2198616" cy="26401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희소행렬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(Sparse Matrix)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변환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37167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공학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텍스트 특징의 변환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26869"/>
          <a:stretch/>
        </p:blipFill>
        <p:spPr>
          <a:xfrm>
            <a:off x="1582049" y="2119849"/>
            <a:ext cx="5757863" cy="39087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75520" r="45926"/>
          <a:stretch/>
        </p:blipFill>
        <p:spPr>
          <a:xfrm>
            <a:off x="7339912" y="4720146"/>
            <a:ext cx="3113517" cy="130841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606758" y="4297264"/>
            <a:ext cx="1614851" cy="399145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텍스트를 </a:t>
            </a:r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단어별로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몇 번</a:t>
            </a:r>
            <a:endParaRPr lang="en-US" altLang="ko-KR" sz="11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나타났는지숫자로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변환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0255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공학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835" y="2119849"/>
            <a:ext cx="5658237" cy="376111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473417" y="4954087"/>
            <a:ext cx="2520589" cy="493677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텍스트에 등장하는 </a:t>
            </a:r>
            <a:r>
              <a:rPr lang="ko-KR" altLang="en-US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단어별로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tf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가중치를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/>
            </a:r>
            <a:b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적용한 수치로 변환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6099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공학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유도 특징의 추가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080" y="2119849"/>
            <a:ext cx="4258834" cy="444330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283" y="2119849"/>
            <a:ext cx="4659075" cy="444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09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공학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64" y="2030751"/>
            <a:ext cx="5112737" cy="210524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595" y="2014662"/>
            <a:ext cx="4041444" cy="393305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223389" y="3305591"/>
            <a:ext cx="2534316" cy="44216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degree=3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맞게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[5x1] 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행렬이 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[5x3] 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행렬로 변환되며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x</a:t>
            </a:r>
            <a:r>
              <a:rPr lang="en-US" altLang="ko-KR" sz="1100" baseline="300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x</a:t>
            </a:r>
            <a:r>
              <a:rPr lang="en-US" altLang="ko-KR" sz="1100" baseline="300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값을 생성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2561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공학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누락 데이터 대체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725" y="2029233"/>
            <a:ext cx="6106458" cy="473311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514035" y="3556800"/>
            <a:ext cx="2403688" cy="44216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최신 </a:t>
            </a:r>
            <a:r>
              <a:rPr lang="en-US" altLang="ko-KR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scikit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-learn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버전의 경우 </a:t>
            </a:r>
            <a:r>
              <a:rPr lang="en-US" altLang="ko-KR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Imputer 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대신 </a:t>
            </a:r>
            <a:r>
              <a:rPr lang="en-US" altLang="ko-KR" sz="11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SimpleImputer</a:t>
            </a:r>
            <a:r>
              <a:rPr lang="ko-KR" altLang="en-US" sz="11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675187" y="4089679"/>
            <a:ext cx="1838848" cy="26097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누락된 값을 평균값으로 대체</a:t>
            </a:r>
            <a:endParaRPr lang="ko-KR" altLang="en-US" sz="11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6730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특징 공학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-KR" altLang="en-US" dirty="0" smtClean="0"/>
              <a:t>특징 파이프라인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76" y="2349071"/>
            <a:ext cx="5738426" cy="4262304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7850660" y="2759675"/>
            <a:ext cx="2627870" cy="9144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ko-KR" altLang="en-US" sz="1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누락 값을 평균으로 대체</a:t>
            </a:r>
            <a:endParaRPr lang="en-US" altLang="ko-KR" sz="14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1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이차 형태의 유도특징 변환</a:t>
            </a:r>
            <a:endParaRPr lang="en-US" altLang="ko-KR" sz="14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r>
              <a:rPr lang="en-US" altLang="ko-KR" sz="1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1400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선형회귀 적합</a:t>
            </a:r>
            <a:endParaRPr lang="en-US" altLang="ko-KR" sz="1400" dirty="0" smtClean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91863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xmlns="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xmlns="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:a16="http://schemas.microsoft.com/office/drawing/2014/main" xmlns="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8703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smtClean="0"/>
              <a:t>주요 </a:t>
            </a:r>
            <a:r>
              <a:rPr lang="ko" altLang="ko-KR" dirty="0"/>
              <a:t>정리</a:t>
            </a:r>
            <a:endParaRPr lang="ko-KR" altLang="en-US" dirty="0"/>
          </a:p>
        </p:txBody>
      </p:sp>
      <p:grpSp>
        <p:nvGrpSpPr>
          <p:cNvPr id="31" name="그룹 30"/>
          <p:cNvGrpSpPr/>
          <p:nvPr/>
        </p:nvGrpSpPr>
        <p:grpSpPr>
          <a:xfrm>
            <a:off x="1609058" y="1920042"/>
            <a:ext cx="8930109" cy="539110"/>
            <a:chOff x="1609058" y="1979275"/>
            <a:chExt cx="8930109" cy="539110"/>
          </a:xfrm>
        </p:grpSpPr>
        <p:sp>
          <p:nvSpPr>
            <p:cNvPr id="32" name="TextBox 31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2033064"/>
              <a:ext cx="8349161" cy="46166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교차검증을 사용하면 모델을 훈련시킬 데이터를 빠뜨릴 수 있는 문제를 방지할 수 있다</a:t>
              </a:r>
              <a:r>
                <a:rPr lang="en-US" altLang="ko-KR" sz="2400" spc="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5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197927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4" name="그룹 33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6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7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8" name="그룹 37"/>
          <p:cNvGrpSpPr/>
          <p:nvPr/>
        </p:nvGrpSpPr>
        <p:grpSpPr>
          <a:xfrm>
            <a:off x="1609058" y="2565992"/>
            <a:ext cx="8930109" cy="830997"/>
            <a:chOff x="1609058" y="2955981"/>
            <a:chExt cx="8930109" cy="830997"/>
          </a:xfrm>
        </p:grpSpPr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295598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검증곡선을 시각화하면 모델의 복잡과 관련된 편향과 분산 사이의 트레이드오프에서 적절한 지점을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/>
              </a:r>
              <a:b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</a:b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확인할 수 있다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308685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1" name="그룹 4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45" name="그룹 44"/>
          <p:cNvGrpSpPr/>
          <p:nvPr/>
        </p:nvGrpSpPr>
        <p:grpSpPr>
          <a:xfrm>
            <a:off x="1609058" y="3503829"/>
            <a:ext cx="8930109" cy="830997"/>
            <a:chOff x="1609058" y="4099951"/>
            <a:chExt cx="8930109" cy="830997"/>
          </a:xfrm>
        </p:grpSpPr>
        <p:sp>
          <p:nvSpPr>
            <p:cNvPr id="46" name="TextBox 4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4099951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학습곡선 플롯을 이용하면 훈련집합의 크기에 따른 훈련 점수와 검증 점수의 변화를 시각적으로 확인할 수 있다</a:t>
              </a:r>
              <a:r>
                <a:rPr lang="en-US" altLang="ko-KR" sz="24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7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423082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8" name="그룹 4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2" name="그룹 51"/>
          <p:cNvGrpSpPr/>
          <p:nvPr/>
        </p:nvGrpSpPr>
        <p:grpSpPr>
          <a:xfrm>
            <a:off x="1609544" y="4441666"/>
            <a:ext cx="8930109" cy="830997"/>
            <a:chOff x="1609058" y="5489046"/>
            <a:chExt cx="8930109" cy="830997"/>
          </a:xfrm>
        </p:grpSpPr>
        <p:sp>
          <p:nvSpPr>
            <p:cNvPr id="53" name="TextBox 52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5489046"/>
              <a:ext cx="8349161" cy="83099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그리드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4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서치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자동화 도구를 이용하면 검증 점수를 최대화하는 최적의 모델을 찾아 데이터에 </a:t>
              </a:r>
              <a:r>
                <a:rPr lang="ko-KR" altLang="en-US" sz="24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적합시킬</a:t>
              </a:r>
              <a:r>
                <a:rPr lang="ko-KR" altLang="en-US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수 있다</a:t>
              </a:r>
              <a:r>
                <a:rPr lang="en-US" altLang="ko-KR" sz="24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4" name="그룹 53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5" name="그룹 54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7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8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6" name="TextBox 55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9" name="그룹 58"/>
          <p:cNvGrpSpPr/>
          <p:nvPr/>
        </p:nvGrpSpPr>
        <p:grpSpPr>
          <a:xfrm>
            <a:off x="1609058" y="5379502"/>
            <a:ext cx="8930109" cy="1200329"/>
            <a:chOff x="1609058" y="5304380"/>
            <a:chExt cx="8930109" cy="1200329"/>
          </a:xfrm>
        </p:grpSpPr>
        <p:sp>
          <p:nvSpPr>
            <p:cNvPr id="60" name="TextBox 59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190006" y="5304380"/>
              <a:ext cx="8349161" cy="1200329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특징 공학을 통해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머신러닝의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특징 행렬을 구축하는데 필요한 범주형 데이터의 </a:t>
              </a:r>
              <a:r>
                <a:rPr lang="ko-KR" altLang="en-US" sz="2400" spc="-4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인코딩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복잡도를 증가시키기 위한 유도 특징의 추가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누락 데이터 대체 등의 작업을 수행하며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파이프라인을 통해 작업의 생산성을 높일 수 있다</a:t>
              </a:r>
              <a:r>
                <a:rPr lang="en-US" altLang="ko-KR" sz="2400" spc="-4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400" spc="-4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62" name="그룹 61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64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65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9991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1967</TotalTime>
  <Words>778</Words>
  <Application>Microsoft Office PowerPoint</Application>
  <PresentationFormat>와이드스크린</PresentationFormat>
  <Paragraphs>171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9" baseType="lpstr">
      <vt:lpstr>나눔바른고딕</vt:lpstr>
      <vt:lpstr>Impact</vt:lpstr>
      <vt:lpstr>나눔스퀘어 Bold</vt:lpstr>
      <vt:lpstr>Verdana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교차 검증</vt:lpstr>
      <vt:lpstr>교차 검증</vt:lpstr>
      <vt:lpstr>교차 검증</vt:lpstr>
      <vt:lpstr>교차 검증</vt:lpstr>
      <vt:lpstr>교차 검증</vt:lpstr>
      <vt:lpstr>최적의 모델</vt:lpstr>
      <vt:lpstr>편향-분산 트레이드오프</vt:lpstr>
      <vt:lpstr>편향-분산 트레이드오프</vt:lpstr>
      <vt:lpstr>편향-분산 트레이드오프</vt:lpstr>
      <vt:lpstr>편향-분산 트레이드오프</vt:lpstr>
      <vt:lpstr>편향-분산 트레이드오프</vt:lpstr>
      <vt:lpstr>편향-분산 트레이드오프</vt:lpstr>
      <vt:lpstr>편향-분산 트레이드오프</vt:lpstr>
      <vt:lpstr>학습곡선</vt:lpstr>
      <vt:lpstr>학습곡선</vt:lpstr>
      <vt:lpstr>그리드 서치</vt:lpstr>
      <vt:lpstr>그리드 서치</vt:lpstr>
      <vt:lpstr>PowerPoint 프레젠테이션</vt:lpstr>
      <vt:lpstr>특징 공학</vt:lpstr>
      <vt:lpstr>특징 공학</vt:lpstr>
      <vt:lpstr>특징 공학</vt:lpstr>
      <vt:lpstr>특징 공학</vt:lpstr>
      <vt:lpstr>특징 공학</vt:lpstr>
      <vt:lpstr>특징 공학</vt:lpstr>
      <vt:lpstr>특징 공학</vt:lpstr>
      <vt:lpstr>특징 공학</vt:lpstr>
      <vt:lpstr>특징 공학</vt:lpstr>
      <vt:lpstr>PowerPoint 프레젠테이션</vt:lpstr>
      <vt:lpstr>주요 정리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562</cp:revision>
  <dcterms:created xsi:type="dcterms:W3CDTF">2019-01-19T08:23:23Z</dcterms:created>
  <dcterms:modified xsi:type="dcterms:W3CDTF">2020-03-10T06:44:40Z</dcterms:modified>
</cp:coreProperties>
</file>