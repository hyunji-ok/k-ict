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5" r:id="rId1"/>
  </p:sldMasterIdLst>
  <p:notesMasterIdLst>
    <p:notesMasterId r:id="rId26"/>
  </p:notesMasterIdLst>
  <p:handoutMasterIdLst>
    <p:handoutMasterId r:id="rId27"/>
  </p:handoutMasterIdLst>
  <p:sldIdLst>
    <p:sldId id="314" r:id="rId2"/>
    <p:sldId id="261" r:id="rId3"/>
    <p:sldId id="346" r:id="rId4"/>
    <p:sldId id="349" r:id="rId5"/>
    <p:sldId id="350" r:id="rId6"/>
    <p:sldId id="351" r:id="rId7"/>
    <p:sldId id="352" r:id="rId8"/>
    <p:sldId id="353" r:id="rId9"/>
    <p:sldId id="263" r:id="rId10"/>
    <p:sldId id="354" r:id="rId11"/>
    <p:sldId id="356" r:id="rId12"/>
    <p:sldId id="347" r:id="rId13"/>
    <p:sldId id="348" r:id="rId14"/>
    <p:sldId id="355" r:id="rId15"/>
    <p:sldId id="344" r:id="rId16"/>
    <p:sldId id="267" r:id="rId17"/>
    <p:sldId id="343" r:id="rId18"/>
    <p:sldId id="341" r:id="rId19"/>
    <p:sldId id="357" r:id="rId20"/>
    <p:sldId id="345" r:id="rId21"/>
    <p:sldId id="340" r:id="rId22"/>
    <p:sldId id="342" r:id="rId23"/>
    <p:sldId id="358" r:id="rId24"/>
    <p:sldId id="308" r:id="rId25"/>
  </p:sldIdLst>
  <p:sldSz cx="12192000" cy="6858000"/>
  <p:notesSz cx="6858000" cy="9144000"/>
  <p:embeddedFontLst>
    <p:embeddedFont>
      <p:font typeface="나눔바른고딕" panose="020B0603020101020101" pitchFamily="50" charset="-127"/>
      <p:regular r:id="rId28"/>
      <p:bold r:id="rId29"/>
    </p:embeddedFont>
    <p:embeddedFont>
      <p:font typeface="Cambria Math" panose="02040503050406030204" pitchFamily="18" charset="0"/>
      <p:regular r:id="rId30"/>
    </p:embeddedFont>
    <p:embeddedFont>
      <p:font typeface="Impact" panose="020B0806030902050204" pitchFamily="34" charset="0"/>
      <p:regular r:id="rId31"/>
    </p:embeddedFont>
    <p:embeddedFont>
      <p:font typeface="휴먼모음T" panose="02030504000101010101" pitchFamily="18" charset="-127"/>
      <p:regular r:id="rId32"/>
    </p:embeddedFont>
    <p:embeddedFont>
      <p:font typeface="나눔스퀘어 Bold" panose="020B0600000101010101" pitchFamily="50" charset="-127"/>
      <p:bold r:id="rId33"/>
    </p:embeddedFont>
    <p:embeddedFont>
      <p:font typeface="스웨거 TTF" panose="020B0600000101010101" pitchFamily="50" charset="-127"/>
      <p:regular r:id="rId34"/>
    </p:embeddedFont>
    <p:embeddedFont>
      <p:font typeface="맑은 고딕" panose="020B0503020000020004" pitchFamily="50" charset="-127"/>
      <p:regular r:id="rId35"/>
      <p:bold r:id="rId3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A8CF"/>
    <a:srgbClr val="FBFBFB"/>
    <a:srgbClr val="163E94"/>
    <a:srgbClr val="95D5E1"/>
    <a:srgbClr val="36AAD9"/>
    <a:srgbClr val="173F95"/>
    <a:srgbClr val="000000"/>
    <a:srgbClr val="9D6D6C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6" y="78"/>
      </p:cViewPr>
      <p:guideLst>
        <p:guide orient="horz" pos="1162"/>
        <p:guide pos="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29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201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20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2332401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8815630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9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7886" y="2375699"/>
            <a:ext cx="897257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8.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와인 품질 예측을 위한</a:t>
            </a:r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ko-KR" altLang="en-US" sz="6600" b="1" spc="-300" dirty="0" err="1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머신러닝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모델 만들기 </a:t>
            </a:r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I</a:t>
            </a:r>
            <a:r>
              <a:rPr lang="en-US" altLang="ko-KR" sz="6600" b="1" spc="-30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I</a:t>
            </a:r>
            <a:endParaRPr lang="ko-KR" altLang="en-US" sz="6600" b="1" spc="-30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606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그룹 19"/>
          <p:cNvGrpSpPr/>
          <p:nvPr/>
        </p:nvGrpSpPr>
        <p:grpSpPr>
          <a:xfrm>
            <a:off x="1986130" y="2013420"/>
            <a:ext cx="8345735" cy="546232"/>
            <a:chOff x="1986130" y="2609767"/>
            <a:chExt cx="8345735" cy="5462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9" y="2632779"/>
              <a:ext cx="7764786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선형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회귀 모델을 적용하는 방법을 살펴본다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2609767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6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7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9906000" y="2609767"/>
              <a:ext cx="336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3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스웨거 TTF" panose="020B0600000101010101" pitchFamily="50" charset="-127"/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1986130" y="3050819"/>
            <a:ext cx="8345735" cy="542649"/>
            <a:chOff x="1986130" y="3730230"/>
            <a:chExt cx="8345735" cy="54264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374965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리지 회귀 모델의 특징을 이해하고 모델을 적용하는 방법을 살펴본다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3730230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4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5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9753714" y="3746121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15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스웨거 TTF" panose="020B0600000101010101" pitchFamily="50" charset="-127"/>
              </a:endParaRPr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1986130" y="4084635"/>
            <a:ext cx="8345735" cy="542649"/>
            <a:chOff x="1986130" y="3730230"/>
            <a:chExt cx="8345735" cy="542649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374965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라쏘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회귀 모델의 특징을 이해하고 모델을 적용하는 방법을 살펴본다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3730230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2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3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9753716" y="3746121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20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스웨거 TTF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92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와인 품질 데이터 프레임 준비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와인 품질 데이터의 구성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37" y="2119849"/>
            <a:ext cx="9934833" cy="428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893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선형회귀 모델의 적용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/>
              <a:t>모델 클래스와 모델 </a:t>
            </a:r>
            <a:r>
              <a:rPr lang="ko-KR" altLang="en-US" dirty="0" err="1"/>
              <a:t>파라미터의</a:t>
            </a:r>
            <a:r>
              <a:rPr lang="ko-KR" altLang="en-US" dirty="0"/>
              <a:t> 선택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936" y="2485768"/>
            <a:ext cx="6950033" cy="142018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838561" y="2997365"/>
            <a:ext cx="1729408" cy="25267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상수항의 사용여부 결정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343423" y="2962940"/>
            <a:ext cx="1703420" cy="3215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6396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선형회귀 모델의 적용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/>
              <a:t>특징행렬과 대상 벡터의 추출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029554" y="4862149"/>
            <a:ext cx="81955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scikit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-learn 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api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사용하기 위해 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DataFrame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객체에서 특징 행렬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(feature matrix)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 대상 벡터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(target vector)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추출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160" y="2324627"/>
            <a:ext cx="6000364" cy="210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1567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선형회귀 모델의 적용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/>
              <a:t>훈련 데이터와 테스트 데이터의 분리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012" y="2204394"/>
            <a:ext cx="7550108" cy="144747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435087" y="3757738"/>
            <a:ext cx="4154557" cy="41488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train_test_split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()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에서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test_size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파라미터를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지정하지 않으면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트레이닝 사이즈가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75%,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테스트 사이즈가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25%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설정됨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435087" y="4395051"/>
            <a:ext cx="3379304" cy="41488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행렬은 대문자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(X)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벡터는 소문자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(y)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사용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47090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선형회귀 모델의 적용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모델</a:t>
            </a:r>
            <a:r>
              <a:rPr lang="ko-KR" altLang="en-US" dirty="0"/>
              <a:t>의</a:t>
            </a:r>
            <a:r>
              <a:rPr lang="ko-KR" altLang="en-US" dirty="0" smtClean="0"/>
              <a:t> 데이터 </a:t>
            </a:r>
            <a:r>
              <a:rPr lang="ko-KR" altLang="en-US" dirty="0"/>
              <a:t>적합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661" y="2259892"/>
            <a:ext cx="7288059" cy="294642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576024" y="3240156"/>
            <a:ext cx="1192696" cy="22678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모델의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파라미터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576024" y="4532243"/>
            <a:ext cx="1192696" cy="22678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모델의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상수항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27321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선형회귀 모델의 적용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/>
              <a:t>모델을 새로운 데이터에 적용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640" y="2196285"/>
            <a:ext cx="8763000" cy="5048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640" y="2736341"/>
            <a:ext cx="8768941" cy="200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5332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6320" y="2242044"/>
            <a:ext cx="90210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회귀 모델의 예측 능력 평가 지표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</a:p>
          <a:p>
            <a:pPr marL="14288">
              <a:lnSpc>
                <a:spcPct val="130000"/>
              </a:lnSpc>
              <a:spcAft>
                <a:spcPts val="18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평균 제곱근 오차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RMSE(Root Mean Square Error)</a:t>
            </a: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평균 제곱근 오차는 분산의 제곱근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즉 표준 오차가 됨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선형회귀 모델의 성능측정</a:t>
            </a:r>
            <a:endParaRPr lang="ko-KR" altLang="en-US" dirty="0"/>
          </a:p>
        </p:txBody>
      </p:sp>
      <p:sp>
        <p:nvSpPr>
          <p:cNvPr id="5" name="텍스트 개체 틀 1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smtClean="0"/>
              <a:t>모델의 성능 측정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084111" y="4192787"/>
                <a:ext cx="7368940" cy="1436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pc="-15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𝑅𝑀𝑆𝐸</m:t>
                      </m:r>
                      <m:d>
                        <m:dPr>
                          <m:ctrlP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dPr>
                        <m:e>
                          <m: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lang="en-US" altLang="ko-KR" sz="24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accPr>
                            <m:e>
                              <m:r>
                                <a:rPr lang="ko-KR" altLang="en-US" sz="24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altLang="ko-KR" sz="2400" b="0" i="1" spc="-15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2400" b="0" i="1" spc="-15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radPr>
                        <m:deg/>
                        <m:e>
                          <m:r>
                            <a:rPr lang="en-US" altLang="ko-KR" sz="2400" i="1" spc="-15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𝑀𝑆𝐸</m:t>
                          </m:r>
                          <m:d>
                            <m:dPr>
                              <m:ctrlPr>
                                <a:rPr lang="en-US" altLang="ko-KR" sz="2400" i="1" spc="-15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i="1" spc="-15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 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ko-KR" sz="2400" i="1" spc="-15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sz="2400" i="1" spc="-15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</m:e>
                      </m:rad>
                      <m:r>
                        <a:rPr lang="en-US" altLang="ko-KR" sz="2400" b="0" i="1" spc="-15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2400" i="1" spc="-15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radPr>
                        <m:deg/>
                        <m:e>
                          <m:r>
                            <a:rPr lang="en-US" altLang="ko-KR" sz="2400" i="1" spc="-15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ko-KR" sz="240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4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4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(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ko-KR" sz="2400" i="1" spc="-150">
                                          <a:ln w="25400" cap="flat">
                                            <a:noFill/>
                                            <a:miter lim="800000"/>
                                          </a:ln>
                                          <a:effectLst>
                                            <a:glow>
                                              <a:schemeClr val="bg1"/>
                                            </a:glow>
                                          </a:effectLst>
                                          <a:latin typeface="Cambria Math" panose="02040503050406030204" pitchFamily="18" charset="0"/>
                                          <a:ea typeface="휴먼모음T" panose="02030504000101010101" pitchFamily="18" charset="-127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ko-KR" altLang="en-US" sz="2400" i="1" spc="-150">
                                          <a:ln w="25400" cap="flat">
                                            <a:noFill/>
                                            <a:miter lim="800000"/>
                                          </a:ln>
                                          <a:effectLst>
                                            <a:glow>
                                              <a:schemeClr val="bg1"/>
                                            </a:glow>
                                          </a:effectLst>
                                          <a:latin typeface="Cambria Math" panose="02040503050406030204" pitchFamily="18" charset="0"/>
                                          <a:ea typeface="휴먼모음T" panose="02030504000101010101" pitchFamily="18" charset="-127"/>
                                        </a:rPr>
                                        <m:t>𝜃</m:t>
                                      </m:r>
                                    </m:e>
                                  </m:acc>
                                  <m:r>
                                    <a:rPr lang="en-US" altLang="ko-KR" sz="2400" i="1" spc="-15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−</m:t>
                                  </m:r>
                                  <m:r>
                                    <a:rPr lang="ko-KR" altLang="en-US" sz="2400" i="1" spc="-15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𝜃</m:t>
                                  </m:r>
                                  <m:r>
                                    <a:rPr lang="en-US" altLang="ko-KR" sz="2400" i="1" spc="-15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2400" b="0" i="1" spc="-15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rad>
                      <m:r>
                        <a:rPr lang="en-US" altLang="ko-KR" sz="2400" b="0" i="1" spc="-150" smtClean="0">
                          <a:ln w="25400" cap="flat">
                            <a:noFill/>
                            <a:miter lim="800000"/>
                          </a:ln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2400" i="1" spc="-15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ko-KR" sz="240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fPr>
                            <m:num>
                              <m:r>
                                <a:rPr lang="en-US" altLang="ko-KR" sz="24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24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ko-KR" sz="240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24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𝑖</m:t>
                              </m:r>
                              <m:r>
                                <a:rPr lang="en-US" altLang="ko-KR" sz="24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2400" b="0" i="1" spc="-150" smtClean="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ko-KR" sz="2400" i="1" spc="-15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400" i="1" spc="-15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(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ko-KR" sz="2400" i="1" spc="-150">
                                          <a:ln w="25400" cap="flat">
                                            <a:noFill/>
                                            <a:miter lim="800000"/>
                                          </a:ln>
                                          <a:effectLst>
                                            <a:glow>
                                              <a:schemeClr val="bg1"/>
                                            </a:glow>
                                          </a:effectLst>
                                          <a:latin typeface="Cambria Math" panose="02040503050406030204" pitchFamily="18" charset="0"/>
                                          <a:ea typeface="휴먼모음T" panose="02030504000101010101" pitchFamily="18" charset="-127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ko-KR" altLang="en-US" sz="2400" i="1" spc="-150">
                                          <a:ln w="25400" cap="flat">
                                            <a:noFill/>
                                            <a:miter lim="800000"/>
                                          </a:ln>
                                          <a:effectLst>
                                            <a:glow>
                                              <a:schemeClr val="bg1"/>
                                            </a:glow>
                                          </a:effectLst>
                                          <a:latin typeface="Cambria Math" panose="02040503050406030204" pitchFamily="18" charset="0"/>
                                          <a:ea typeface="휴먼모음T" panose="02030504000101010101" pitchFamily="18" charset="-127"/>
                                        </a:rPr>
                                        <m:t>𝜃</m:t>
                                      </m:r>
                                    </m:e>
                                  </m:acc>
                                  <m:r>
                                    <a:rPr lang="en-US" altLang="ko-KR" sz="2400" i="1" spc="-15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−</m:t>
                                  </m:r>
                                  <m:r>
                                    <a:rPr lang="ko-KR" altLang="en-US" sz="2400" i="1" spc="-15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𝜃</m:t>
                                  </m:r>
                                  <m:r>
                                    <a:rPr lang="en-US" altLang="ko-KR" sz="2400" i="1" spc="-15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2400" i="1" spc="-15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ko-KR" altLang="en-US" sz="2400" i="1" spc="-150" dirty="0" smtClean="0">
                  <a:ln w="25400" cap="flat">
                    <a:noFill/>
                    <a:miter lim="800000"/>
                  </a:ln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4111" y="4192787"/>
                <a:ext cx="7368940" cy="143686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1FB602C5-E855-4D86-B3E0-B12A2EADDDA0}"/>
                  </a:ext>
                </a:extLst>
              </p:cNvPr>
              <p:cNvSpPr txBox="1"/>
              <p:nvPr/>
            </p:nvSpPr>
            <p:spPr>
              <a:xfrm>
                <a:off x="2084111" y="5629655"/>
                <a:ext cx="1446028" cy="413190"/>
              </a:xfrm>
              <a:prstGeom prst="rect">
                <a:avLst/>
              </a:prstGeom>
              <a:solidFill>
                <a:srgbClr val="3AA8D8"/>
              </a:solidFill>
            </p:spPr>
            <p:txBody>
              <a:bodyPr wrap="square" rtlCol="0" anchor="ctr">
                <a:spAutoFit/>
              </a:bodyPr>
              <a:lstStyle/>
              <a:p>
                <a:pPr marL="14288" algn="ctr">
                  <a:spcAft>
                    <a:spcPts val="1200"/>
                  </a:spcAft>
                  <a:buSzPct val="80000"/>
                </a:pPr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2000" i="1" spc="-300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bg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accPr>
                      <m:e>
                        <m:r>
                          <a:rPr lang="ko-KR" altLang="en-US" sz="2000" i="1" spc="-30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bg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 : </a:t>
                </a: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예측 </a:t>
                </a:r>
                <a:r>
                  <a:rPr lang="ko-KR" altLang="en-US" sz="2000" dirty="0" err="1" smtClean="0">
                    <a:ln w="25400" cap="flat">
                      <a:noFill/>
                      <a:miter lim="800000"/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추정량</a:t>
                </a:r>
                <a:endParaRPr lang="en-US" altLang="ko-KR" sz="2000" dirty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FB602C5-E855-4D86-B3E0-B12A2EADD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4111" y="5629655"/>
                <a:ext cx="1446028" cy="413190"/>
              </a:xfrm>
              <a:prstGeom prst="rect">
                <a:avLst/>
              </a:prstGeom>
              <a:blipFill rotWithShape="0">
                <a:blip r:embed="rId4"/>
                <a:stretch>
                  <a:fillRect t="-4412" r="-422" b="-264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7248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선형회귀 모델의 </a:t>
            </a:r>
            <a:r>
              <a:rPr lang="ko-KR" altLang="en-US" dirty="0" smtClean="0"/>
              <a:t>성능측정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/>
              <a:t>모델의 성능 측정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154" y="2227563"/>
            <a:ext cx="7072970" cy="279751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544428" y="2474843"/>
            <a:ext cx="1354946" cy="21866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RMSE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계산 코드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96159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59936B77-D2AF-4CC7-A065-A6C8038469C0}"/>
              </a:ext>
            </a:extLst>
          </p:cNvPr>
          <p:cNvGrpSpPr/>
          <p:nvPr/>
        </p:nvGrpSpPr>
        <p:grpSpPr>
          <a:xfrm>
            <a:off x="1656816" y="3257902"/>
            <a:ext cx="8878368" cy="349649"/>
            <a:chOff x="385449" y="2912549"/>
            <a:chExt cx="2153540" cy="0"/>
          </a:xfrm>
        </p:grpSpPr>
        <p:cxnSp>
          <p:nvCxnSpPr>
            <p:cNvPr id="4" name="직선 연결선 3">
              <a:extLst>
                <a:ext uri="{FF2B5EF4-FFF2-40B4-BE49-F238E27FC236}">
                  <a16:creationId xmlns="" xmlns:a16="http://schemas.microsoft.com/office/drawing/2014/main" id="{6FD7AC04-268F-4954-829A-C5CE5AC7BECE}"/>
                </a:ext>
              </a:extLst>
            </p:cNvPr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="" xmlns:a16="http://schemas.microsoft.com/office/drawing/2014/main" id="{87864A92-2A24-4328-A164-9E12EECAE563}"/>
                </a:ext>
              </a:extLst>
            </p:cNvPr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제목 13">
            <a:extLst>
              <a:ext uri="{FF2B5EF4-FFF2-40B4-BE49-F238E27FC236}">
                <a16:creationId xmlns="" xmlns:a16="http://schemas.microsoft.com/office/drawing/2014/main" id="{7EE843EC-B354-4A28-AE05-2BBC63C2A2B5}"/>
              </a:ext>
            </a:extLst>
          </p:cNvPr>
          <p:cNvSpPr txBox="1">
            <a:spLocks/>
          </p:cNvSpPr>
          <p:nvPr/>
        </p:nvSpPr>
        <p:spPr>
          <a:xfrm>
            <a:off x="-3046" y="2435161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실습 </a:t>
            </a:r>
            <a:r>
              <a:rPr lang="en-US" altLang="ko-K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994084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규제가 없는 선형 모델의 적합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규제가 있는 선형 모델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001" y="2119849"/>
            <a:ext cx="7001905" cy="332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3121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규제가 </a:t>
            </a:r>
            <a:r>
              <a:rPr lang="ko-KR" altLang="en-US" dirty="0" smtClean="0"/>
              <a:t>있는 </a:t>
            </a:r>
            <a:r>
              <a:rPr lang="ko-KR" altLang="en-US" dirty="0"/>
              <a:t>선형 모델의 적합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규제가 있는 선형 모델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625" y="2119849"/>
            <a:ext cx="5854658" cy="36709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8137042" y="1666020"/>
            <a:ext cx="2378558" cy="1323439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규제가 있는 선형회귀모델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14288">
              <a:buSzPct val="80000"/>
            </a:pP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1.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리지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(Ridge)</a:t>
            </a:r>
          </a:p>
          <a:p>
            <a:pPr marL="14288">
              <a:buSzPct val="80000"/>
            </a:pP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2.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라쏘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(Lasso)</a:t>
            </a:r>
          </a:p>
          <a:p>
            <a:pPr marL="14288">
              <a:buSzPct val="80000"/>
            </a:pP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3.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엘라스틱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넷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(Elastic Net)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65412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6320" y="2242044"/>
            <a:ext cx="9021064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과분산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모델에 대해 모델을 규제하면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오버피팅을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감소시킬 수 있음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규제란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오버피팅된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파라미터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값에 대해 페널티를 부여하는 것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페널티를 추가하게 되면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규제가 없는 회귀 모델보다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계수의 절대값이 작아지게 되는 원리를 이용해 </a:t>
            </a:r>
            <a:r>
              <a:rPr lang="ko-KR" altLang="en-US" sz="20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오버피팅을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방지할 수 있음 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페널티를 가한다는 것은 편향을 높인다는 것을 의미하며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규제가 없는 모델보다 훈련 데이터와의 적합도가 떨어지지만 전체적인 결과는 좋아짐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오버피팅된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모델은 지나친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노이즈를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반영할 수 있으므로 모델을 단순화하여 좀 더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일반화된 모델로 만들 필요가 있음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규제가 있는 선형 모델</a:t>
            </a:r>
            <a:endParaRPr lang="ko-KR" altLang="en-US" dirty="0"/>
          </a:p>
        </p:txBody>
      </p:sp>
      <p:sp>
        <p:nvSpPr>
          <p:cNvPr id="5" name="텍스트 개체 틀 1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smtClean="0"/>
              <a:t>규제가 있는 선형 모델의 필요성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35730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4032EFA2-320E-4454-952D-AE602BBB7FEB}"/>
                  </a:ext>
                </a:extLst>
              </p:cNvPr>
              <p:cNvSpPr txBox="1"/>
              <p:nvPr/>
            </p:nvSpPr>
            <p:spPr>
              <a:xfrm>
                <a:off x="1556320" y="2211240"/>
                <a:ext cx="9021064" cy="4170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65113" indent="-250825">
                  <a:spcAft>
                    <a:spcPts val="1800"/>
                  </a:spcAft>
                  <a:buSzPct val="80000"/>
                  <a:buBlip>
                    <a:blip r:embed="rId2"/>
                  </a:buBlip>
                </a:pPr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Ridge </a:t>
                </a: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회귀</a:t>
                </a:r>
                <a:r>
                  <a:rPr lang="en-US" altLang="ko-KR" sz="20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(</a:t>
                </a:r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Tikhonov </a:t>
                </a: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규제</a:t>
                </a:r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)</a:t>
                </a: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는</a:t>
                </a:r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규제가 추가된 선형 회귀 모델</a:t>
                </a:r>
                <a:endParaRPr lang="en-US" altLang="ko-KR" sz="20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265113" indent="-250825">
                  <a:spcAft>
                    <a:spcPts val="1800"/>
                  </a:spcAft>
                  <a:buSzPct val="80000"/>
                  <a:buBlip>
                    <a:blip r:embed="rId2"/>
                  </a:buBlip>
                </a:pP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규제 항이 비용함수에 추가 됨</a:t>
                </a:r>
                <a:endParaRPr lang="en-US" altLang="ko-KR" sz="20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265113" indent="-250825">
                  <a:spcAft>
                    <a:spcPts val="1800"/>
                  </a:spcAft>
                  <a:buSzPct val="80000"/>
                  <a:buBlip>
                    <a:blip r:embed="rId2"/>
                  </a:buBlip>
                </a:pP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가중치 벡터의 </a:t>
                </a:r>
                <a:r>
                  <a:rPr lang="ko-KR" altLang="en-US" sz="2000" dirty="0" err="1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제곱항을</a:t>
                </a: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합한</a:t>
                </a:r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𝐿</m:t>
                        </m:r>
                      </m:e>
                      <m:sub>
                        <m: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노름을 </a:t>
                </a:r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로 나눈 값을 </a:t>
                </a:r>
                <a:r>
                  <a:rPr lang="ko-KR" altLang="en-US" sz="20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적용함 </a:t>
                </a:r>
                <a:endParaRPr lang="en-US" altLang="ko-KR" sz="20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265113" indent="-250825">
                  <a:spcAft>
                    <a:spcPts val="1800"/>
                  </a:spcAft>
                  <a:buSzPct val="80000"/>
                  <a:buBlip>
                    <a:blip r:embed="rId2"/>
                  </a:buBlip>
                </a:pP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모델의 가중치가 가능한 작게 유지되도록 함</a:t>
                </a:r>
                <a:endParaRPr lang="en-US" altLang="ko-KR" sz="20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265113" indent="-250825">
                  <a:spcAft>
                    <a:spcPts val="1800"/>
                  </a:spcAft>
                  <a:buSzPct val="80000"/>
                  <a:buBlip>
                    <a:blip r:embed="rId2"/>
                  </a:buBlip>
                </a:pPr>
                <a:r>
                  <a:rPr lang="ko-KR" altLang="en-US" sz="2000" dirty="0" err="1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규제항은</a:t>
                </a: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훈련하는 동안에만 비용함수에 추가됨</a:t>
                </a:r>
                <a:endParaRPr lang="en-US" altLang="ko-KR" sz="20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265113" indent="-250825">
                  <a:spcAft>
                    <a:spcPts val="1800"/>
                  </a:spcAft>
                  <a:buSzPct val="80000"/>
                  <a:buBlip>
                    <a:blip r:embed="rId2"/>
                  </a:buBlip>
                </a:pP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모델의 훈련이 끝나면 모델의 성능을 규제가 없는 성능 지표로 평가함</a:t>
                </a:r>
                <a:endParaRPr lang="en-US" altLang="ko-KR" sz="20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265113" indent="-250825">
                  <a:spcAft>
                    <a:spcPts val="1800"/>
                  </a:spcAft>
                  <a:buSzPct val="80000"/>
                  <a:buBlip>
                    <a:blip r:embed="rId2"/>
                  </a:buBlip>
                </a:pPr>
                <a:r>
                  <a:rPr lang="ko-KR" altLang="en-US" sz="2000" dirty="0" err="1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하이퍼파라미터</a:t>
                </a:r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𝛼</m:t>
                    </m:r>
                  </m:oMath>
                </a14:m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는 모델 규제를 조절          </a:t>
                </a:r>
                <a14:m>
                  <m:oMath xmlns:m="http://schemas.openxmlformats.org/officeDocument/2006/math">
                    <m:r>
                      <a:rPr lang="en-US" altLang="ko-KR" sz="2000" b="0" i="0" smtClean="0">
                        <a:ln w="25400" cap="flat">
                          <a:noFill/>
                          <a:miter lim="800000"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 </m:t>
                    </m:r>
                  </m:oMath>
                </a14:m>
                <a:endParaRPr lang="en-US" altLang="ko-KR" sz="2000" b="0" i="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Cambria Math" panose="02040503050406030204" pitchFamily="18" charset="0"/>
                  <a:ea typeface="나눔바른고딕" panose="020B0603020101020101" pitchFamily="50" charset="-127"/>
                </a:endParaRPr>
              </a:p>
              <a:p>
                <a:pPr marL="265113" indent="-250825">
                  <a:spcAft>
                    <a:spcPts val="1800"/>
                  </a:spcAft>
                  <a:buSzPct val="80000"/>
                  <a:buBlip>
                    <a:blip r:embed="rId2"/>
                  </a:buBlip>
                </a:pPr>
                <a14:m>
                  <m:oMath xmlns:m="http://schemas.openxmlformats.org/officeDocument/2006/math">
                    <m:r>
                      <a:rPr lang="ko-KR" altLang="en-US" sz="2000" i="1">
                        <a:ln w="25400" cap="flat">
                          <a:noFill/>
                          <a:miter lim="800000"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𝛼</m:t>
                    </m:r>
                    <m:r>
                      <a:rPr lang="en-US" altLang="ko-KR" sz="2000" b="0" i="1" smtClean="0">
                        <a:ln w="25400" cap="flat">
                          <a:noFill/>
                          <a:miter lim="800000"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=0</m:t>
                    </m:r>
                  </m:oMath>
                </a14:m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이면 선형회귀와 동일하며</a:t>
                </a:r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n w="25400" cap="flat">
                          <a:noFill/>
                          <a:miter lim="800000"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glow>
                            <a:schemeClr val="bg1"/>
                          </a:glow>
                        </a:effectLst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𝛼</m:t>
                    </m:r>
                  </m:oMath>
                </a14:m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가 아주 크면 모든 가중치가 </a:t>
                </a:r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0</a:t>
                </a: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에 가까워짐</a:t>
                </a:r>
                <a:endParaRPr lang="en-US" altLang="ko-KR" sz="20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032EFA2-320E-4454-952D-AE602BBB7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6320" y="2211240"/>
                <a:ext cx="9021064" cy="4170372"/>
              </a:xfrm>
              <a:prstGeom prst="rect">
                <a:avLst/>
              </a:prstGeom>
              <a:blipFill rotWithShape="0">
                <a:blip r:embed="rId3"/>
                <a:stretch>
                  <a:fillRect t="-877" b="-1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리지 회귀 모델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/>
              <p:cNvSpPr/>
              <p:nvPr/>
            </p:nvSpPr>
            <p:spPr>
              <a:xfrm>
                <a:off x="8209812" y="2905831"/>
                <a:ext cx="3048000" cy="101325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직사각형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812" y="2905831"/>
                <a:ext cx="3048000" cy="101325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텍스트 개체 틀 1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smtClean="0"/>
              <a:t>리지 회귀 모델 개요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5125485" y="2883058"/>
            <a:ext cx="718723" cy="400110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buSzPct val="80000"/>
            </a:pP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Norm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14720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선형 회귀 모델과 계수의 특징 </a:t>
            </a:r>
            <a:endParaRPr lang="ko-KR" altLang="en-US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리지 회귀 모델</a:t>
            </a:r>
            <a:endParaRPr lang="ko-KR" altLang="en-US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2"/>
          <a:srcRect t="46006" r="28902"/>
          <a:stretch/>
        </p:blipFill>
        <p:spPr>
          <a:xfrm>
            <a:off x="3617690" y="2380735"/>
            <a:ext cx="4661337" cy="349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349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리지 회귀 모델의 계수의 특징 </a:t>
            </a:r>
            <a:endParaRPr lang="ko-KR" altLang="en-US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리지 회귀 모델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rcRect b="34050"/>
          <a:stretch/>
        </p:blipFill>
        <p:spPr>
          <a:xfrm>
            <a:off x="374967" y="2119849"/>
            <a:ext cx="3266157" cy="165308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rcRect b="35778"/>
          <a:stretch/>
        </p:blipFill>
        <p:spPr>
          <a:xfrm>
            <a:off x="4068076" y="2119850"/>
            <a:ext cx="3280076" cy="1677794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rcRect b="33922"/>
          <a:stretch/>
        </p:blipFill>
        <p:spPr>
          <a:xfrm>
            <a:off x="7677664" y="2119849"/>
            <a:ext cx="3303374" cy="1702508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763" y="3912973"/>
            <a:ext cx="3254029" cy="2537254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3744" y="3912973"/>
            <a:ext cx="3280076" cy="2504902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3332" y="3912973"/>
            <a:ext cx="3212758" cy="244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6762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리지 회귀 모델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897" y="2092154"/>
            <a:ext cx="7305160" cy="314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8111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59936B77-D2AF-4CC7-A065-A6C8038469C0}"/>
              </a:ext>
            </a:extLst>
          </p:cNvPr>
          <p:cNvGrpSpPr/>
          <p:nvPr/>
        </p:nvGrpSpPr>
        <p:grpSpPr>
          <a:xfrm>
            <a:off x="1656816" y="3257902"/>
            <a:ext cx="8878368" cy="349649"/>
            <a:chOff x="385449" y="2912549"/>
            <a:chExt cx="2153540" cy="0"/>
          </a:xfrm>
        </p:grpSpPr>
        <p:cxnSp>
          <p:nvCxnSpPr>
            <p:cNvPr id="4" name="직선 연결선 3">
              <a:extLst>
                <a:ext uri="{FF2B5EF4-FFF2-40B4-BE49-F238E27FC236}">
                  <a16:creationId xmlns="" xmlns:a16="http://schemas.microsoft.com/office/drawing/2014/main" id="{6FD7AC04-268F-4954-829A-C5CE5AC7BECE}"/>
                </a:ext>
              </a:extLst>
            </p:cNvPr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="" xmlns:a16="http://schemas.microsoft.com/office/drawing/2014/main" id="{87864A92-2A24-4328-A164-9E12EECAE563}"/>
                </a:ext>
              </a:extLst>
            </p:cNvPr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제목 13">
            <a:extLst>
              <a:ext uri="{FF2B5EF4-FFF2-40B4-BE49-F238E27FC236}">
                <a16:creationId xmlns="" xmlns:a16="http://schemas.microsoft.com/office/drawing/2014/main" id="{7EE843EC-B354-4A28-AE05-2BBC63C2A2B5}"/>
              </a:ext>
            </a:extLst>
          </p:cNvPr>
          <p:cNvSpPr txBox="1">
            <a:spLocks/>
          </p:cNvSpPr>
          <p:nvPr/>
        </p:nvSpPr>
        <p:spPr>
          <a:xfrm>
            <a:off x="-3046" y="2435161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실습 </a:t>
            </a:r>
            <a:r>
              <a:rPr lang="en-US" altLang="ko-KR" dirty="0" smtClean="0"/>
              <a:t>2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914850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4032EFA2-320E-4454-952D-AE602BBB7FEB}"/>
                  </a:ext>
                </a:extLst>
              </p:cNvPr>
              <p:cNvSpPr txBox="1"/>
              <p:nvPr/>
            </p:nvSpPr>
            <p:spPr>
              <a:xfrm>
                <a:off x="1556320" y="2410023"/>
                <a:ext cx="9021064" cy="2385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65113" indent="-250825">
                  <a:lnSpc>
                    <a:spcPct val="130000"/>
                  </a:lnSpc>
                  <a:spcAft>
                    <a:spcPts val="1800"/>
                  </a:spcAft>
                  <a:buSzPct val="80000"/>
                  <a:buBlip>
                    <a:blip r:embed="rId2"/>
                  </a:buBlip>
                </a:pPr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Lasso </a:t>
                </a: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회귀는</a:t>
                </a:r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선형 회귀 모델의</a:t>
                </a:r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또 다른 규제된 버전</a:t>
                </a:r>
                <a:endParaRPr lang="en-US" altLang="ko-KR" sz="20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265113" indent="-250825">
                  <a:lnSpc>
                    <a:spcPct val="130000"/>
                  </a:lnSpc>
                  <a:spcAft>
                    <a:spcPts val="1800"/>
                  </a:spcAft>
                  <a:buSzPct val="80000"/>
                  <a:buBlip>
                    <a:blip r:embed="rId2"/>
                  </a:buBlip>
                </a:pP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가중치 벡터의 절대값의 합인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𝐿</m:t>
                        </m:r>
                      </m:e>
                      <m:sub>
                        <m:r>
                          <a:rPr lang="en-US" altLang="ko-KR" sz="2000" b="0" i="1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노름을 </a:t>
                </a:r>
                <a:r>
                  <a:rPr lang="ko-KR" altLang="en-US" sz="2000" dirty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적용함 </a:t>
                </a:r>
                <a:endParaRPr lang="en-US" altLang="ko-KR" sz="20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265113" indent="-250825">
                  <a:lnSpc>
                    <a:spcPct val="130000"/>
                  </a:lnSpc>
                  <a:spcAft>
                    <a:spcPts val="1800"/>
                  </a:spcAft>
                  <a:buSzPct val="80000"/>
                  <a:buBlip>
                    <a:blip r:embed="rId2"/>
                  </a:buBlip>
                </a:pP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덜 중요한 특징의 가중치</a:t>
                </a:r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(0)</a:t>
                </a: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를 완전히 제거하려고 함</a:t>
                </a:r>
                <a:endParaRPr lang="en-US" altLang="ko-KR" sz="20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265113" indent="-250825">
                  <a:lnSpc>
                    <a:spcPct val="130000"/>
                  </a:lnSpc>
                  <a:spcAft>
                    <a:spcPts val="1800"/>
                  </a:spcAft>
                  <a:buSzPct val="80000"/>
                  <a:buBlip>
                    <a:blip r:embed="rId2"/>
                  </a:buBlip>
                </a:pP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차수가 높은 다항 특징의 가중치를 </a:t>
                </a:r>
                <a:r>
                  <a:rPr lang="en-US" altLang="ko-KR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0</a:t>
                </a:r>
                <a:r>
                  <a:rPr lang="ko-KR" altLang="en-US" sz="2000" dirty="0" smtClean="0">
                    <a:ln w="25400" cap="flat">
                      <a:noFill/>
                      <a:miter lim="800000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으로 만듦</a:t>
                </a:r>
                <a:endParaRPr lang="en-US" altLang="ko-KR" sz="2000" dirty="0" smtClean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032EFA2-320E-4454-952D-AE602BBB7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6320" y="2410023"/>
                <a:ext cx="9021064" cy="2385268"/>
              </a:xfrm>
              <a:prstGeom prst="rect">
                <a:avLst/>
              </a:prstGeom>
              <a:blipFill rotWithShape="0">
                <a:blip r:embed="rId3"/>
                <a:stretch>
                  <a:fillRect b="-25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라쏘</a:t>
            </a:r>
            <a:r>
              <a:rPr lang="ko-KR" altLang="en-US" dirty="0" smtClean="0"/>
              <a:t> 회귀 모델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/>
              <p:cNvSpPr/>
              <p:nvPr/>
            </p:nvSpPr>
            <p:spPr>
              <a:xfrm>
                <a:off x="7323438" y="2780727"/>
                <a:ext cx="3048000" cy="101325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직사각형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438" y="2780727"/>
                <a:ext cx="3048000" cy="101325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텍스트 개체 틀 1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 smtClean="0"/>
              <a:t>라쏘</a:t>
            </a:r>
            <a:r>
              <a:rPr lang="ko-KR" altLang="en-US" dirty="0" smtClean="0"/>
              <a:t> 회귀 모델 개요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1915147" y="5005234"/>
            <a:ext cx="4083074" cy="707886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buSzPct val="80000"/>
            </a:pP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라쏘는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가중치를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0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으로 만들어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14288" algn="ctr"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전체적으로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오버피팅이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줄어들어 모델의 복잡도가 낮아짐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25730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 smtClean="0"/>
              <a:t>라쏘</a:t>
            </a:r>
            <a:r>
              <a:rPr lang="ko-KR" altLang="en-US" dirty="0" smtClean="0"/>
              <a:t> 회귀 모델의 계수의 특징 </a:t>
            </a:r>
            <a:endParaRPr lang="ko-KR" altLang="en-US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라쏘</a:t>
            </a:r>
            <a:r>
              <a:rPr lang="ko-KR" altLang="en-US" dirty="0" smtClean="0"/>
              <a:t> 회귀 모델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34274"/>
          <a:stretch/>
        </p:blipFill>
        <p:spPr>
          <a:xfrm>
            <a:off x="372763" y="2119849"/>
            <a:ext cx="3242666" cy="163660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822" y="2076178"/>
            <a:ext cx="3376786" cy="257735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742" y="2076178"/>
            <a:ext cx="3441900" cy="247110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762" y="4025213"/>
            <a:ext cx="3345548" cy="249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0069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라쏘</a:t>
            </a:r>
            <a:r>
              <a:rPr lang="ko-KR" altLang="en-US" dirty="0" smtClean="0"/>
              <a:t> 회귀 모델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405" y="2129867"/>
            <a:ext cx="7562143" cy="325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202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59936B77-D2AF-4CC7-A065-A6C8038469C0}"/>
              </a:ext>
            </a:extLst>
          </p:cNvPr>
          <p:cNvGrpSpPr/>
          <p:nvPr/>
        </p:nvGrpSpPr>
        <p:grpSpPr>
          <a:xfrm>
            <a:off x="1656816" y="3257902"/>
            <a:ext cx="8878368" cy="349649"/>
            <a:chOff x="385449" y="2912549"/>
            <a:chExt cx="2153540" cy="0"/>
          </a:xfrm>
        </p:grpSpPr>
        <p:cxnSp>
          <p:nvCxnSpPr>
            <p:cNvPr id="4" name="직선 연결선 3">
              <a:extLst>
                <a:ext uri="{FF2B5EF4-FFF2-40B4-BE49-F238E27FC236}">
                  <a16:creationId xmlns="" xmlns:a16="http://schemas.microsoft.com/office/drawing/2014/main" id="{6FD7AC04-268F-4954-829A-C5CE5AC7BECE}"/>
                </a:ext>
              </a:extLst>
            </p:cNvPr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="" xmlns:a16="http://schemas.microsoft.com/office/drawing/2014/main" id="{87864A92-2A24-4328-A164-9E12EECAE563}"/>
                </a:ext>
              </a:extLst>
            </p:cNvPr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제목 13">
            <a:extLst>
              <a:ext uri="{FF2B5EF4-FFF2-40B4-BE49-F238E27FC236}">
                <a16:creationId xmlns="" xmlns:a16="http://schemas.microsoft.com/office/drawing/2014/main" id="{7EE843EC-B354-4A28-AE05-2BBC63C2A2B5}"/>
              </a:ext>
            </a:extLst>
          </p:cNvPr>
          <p:cNvSpPr txBox="1">
            <a:spLocks/>
          </p:cNvSpPr>
          <p:nvPr/>
        </p:nvSpPr>
        <p:spPr>
          <a:xfrm>
            <a:off x="-3046" y="2435161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실습 </a:t>
            </a:r>
            <a:r>
              <a:rPr lang="en-US" altLang="ko-KR" dirty="0" smtClean="0"/>
              <a:t>3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874690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smtClean="0"/>
              <a:t>주요 </a:t>
            </a:r>
            <a:r>
              <a:rPr lang="ko" altLang="ko-KR" dirty="0"/>
              <a:t>정리</a:t>
            </a:r>
            <a:endParaRPr lang="ko-KR" altLang="en-US" dirty="0"/>
          </a:p>
        </p:txBody>
      </p:sp>
      <p:grpSp>
        <p:nvGrpSpPr>
          <p:cNvPr id="24" name="그룹 23"/>
          <p:cNvGrpSpPr/>
          <p:nvPr/>
        </p:nvGrpSpPr>
        <p:grpSpPr>
          <a:xfrm>
            <a:off x="1609058" y="1920042"/>
            <a:ext cx="8930109" cy="539110"/>
            <a:chOff x="1609058" y="1979275"/>
            <a:chExt cx="8930109" cy="539110"/>
          </a:xfrm>
        </p:grpSpPr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190006" y="2033064"/>
              <a:ext cx="8349161" cy="461665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선형 회귀 모델의 성능을 측정하는 평가 지표로 </a:t>
              </a:r>
              <a:r>
                <a:rPr lang="en-US" altLang="ko-KR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RMSE</a:t>
              </a:r>
              <a:r>
                <a:rPr lang="ko-KR" altLang="en-US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를 사용할 수 있다</a:t>
              </a:r>
              <a:r>
                <a:rPr lang="en-US" altLang="ko-KR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spc="5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609058" y="1979275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7" name="그룹 26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0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1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8" name="TextBox 27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32" name="그룹 31"/>
          <p:cNvGrpSpPr/>
          <p:nvPr/>
        </p:nvGrpSpPr>
        <p:grpSpPr>
          <a:xfrm>
            <a:off x="1609058" y="2935513"/>
            <a:ext cx="8930109" cy="539110"/>
            <a:chOff x="1609058" y="3086858"/>
            <a:chExt cx="8930109" cy="539110"/>
          </a:xfrm>
        </p:grpSpPr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190006" y="3140647"/>
              <a:ext cx="8349161" cy="461665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spc="-4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과분산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선형 회귀 모델에 대해 규제를 적용하면 </a:t>
              </a:r>
              <a:r>
                <a:rPr lang="ko-KR" altLang="en-US" sz="2400" spc="-4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오버피팅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문제를 감소시킬 수 있다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609058" y="3086858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5" name="그룹 34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7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8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39" name="그룹 38"/>
          <p:cNvGrpSpPr/>
          <p:nvPr/>
        </p:nvGrpSpPr>
        <p:grpSpPr>
          <a:xfrm>
            <a:off x="1609058" y="3950984"/>
            <a:ext cx="8930109" cy="830997"/>
            <a:chOff x="1609058" y="4099951"/>
            <a:chExt cx="8930109" cy="830997"/>
          </a:xfrm>
        </p:grpSpPr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190006" y="4099951"/>
              <a:ext cx="8349161" cy="83099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리지 회귀 모델은 규제가 있는 선형 회귀 모델로 가중치 벡터의 </a:t>
              </a:r>
              <a:r>
                <a:rPr lang="ko-KR" altLang="en-US" sz="2400" spc="-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제곱항을</a:t>
              </a:r>
              <a:r>
                <a:rPr lang="ko-KR" altLang="en-US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합한 </a:t>
              </a:r>
              <a:r>
                <a:rPr lang="en-US" altLang="ko-KR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L</a:t>
              </a:r>
              <a:r>
                <a:rPr lang="en-US" altLang="ko-KR" sz="2400" spc="-50" baseline="-250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</a:t>
              </a:r>
              <a:r>
                <a:rPr lang="en-US" altLang="ko-KR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노름을 </a:t>
              </a:r>
              <a:r>
                <a:rPr lang="en-US" altLang="ko-KR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</a:t>
              </a:r>
              <a:r>
                <a:rPr lang="ko-KR" altLang="en-US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로 나눈 값을 적용한다</a:t>
              </a:r>
              <a:r>
                <a:rPr lang="en-US" altLang="ko-KR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spc="-7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609058" y="4230828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2" name="그룹 41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4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5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3" name="TextBox 42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46" name="그룹 45"/>
          <p:cNvGrpSpPr/>
          <p:nvPr/>
        </p:nvGrpSpPr>
        <p:grpSpPr>
          <a:xfrm>
            <a:off x="1609544" y="5258343"/>
            <a:ext cx="8930109" cy="539110"/>
            <a:chOff x="1609058" y="5619923"/>
            <a:chExt cx="8930109" cy="539110"/>
          </a:xfrm>
        </p:grpSpPr>
        <p:sp>
          <p:nvSpPr>
            <p:cNvPr id="47" name="TextBox 46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190006" y="5673712"/>
              <a:ext cx="8349161" cy="461665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라쏘</a:t>
              </a:r>
              <a:r>
                <a:rPr lang="ko-KR" altLang="en-US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회귀 모델은 규제가 있는 선형 회귀 모델로 가중치 벡터의 절대값의 합인 </a:t>
              </a:r>
              <a:r>
                <a:rPr lang="en-US" altLang="ko-KR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L</a:t>
              </a:r>
              <a:r>
                <a:rPr lang="en-US" altLang="ko-KR" sz="2400" baseline="-250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</a:t>
              </a:r>
              <a:r>
                <a:rPr lang="en-US" altLang="ko-KR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노름을 적용한다</a:t>
              </a:r>
              <a:r>
                <a:rPr lang="en-US" altLang="ko-KR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609058" y="561992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9" name="그룹 48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51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52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50" name="TextBox 49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99910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2142</TotalTime>
  <Words>467</Words>
  <Application>Microsoft Office PowerPoint</Application>
  <PresentationFormat>와이드스크린</PresentationFormat>
  <Paragraphs>95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3" baseType="lpstr">
      <vt:lpstr>나눔바른고딕</vt:lpstr>
      <vt:lpstr>Cambria Math</vt:lpstr>
      <vt:lpstr>Impact</vt:lpstr>
      <vt:lpstr>휴먼모음T</vt:lpstr>
      <vt:lpstr>나눔스퀘어 Bold</vt:lpstr>
      <vt:lpstr>스웨거 TTF</vt:lpstr>
      <vt:lpstr>Arial</vt:lpstr>
      <vt:lpstr>맑은 고딕</vt:lpstr>
      <vt:lpstr>1_Office 테마</vt:lpstr>
      <vt:lpstr>PowerPoint 프레젠테이션</vt:lpstr>
      <vt:lpstr>PowerPoint 프레젠테이션</vt:lpstr>
      <vt:lpstr>와인 품질 데이터의 구성</vt:lpstr>
      <vt:lpstr>선형회귀 모델의 적용</vt:lpstr>
      <vt:lpstr>선형회귀 모델의 적용</vt:lpstr>
      <vt:lpstr>선형회귀 모델의 적용</vt:lpstr>
      <vt:lpstr>선형회귀 모델의 적용</vt:lpstr>
      <vt:lpstr>선형회귀 모델의 적용</vt:lpstr>
      <vt:lpstr>선형회귀 모델의 성능측정</vt:lpstr>
      <vt:lpstr>선형회귀 모델의 성능측정</vt:lpstr>
      <vt:lpstr>PowerPoint 프레젠테이션</vt:lpstr>
      <vt:lpstr>규제가 있는 선형 모델</vt:lpstr>
      <vt:lpstr>규제가 있는 선형 모델</vt:lpstr>
      <vt:lpstr>규제가 있는 선형 모델</vt:lpstr>
      <vt:lpstr>리지 회귀 모델</vt:lpstr>
      <vt:lpstr>리지 회귀 모델</vt:lpstr>
      <vt:lpstr>리지 회귀 모델</vt:lpstr>
      <vt:lpstr>리지 회귀 모델</vt:lpstr>
      <vt:lpstr>PowerPoint 프레젠테이션</vt:lpstr>
      <vt:lpstr>라쏘 회귀 모델</vt:lpstr>
      <vt:lpstr>라쏘 회귀 모델</vt:lpstr>
      <vt:lpstr>라쏘 회귀 모델</vt:lpstr>
      <vt:lpstr>PowerPoint 프레젠테이션</vt:lpstr>
      <vt:lpstr>주요 정리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552</cp:revision>
  <dcterms:created xsi:type="dcterms:W3CDTF">2019-01-19T08:23:23Z</dcterms:created>
  <dcterms:modified xsi:type="dcterms:W3CDTF">2020-03-10T06:45:08Z</dcterms:modified>
</cp:coreProperties>
</file>