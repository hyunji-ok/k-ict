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53"/>
  </p:notesMasterIdLst>
  <p:handoutMasterIdLst>
    <p:handoutMasterId r:id="rId54"/>
  </p:handoutMasterIdLst>
  <p:sldIdLst>
    <p:sldId id="314" r:id="rId2"/>
    <p:sldId id="261" r:id="rId3"/>
    <p:sldId id="356" r:id="rId4"/>
    <p:sldId id="267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57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53" r:id="rId41"/>
    <p:sldId id="349" r:id="rId42"/>
    <p:sldId id="350" r:id="rId43"/>
    <p:sldId id="351" r:id="rId44"/>
    <p:sldId id="352" r:id="rId45"/>
    <p:sldId id="354" r:id="rId46"/>
    <p:sldId id="358" r:id="rId47"/>
    <p:sldId id="355" r:id="rId48"/>
    <p:sldId id="359" r:id="rId49"/>
    <p:sldId id="361" r:id="rId50"/>
    <p:sldId id="362" r:id="rId51"/>
    <p:sldId id="364" r:id="rId52"/>
  </p:sldIdLst>
  <p:sldSz cx="12192000" cy="6858000"/>
  <p:notesSz cx="6858000" cy="9144000"/>
  <p:embeddedFontLst>
    <p:embeddedFont>
      <p:font typeface="Impact" panose="020B0806030902050204" pitchFamily="34" charset="0"/>
      <p:regular r:id="rId55"/>
    </p:embeddedFont>
    <p:embeddedFont>
      <p:font typeface="나눔스퀘어 Bold" panose="020B0600000101010101" pitchFamily="50" charset="-127"/>
      <p:bold r:id="rId56"/>
    </p:embeddedFont>
    <p:embeddedFont>
      <p:font typeface="나눔바른고딕" panose="020B0603020101020101" pitchFamily="50" charset="-127"/>
      <p:regular r:id="rId57"/>
      <p:bold r:id="rId58"/>
    </p:embeddedFont>
    <p:embeddedFont>
      <p:font typeface="스웨거 TTF" panose="020B0600000101010101" pitchFamily="50" charset="-127"/>
      <p:regular r:id="rId59"/>
    </p:embeddedFont>
    <p:embeddedFont>
      <p:font typeface="맑은 고딕" panose="020B0503020000020004" pitchFamily="50" charset="-127"/>
      <p:regular r:id="rId60"/>
      <p:bold r:id="rId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AAD9"/>
    <a:srgbClr val="5AA8CF"/>
    <a:srgbClr val="FBFBFB"/>
    <a:srgbClr val="163E94"/>
    <a:srgbClr val="95D5E1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61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2. </a:t>
            </a:r>
            <a:r>
              <a:rPr lang="ko-KR" altLang="en-US" sz="6600" b="1" spc="-30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머신러닝을</a:t>
            </a:r>
            <a:r>
              <a:rPr lang="ko-KR" altLang="en-US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위한 </a:t>
            </a:r>
            <a:r>
              <a:rPr lang="ko-KR" altLang="en-US" sz="6600" b="1" spc="-30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파이썬</a:t>
            </a:r>
            <a:r>
              <a:rPr lang="ko-KR" altLang="en-US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핵심정리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632779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패키지의 주요 기능을 살펴본다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609767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749659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Pandas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패키지의 주요 기능을 살펴본다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730230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51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9906000" y="2609767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753716" y="3746121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30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20" y="1813675"/>
            <a:ext cx="8856308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Numerical Python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파이썬의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 타입인 리스트보다 데이터의 저장 및 처리에 있어 효율적인 </a:t>
            </a: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배열을 제공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선형 대수와 관련된 기능을 제공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파이썬을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기반으로 한 데이터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과학 도구의 핵심 패키지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※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</a:t>
            </a:r>
            <a:r>
              <a:rPr lang="ko-KR" altLang="en-US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사이언스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영역의 대부분의 도구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(Pandas,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Scipy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scikit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-learn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 등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기반</a:t>
            </a:r>
            <a:endParaRPr lang="en-US" altLang="ko-KR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ko-KR" altLang="en-US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617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주요 기능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 smtClean="0"/>
              <a:t>NumPy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패키지와 배열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ndarray</a:t>
            </a:r>
            <a:r>
              <a:rPr lang="en-US" altLang="ko-KR" dirty="0" smtClean="0"/>
              <a:t>)</a:t>
            </a:r>
            <a:r>
              <a:rPr lang="ko-KR" altLang="en-US" dirty="0" smtClean="0"/>
              <a:t> 객체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451" y="2119849"/>
            <a:ext cx="5220944" cy="35069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432878" y="2232836"/>
            <a:ext cx="351234" cy="3508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092954" y="2185826"/>
            <a:ext cx="2258500" cy="39676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import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할 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일반적으로 사용하는 별칭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475726" y="2765351"/>
            <a:ext cx="3316860" cy="31220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Array </a:t>
            </a:r>
            <a:r>
              <a:rPr lang="en-US" altLang="ko-KR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동질의 데이터를 다룰 수 있는 구조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017669" y="3593803"/>
            <a:ext cx="1318796" cy="3508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447772" y="3594689"/>
            <a:ext cx="1148316" cy="31220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타입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209954" y="5017012"/>
            <a:ext cx="1265772" cy="4892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 구조의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array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93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99" y="2119849"/>
            <a:ext cx="5058118" cy="327658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211924" y="2211573"/>
            <a:ext cx="2389815" cy="2780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차원으로 만들고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채움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11924" y="3115340"/>
            <a:ext cx="2389815" cy="2780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차원으로 만들고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채움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211924" y="4423144"/>
            <a:ext cx="2389815" cy="2780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초기값음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임의로 설정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7911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647" y="2119849"/>
            <a:ext cx="4572472" cy="176418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26054" y="3125972"/>
            <a:ext cx="2389815" cy="31397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균등하게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interval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구성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948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46" y="2119849"/>
            <a:ext cx="6174216" cy="393152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790247" y="2211572"/>
            <a:ext cx="2389815" cy="31397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0~1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배열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90247" y="3551274"/>
            <a:ext cx="3321316" cy="31397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설정한 구간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(0~9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내의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배열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90247" y="4738554"/>
            <a:ext cx="3140562" cy="46639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설정한 평균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표준편차 정규분포 확률에 의한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배열 생성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748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 smtClean="0"/>
              <a:t>NumPy</a:t>
            </a:r>
            <a:r>
              <a:rPr lang="en-US" altLang="ko-KR" dirty="0" smtClean="0"/>
              <a:t> </a:t>
            </a:r>
            <a:r>
              <a:rPr lang="ko-KR" altLang="en-US" dirty="0" smtClean="0"/>
              <a:t>배열 객체의 주요 속성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389" y="2119849"/>
            <a:ext cx="6113849" cy="43544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216629" y="2041451"/>
            <a:ext cx="3290046" cy="5316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seed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 주면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재현성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문제 해결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동일한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seed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초기화 하면 동일한 순서의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난수가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생성됨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02090" y="3200398"/>
            <a:ext cx="2094930" cy="103135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Ndim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차원정보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Shape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 원소 구조 정보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Size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원소의 개수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Dtype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타입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707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객체의 </a:t>
            </a:r>
            <a:r>
              <a:rPr lang="ko-KR" altLang="en-US" u="sng" dirty="0" smtClean="0"/>
              <a:t>인덱싱</a:t>
            </a:r>
            <a:endParaRPr lang="ko-KR" altLang="en-US" u="sng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707" y="2119849"/>
            <a:ext cx="4476493" cy="434135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630219" y="1822137"/>
            <a:ext cx="2172999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단일 원소에 접근하는 기법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092954" y="3943596"/>
            <a:ext cx="1537266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맨 마지막 데이터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188687" y="3891516"/>
            <a:ext cx="776177" cy="3497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305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53" y="2119849"/>
            <a:ext cx="4027402" cy="304944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32777" y="2226175"/>
            <a:ext cx="2821586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]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사용해 행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 인덱스 정보 기술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7168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객체의 </a:t>
            </a:r>
            <a:r>
              <a:rPr lang="ko-KR" altLang="en-US" u="sng" dirty="0" err="1" smtClean="0"/>
              <a:t>슬라이싱</a:t>
            </a:r>
            <a:endParaRPr lang="ko-KR" altLang="en-US" u="sng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611" y="2119849"/>
            <a:ext cx="7034685" cy="43576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64136" y="1822136"/>
            <a:ext cx="1967000" cy="49576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부분집합 추출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en-US" altLang="ko-KR" sz="12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start:end:step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형태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247446" y="5649857"/>
            <a:ext cx="2698220" cy="48512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비어있는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슬라이싱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연산자를 활용할 경우 전체집합을 부분집합으로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2768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26" y="2119849"/>
            <a:ext cx="7111056" cy="341711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08051" y="3083442"/>
            <a:ext cx="2625744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step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음수인 경우 거꾸로 출력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678864" y="3083442"/>
            <a:ext cx="340244" cy="3497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7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50" y="2119849"/>
            <a:ext cx="5105142" cy="390142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28620" y="2253020"/>
            <a:ext cx="1312872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 변환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58538" y="2200940"/>
            <a:ext cx="1297173" cy="3497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539023" y="2119849"/>
            <a:ext cx="276447" cy="5063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499274" y="2759413"/>
            <a:ext cx="2432075" cy="46225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-1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정해지지 않음을 의미 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열을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개로 맞춰서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열로 변환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3600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029" y="2119849"/>
            <a:ext cx="4869849" cy="374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63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객체의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88" y="2119849"/>
            <a:ext cx="5044732" cy="26808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76685" y="2949993"/>
            <a:ext cx="3277270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두개의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list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]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안에 담아서 전달해야 함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475766" y="2923953"/>
            <a:ext cx="1297174" cy="3497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6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302" y="2119849"/>
            <a:ext cx="4803304" cy="381620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593374" y="3556049"/>
            <a:ext cx="1337975" cy="29771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배열의 축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방향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62307" y="3487478"/>
            <a:ext cx="786810" cy="3497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90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54" y="2119849"/>
            <a:ext cx="4344559" cy="25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562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객체의 </a:t>
            </a:r>
            <a:r>
              <a:rPr lang="ko-KR" altLang="en-US" dirty="0" smtClean="0"/>
              <a:t>내장 함수 사용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054" y="2119849"/>
            <a:ext cx="5205799" cy="450638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061207" y="1896539"/>
            <a:ext cx="2836437" cy="79349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Python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loop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속도가 느리기 때문에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내장함수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vectorize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function)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사용하는 것을 권장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477819" y="4167676"/>
            <a:ext cx="3417744" cy="31926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np.sum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(array),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array.sum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array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합계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700563" y="5028913"/>
            <a:ext cx="1673979" cy="31926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 방향으로 합계 계산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116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895" y="2119849"/>
            <a:ext cx="4866117" cy="34757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10926" y="2285714"/>
            <a:ext cx="2736822" cy="52128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np.min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(array),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array.min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최소값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np.max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(array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array.max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최대값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074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</a:t>
            </a:r>
            <a:r>
              <a:rPr lang="ko-KR" altLang="en-US" dirty="0" smtClean="0"/>
              <a:t>객체와 </a:t>
            </a:r>
            <a:r>
              <a:rPr lang="ko-KR" altLang="en-US" u="sng" dirty="0" err="1" smtClean="0"/>
              <a:t>브로드캐스팅</a:t>
            </a:r>
            <a:endParaRPr lang="ko-KR" altLang="en-US" u="sng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145" y="2119849"/>
            <a:ext cx="5095618" cy="42833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945112" y="1699565"/>
            <a:ext cx="2313704" cy="30863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행열구조를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동일하게 맞춰주는 것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6634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19849"/>
            <a:ext cx="4875170" cy="300425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245168" y="1702908"/>
            <a:ext cx="1419242" cy="52525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 : 10x3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배열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Xmean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1x3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배열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243364" y="1732113"/>
            <a:ext cx="2494180" cy="49604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서로 다른 크기의 배열 간 연산을 위해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브로드캐스팅으로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구조를 맞춤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200294" y="3762931"/>
            <a:ext cx="2709876" cy="31997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원소에 해당하는 열의 평균을 뺀 결과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717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 smtClean="0"/>
              <a:t>배열 객체의 </a:t>
            </a:r>
            <a:r>
              <a:rPr lang="ko-KR" altLang="en-US" dirty="0" err="1" smtClean="0"/>
              <a:t>부울</a:t>
            </a:r>
            <a:r>
              <a:rPr lang="ko-KR" altLang="en-US" dirty="0" smtClean="0"/>
              <a:t> 배열과 </a:t>
            </a:r>
            <a:r>
              <a:rPr lang="ko-KR" altLang="en-US" dirty="0" err="1" smtClean="0"/>
              <a:t>마스킹</a:t>
            </a:r>
            <a:r>
              <a:rPr lang="ko-KR" altLang="en-US" dirty="0" smtClean="0"/>
              <a:t> 연산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752" y="2119849"/>
            <a:ext cx="4848174" cy="457608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88495" y="4407890"/>
            <a:ext cx="3058861" cy="52525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보다 크고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보다 작은 조건에 대한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부울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(bool)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배열 생성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26576" y="5156450"/>
            <a:ext cx="3420780" cy="72335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보다 크고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보다 작은 조건을 만족하는 원소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(bool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배열이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원소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대해서만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계산  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3861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19" y="2119849"/>
            <a:ext cx="4391669" cy="25379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328865" y="3944340"/>
            <a:ext cx="1959923" cy="3299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조건에 맞는 원소들만 추출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35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</a:t>
            </a:r>
            <a:r>
              <a:rPr lang="ko-KR" altLang="en-US" dirty="0" smtClean="0"/>
              <a:t>객체와 </a:t>
            </a:r>
            <a:r>
              <a:rPr lang="ko-KR" altLang="en-US" u="sng" dirty="0" err="1" smtClean="0"/>
              <a:t>팬시</a:t>
            </a:r>
            <a:r>
              <a:rPr lang="ko-KR" altLang="en-US" u="sng" dirty="0" smtClean="0"/>
              <a:t> 인덱싱</a:t>
            </a:r>
            <a:endParaRPr lang="ko-KR" altLang="en-US" u="sng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91" y="2119849"/>
            <a:ext cx="4581525" cy="351190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913116" y="1678245"/>
            <a:ext cx="1711787" cy="50142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인덱스 배열을 만족하는 부분집합을 추출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96699" y="3875803"/>
            <a:ext cx="1066752" cy="3299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인덱스 배열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96698" y="4471227"/>
            <a:ext cx="1721001" cy="3299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인덱스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(row)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전달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6473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86" y="2119849"/>
            <a:ext cx="3930736" cy="338916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065425" y="4364902"/>
            <a:ext cx="2291518" cy="49417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Reshape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인덱스 배열 구조를 변환해도 결과 동일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0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</a:t>
            </a:r>
            <a:r>
              <a:rPr lang="ko-KR" altLang="en-US" dirty="0" smtClean="0"/>
              <a:t>객체와 복합 인덱싱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457" y="2119849"/>
            <a:ext cx="4324994" cy="441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30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306" y="2119849"/>
            <a:ext cx="3729295" cy="29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89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배열 객체의 </a:t>
            </a:r>
            <a:r>
              <a:rPr lang="ko-KR" altLang="en-US" dirty="0" smtClean="0"/>
              <a:t>정렬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033" y="2119849"/>
            <a:ext cx="4920842" cy="44711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90455" y="3519378"/>
            <a:ext cx="3166280" cy="5209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np.sort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(x) : 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순서대로 정렬한 배열을 반환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(x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원본은 바뀌지 않음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090455" y="5199320"/>
            <a:ext cx="3166280" cy="3522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x.sort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순서대로 정렬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(x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원본이 변경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879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172" y="2119849"/>
            <a:ext cx="5215564" cy="345912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941599" y="3673284"/>
            <a:ext cx="3027038" cy="3522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np.argsort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(x) : 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sort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된 인덱스를 반환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941599" y="4807114"/>
            <a:ext cx="3027038" cy="35224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팬시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인덱싱으로 정렬 가능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0874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Pandas </a:t>
            </a:r>
            <a:r>
              <a:rPr lang="ko-KR" altLang="en-US" dirty="0" smtClean="0"/>
              <a:t>소개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6319" y="1813675"/>
            <a:ext cx="928889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NumPy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기반으로 개발된 패키지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유연한 인덱스를 가진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배열의 구조의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Series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객체와 유연한 행 인덱스와 열 인덱스를 가진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배열의 구조의 </a:t>
            </a: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객체를 제공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강력한 데이터 연산 기능을 제공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객체는 여러 데이터 타입을 사용할 수 있으며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값의 누락 역시 허용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228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Pandas</a:t>
            </a:r>
            <a:r>
              <a:rPr lang="ko-KR" altLang="en-US" dirty="0" smtClean="0"/>
              <a:t>의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smtClean="0"/>
              <a:t>Pandas </a:t>
            </a:r>
            <a:r>
              <a:rPr lang="ko-KR" altLang="en-US" dirty="0" smtClean="0"/>
              <a:t>패키지와 </a:t>
            </a:r>
            <a:r>
              <a:rPr lang="en-US" altLang="ko-KR" dirty="0" smtClean="0"/>
              <a:t>Series </a:t>
            </a:r>
            <a:r>
              <a:rPr lang="ko-KR" altLang="en-US" dirty="0" smtClean="0"/>
              <a:t>객체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393" y="2040797"/>
            <a:ext cx="4781121" cy="467787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517938" y="2126510"/>
            <a:ext cx="351234" cy="3508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225014" y="2078375"/>
            <a:ext cx="2010117" cy="38207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pandas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import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할 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일반적으로 사용하는 별칭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639144" y="2621643"/>
            <a:ext cx="1869297" cy="38207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pd.Series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데이터 구성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033797" y="4497573"/>
            <a:ext cx="3298093" cy="27484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values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numpy.ndarray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타입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02393" y="3098126"/>
            <a:ext cx="351234" cy="10166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053626" y="3098126"/>
            <a:ext cx="624699" cy="10166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913321" y="3606463"/>
            <a:ext cx="680483" cy="212650"/>
          </a:xfrm>
          <a:prstGeom prst="rect">
            <a:avLst/>
          </a:prstGeom>
          <a:solidFill>
            <a:srgbClr val="36A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index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837455" y="3606463"/>
            <a:ext cx="680483" cy="212650"/>
          </a:xfrm>
          <a:prstGeom prst="rect">
            <a:avLst/>
          </a:prstGeom>
          <a:solidFill>
            <a:srgbClr val="36A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value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874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39" y="2119849"/>
            <a:ext cx="4573030" cy="441562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47097" y="1838086"/>
            <a:ext cx="2736355" cy="56352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에서도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기반의 인덱싱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pPr algn="ctr"/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슬라이싱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마스킹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팬시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인덱싱 사용 가능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232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481" y="2119849"/>
            <a:ext cx="5474945" cy="438323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28260" y="2222204"/>
            <a:ext cx="2203218" cy="30168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Series.keys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index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28259" y="3026188"/>
            <a:ext cx="3044333" cy="30168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Series.itmes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index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value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쌍을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349795" y="3830172"/>
            <a:ext cx="2623776" cy="30168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Index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숫자가 아닌 값으로 설정 가능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308988" y="4448461"/>
            <a:ext cx="351234" cy="10166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519916" y="4603898"/>
            <a:ext cx="680483" cy="565550"/>
          </a:xfrm>
          <a:prstGeom prst="rect">
            <a:avLst/>
          </a:prstGeom>
          <a:solidFill>
            <a:srgbClr val="36A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명시적</a:t>
            </a:r>
            <a:r>
              <a:rPr lang="en-US" altLang="ko-KR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index</a:t>
            </a:r>
            <a:endParaRPr lang="en-US" altLang="ko-KR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851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849" y="2119849"/>
            <a:ext cx="4250209" cy="44935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28259" y="2222204"/>
            <a:ext cx="2756234" cy="51036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인덱서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명시적 인덱스에 대해 사용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Iloc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암묵적 인덱스에 대해 사용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smtClean="0"/>
              <a:t>Series </a:t>
            </a:r>
            <a:r>
              <a:rPr lang="ko-KR" altLang="en-US" dirty="0" smtClean="0"/>
              <a:t>객체와 </a:t>
            </a:r>
            <a:r>
              <a:rPr lang="en-US" altLang="ko-KR" dirty="0" err="1" smtClean="0"/>
              <a:t>loc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인덱서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iloc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인덱서의</a:t>
            </a:r>
            <a:r>
              <a:rPr lang="ko-KR" altLang="en-US" dirty="0" smtClean="0"/>
              <a:t> 활용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029157" y="3094075"/>
            <a:ext cx="1286288" cy="21267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“a”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“c”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9526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89" y="2119849"/>
            <a:ext cx="4191129" cy="359365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371598" y="2998381"/>
            <a:ext cx="4335388" cy="69111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0~2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→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“a”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“c”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슬라이싱의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경우 암묵적 인덱스 활용 시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end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인덱스는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미포함됨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iloc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차이에 주의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9461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smtClean="0"/>
              <a:t>Pandas</a:t>
            </a:r>
            <a:r>
              <a:rPr lang="ko-KR" altLang="en-US" dirty="0" smtClean="0"/>
              <a:t> 패키지와 </a:t>
            </a:r>
            <a:r>
              <a:rPr lang="en-US" altLang="ko-KR" dirty="0" err="1" smtClean="0"/>
              <a:t>DataFrame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734" y="2119849"/>
            <a:ext cx="7576440" cy="467636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179134" y="1928463"/>
            <a:ext cx="3006608" cy="49576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인덱스와 열 이름으로 구성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다양한 타입의 데이터를 사용 가능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11052" y="3093722"/>
            <a:ext cx="3625055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values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numpy.ndarray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타입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837275" y="4458032"/>
            <a:ext cx="2717496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column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이름을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key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접근하는 방법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837275" y="5627124"/>
            <a:ext cx="2717496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column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이름을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key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접근하는 방법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991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 smtClean="0"/>
              <a:t>DataFrame</a:t>
            </a:r>
            <a:r>
              <a:rPr lang="en-US" altLang="ko-KR" dirty="0" smtClean="0"/>
              <a:t> </a:t>
            </a:r>
            <a:r>
              <a:rPr lang="ko-KR" altLang="en-US" dirty="0"/>
              <a:t>객체와 </a:t>
            </a:r>
            <a:r>
              <a:rPr lang="en-US" altLang="ko-KR" dirty="0" err="1"/>
              <a:t>loc</a:t>
            </a:r>
            <a:r>
              <a:rPr lang="en-US" altLang="ko-KR" dirty="0"/>
              <a:t> </a:t>
            </a:r>
            <a:r>
              <a:rPr lang="ko-KR" altLang="en-US" dirty="0" err="1"/>
              <a:t>인덱서</a:t>
            </a:r>
            <a:r>
              <a:rPr lang="en-US" altLang="ko-KR" dirty="0"/>
              <a:t>, </a:t>
            </a:r>
            <a:r>
              <a:rPr lang="en-US" altLang="ko-KR" dirty="0" err="1"/>
              <a:t>iloc</a:t>
            </a:r>
            <a:r>
              <a:rPr lang="en-US" altLang="ko-KR" dirty="0"/>
              <a:t> </a:t>
            </a:r>
            <a:r>
              <a:rPr lang="ko-KR" altLang="en-US" dirty="0" err="1"/>
              <a:t>인덱서의</a:t>
            </a:r>
            <a:r>
              <a:rPr lang="ko-KR" altLang="en-US" dirty="0"/>
              <a:t> 활용</a:t>
            </a:r>
          </a:p>
          <a:p>
            <a:pPr marL="114300" lvl="0">
              <a:spcBef>
                <a:spcPts val="0"/>
              </a:spcBef>
              <a:buSzPts val="1800"/>
            </a:pPr>
            <a:endParaRPr lang="ko-KR" altLang="en-US" dirty="0"/>
          </a:p>
          <a:p>
            <a:pPr marL="114300" lvl="0">
              <a:spcBef>
                <a:spcPts val="0"/>
              </a:spcBef>
              <a:buSzPts val="1800"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065" y="2119849"/>
            <a:ext cx="4715777" cy="416252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10870" y="2253750"/>
            <a:ext cx="1679943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262038" y="3529657"/>
            <a:ext cx="2028776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40077" y="2215623"/>
            <a:ext cx="231653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69712" y="3534060"/>
            <a:ext cx="382772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262038" y="4992628"/>
            <a:ext cx="2028776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901609" y="4978679"/>
            <a:ext cx="308344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63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951" y="2119849"/>
            <a:ext cx="6278005" cy="352372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06430" y="2226256"/>
            <a:ext cx="316714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423144" y="2647589"/>
            <a:ext cx="2100111" cy="2870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oc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0,1,2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반환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7923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33901"/>
          <a:stretch/>
        </p:blipFill>
        <p:spPr>
          <a:xfrm>
            <a:off x="3511764" y="2119849"/>
            <a:ext cx="5162379" cy="40502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042898" y="2583794"/>
            <a:ext cx="1783787" cy="45711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iloc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에서는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1,2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반환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(end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인덱스 미포함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965405" y="2226256"/>
            <a:ext cx="404037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75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6905"/>
          <a:stretch/>
        </p:blipFill>
        <p:spPr>
          <a:xfrm>
            <a:off x="3511764" y="2119849"/>
            <a:ext cx="5162379" cy="20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557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 smtClean="0"/>
              <a:t>DataFrame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객체의 열 추가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32" y="2119849"/>
            <a:ext cx="5334644" cy="40946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522981" y="3938595"/>
            <a:ext cx="1283474" cy="228559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새로운 열 추가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12782" y="4124208"/>
            <a:ext cx="1020725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28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305" y="2119849"/>
            <a:ext cx="5305297" cy="3887134"/>
          </a:xfrm>
          <a:prstGeom prst="rect">
            <a:avLst/>
          </a:prstGeom>
        </p:spPr>
      </p:pic>
      <p:sp>
        <p:nvSpPr>
          <p:cNvPr id="5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en-US" altLang="ko-KR" dirty="0" err="1" smtClean="0"/>
              <a:t>DataFrame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객체의 행과 열 제거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828088" y="2226753"/>
            <a:ext cx="773112" cy="27189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 제거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828088" y="4427693"/>
            <a:ext cx="773112" cy="27189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제거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544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ko-KR" altLang="en-US" dirty="0" smtClean="0"/>
              <a:t>널 값  연산</a:t>
            </a:r>
            <a:endParaRPr lang="ko-KR" altLang="en-US" dirty="0"/>
          </a:p>
          <a:p>
            <a:pPr marL="114300" lvl="0">
              <a:spcBef>
                <a:spcPts val="0"/>
              </a:spcBef>
              <a:buSzPts val="1800"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390" y="2119849"/>
            <a:ext cx="4585730" cy="458573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910623" y="2296633"/>
            <a:ext cx="2647507" cy="46783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np.nan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널 값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존재하지 않는 값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(nan : not a numbe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230141" y="5295013"/>
            <a:ext cx="3327990" cy="27644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df.dropna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값이 존재하는 행 또는 열 제거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93220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676" y="2119849"/>
            <a:ext cx="4188555" cy="23643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53423" y="2307265"/>
            <a:ext cx="3104707" cy="27644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df.fillna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(value) :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 특정 값으로 대체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791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ko-KR" altLang="en-US" dirty="0" smtClean="0"/>
              <a:t>조인</a:t>
            </a:r>
            <a:endParaRPr lang="ko-KR" altLang="en-US" dirty="0"/>
          </a:p>
          <a:p>
            <a:pPr marL="114300" lvl="0">
              <a:spcBef>
                <a:spcPts val="0"/>
              </a:spcBef>
              <a:buSzPts val="1800"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644" y="2119849"/>
            <a:ext cx="8234620" cy="360431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061596" y="4242390"/>
            <a:ext cx="3391288" cy="49973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pd.merge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동일한 값을 가진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colum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left_on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right_on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기준으로 연결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474689" y="3358664"/>
            <a:ext cx="2285999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857419" y="3750668"/>
            <a:ext cx="2009055" cy="29246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중복되는 열을 제거하기 위함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294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03" y="2119849"/>
            <a:ext cx="9157901" cy="28910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63657" y="2650953"/>
            <a:ext cx="3179134" cy="45375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outer join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키워드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(Join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안된 행을 누락시키지 않도록 할 때 사용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700132" y="2218988"/>
            <a:ext cx="1127050" cy="3328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594884" y="4579416"/>
            <a:ext cx="2519915" cy="3328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27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4506" t="35430" r="25262" b="29472"/>
          <a:stretch/>
        </p:blipFill>
        <p:spPr>
          <a:xfrm>
            <a:off x="1583082" y="2385401"/>
            <a:ext cx="8933688" cy="338115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ko-KR" altLang="en-US" dirty="0" smtClean="0"/>
              <a:t>정렬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3190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263657" y="2650953"/>
            <a:ext cx="3179134" cy="453754"/>
          </a:xfrm>
          <a:prstGeom prst="rect">
            <a:avLst/>
          </a:prstGeom>
          <a:solidFill>
            <a:srgbClr val="37AADA"/>
          </a:solidFill>
          <a:ln w="2540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outer join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키워드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(Join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안된 행을 누락시키지 않도록 할 때 사용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3546" t="34141" r="24390" b="32531"/>
          <a:stretch/>
        </p:blipFill>
        <p:spPr>
          <a:xfrm>
            <a:off x="1679946" y="2234600"/>
            <a:ext cx="8729328" cy="302675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346789" y="2143673"/>
            <a:ext cx="2778642" cy="2537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운임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내림차순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성별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오름차순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정렬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ko-KR" altLang="en-US" dirty="0" smtClean="0"/>
              <a:t>정렬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8304029" y="2493490"/>
            <a:ext cx="765544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420988" y="1889902"/>
            <a:ext cx="2955849" cy="50754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head() :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데이터프레임의 앞부분 일부만 발췌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tail() : </a:t>
            </a:r>
            <a:r>
              <a:rPr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데이터프레임의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끝부분 일부만 발췌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9255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ko-KR" altLang="en-US" dirty="0" smtClean="0"/>
              <a:t>그룹 연산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4855" t="35268" r="25436" b="18363"/>
          <a:stretch/>
        </p:blipFill>
        <p:spPr>
          <a:xfrm>
            <a:off x="2188537" y="2264737"/>
            <a:ext cx="7744042" cy="391278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154323" y="2094689"/>
            <a:ext cx="1417676" cy="25928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그룹화할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컬럼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지정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49256" y="2408430"/>
            <a:ext cx="1222743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642882" y="2094689"/>
            <a:ext cx="1417676" cy="25928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 연산할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컬럼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571999" y="2408430"/>
            <a:ext cx="1137685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709684" y="2408430"/>
            <a:ext cx="1552353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131441" y="2094689"/>
            <a:ext cx="1279452" cy="25928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 연산 방법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251404" y="3961842"/>
            <a:ext cx="2902689" cy="25928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apply()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함수를 이용해 결과값을 가공처리 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761768" y="4364821"/>
            <a:ext cx="1881962" cy="314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412124" y="4788659"/>
            <a:ext cx="1520455" cy="25928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평균을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표준화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2886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7558" t="35590" r="28227" b="19007"/>
          <a:stretch/>
        </p:blipFill>
        <p:spPr>
          <a:xfrm>
            <a:off x="2289392" y="2224331"/>
            <a:ext cx="7531700" cy="41892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기능</a:t>
            </a:r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>
              <a:spcBef>
                <a:spcPts val="0"/>
              </a:spcBef>
              <a:buSzPts val="1800"/>
            </a:pP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 smtClean="0"/>
              <a:t>객체와 피벗 테이블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8796669" y="2810836"/>
            <a:ext cx="1672857" cy="39333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DataFrame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반환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644270" y="2353974"/>
            <a:ext cx="988828" cy="32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932966" y="2353974"/>
            <a:ext cx="1084521" cy="32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932966" y="2810836"/>
            <a:ext cx="1672857" cy="39333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] 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반환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09282" y="3619248"/>
            <a:ext cx="645041" cy="6231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3338622" y="2923953"/>
            <a:ext cx="2158411" cy="34024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72139" y="3135578"/>
            <a:ext cx="2289392" cy="257233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Series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index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</a:t>
            </a:r>
            <a:r>
              <a:rPr lang="ko-KR" altLang="en-US" sz="12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컬럼으로</a:t>
            </a:r>
            <a:r>
              <a:rPr lang="ko-KR" altLang="en-US" sz="12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변환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583867" y="4529471"/>
            <a:ext cx="1672857" cy="25215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피벗테이블 생성</a:t>
            </a:r>
            <a:endParaRPr lang="en-US" altLang="ko-KR" sz="12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569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58" name="그룹 57"/>
          <p:cNvGrpSpPr/>
          <p:nvPr/>
        </p:nvGrpSpPr>
        <p:grpSpPr>
          <a:xfrm>
            <a:off x="1609058" y="1557557"/>
            <a:ext cx="8930109" cy="954107"/>
            <a:chOff x="1609058" y="1786843"/>
            <a:chExt cx="8930109" cy="95410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1786843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spc="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패키지의 </a:t>
              </a:r>
              <a:r>
                <a:rPr lang="en-US" altLang="ko-KR" sz="2800" spc="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ndarray</a:t>
              </a:r>
              <a:r>
                <a:rPr lang="en-US" altLang="ko-KR" sz="28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객체는 배열 기반의 데이터에 효율적인 저장소 뿐만 아니라 효율적인 연산을 제공한다</a:t>
              </a:r>
              <a:r>
                <a:rPr lang="en-US" altLang="ko-KR" sz="28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spc="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5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6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7" name="그룹 56"/>
          <p:cNvGrpSpPr/>
          <p:nvPr/>
        </p:nvGrpSpPr>
        <p:grpSpPr>
          <a:xfrm>
            <a:off x="1609058" y="2585542"/>
            <a:ext cx="8930109" cy="1384995"/>
            <a:chOff x="1609058" y="2678982"/>
            <a:chExt cx="8930109" cy="138499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2678982"/>
              <a:ext cx="8349161" cy="138499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배열 객체는 단일 요소에 접근하는 인덱싱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하위 배열에 접근하는 </a:t>
              </a:r>
              <a:r>
                <a:rPr lang="ko-KR" altLang="en-US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슬라이싱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부울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배열을 이용한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마스킹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연산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인덱스 배열을 이용한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팬시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인덱싱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이 모든 기능을 결합해 사용하는 복합 인덱스 기능을 제공한다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6" name="그룹 55"/>
          <p:cNvGrpSpPr/>
          <p:nvPr/>
        </p:nvGrpSpPr>
        <p:grpSpPr>
          <a:xfrm>
            <a:off x="1609058" y="4018195"/>
            <a:ext cx="8930109" cy="546231"/>
            <a:chOff x="1609058" y="4230828"/>
            <a:chExt cx="8930109" cy="54623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4253839"/>
              <a:ext cx="8349161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NumPy</a:t>
              </a:r>
              <a:r>
                <a:rPr lang="en-US" altLang="ko-KR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배열은 유니버설 함수와 </a:t>
              </a:r>
              <a:r>
                <a:rPr lang="ko-KR" altLang="en-US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브로드캐스팅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기능을 이용해 벡터화 연산을 지원한다</a:t>
              </a:r>
              <a:r>
                <a:rPr lang="en-US" altLang="ko-KR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7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8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5" name="그룹 54"/>
          <p:cNvGrpSpPr/>
          <p:nvPr/>
        </p:nvGrpSpPr>
        <p:grpSpPr>
          <a:xfrm>
            <a:off x="1609058" y="4638685"/>
            <a:ext cx="8930109" cy="954107"/>
            <a:chOff x="1609058" y="5427491"/>
            <a:chExt cx="8930109" cy="95410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427491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Pandas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패키지는 유연한 인덱스를 가진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차원 배열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Series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와 유연한 행 인덱스와 열 이름을 가진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차원 배열 </a:t>
              </a: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DataFrame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객체를 제공한다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9" name="그룹 58"/>
          <p:cNvGrpSpPr/>
          <p:nvPr/>
        </p:nvGrpSpPr>
        <p:grpSpPr>
          <a:xfrm>
            <a:off x="1609058" y="5684822"/>
            <a:ext cx="8930109" cy="954107"/>
            <a:chOff x="1609058" y="5427491"/>
            <a:chExt cx="8930109" cy="95410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427491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DataFrame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은 인덱싱 연산에 </a:t>
              </a:r>
              <a:r>
                <a:rPr lang="en-US" altLang="ko-KR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loc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en-US" altLang="ko-KR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iloc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인덱서를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제공하며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널 값 연산 기능과 조인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그룹화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피봇</a:t>
              </a:r>
              <a:r>
                <a:rPr lang="ko-KR" altLang="en-US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기능을 지원한다</a:t>
              </a:r>
              <a:r>
                <a:rPr lang="en-US" altLang="ko-KR" sz="28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spc="-4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64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65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06292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2389</TotalTime>
  <Words>1189</Words>
  <Application>Microsoft Office PowerPoint</Application>
  <PresentationFormat>와이드스크린</PresentationFormat>
  <Paragraphs>202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Impact</vt:lpstr>
      <vt:lpstr>나눔스퀘어 Bold</vt:lpstr>
      <vt:lpstr>나눔바른고딕</vt:lpstr>
      <vt:lpstr>Arial</vt:lpstr>
      <vt:lpstr>스웨거 TTF</vt:lpstr>
      <vt:lpstr>맑은 고딕</vt:lpstr>
      <vt:lpstr>1_Office 테마</vt:lpstr>
      <vt:lpstr>PowerPoint 프레젠테이션</vt:lpstr>
      <vt:lpstr>PowerPoint 프레젠테이션</vt:lpstr>
      <vt:lpstr>NumPy 소개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NumPy의 주요 기능</vt:lpstr>
      <vt:lpstr>Pandas 소개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Pandas의 주요 기능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596</cp:revision>
  <dcterms:created xsi:type="dcterms:W3CDTF">2019-01-19T08:23:23Z</dcterms:created>
  <dcterms:modified xsi:type="dcterms:W3CDTF">2020-03-10T06:33:57Z</dcterms:modified>
</cp:coreProperties>
</file>