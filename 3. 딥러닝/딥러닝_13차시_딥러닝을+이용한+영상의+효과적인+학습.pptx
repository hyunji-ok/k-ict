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4"/>
  </p:notesMasterIdLst>
  <p:handoutMasterIdLst>
    <p:handoutMasterId r:id="rId25"/>
  </p:handoutMasterIdLst>
  <p:sldIdLst>
    <p:sldId id="314" r:id="rId2"/>
    <p:sldId id="261" r:id="rId3"/>
    <p:sldId id="354" r:id="rId4"/>
    <p:sldId id="355" r:id="rId5"/>
    <p:sldId id="356" r:id="rId6"/>
    <p:sldId id="357" r:id="rId7"/>
    <p:sldId id="430" r:id="rId8"/>
    <p:sldId id="409" r:id="rId9"/>
    <p:sldId id="439" r:id="rId10"/>
    <p:sldId id="424" r:id="rId11"/>
    <p:sldId id="431" r:id="rId12"/>
    <p:sldId id="410" r:id="rId13"/>
    <p:sldId id="425" r:id="rId14"/>
    <p:sldId id="440" r:id="rId15"/>
    <p:sldId id="426" r:id="rId16"/>
    <p:sldId id="411" r:id="rId17"/>
    <p:sldId id="441" r:id="rId18"/>
    <p:sldId id="442" r:id="rId19"/>
    <p:sldId id="443" r:id="rId20"/>
    <p:sldId id="444" r:id="rId21"/>
    <p:sldId id="445" r:id="rId22"/>
    <p:sldId id="404" r:id="rId23"/>
  </p:sldIdLst>
  <p:sldSz cx="12192000" cy="6858000"/>
  <p:notesSz cx="6858000" cy="9144000"/>
  <p:embeddedFontLst>
    <p:embeddedFont>
      <p:font typeface="나눔바른고딕" panose="020B0603020101020101" pitchFamily="50" charset="-127"/>
      <p:regular r:id="rId26"/>
      <p:bold r:id="rId27"/>
    </p:embeddedFont>
    <p:embeddedFont>
      <p:font typeface="Cambria Math" panose="02040503050406030204" pitchFamily="18" charset="0"/>
      <p:regular r:id="rId28"/>
    </p:embeddedFont>
    <p:embeddedFont>
      <p:font typeface="Impact" panose="020B0806030902050204" pitchFamily="34" charset="0"/>
      <p:regular r:id="rId29"/>
    </p:embeddedFont>
    <p:embeddedFont>
      <p:font typeface="나눔스퀘어 Bold" panose="020B0600000101010101" pitchFamily="50" charset="-127"/>
      <p:bold r:id="rId30"/>
    </p:embeddedFont>
    <p:embeddedFont>
      <p:font typeface="휴먼모음T" panose="02030504000101010101" pitchFamily="18" charset="-127"/>
      <p:regular r:id="rId31"/>
    </p:embeddedFont>
    <p:embeddedFont>
      <p:font typeface="스웨거 TTF" panose="020B0600000101010101" pitchFamily="50" charset="-127"/>
      <p:regular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13.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딥러닝을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이용한 영상의 효과적인 학습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미니 배치 기반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경사하강법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과적합의 문제점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8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드롭아웃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4" y="373608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14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다양성 역설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22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학습데이터와 </a:t>
            </a:r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영상처럼 학습 데이터 차원이 크고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 구조가 많은 경우 효율적 학습 방법 필요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데이터가 아닌 부분 데이터를 사용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가중치 업데이트 과정에서 전체 데이터를 사용할 필요는 없음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</p:txBody>
      </p:sp>
      <p:grpSp>
        <p:nvGrpSpPr>
          <p:cNvPr id="121" name="그룹 120"/>
          <p:cNvGrpSpPr/>
          <p:nvPr/>
        </p:nvGrpSpPr>
        <p:grpSpPr>
          <a:xfrm>
            <a:off x="1772273" y="3113760"/>
            <a:ext cx="8542980" cy="2441705"/>
            <a:chOff x="395536" y="2432755"/>
            <a:chExt cx="8542980" cy="2441705"/>
          </a:xfrm>
        </p:grpSpPr>
        <p:cxnSp>
          <p:nvCxnSpPr>
            <p:cNvPr id="122" name="직선 화살표 연결선 121"/>
            <p:cNvCxnSpPr>
              <a:cxnSpLocks/>
            </p:cNvCxnSpPr>
            <p:nvPr/>
          </p:nvCxnSpPr>
          <p:spPr bwMode="auto">
            <a:xfrm flipH="1">
              <a:off x="3492857" y="3153208"/>
              <a:ext cx="1655207" cy="6968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123" name="TextBox 122"/>
            <p:cNvSpPr txBox="1"/>
            <p:nvPr/>
          </p:nvSpPr>
          <p:spPr>
            <a:xfrm>
              <a:off x="5220071" y="2878438"/>
              <a:ext cx="3718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어느 정도의 학습 데이터를 사용할까</a:t>
              </a: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?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="" xmlns:a16="http://schemas.microsoft.com/office/drawing/2014/main" id="{A7ECAAD3-B329-43F3-8FCC-7771A6D2D268}"/>
                    </a:ext>
                  </a:extLst>
                </p:cNvPr>
                <p:cNvSpPr txBox="1"/>
                <p:nvPr/>
              </p:nvSpPr>
              <p:spPr>
                <a:xfrm>
                  <a:off x="1204412" y="2432755"/>
                  <a:ext cx="3447459" cy="14409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𝑐𝑜𝑠𝑡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ko-KR" sz="2400" dirty="0"/>
                </a:p>
                <a:p>
                  <a:endParaRPr lang="en-US" altLang="ko-KR" sz="2400" dirty="0"/>
                </a:p>
                <a:p>
                  <a:endParaRPr lang="en-US" altLang="ko-KR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7ECAAD3-B329-43F3-8FCC-7771A6D2D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412" y="2432755"/>
                  <a:ext cx="3447459" cy="14409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="" xmlns:a16="http://schemas.microsoft.com/office/drawing/2014/main" id="{64D0B7FF-55A2-437A-B8BB-07CA231A1B67}"/>
                    </a:ext>
                  </a:extLst>
                </p:cNvPr>
                <p:cNvSpPr txBox="1"/>
                <p:nvPr/>
              </p:nvSpPr>
              <p:spPr>
                <a:xfrm>
                  <a:off x="395536" y="3866235"/>
                  <a:ext cx="5832647" cy="1008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2400" b="0" i="0" dirty="0" smtClean="0"/>
                          <m:t>w</m:t>
                        </m:r>
                        <m:r>
                          <m:rPr>
                            <m:nor/>
                          </m:rPr>
                          <a:rPr lang="en-US" altLang="ko-KR" sz="2400" dirty="0" smtClean="0"/>
                          <m:t>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4D0B7FF-55A2-437A-B8BB-07CA231A1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36" y="3866235"/>
                  <a:ext cx="5832647" cy="10082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미니배치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480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풀 배치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(Full-batch) 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학습 데이터를 사용해 가중치 업데이트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확률적 경사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하강법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데이터를 분할해서 가중치 업데이트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098955" y="2679225"/>
            <a:ext cx="7643866" cy="4042250"/>
            <a:chOff x="2335260" y="2520341"/>
            <a:chExt cx="7643866" cy="4357023"/>
          </a:xfrm>
        </p:grpSpPr>
        <p:grpSp>
          <p:nvGrpSpPr>
            <p:cNvPr id="10" name="그룹 74"/>
            <p:cNvGrpSpPr/>
            <p:nvPr/>
          </p:nvGrpSpPr>
          <p:grpSpPr>
            <a:xfrm>
              <a:off x="2335260" y="2520341"/>
              <a:ext cx="7643866" cy="4201134"/>
              <a:chOff x="714348" y="1371006"/>
              <a:chExt cx="7643866" cy="4201134"/>
            </a:xfrm>
          </p:grpSpPr>
          <p:sp>
            <p:nvSpPr>
              <p:cNvPr id="11" name="직사각형 10"/>
              <p:cNvSpPr/>
              <p:nvPr/>
            </p:nvSpPr>
            <p:spPr bwMode="auto">
              <a:xfrm>
                <a:off x="2214546" y="2428868"/>
                <a:ext cx="785818" cy="28575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grpSp>
            <p:nvGrpSpPr>
              <p:cNvPr id="12" name="그룹 22"/>
              <p:cNvGrpSpPr/>
              <p:nvPr/>
            </p:nvGrpSpPr>
            <p:grpSpPr>
              <a:xfrm>
                <a:off x="5715008" y="2071678"/>
                <a:ext cx="785818" cy="3500462"/>
                <a:chOff x="3500430" y="2071678"/>
                <a:chExt cx="785818" cy="3500462"/>
              </a:xfrm>
            </p:grpSpPr>
            <p:sp>
              <p:nvSpPr>
                <p:cNvPr id="43" name="직사각형 42"/>
                <p:cNvSpPr/>
                <p:nvPr/>
              </p:nvSpPr>
              <p:spPr bwMode="auto">
                <a:xfrm>
                  <a:off x="3500430" y="2071678"/>
                  <a:ext cx="785818" cy="64294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직사각형 43"/>
                <p:cNvSpPr/>
                <p:nvPr/>
              </p:nvSpPr>
              <p:spPr bwMode="auto">
                <a:xfrm>
                  <a:off x="3500430" y="2786058"/>
                  <a:ext cx="785818" cy="64294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5" name="직사각형 44"/>
                <p:cNvSpPr/>
                <p:nvPr/>
              </p:nvSpPr>
              <p:spPr bwMode="auto">
                <a:xfrm>
                  <a:off x="3500430" y="3500438"/>
                  <a:ext cx="785818" cy="64294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6" name="직사각형 45"/>
                <p:cNvSpPr/>
                <p:nvPr/>
              </p:nvSpPr>
              <p:spPr bwMode="auto">
                <a:xfrm>
                  <a:off x="3500430" y="4214818"/>
                  <a:ext cx="785818" cy="64294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7" name="직사각형 46"/>
                <p:cNvSpPr/>
                <p:nvPr/>
              </p:nvSpPr>
              <p:spPr bwMode="auto">
                <a:xfrm>
                  <a:off x="3500430" y="4929198"/>
                  <a:ext cx="785818" cy="64294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grpSp>
            <p:nvGrpSpPr>
              <p:cNvPr id="13" name="그룹 32"/>
              <p:cNvGrpSpPr/>
              <p:nvPr/>
            </p:nvGrpSpPr>
            <p:grpSpPr>
              <a:xfrm>
                <a:off x="1643042" y="2428868"/>
                <a:ext cx="571504" cy="2858314"/>
                <a:chOff x="1214414" y="2428868"/>
                <a:chExt cx="571504" cy="2858314"/>
              </a:xfrm>
            </p:grpSpPr>
            <p:cxnSp>
              <p:nvCxnSpPr>
                <p:cNvPr id="40" name="직선 연결선 39"/>
                <p:cNvCxnSpPr/>
                <p:nvPr/>
              </p:nvCxnSpPr>
              <p:spPr bwMode="auto">
                <a:xfrm>
                  <a:off x="1214414" y="2428868"/>
                  <a:ext cx="571504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1" name="직선 연결선 40"/>
                <p:cNvCxnSpPr/>
                <p:nvPr/>
              </p:nvCxnSpPr>
              <p:spPr bwMode="auto">
                <a:xfrm>
                  <a:off x="1214414" y="5284800"/>
                  <a:ext cx="571504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2" name="직선 연결선 41"/>
                <p:cNvCxnSpPr/>
                <p:nvPr/>
              </p:nvCxnSpPr>
              <p:spPr bwMode="auto">
                <a:xfrm rot="5400000">
                  <a:off x="71406" y="3857628"/>
                  <a:ext cx="2857520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4" name="TextBox 13"/>
              <p:cNvSpPr txBox="1"/>
              <p:nvPr/>
            </p:nvSpPr>
            <p:spPr>
              <a:xfrm>
                <a:off x="714348" y="3500438"/>
                <a:ext cx="1571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8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full-batch</a:t>
                </a:r>
                <a:endPara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grpSp>
            <p:nvGrpSpPr>
              <p:cNvPr id="15" name="그룹 42"/>
              <p:cNvGrpSpPr/>
              <p:nvPr/>
            </p:nvGrpSpPr>
            <p:grpSpPr>
              <a:xfrm>
                <a:off x="6500826" y="3500438"/>
                <a:ext cx="357190" cy="642942"/>
                <a:chOff x="1214414" y="2428868"/>
                <a:chExt cx="357190" cy="2858308"/>
              </a:xfrm>
            </p:grpSpPr>
            <p:cxnSp>
              <p:nvCxnSpPr>
                <p:cNvPr id="37" name="직선 연결선 36"/>
                <p:cNvCxnSpPr/>
                <p:nvPr/>
              </p:nvCxnSpPr>
              <p:spPr bwMode="auto">
                <a:xfrm>
                  <a:off x="1214414" y="2428868"/>
                  <a:ext cx="357190" cy="706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직선 연결선 37"/>
                <p:cNvCxnSpPr/>
                <p:nvPr/>
              </p:nvCxnSpPr>
              <p:spPr bwMode="auto">
                <a:xfrm>
                  <a:off x="1214414" y="5284793"/>
                  <a:ext cx="357190" cy="238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9" name="직선 연결선 38"/>
                <p:cNvCxnSpPr/>
                <p:nvPr/>
              </p:nvCxnSpPr>
              <p:spPr bwMode="auto">
                <a:xfrm rot="5400000">
                  <a:off x="-823" y="3857624"/>
                  <a:ext cx="2857512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6" name="그룹 50"/>
              <p:cNvGrpSpPr/>
              <p:nvPr/>
            </p:nvGrpSpPr>
            <p:grpSpPr>
              <a:xfrm>
                <a:off x="6500826" y="2786058"/>
                <a:ext cx="357190" cy="642942"/>
                <a:chOff x="1214414" y="2428868"/>
                <a:chExt cx="357190" cy="2858308"/>
              </a:xfrm>
            </p:grpSpPr>
            <p:cxnSp>
              <p:nvCxnSpPr>
                <p:cNvPr id="34" name="직선 연결선 33"/>
                <p:cNvCxnSpPr/>
                <p:nvPr/>
              </p:nvCxnSpPr>
              <p:spPr bwMode="auto">
                <a:xfrm>
                  <a:off x="1214414" y="2428868"/>
                  <a:ext cx="357190" cy="706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직선 연결선 34"/>
                <p:cNvCxnSpPr/>
                <p:nvPr/>
              </p:nvCxnSpPr>
              <p:spPr bwMode="auto">
                <a:xfrm>
                  <a:off x="1214414" y="5284793"/>
                  <a:ext cx="357190" cy="238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6" name="직선 연결선 35"/>
                <p:cNvCxnSpPr/>
                <p:nvPr/>
              </p:nvCxnSpPr>
              <p:spPr bwMode="auto">
                <a:xfrm rot="5400000">
                  <a:off x="-823" y="3857624"/>
                  <a:ext cx="2857512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" name="그룹 54"/>
              <p:cNvGrpSpPr/>
              <p:nvPr/>
            </p:nvGrpSpPr>
            <p:grpSpPr>
              <a:xfrm>
                <a:off x="6500826" y="2071678"/>
                <a:ext cx="357190" cy="642942"/>
                <a:chOff x="1214414" y="2428868"/>
                <a:chExt cx="357190" cy="2858308"/>
              </a:xfrm>
            </p:grpSpPr>
            <p:cxnSp>
              <p:nvCxnSpPr>
                <p:cNvPr id="31" name="직선 연결선 30"/>
                <p:cNvCxnSpPr/>
                <p:nvPr/>
              </p:nvCxnSpPr>
              <p:spPr bwMode="auto">
                <a:xfrm>
                  <a:off x="1214414" y="2428868"/>
                  <a:ext cx="357190" cy="706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/>
                <p:cNvCxnSpPr/>
                <p:nvPr/>
              </p:nvCxnSpPr>
              <p:spPr bwMode="auto">
                <a:xfrm>
                  <a:off x="1214414" y="5284793"/>
                  <a:ext cx="357190" cy="238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" name="직선 연결선 32"/>
                <p:cNvCxnSpPr/>
                <p:nvPr/>
              </p:nvCxnSpPr>
              <p:spPr bwMode="auto">
                <a:xfrm rot="5400000">
                  <a:off x="-823" y="3857624"/>
                  <a:ext cx="2857512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8" name="그룹 58"/>
              <p:cNvGrpSpPr/>
              <p:nvPr/>
            </p:nvGrpSpPr>
            <p:grpSpPr>
              <a:xfrm>
                <a:off x="6500826" y="4214818"/>
                <a:ext cx="357190" cy="642942"/>
                <a:chOff x="1214414" y="2428868"/>
                <a:chExt cx="357190" cy="2858308"/>
              </a:xfrm>
            </p:grpSpPr>
            <p:cxnSp>
              <p:nvCxnSpPr>
                <p:cNvPr id="28" name="직선 연결선 27"/>
                <p:cNvCxnSpPr/>
                <p:nvPr/>
              </p:nvCxnSpPr>
              <p:spPr bwMode="auto">
                <a:xfrm>
                  <a:off x="1214414" y="2428868"/>
                  <a:ext cx="357190" cy="706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" name="직선 연결선 28"/>
                <p:cNvCxnSpPr/>
                <p:nvPr/>
              </p:nvCxnSpPr>
              <p:spPr bwMode="auto">
                <a:xfrm>
                  <a:off x="1214414" y="5284793"/>
                  <a:ext cx="357190" cy="238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" name="직선 연결선 29"/>
                <p:cNvCxnSpPr/>
                <p:nvPr/>
              </p:nvCxnSpPr>
              <p:spPr bwMode="auto">
                <a:xfrm rot="5400000">
                  <a:off x="-823" y="3857624"/>
                  <a:ext cx="2857512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9" name="그룹 62"/>
              <p:cNvGrpSpPr/>
              <p:nvPr/>
            </p:nvGrpSpPr>
            <p:grpSpPr>
              <a:xfrm>
                <a:off x="6500826" y="4929198"/>
                <a:ext cx="357190" cy="642942"/>
                <a:chOff x="1214414" y="2428868"/>
                <a:chExt cx="357190" cy="2858308"/>
              </a:xfrm>
            </p:grpSpPr>
            <p:cxnSp>
              <p:nvCxnSpPr>
                <p:cNvPr id="25" name="직선 연결선 24"/>
                <p:cNvCxnSpPr/>
                <p:nvPr/>
              </p:nvCxnSpPr>
              <p:spPr bwMode="auto">
                <a:xfrm>
                  <a:off x="1214414" y="2428868"/>
                  <a:ext cx="357190" cy="706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" name="직선 연결선 25"/>
                <p:cNvCxnSpPr/>
                <p:nvPr/>
              </p:nvCxnSpPr>
              <p:spPr bwMode="auto">
                <a:xfrm>
                  <a:off x="1214414" y="5284793"/>
                  <a:ext cx="357190" cy="238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직선 연결선 26"/>
                <p:cNvCxnSpPr/>
                <p:nvPr/>
              </p:nvCxnSpPr>
              <p:spPr bwMode="auto">
                <a:xfrm rot="5400000">
                  <a:off x="-823" y="3857624"/>
                  <a:ext cx="2857512" cy="158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0" name="TextBox 19"/>
              <p:cNvSpPr txBox="1"/>
              <p:nvPr/>
            </p:nvSpPr>
            <p:spPr>
              <a:xfrm>
                <a:off x="4259788" y="1373365"/>
                <a:ext cx="39105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800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확률적 경사 </a:t>
                </a:r>
                <a:r>
                  <a:rPr lang="ko-KR" altLang="en-US" sz="1800" dirty="0" err="1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하강법</a:t>
                </a:r>
                <a:endPara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 algn="ctr"/>
                <a:r>
                  <a:rPr lang="en-US" altLang="ko-KR" sz="1800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(Stochastic </a:t>
                </a:r>
                <a:r>
                  <a:rPr lang="en-US" altLang="ko-KR" sz="18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Gradient </a:t>
                </a:r>
                <a:r>
                  <a:rPr lang="en-US" altLang="ko-KR" sz="1800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Descent)</a:t>
                </a:r>
                <a:endPara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786578" y="2214554"/>
                <a:ext cx="1571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8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mini-batch</a:t>
                </a:r>
                <a:endPara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226561" y="1371006"/>
                <a:ext cx="24171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800" dirty="0" err="1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경사하강법</a:t>
                </a:r>
                <a:endPara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 algn="ctr"/>
                <a:r>
                  <a:rPr lang="en-US" altLang="ko-KR" sz="1800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(Gradient Descent)</a:t>
                </a:r>
                <a:endPara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214546" y="3286124"/>
                <a:ext cx="78581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Train </a:t>
                </a:r>
              </a:p>
              <a:p>
                <a:pPr algn="ctr"/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data</a:t>
                </a:r>
                <a:endPara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715008" y="2071678"/>
                <a:ext cx="7143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Train </a:t>
                </a:r>
              </a:p>
              <a:p>
                <a:pPr algn="ctr"/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data</a:t>
                </a:r>
                <a:endPara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17C60D8C-BF8A-4391-BCB0-FD8CC3B0AD3B}"/>
                </a:ext>
              </a:extLst>
            </p:cNvPr>
            <p:cNvSpPr txBox="1"/>
            <p:nvPr/>
          </p:nvSpPr>
          <p:spPr>
            <a:xfrm>
              <a:off x="3694292" y="6545620"/>
              <a:ext cx="1568216" cy="33174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7EEA8D84-9322-4AB9-877E-81E5E74DF429}"/>
                </a:ext>
              </a:extLst>
            </p:cNvPr>
            <p:cNvSpPr txBox="1"/>
            <p:nvPr/>
          </p:nvSpPr>
          <p:spPr>
            <a:xfrm>
              <a:off x="6237803" y="3367856"/>
              <a:ext cx="109811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07F7E1BE-D66A-4ECB-BEEA-DD582F7D7758}"/>
                </a:ext>
              </a:extLst>
            </p:cNvPr>
            <p:cNvSpPr txBox="1"/>
            <p:nvPr/>
          </p:nvSpPr>
          <p:spPr>
            <a:xfrm>
              <a:off x="6237803" y="4092432"/>
              <a:ext cx="109811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EBB39328-5424-4B26-A1BB-00A90BAE0461}"/>
                </a:ext>
              </a:extLst>
            </p:cNvPr>
            <p:cNvSpPr txBox="1"/>
            <p:nvPr/>
          </p:nvSpPr>
          <p:spPr>
            <a:xfrm>
              <a:off x="6237803" y="4823887"/>
              <a:ext cx="109811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241C478B-BBAF-4C0D-8261-B68B84A7F75E}"/>
                </a:ext>
              </a:extLst>
            </p:cNvPr>
            <p:cNvSpPr txBox="1"/>
            <p:nvPr/>
          </p:nvSpPr>
          <p:spPr>
            <a:xfrm>
              <a:off x="6237803" y="5585356"/>
              <a:ext cx="109811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366691FC-E91C-41AC-9574-B06063133C40}"/>
                </a:ext>
              </a:extLst>
            </p:cNvPr>
            <p:cNvSpPr txBox="1"/>
            <p:nvPr/>
          </p:nvSpPr>
          <p:spPr>
            <a:xfrm>
              <a:off x="6237803" y="6228297"/>
              <a:ext cx="109811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업데이트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미니배치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이용할 기울기 계산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875217" y="2420109"/>
            <a:ext cx="6808969" cy="4266124"/>
            <a:chOff x="1498372" y="1756306"/>
            <a:chExt cx="6808969" cy="4771117"/>
          </a:xfrm>
        </p:grpSpPr>
        <p:sp>
          <p:nvSpPr>
            <p:cNvPr id="14" name="직사각형 13"/>
            <p:cNvSpPr/>
            <p:nvPr/>
          </p:nvSpPr>
          <p:spPr>
            <a:xfrm>
              <a:off x="4163937" y="1756306"/>
              <a:ext cx="4143404" cy="4130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    5   -4   -3   1   5   -8   </a:t>
              </a:r>
              <a:endPara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806615" y="2874788"/>
              <a:ext cx="2928958" cy="413051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ko-KR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    5   -4   -3   1   5   -8   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878053" y="4291405"/>
              <a:ext cx="4143404" cy="4130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    5   -4  -3   1   5   -8   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2806615" y="4291406"/>
              <a:ext cx="1121412" cy="357190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3928027" y="4291406"/>
              <a:ext cx="1807546" cy="357190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83398" y="4698594"/>
              <a:ext cx="1571636" cy="37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8/3</a:t>
              </a:r>
              <a:r>
                <a:rPr lang="ko-KR" altLang="en-US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만큼 이동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63937" y="4698594"/>
              <a:ext cx="1571636" cy="37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-5/4</a:t>
              </a:r>
              <a:r>
                <a:rPr lang="ko-KR" altLang="en-US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만큼 이동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 bwMode="auto">
            <a:xfrm>
              <a:off x="2806615" y="5660870"/>
              <a:ext cx="500066" cy="357190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78053" y="5660870"/>
              <a:ext cx="4143404" cy="4130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    5   -4  -3   1   5   -8   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806615" y="6148793"/>
              <a:ext cx="1571636" cy="37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</a:t>
              </a:r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만큼 이동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A981BCEE-BBFB-48F1-BF61-F81EBA855720}"/>
                </a:ext>
              </a:extLst>
            </p:cNvPr>
            <p:cNvSpPr txBox="1"/>
            <p:nvPr/>
          </p:nvSpPr>
          <p:spPr>
            <a:xfrm>
              <a:off x="1498372" y="1756306"/>
              <a:ext cx="3196029" cy="4130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</a:t>
              </a:r>
              <a:r>
                <a: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 데이터에 대한 </a:t>
              </a:r>
              <a:r>
                <a:rPr lang="ko-KR" altLang="en-US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기울기 </a:t>
              </a:r>
              <a:r>
                <a: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582244" y="3434570"/>
              <a:ext cx="1571636" cy="37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3/7</a:t>
              </a:r>
              <a:r>
                <a:rPr lang="ko-KR" altLang="en-US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만큼 이동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A981BCEE-BBFB-48F1-BF61-F81EBA855720}"/>
                </a:ext>
              </a:extLst>
            </p:cNvPr>
            <p:cNvSpPr txBox="1"/>
            <p:nvPr/>
          </p:nvSpPr>
          <p:spPr>
            <a:xfrm>
              <a:off x="1498372" y="2405877"/>
              <a:ext cx="3196029" cy="4130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전체에 대해 계산할 경우 </a:t>
              </a:r>
              <a:r>
                <a: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A981BCEE-BBFB-48F1-BF61-F81EBA855720}"/>
                </a:ext>
              </a:extLst>
            </p:cNvPr>
            <p:cNvSpPr txBox="1"/>
            <p:nvPr/>
          </p:nvSpPr>
          <p:spPr>
            <a:xfrm>
              <a:off x="1498372" y="3898497"/>
              <a:ext cx="3196029" cy="4130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두 부분으로 나누어 계산할 경우 </a:t>
              </a:r>
              <a:r>
                <a: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A981BCEE-BBFB-48F1-BF61-F81EBA855720}"/>
                </a:ext>
              </a:extLst>
            </p:cNvPr>
            <p:cNvSpPr txBox="1"/>
            <p:nvPr/>
          </p:nvSpPr>
          <p:spPr>
            <a:xfrm>
              <a:off x="1498372" y="5174790"/>
              <a:ext cx="3196029" cy="4130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하나씩 계산할 경우 </a:t>
              </a:r>
              <a:r>
                <a:rPr lang="en-US" altLang="ko-KR" sz="18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미니배치를 이용한 </a:t>
            </a:r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많은 데이터를 가진 신경망을 학습할 때 확률적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한 번 학습에 수행되는 시간을 줄이고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데이터에 대해서 반복적으로 학습 수행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데이터를 사용하는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경사하강법보다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수렴 속도가 빠름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4" name="그룹 15"/>
          <p:cNvGrpSpPr/>
          <p:nvPr/>
        </p:nvGrpSpPr>
        <p:grpSpPr>
          <a:xfrm>
            <a:off x="1989787" y="3913150"/>
            <a:ext cx="3214710" cy="2332686"/>
            <a:chOff x="428596" y="3782440"/>
            <a:chExt cx="3214710" cy="2332686"/>
          </a:xfrm>
        </p:grpSpPr>
        <p:cxnSp>
          <p:nvCxnSpPr>
            <p:cNvPr id="15" name="직선 화살표 연결선 14"/>
            <p:cNvCxnSpPr/>
            <p:nvPr/>
          </p:nvCxnSpPr>
          <p:spPr bwMode="auto">
            <a:xfrm rot="5400000" flipH="1" flipV="1">
              <a:off x="-70676" y="4786322"/>
              <a:ext cx="1999470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6" name="직선 화살표 연결선 15"/>
            <p:cNvCxnSpPr/>
            <p:nvPr/>
          </p:nvCxnSpPr>
          <p:spPr bwMode="auto">
            <a:xfrm flipV="1">
              <a:off x="785786" y="5558072"/>
              <a:ext cx="2857520" cy="103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7" name="자유형 16"/>
            <p:cNvSpPr/>
            <p:nvPr/>
          </p:nvSpPr>
          <p:spPr bwMode="auto">
            <a:xfrm>
              <a:off x="1071538" y="3782440"/>
              <a:ext cx="2550695" cy="1503948"/>
            </a:xfrm>
            <a:custGeom>
              <a:avLst/>
              <a:gdLst>
                <a:gd name="connsiteX0" fmla="*/ 0 w 2550695"/>
                <a:gd name="connsiteY0" fmla="*/ 0 h 1503948"/>
                <a:gd name="connsiteX1" fmla="*/ 312821 w 2550695"/>
                <a:gd name="connsiteY1" fmla="*/ 601579 h 1503948"/>
                <a:gd name="connsiteX2" fmla="*/ 1046748 w 2550695"/>
                <a:gd name="connsiteY2" fmla="*/ 1167063 h 1503948"/>
                <a:gd name="connsiteX3" fmla="*/ 2550695 w 2550695"/>
                <a:gd name="connsiteY3" fmla="*/ 1503948 h 150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0695" h="1503948">
                  <a:moveTo>
                    <a:pt x="0" y="0"/>
                  </a:moveTo>
                  <a:cubicBezTo>
                    <a:pt x="69181" y="203534"/>
                    <a:pt x="138363" y="407069"/>
                    <a:pt x="312821" y="601579"/>
                  </a:cubicBezTo>
                  <a:cubicBezTo>
                    <a:pt x="487279" y="796089"/>
                    <a:pt x="673769" y="1016668"/>
                    <a:pt x="1046748" y="1167063"/>
                  </a:cubicBezTo>
                  <a:cubicBezTo>
                    <a:pt x="1419727" y="1317458"/>
                    <a:pt x="1985211" y="1410703"/>
                    <a:pt x="2550695" y="1503948"/>
                  </a:cubicBezTo>
                </a:path>
              </a:pathLst>
            </a:cu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solidFill>
                    <a:srgbClr val="0070C0"/>
                  </a:solidFill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28728" y="5715016"/>
              <a:ext cx="17859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#iterations</a:t>
              </a:r>
              <a:endParaRPr lang="ko-KR" altLang="en-US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 rot="16200000">
              <a:off x="189293" y="4504099"/>
              <a:ext cx="8787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cost</a:t>
              </a:r>
              <a:endParaRPr lang="ko-KR" altLang="en-US" sz="2000" dirty="0"/>
            </a:p>
          </p:txBody>
        </p:sp>
      </p:grpSp>
      <p:grpSp>
        <p:nvGrpSpPr>
          <p:cNvPr id="20" name="그룹 27"/>
          <p:cNvGrpSpPr/>
          <p:nvPr/>
        </p:nvGrpSpPr>
        <p:grpSpPr>
          <a:xfrm>
            <a:off x="6490381" y="3916900"/>
            <a:ext cx="3214710" cy="2152664"/>
            <a:chOff x="4929190" y="3786190"/>
            <a:chExt cx="3214710" cy="2152664"/>
          </a:xfrm>
        </p:grpSpPr>
        <p:grpSp>
          <p:nvGrpSpPr>
            <p:cNvPr id="21" name="그룹 16"/>
            <p:cNvGrpSpPr/>
            <p:nvPr/>
          </p:nvGrpSpPr>
          <p:grpSpPr>
            <a:xfrm>
              <a:off x="4929190" y="3939384"/>
              <a:ext cx="3214710" cy="1999470"/>
              <a:chOff x="428596" y="3786984"/>
              <a:chExt cx="3214710" cy="1999470"/>
            </a:xfrm>
          </p:grpSpPr>
          <p:cxnSp>
            <p:nvCxnSpPr>
              <p:cNvPr id="23" name="직선 화살표 연결선 22"/>
              <p:cNvCxnSpPr/>
              <p:nvPr/>
            </p:nvCxnSpPr>
            <p:spPr bwMode="auto">
              <a:xfrm rot="5400000" flipH="1" flipV="1">
                <a:off x="-70676" y="4786322"/>
                <a:ext cx="1999470" cy="79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4" name="직선 화살표 연결선 23"/>
              <p:cNvCxnSpPr/>
              <p:nvPr/>
            </p:nvCxnSpPr>
            <p:spPr bwMode="auto">
              <a:xfrm flipV="1">
                <a:off x="785786" y="5500702"/>
                <a:ext cx="2857520" cy="103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25" name="TextBox 24"/>
              <p:cNvSpPr txBox="1"/>
              <p:nvPr/>
            </p:nvSpPr>
            <p:spPr>
              <a:xfrm rot="16200000">
                <a:off x="189293" y="4504099"/>
                <a:ext cx="8787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cost</a:t>
                </a:r>
                <a:endParaRPr lang="ko-KR" altLang="en-US" sz="2000" dirty="0"/>
              </a:p>
            </p:txBody>
          </p:sp>
        </p:grpSp>
        <p:sp>
          <p:nvSpPr>
            <p:cNvPr id="22" name="자유형 21"/>
            <p:cNvSpPr/>
            <p:nvPr/>
          </p:nvSpPr>
          <p:spPr bwMode="auto">
            <a:xfrm>
              <a:off x="5559868" y="3786190"/>
              <a:ext cx="2512594" cy="1722521"/>
            </a:xfrm>
            <a:custGeom>
              <a:avLst/>
              <a:gdLst>
                <a:gd name="connsiteX0" fmla="*/ 22058 w 2512594"/>
                <a:gd name="connsiteY0" fmla="*/ 0 h 1722521"/>
                <a:gd name="connsiteX1" fmla="*/ 10026 w 2512594"/>
                <a:gd name="connsiteY1" fmla="*/ 336884 h 1722521"/>
                <a:gd name="connsiteX2" fmla="*/ 82216 w 2512594"/>
                <a:gd name="connsiteY2" fmla="*/ 96253 h 1722521"/>
                <a:gd name="connsiteX3" fmla="*/ 94247 w 2512594"/>
                <a:gd name="connsiteY3" fmla="*/ 469232 h 1722521"/>
                <a:gd name="connsiteX4" fmla="*/ 166437 w 2512594"/>
                <a:gd name="connsiteY4" fmla="*/ 204537 h 1722521"/>
                <a:gd name="connsiteX5" fmla="*/ 190500 w 2512594"/>
                <a:gd name="connsiteY5" fmla="*/ 529389 h 1722521"/>
                <a:gd name="connsiteX6" fmla="*/ 226594 w 2512594"/>
                <a:gd name="connsiteY6" fmla="*/ 288758 h 1722521"/>
                <a:gd name="connsiteX7" fmla="*/ 262689 w 2512594"/>
                <a:gd name="connsiteY7" fmla="*/ 745958 h 1722521"/>
                <a:gd name="connsiteX8" fmla="*/ 346910 w 2512594"/>
                <a:gd name="connsiteY8" fmla="*/ 372979 h 1722521"/>
                <a:gd name="connsiteX9" fmla="*/ 334879 w 2512594"/>
                <a:gd name="connsiteY9" fmla="*/ 842211 h 1722521"/>
                <a:gd name="connsiteX10" fmla="*/ 419100 w 2512594"/>
                <a:gd name="connsiteY10" fmla="*/ 493295 h 1722521"/>
                <a:gd name="connsiteX11" fmla="*/ 479258 w 2512594"/>
                <a:gd name="connsiteY11" fmla="*/ 986589 h 1722521"/>
                <a:gd name="connsiteX12" fmla="*/ 503321 w 2512594"/>
                <a:gd name="connsiteY12" fmla="*/ 637674 h 1722521"/>
                <a:gd name="connsiteX13" fmla="*/ 539416 w 2512594"/>
                <a:gd name="connsiteY13" fmla="*/ 926432 h 1722521"/>
                <a:gd name="connsiteX14" fmla="*/ 623637 w 2512594"/>
                <a:gd name="connsiteY14" fmla="*/ 770021 h 1722521"/>
                <a:gd name="connsiteX15" fmla="*/ 599573 w 2512594"/>
                <a:gd name="connsiteY15" fmla="*/ 998621 h 1722521"/>
                <a:gd name="connsiteX16" fmla="*/ 707858 w 2512594"/>
                <a:gd name="connsiteY16" fmla="*/ 757989 h 1722521"/>
                <a:gd name="connsiteX17" fmla="*/ 659731 w 2512594"/>
                <a:gd name="connsiteY17" fmla="*/ 1118937 h 1722521"/>
                <a:gd name="connsiteX18" fmla="*/ 780047 w 2512594"/>
                <a:gd name="connsiteY18" fmla="*/ 818147 h 1722521"/>
                <a:gd name="connsiteX19" fmla="*/ 780047 w 2512594"/>
                <a:gd name="connsiteY19" fmla="*/ 1094874 h 1722521"/>
                <a:gd name="connsiteX20" fmla="*/ 864268 w 2512594"/>
                <a:gd name="connsiteY20" fmla="*/ 866274 h 1722521"/>
                <a:gd name="connsiteX21" fmla="*/ 816142 w 2512594"/>
                <a:gd name="connsiteY21" fmla="*/ 1203158 h 1722521"/>
                <a:gd name="connsiteX22" fmla="*/ 924426 w 2512594"/>
                <a:gd name="connsiteY22" fmla="*/ 1010653 h 1722521"/>
                <a:gd name="connsiteX23" fmla="*/ 900363 w 2512594"/>
                <a:gd name="connsiteY23" fmla="*/ 1130968 h 1722521"/>
                <a:gd name="connsiteX24" fmla="*/ 960521 w 2512594"/>
                <a:gd name="connsiteY24" fmla="*/ 962526 h 1722521"/>
                <a:gd name="connsiteX25" fmla="*/ 948489 w 2512594"/>
                <a:gd name="connsiteY25" fmla="*/ 1275347 h 1722521"/>
                <a:gd name="connsiteX26" fmla="*/ 1056773 w 2512594"/>
                <a:gd name="connsiteY26" fmla="*/ 1046747 h 1722521"/>
                <a:gd name="connsiteX27" fmla="*/ 1032710 w 2512594"/>
                <a:gd name="connsiteY27" fmla="*/ 1335505 h 1722521"/>
                <a:gd name="connsiteX28" fmla="*/ 1165058 w 2512594"/>
                <a:gd name="connsiteY28" fmla="*/ 1082842 h 1722521"/>
                <a:gd name="connsiteX29" fmla="*/ 1128963 w 2512594"/>
                <a:gd name="connsiteY29" fmla="*/ 1335505 h 1722521"/>
                <a:gd name="connsiteX30" fmla="*/ 1201152 w 2512594"/>
                <a:gd name="connsiteY30" fmla="*/ 1130968 h 1722521"/>
                <a:gd name="connsiteX31" fmla="*/ 1213184 w 2512594"/>
                <a:gd name="connsiteY31" fmla="*/ 1347537 h 1722521"/>
                <a:gd name="connsiteX32" fmla="*/ 1261310 w 2512594"/>
                <a:gd name="connsiteY32" fmla="*/ 1167063 h 1722521"/>
                <a:gd name="connsiteX33" fmla="*/ 1261310 w 2512594"/>
                <a:gd name="connsiteY33" fmla="*/ 1371600 h 1722521"/>
                <a:gd name="connsiteX34" fmla="*/ 1357563 w 2512594"/>
                <a:gd name="connsiteY34" fmla="*/ 1143000 h 1722521"/>
                <a:gd name="connsiteX35" fmla="*/ 1369594 w 2512594"/>
                <a:gd name="connsiteY35" fmla="*/ 1395663 h 1722521"/>
                <a:gd name="connsiteX36" fmla="*/ 1441784 w 2512594"/>
                <a:gd name="connsiteY36" fmla="*/ 1203158 h 1722521"/>
                <a:gd name="connsiteX37" fmla="*/ 1477879 w 2512594"/>
                <a:gd name="connsiteY37" fmla="*/ 1419726 h 1722521"/>
                <a:gd name="connsiteX38" fmla="*/ 1513973 w 2512594"/>
                <a:gd name="connsiteY38" fmla="*/ 1503947 h 1722521"/>
                <a:gd name="connsiteX39" fmla="*/ 1526005 w 2512594"/>
                <a:gd name="connsiteY39" fmla="*/ 1275347 h 1722521"/>
                <a:gd name="connsiteX40" fmla="*/ 1574131 w 2512594"/>
                <a:gd name="connsiteY40" fmla="*/ 1455821 h 1722521"/>
                <a:gd name="connsiteX41" fmla="*/ 1646321 w 2512594"/>
                <a:gd name="connsiteY41" fmla="*/ 1263316 h 1722521"/>
                <a:gd name="connsiteX42" fmla="*/ 1670384 w 2512594"/>
                <a:gd name="connsiteY42" fmla="*/ 1528011 h 1722521"/>
                <a:gd name="connsiteX43" fmla="*/ 1754605 w 2512594"/>
                <a:gd name="connsiteY43" fmla="*/ 1335505 h 1722521"/>
                <a:gd name="connsiteX44" fmla="*/ 1874921 w 2512594"/>
                <a:gd name="connsiteY44" fmla="*/ 1491916 h 1722521"/>
                <a:gd name="connsiteX45" fmla="*/ 1935079 w 2512594"/>
                <a:gd name="connsiteY45" fmla="*/ 1359568 h 1722521"/>
                <a:gd name="connsiteX46" fmla="*/ 2067426 w 2512594"/>
                <a:gd name="connsiteY46" fmla="*/ 1528011 h 1722521"/>
                <a:gd name="connsiteX47" fmla="*/ 2103521 w 2512594"/>
                <a:gd name="connsiteY47" fmla="*/ 1407695 h 1722521"/>
                <a:gd name="connsiteX48" fmla="*/ 2187742 w 2512594"/>
                <a:gd name="connsiteY48" fmla="*/ 1600200 h 1722521"/>
                <a:gd name="connsiteX49" fmla="*/ 2235868 w 2512594"/>
                <a:gd name="connsiteY49" fmla="*/ 1395663 h 1722521"/>
                <a:gd name="connsiteX50" fmla="*/ 2296026 w 2512594"/>
                <a:gd name="connsiteY50" fmla="*/ 1600200 h 1722521"/>
                <a:gd name="connsiteX51" fmla="*/ 2392279 w 2512594"/>
                <a:gd name="connsiteY51" fmla="*/ 1455821 h 1722521"/>
                <a:gd name="connsiteX52" fmla="*/ 2452437 w 2512594"/>
                <a:gd name="connsiteY52" fmla="*/ 1720516 h 1722521"/>
                <a:gd name="connsiteX53" fmla="*/ 2512594 w 2512594"/>
                <a:gd name="connsiteY53" fmla="*/ 1467853 h 1722521"/>
                <a:gd name="connsiteX54" fmla="*/ 2512594 w 2512594"/>
                <a:gd name="connsiteY54" fmla="*/ 1467853 h 1722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512594" h="1722521">
                  <a:moveTo>
                    <a:pt x="22058" y="0"/>
                  </a:moveTo>
                  <a:cubicBezTo>
                    <a:pt x="11029" y="160421"/>
                    <a:pt x="0" y="320842"/>
                    <a:pt x="10026" y="336884"/>
                  </a:cubicBezTo>
                  <a:cubicBezTo>
                    <a:pt x="20052" y="352926"/>
                    <a:pt x="68179" y="74195"/>
                    <a:pt x="82216" y="96253"/>
                  </a:cubicBezTo>
                  <a:cubicBezTo>
                    <a:pt x="96253" y="118311"/>
                    <a:pt x="80210" y="451185"/>
                    <a:pt x="94247" y="469232"/>
                  </a:cubicBezTo>
                  <a:cubicBezTo>
                    <a:pt x="108284" y="487279"/>
                    <a:pt x="150395" y="194511"/>
                    <a:pt x="166437" y="204537"/>
                  </a:cubicBezTo>
                  <a:cubicBezTo>
                    <a:pt x="182479" y="214563"/>
                    <a:pt x="180474" y="515352"/>
                    <a:pt x="190500" y="529389"/>
                  </a:cubicBezTo>
                  <a:cubicBezTo>
                    <a:pt x="200526" y="543426"/>
                    <a:pt x="214563" y="252663"/>
                    <a:pt x="226594" y="288758"/>
                  </a:cubicBezTo>
                  <a:cubicBezTo>
                    <a:pt x="238626" y="324853"/>
                    <a:pt x="242636" y="731921"/>
                    <a:pt x="262689" y="745958"/>
                  </a:cubicBezTo>
                  <a:cubicBezTo>
                    <a:pt x="282742" y="759995"/>
                    <a:pt x="334878" y="356937"/>
                    <a:pt x="346910" y="372979"/>
                  </a:cubicBezTo>
                  <a:cubicBezTo>
                    <a:pt x="358942" y="389021"/>
                    <a:pt x="322847" y="822158"/>
                    <a:pt x="334879" y="842211"/>
                  </a:cubicBezTo>
                  <a:cubicBezTo>
                    <a:pt x="346911" y="862264"/>
                    <a:pt x="395037" y="469232"/>
                    <a:pt x="419100" y="493295"/>
                  </a:cubicBezTo>
                  <a:cubicBezTo>
                    <a:pt x="443163" y="517358"/>
                    <a:pt x="465221" y="962526"/>
                    <a:pt x="479258" y="986589"/>
                  </a:cubicBezTo>
                  <a:cubicBezTo>
                    <a:pt x="493295" y="1010652"/>
                    <a:pt x="493295" y="647700"/>
                    <a:pt x="503321" y="637674"/>
                  </a:cubicBezTo>
                  <a:cubicBezTo>
                    <a:pt x="513347" y="627648"/>
                    <a:pt x="519364" y="904374"/>
                    <a:pt x="539416" y="926432"/>
                  </a:cubicBezTo>
                  <a:cubicBezTo>
                    <a:pt x="559468" y="948490"/>
                    <a:pt x="613611" y="757990"/>
                    <a:pt x="623637" y="770021"/>
                  </a:cubicBezTo>
                  <a:cubicBezTo>
                    <a:pt x="633663" y="782052"/>
                    <a:pt x="585536" y="1000626"/>
                    <a:pt x="599573" y="998621"/>
                  </a:cubicBezTo>
                  <a:cubicBezTo>
                    <a:pt x="613610" y="996616"/>
                    <a:pt x="697832" y="737936"/>
                    <a:pt x="707858" y="757989"/>
                  </a:cubicBezTo>
                  <a:cubicBezTo>
                    <a:pt x="717884" y="778042"/>
                    <a:pt x="647699" y="1108911"/>
                    <a:pt x="659731" y="1118937"/>
                  </a:cubicBezTo>
                  <a:cubicBezTo>
                    <a:pt x="671763" y="1128963"/>
                    <a:pt x="759994" y="822157"/>
                    <a:pt x="780047" y="818147"/>
                  </a:cubicBezTo>
                  <a:cubicBezTo>
                    <a:pt x="800100" y="814137"/>
                    <a:pt x="766010" y="1086853"/>
                    <a:pt x="780047" y="1094874"/>
                  </a:cubicBezTo>
                  <a:cubicBezTo>
                    <a:pt x="794084" y="1102895"/>
                    <a:pt x="858252" y="848227"/>
                    <a:pt x="864268" y="866274"/>
                  </a:cubicBezTo>
                  <a:cubicBezTo>
                    <a:pt x="870284" y="884321"/>
                    <a:pt x="806116" y="1179095"/>
                    <a:pt x="816142" y="1203158"/>
                  </a:cubicBezTo>
                  <a:cubicBezTo>
                    <a:pt x="826168" y="1227221"/>
                    <a:pt x="910389" y="1022685"/>
                    <a:pt x="924426" y="1010653"/>
                  </a:cubicBezTo>
                  <a:cubicBezTo>
                    <a:pt x="938463" y="998621"/>
                    <a:pt x="894347" y="1138989"/>
                    <a:pt x="900363" y="1130968"/>
                  </a:cubicBezTo>
                  <a:cubicBezTo>
                    <a:pt x="906379" y="1122947"/>
                    <a:pt x="952500" y="938463"/>
                    <a:pt x="960521" y="962526"/>
                  </a:cubicBezTo>
                  <a:cubicBezTo>
                    <a:pt x="968542" y="986589"/>
                    <a:pt x="932447" y="1261310"/>
                    <a:pt x="948489" y="1275347"/>
                  </a:cubicBezTo>
                  <a:cubicBezTo>
                    <a:pt x="964531" y="1289384"/>
                    <a:pt x="1042736" y="1036721"/>
                    <a:pt x="1056773" y="1046747"/>
                  </a:cubicBezTo>
                  <a:cubicBezTo>
                    <a:pt x="1070810" y="1056773"/>
                    <a:pt x="1014663" y="1329489"/>
                    <a:pt x="1032710" y="1335505"/>
                  </a:cubicBezTo>
                  <a:cubicBezTo>
                    <a:pt x="1050758" y="1341521"/>
                    <a:pt x="1149016" y="1082842"/>
                    <a:pt x="1165058" y="1082842"/>
                  </a:cubicBezTo>
                  <a:cubicBezTo>
                    <a:pt x="1181100" y="1082842"/>
                    <a:pt x="1122947" y="1327484"/>
                    <a:pt x="1128963" y="1335505"/>
                  </a:cubicBezTo>
                  <a:cubicBezTo>
                    <a:pt x="1134979" y="1343526"/>
                    <a:pt x="1187115" y="1128963"/>
                    <a:pt x="1201152" y="1130968"/>
                  </a:cubicBezTo>
                  <a:cubicBezTo>
                    <a:pt x="1215189" y="1132973"/>
                    <a:pt x="1203158" y="1341521"/>
                    <a:pt x="1213184" y="1347537"/>
                  </a:cubicBezTo>
                  <a:cubicBezTo>
                    <a:pt x="1223210" y="1353553"/>
                    <a:pt x="1253289" y="1163053"/>
                    <a:pt x="1261310" y="1167063"/>
                  </a:cubicBezTo>
                  <a:cubicBezTo>
                    <a:pt x="1269331" y="1171074"/>
                    <a:pt x="1245268" y="1375610"/>
                    <a:pt x="1261310" y="1371600"/>
                  </a:cubicBezTo>
                  <a:cubicBezTo>
                    <a:pt x="1277352" y="1367590"/>
                    <a:pt x="1339516" y="1138990"/>
                    <a:pt x="1357563" y="1143000"/>
                  </a:cubicBezTo>
                  <a:cubicBezTo>
                    <a:pt x="1375610" y="1147010"/>
                    <a:pt x="1355557" y="1385637"/>
                    <a:pt x="1369594" y="1395663"/>
                  </a:cubicBezTo>
                  <a:cubicBezTo>
                    <a:pt x="1383631" y="1405689"/>
                    <a:pt x="1423737" y="1199148"/>
                    <a:pt x="1441784" y="1203158"/>
                  </a:cubicBezTo>
                  <a:cubicBezTo>
                    <a:pt x="1459831" y="1207168"/>
                    <a:pt x="1465848" y="1369595"/>
                    <a:pt x="1477879" y="1419726"/>
                  </a:cubicBezTo>
                  <a:cubicBezTo>
                    <a:pt x="1489911" y="1469858"/>
                    <a:pt x="1505952" y="1528010"/>
                    <a:pt x="1513973" y="1503947"/>
                  </a:cubicBezTo>
                  <a:cubicBezTo>
                    <a:pt x="1521994" y="1479884"/>
                    <a:pt x="1515979" y="1283368"/>
                    <a:pt x="1526005" y="1275347"/>
                  </a:cubicBezTo>
                  <a:cubicBezTo>
                    <a:pt x="1536031" y="1267326"/>
                    <a:pt x="1554078" y="1457826"/>
                    <a:pt x="1574131" y="1455821"/>
                  </a:cubicBezTo>
                  <a:cubicBezTo>
                    <a:pt x="1594184" y="1453816"/>
                    <a:pt x="1630279" y="1251284"/>
                    <a:pt x="1646321" y="1263316"/>
                  </a:cubicBezTo>
                  <a:cubicBezTo>
                    <a:pt x="1662363" y="1275348"/>
                    <a:pt x="1652337" y="1515980"/>
                    <a:pt x="1670384" y="1528011"/>
                  </a:cubicBezTo>
                  <a:cubicBezTo>
                    <a:pt x="1688431" y="1540043"/>
                    <a:pt x="1720516" y="1341521"/>
                    <a:pt x="1754605" y="1335505"/>
                  </a:cubicBezTo>
                  <a:cubicBezTo>
                    <a:pt x="1788695" y="1329489"/>
                    <a:pt x="1844842" y="1487906"/>
                    <a:pt x="1874921" y="1491916"/>
                  </a:cubicBezTo>
                  <a:cubicBezTo>
                    <a:pt x="1905000" y="1495927"/>
                    <a:pt x="1902995" y="1353552"/>
                    <a:pt x="1935079" y="1359568"/>
                  </a:cubicBezTo>
                  <a:cubicBezTo>
                    <a:pt x="1967163" y="1365584"/>
                    <a:pt x="2039352" y="1519990"/>
                    <a:pt x="2067426" y="1528011"/>
                  </a:cubicBezTo>
                  <a:cubicBezTo>
                    <a:pt x="2095500" y="1536032"/>
                    <a:pt x="2083468" y="1395664"/>
                    <a:pt x="2103521" y="1407695"/>
                  </a:cubicBezTo>
                  <a:cubicBezTo>
                    <a:pt x="2123574" y="1419726"/>
                    <a:pt x="2165684" y="1602205"/>
                    <a:pt x="2187742" y="1600200"/>
                  </a:cubicBezTo>
                  <a:cubicBezTo>
                    <a:pt x="2209800" y="1598195"/>
                    <a:pt x="2217821" y="1395663"/>
                    <a:pt x="2235868" y="1395663"/>
                  </a:cubicBezTo>
                  <a:cubicBezTo>
                    <a:pt x="2253915" y="1395663"/>
                    <a:pt x="2269958" y="1590174"/>
                    <a:pt x="2296026" y="1600200"/>
                  </a:cubicBezTo>
                  <a:cubicBezTo>
                    <a:pt x="2322095" y="1610226"/>
                    <a:pt x="2366211" y="1435768"/>
                    <a:pt x="2392279" y="1455821"/>
                  </a:cubicBezTo>
                  <a:cubicBezTo>
                    <a:pt x="2418347" y="1475874"/>
                    <a:pt x="2432385" y="1718511"/>
                    <a:pt x="2452437" y="1720516"/>
                  </a:cubicBezTo>
                  <a:cubicBezTo>
                    <a:pt x="2472489" y="1722521"/>
                    <a:pt x="2512594" y="1467853"/>
                    <a:pt x="2512594" y="1467853"/>
                  </a:cubicBezTo>
                  <a:lnTo>
                    <a:pt x="2512594" y="1467853"/>
                  </a:lnTo>
                </a:path>
              </a:pathLst>
            </a:cu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989786" y="3326862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풀 배치 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경사하강법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97701" y="3326862"/>
            <a:ext cx="442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미니배치 경사 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하강법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E64E9751-8B00-4319-8EBC-65471C36DE03}"/>
              </a:ext>
            </a:extLst>
          </p:cNvPr>
          <p:cNvSpPr txBox="1"/>
          <p:nvPr/>
        </p:nvSpPr>
        <p:spPr>
          <a:xfrm>
            <a:off x="7789945" y="5859406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#iterations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미니배치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05840" y="1641082"/>
            <a:ext cx="10716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전체 데이터를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데이터로 나누어 중복되지 않게 구성하거나 무작위로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샘플링할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 있음</a:t>
            </a:r>
            <a:endParaRPr lang="en-US" altLang="ko-KR" sz="3200" spc="-5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6376" t="34948" r="28118" b="17757"/>
          <a:stretch/>
        </p:blipFill>
        <p:spPr>
          <a:xfrm>
            <a:off x="2763824" y="2528671"/>
            <a:ext cx="6661306" cy="3750069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9054044" y="2927765"/>
            <a:ext cx="1467820" cy="30738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균등분할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9054044" y="4684646"/>
            <a:ext cx="1467820" cy="30738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무작위 샘플링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8602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과적합</a:t>
            </a:r>
            <a:r>
              <a:rPr lang="en-US" altLang="ko-KR" dirty="0" smtClean="0"/>
              <a:t>(Overfitting)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언더피팅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underfitting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 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데이터를 잘 설명하지 못하게 되어 학습이 덜 이루어짐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4" name="타원 43"/>
          <p:cNvSpPr/>
          <p:nvPr/>
        </p:nvSpPr>
        <p:spPr bwMode="auto">
          <a:xfrm>
            <a:off x="2684099" y="451806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5" name="타원 44"/>
          <p:cNvSpPr/>
          <p:nvPr/>
        </p:nvSpPr>
        <p:spPr bwMode="auto">
          <a:xfrm>
            <a:off x="3612793" y="3160739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6" name="타원 45"/>
          <p:cNvSpPr/>
          <p:nvPr/>
        </p:nvSpPr>
        <p:spPr bwMode="auto">
          <a:xfrm>
            <a:off x="4470049" y="358936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7" name="타원 46"/>
          <p:cNvSpPr/>
          <p:nvPr/>
        </p:nvSpPr>
        <p:spPr bwMode="auto">
          <a:xfrm>
            <a:off x="7470445" y="4732375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8" name="타원 47"/>
          <p:cNvSpPr/>
          <p:nvPr/>
        </p:nvSpPr>
        <p:spPr bwMode="auto">
          <a:xfrm>
            <a:off x="9470709" y="3160739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 bwMode="auto">
          <a:xfrm flipV="1">
            <a:off x="1826843" y="3089302"/>
            <a:ext cx="8286808" cy="17859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0" name="타원 49"/>
          <p:cNvSpPr/>
          <p:nvPr/>
        </p:nvSpPr>
        <p:spPr bwMode="auto">
          <a:xfrm>
            <a:off x="5398743" y="4589499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1" name="타원 50"/>
          <p:cNvSpPr/>
          <p:nvPr/>
        </p:nvSpPr>
        <p:spPr bwMode="auto">
          <a:xfrm>
            <a:off x="7899073" y="394655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2" name="타원 51"/>
          <p:cNvSpPr/>
          <p:nvPr/>
        </p:nvSpPr>
        <p:spPr bwMode="auto">
          <a:xfrm>
            <a:off x="6613189" y="573250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3" name="타원 52"/>
          <p:cNvSpPr/>
          <p:nvPr/>
        </p:nvSpPr>
        <p:spPr bwMode="auto">
          <a:xfrm>
            <a:off x="4622449" y="374176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9756461" y="323217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5533639" y="3022506"/>
            <a:ext cx="201622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언더피팅</a:t>
            </a:r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underfitting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="" xmlns:a16="http://schemas.microsoft.com/office/drawing/2014/main" id="{A7358691-727E-4DD6-B2E5-EBBB4148FCF1}"/>
              </a:ext>
            </a:extLst>
          </p:cNvPr>
          <p:cNvSpPr/>
          <p:nvPr/>
        </p:nvSpPr>
        <p:spPr bwMode="auto">
          <a:xfrm>
            <a:off x="10003265" y="2969503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과적합</a:t>
            </a:r>
            <a:r>
              <a:rPr lang="en-US" altLang="ko-KR" dirty="0"/>
              <a:t>(Overfitting)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전체적으로 데이터를 잘 표현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적절하게 학습된 상황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5" name="타원 24"/>
          <p:cNvSpPr/>
          <p:nvPr/>
        </p:nvSpPr>
        <p:spPr bwMode="auto">
          <a:xfrm>
            <a:off x="4448058" y="3700670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6" name="타원 25"/>
          <p:cNvSpPr/>
          <p:nvPr/>
        </p:nvSpPr>
        <p:spPr bwMode="auto">
          <a:xfrm>
            <a:off x="2447794" y="4476964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7" name="타원 26"/>
          <p:cNvSpPr/>
          <p:nvPr/>
        </p:nvSpPr>
        <p:spPr bwMode="auto">
          <a:xfrm>
            <a:off x="3376488" y="2976766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8" name="타원 27"/>
          <p:cNvSpPr/>
          <p:nvPr/>
        </p:nvSpPr>
        <p:spPr bwMode="auto">
          <a:xfrm>
            <a:off x="4233744" y="3548270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9" name="타원 28"/>
          <p:cNvSpPr/>
          <p:nvPr/>
        </p:nvSpPr>
        <p:spPr bwMode="auto">
          <a:xfrm>
            <a:off x="7234140" y="4691278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0" name="타원 29"/>
          <p:cNvSpPr/>
          <p:nvPr/>
        </p:nvSpPr>
        <p:spPr bwMode="auto">
          <a:xfrm>
            <a:off x="9234404" y="3119642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 bwMode="auto">
          <a:xfrm flipV="1">
            <a:off x="1590538" y="3762584"/>
            <a:ext cx="3071834" cy="10715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2" name="타원 31"/>
          <p:cNvSpPr/>
          <p:nvPr/>
        </p:nvSpPr>
        <p:spPr bwMode="auto">
          <a:xfrm>
            <a:off x="5162438" y="4548402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3" name="타원 32"/>
          <p:cNvSpPr/>
          <p:nvPr/>
        </p:nvSpPr>
        <p:spPr bwMode="auto">
          <a:xfrm>
            <a:off x="7662768" y="3905460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4" name="타원 33"/>
          <p:cNvSpPr/>
          <p:nvPr/>
        </p:nvSpPr>
        <p:spPr bwMode="auto">
          <a:xfrm>
            <a:off x="6376884" y="5691410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35" name="직선 연결선 34"/>
          <p:cNvCxnSpPr>
            <a:stCxn id="25" idx="6"/>
            <a:endCxn id="34" idx="5"/>
          </p:cNvCxnSpPr>
          <p:nvPr/>
        </p:nvCxnSpPr>
        <p:spPr bwMode="auto">
          <a:xfrm>
            <a:off x="4662372" y="3807827"/>
            <a:ext cx="1897440" cy="20665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직선 연결선 35"/>
          <p:cNvCxnSpPr>
            <a:cxnSpLocks/>
          </p:cNvCxnSpPr>
          <p:nvPr/>
        </p:nvCxnSpPr>
        <p:spPr bwMode="auto">
          <a:xfrm flipV="1">
            <a:off x="6591198" y="2748772"/>
            <a:ext cx="3571900" cy="30140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7" name="타원 36"/>
          <p:cNvSpPr/>
          <p:nvPr/>
        </p:nvSpPr>
        <p:spPr bwMode="auto">
          <a:xfrm>
            <a:off x="9505642" y="3243014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1A2C648F-7389-4210-9D0C-A5591E9C8A16}"/>
              </a:ext>
            </a:extLst>
          </p:cNvPr>
          <p:cNvSpPr txBox="1"/>
          <p:nvPr/>
        </p:nvSpPr>
        <p:spPr>
          <a:xfrm>
            <a:off x="5961292" y="4909012"/>
            <a:ext cx="149970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balanced</a:t>
            </a:r>
            <a:endParaRPr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="" xmlns:a16="http://schemas.microsoft.com/office/drawing/2014/main" id="{B44A5F97-2B33-46BB-888F-56174066550E}"/>
              </a:ext>
            </a:extLst>
          </p:cNvPr>
          <p:cNvSpPr/>
          <p:nvPr/>
        </p:nvSpPr>
        <p:spPr bwMode="auto">
          <a:xfrm>
            <a:off x="9982984" y="2750482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과적합</a:t>
            </a:r>
            <a:r>
              <a:rPr lang="en-US" altLang="ko-KR" dirty="0"/>
              <a:t>(Overfitting)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1000404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spc="-8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</a:t>
            </a:r>
            <a:r>
              <a:rPr lang="en-US" altLang="ko-KR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(Overfitting) : </a:t>
            </a:r>
            <a:r>
              <a:rPr lang="ko-KR" altLang="en-US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데이터에 대한 인식률은 높은데</a:t>
            </a:r>
            <a:r>
              <a:rPr lang="en-US" altLang="ko-KR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테스트 데이터에 대한</a:t>
            </a:r>
            <a:r>
              <a:rPr lang="en-US" altLang="ko-KR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인식률이 낮을 경우</a:t>
            </a:r>
            <a:r>
              <a:rPr lang="en-US" altLang="ko-KR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spc="-8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데이터와 다르거나 멀리 떨어진 데이터를 사용할 경우 성능이 급격히 떨어짐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일반화 성능이 좋지 않음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2273133" y="4855485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5" name="타원 14"/>
          <p:cNvSpPr/>
          <p:nvPr/>
        </p:nvSpPr>
        <p:spPr bwMode="auto">
          <a:xfrm>
            <a:off x="3201827" y="285522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6" name="타원 15"/>
          <p:cNvSpPr/>
          <p:nvPr/>
        </p:nvSpPr>
        <p:spPr bwMode="auto">
          <a:xfrm>
            <a:off x="4059083" y="392679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7" name="타원 16"/>
          <p:cNvSpPr/>
          <p:nvPr/>
        </p:nvSpPr>
        <p:spPr bwMode="auto">
          <a:xfrm>
            <a:off x="7059479" y="5069799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8" name="타원 17"/>
          <p:cNvSpPr/>
          <p:nvPr/>
        </p:nvSpPr>
        <p:spPr bwMode="auto">
          <a:xfrm>
            <a:off x="9059743" y="3498163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19" name="직선 연결선 18"/>
          <p:cNvCxnSpPr>
            <a:stCxn id="14" idx="1"/>
            <a:endCxn id="15" idx="7"/>
          </p:cNvCxnSpPr>
          <p:nvPr/>
        </p:nvCxnSpPr>
        <p:spPr bwMode="auto">
          <a:xfrm rot="5400000" flipH="1" flipV="1">
            <a:off x="1844505" y="3346621"/>
            <a:ext cx="2000264" cy="1080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0" name="타원 19"/>
          <p:cNvSpPr/>
          <p:nvPr/>
        </p:nvSpPr>
        <p:spPr bwMode="auto">
          <a:xfrm>
            <a:off x="4987777" y="4926923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1" name="타원 20"/>
          <p:cNvSpPr/>
          <p:nvPr/>
        </p:nvSpPr>
        <p:spPr bwMode="auto">
          <a:xfrm>
            <a:off x="7488107" y="428398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2" name="타원 21"/>
          <p:cNvSpPr/>
          <p:nvPr/>
        </p:nvSpPr>
        <p:spPr bwMode="auto">
          <a:xfrm>
            <a:off x="6202223" y="606993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3" name="타원 22"/>
          <p:cNvSpPr/>
          <p:nvPr/>
        </p:nvSpPr>
        <p:spPr bwMode="auto">
          <a:xfrm>
            <a:off x="4211483" y="407919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24" name="직선 연결선 23"/>
          <p:cNvCxnSpPr>
            <a:stCxn id="16" idx="1"/>
            <a:endCxn id="15" idx="7"/>
          </p:cNvCxnSpPr>
          <p:nvPr/>
        </p:nvCxnSpPr>
        <p:spPr bwMode="auto">
          <a:xfrm rot="16200000" flipV="1">
            <a:off x="3201827" y="3069535"/>
            <a:ext cx="1071570" cy="705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/>
          <p:cNvCxnSpPr>
            <a:cxnSpLocks/>
            <a:stCxn id="36" idx="5"/>
            <a:endCxn id="18" idx="0"/>
          </p:cNvCxnSpPr>
          <p:nvPr/>
        </p:nvCxnSpPr>
        <p:spPr bwMode="auto">
          <a:xfrm flipH="1" flipV="1">
            <a:off x="9166900" y="3498163"/>
            <a:ext cx="361523" cy="3972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6" name="타원 35"/>
          <p:cNvSpPr/>
          <p:nvPr/>
        </p:nvSpPr>
        <p:spPr bwMode="auto">
          <a:xfrm>
            <a:off x="9345495" y="3712477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37" name="직선 연결선 36"/>
          <p:cNvCxnSpPr>
            <a:cxnSpLocks/>
            <a:stCxn id="16" idx="1"/>
            <a:endCxn id="23" idx="7"/>
          </p:cNvCxnSpPr>
          <p:nvPr/>
        </p:nvCxnSpPr>
        <p:spPr bwMode="auto">
          <a:xfrm rot="16200000" flipH="1">
            <a:off x="4166240" y="3882406"/>
            <a:ext cx="152400" cy="303942"/>
          </a:xfrm>
          <a:prstGeom prst="lin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8" name="직선 연결선 37"/>
          <p:cNvCxnSpPr>
            <a:cxnSpLocks/>
            <a:stCxn id="23" idx="1"/>
            <a:endCxn id="20" idx="7"/>
          </p:cNvCxnSpPr>
          <p:nvPr/>
        </p:nvCxnSpPr>
        <p:spPr bwMode="auto">
          <a:xfrm>
            <a:off x="4242869" y="4110577"/>
            <a:ext cx="927836" cy="847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9" name="직선 연결선 38"/>
          <p:cNvCxnSpPr>
            <a:stCxn id="20" idx="7"/>
            <a:endCxn id="22" idx="0"/>
          </p:cNvCxnSpPr>
          <p:nvPr/>
        </p:nvCxnSpPr>
        <p:spPr bwMode="auto">
          <a:xfrm rot="16200000" flipH="1">
            <a:off x="5184231" y="4944783"/>
            <a:ext cx="1111622" cy="11386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직선 연결선 39"/>
          <p:cNvCxnSpPr>
            <a:stCxn id="22" idx="0"/>
            <a:endCxn id="17" idx="1"/>
          </p:cNvCxnSpPr>
          <p:nvPr/>
        </p:nvCxnSpPr>
        <p:spPr bwMode="auto">
          <a:xfrm rot="5400000" flipH="1" flipV="1">
            <a:off x="6215749" y="5194816"/>
            <a:ext cx="968746" cy="7814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직선 연결선 40"/>
          <p:cNvCxnSpPr>
            <a:stCxn id="17" idx="2"/>
            <a:endCxn id="21" idx="1"/>
          </p:cNvCxnSpPr>
          <p:nvPr/>
        </p:nvCxnSpPr>
        <p:spPr bwMode="auto">
          <a:xfrm rot="10800000" flipH="1">
            <a:off x="7059479" y="4315368"/>
            <a:ext cx="460014" cy="861589"/>
          </a:xfrm>
          <a:prstGeom prst="lin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2" name="직선 연결선 41"/>
          <p:cNvCxnSpPr>
            <a:cxnSpLocks/>
            <a:stCxn id="21" idx="2"/>
            <a:endCxn id="18" idx="1"/>
          </p:cNvCxnSpPr>
          <p:nvPr/>
        </p:nvCxnSpPr>
        <p:spPr bwMode="auto">
          <a:xfrm flipV="1">
            <a:off x="7488107" y="3529549"/>
            <a:ext cx="1603022" cy="8615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F24A1E1-1534-460E-8DEE-E180B8231DAD}"/>
              </a:ext>
            </a:extLst>
          </p:cNvPr>
          <p:cNvSpPr txBox="1"/>
          <p:nvPr/>
        </p:nvSpPr>
        <p:spPr>
          <a:xfrm>
            <a:off x="5408425" y="4423741"/>
            <a:ext cx="201622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과적합</a:t>
            </a:r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overfitting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="" xmlns:a16="http://schemas.microsoft.com/office/drawing/2014/main" id="{14DF57B8-AA0B-4F98-88D5-AD63E4642803}"/>
              </a:ext>
            </a:extLst>
          </p:cNvPr>
          <p:cNvSpPr/>
          <p:nvPr/>
        </p:nvSpPr>
        <p:spPr bwMode="auto">
          <a:xfrm>
            <a:off x="9615989" y="3906681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="" xmlns:a16="http://schemas.microsoft.com/office/drawing/2014/main" id="{4900C81B-2988-4FAF-8EF1-3A53A81CAA07}"/>
              </a:ext>
            </a:extLst>
          </p:cNvPr>
          <p:cNvCxnSpPr>
            <a:cxnSpLocks/>
            <a:stCxn id="17" idx="2"/>
            <a:endCxn id="21" idx="2"/>
          </p:cNvCxnSpPr>
          <p:nvPr/>
        </p:nvCxnSpPr>
        <p:spPr bwMode="auto">
          <a:xfrm flipV="1">
            <a:off x="7059479" y="4391138"/>
            <a:ext cx="428628" cy="7858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="" xmlns:a16="http://schemas.microsoft.com/office/drawing/2014/main" id="{B0724464-6497-4ADC-849A-1337B896CC36}"/>
              </a:ext>
            </a:extLst>
          </p:cNvPr>
          <p:cNvCxnSpPr>
            <a:cxnSpLocks/>
            <a:endCxn id="36" idx="5"/>
          </p:cNvCxnSpPr>
          <p:nvPr/>
        </p:nvCxnSpPr>
        <p:spPr bwMode="auto">
          <a:xfrm flipH="1" flipV="1">
            <a:off x="9528423" y="3895405"/>
            <a:ext cx="152402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분류 문제에서 </a:t>
            </a:r>
            <a:r>
              <a:rPr lang="ko-KR" altLang="en-US" dirty="0" err="1" smtClean="0"/>
              <a:t>과적합</a:t>
            </a:r>
            <a:r>
              <a:rPr lang="en-US" altLang="ko-KR" dirty="0" smtClean="0"/>
              <a:t>(Overfitting)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4" y="1641082"/>
            <a:ext cx="10295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 후 성능의 문제가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과적합으로부터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발생한 것인지 항상 검증해야 함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3090" t="41171" r="24410" b="33626"/>
          <a:stretch/>
        </p:blipFill>
        <p:spPr>
          <a:xfrm>
            <a:off x="1669231" y="2696603"/>
            <a:ext cx="8850492" cy="2301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1931542" y="4813349"/>
            <a:ext cx="2527442" cy="61555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언더피팅</a:t>
            </a:r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지나치게 단순한 상태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7729970" y="4813349"/>
            <a:ext cx="2533912" cy="61555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오버피팅</a:t>
            </a:r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일반화 성능이 떨어짐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29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다층신경망에서 과밀학습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깊어지면 조금 더 복잡한 형태의 결정경계면 가짐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많은 수의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사용할 경우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발생 가능성에 대해 대응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24232CE9-6FA9-4DD8-B17F-DF3A2E175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387" y="2836070"/>
            <a:ext cx="2722012" cy="17858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4BB1ACDB-2348-4F2E-822C-679048078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671" y="4865641"/>
            <a:ext cx="2722012" cy="18779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174417F7-C339-4B13-9BA1-1E7EBC568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237" y="2744001"/>
            <a:ext cx="2722012" cy="18424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3287730" y="4597593"/>
            <a:ext cx="252744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은닉층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개수 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6709025" y="4597593"/>
            <a:ext cx="252744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은닉층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개수 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55A3AF0-C150-49AC-B1C9-4F3725669115}"/>
              </a:ext>
            </a:extLst>
          </p:cNvPr>
          <p:cNvSpPr txBox="1"/>
          <p:nvPr/>
        </p:nvSpPr>
        <p:spPr>
          <a:xfrm>
            <a:off x="7114854" y="6153581"/>
            <a:ext cx="252744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은닉층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개수 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5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과적합</a:t>
            </a:r>
            <a:r>
              <a:rPr lang="ko-KR" altLang="en-US" dirty="0" smtClean="0"/>
              <a:t> 검출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데이터 셋을 학습 셋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검증 셋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테스트 셋으로 구성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오류는 감소하나 검증 셋 오류가 증가하는 경우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상태이며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오류와 검증 오류가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모두 감소하는 경우 학습이 잘 수행되는 것으로 볼 수 있음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3221576" y="3026077"/>
            <a:ext cx="6379771" cy="3622702"/>
            <a:chOff x="1648634" y="1285860"/>
            <a:chExt cx="7423960" cy="4215636"/>
          </a:xfrm>
        </p:grpSpPr>
        <p:sp>
          <p:nvSpPr>
            <p:cNvPr id="14" name="직사각형 13"/>
            <p:cNvSpPr/>
            <p:nvPr/>
          </p:nvSpPr>
          <p:spPr bwMode="auto">
            <a:xfrm>
              <a:off x="2500298" y="1714488"/>
              <a:ext cx="714380" cy="307183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4500562" y="1714488"/>
              <a:ext cx="1428760" cy="307183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6" name="자유형 15"/>
            <p:cNvSpPr/>
            <p:nvPr/>
          </p:nvSpPr>
          <p:spPr bwMode="auto">
            <a:xfrm>
              <a:off x="2939970" y="2095018"/>
              <a:ext cx="3495554" cy="2160607"/>
            </a:xfrm>
            <a:custGeom>
              <a:avLst/>
              <a:gdLst>
                <a:gd name="connsiteX0" fmla="*/ 0 w 3495554"/>
                <a:gd name="connsiteY0" fmla="*/ 0 h 2160607"/>
                <a:gd name="connsiteX1" fmla="*/ 312516 w 3495554"/>
                <a:gd name="connsiteY1" fmla="*/ 1261640 h 2160607"/>
                <a:gd name="connsiteX2" fmla="*/ 706055 w 3495554"/>
                <a:gd name="connsiteY2" fmla="*/ 1932972 h 2160607"/>
                <a:gd name="connsiteX3" fmla="*/ 1400536 w 3495554"/>
                <a:gd name="connsiteY3" fmla="*/ 1851949 h 2160607"/>
                <a:gd name="connsiteX4" fmla="*/ 3495554 w 3495554"/>
                <a:gd name="connsiteY4" fmla="*/ 81023 h 2160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5554" h="2160607">
                  <a:moveTo>
                    <a:pt x="0" y="0"/>
                  </a:moveTo>
                  <a:cubicBezTo>
                    <a:pt x="97420" y="469739"/>
                    <a:pt x="194840" y="939478"/>
                    <a:pt x="312516" y="1261640"/>
                  </a:cubicBezTo>
                  <a:cubicBezTo>
                    <a:pt x="430192" y="1583802"/>
                    <a:pt x="524718" y="1834587"/>
                    <a:pt x="706055" y="1932972"/>
                  </a:cubicBezTo>
                  <a:cubicBezTo>
                    <a:pt x="887392" y="2031357"/>
                    <a:pt x="935619" y="2160607"/>
                    <a:pt x="1400536" y="1851949"/>
                  </a:cubicBezTo>
                  <a:cubicBezTo>
                    <a:pt x="1865453" y="1543291"/>
                    <a:pt x="2680503" y="812157"/>
                    <a:pt x="3495554" y="8102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7" name="자유형 16"/>
            <p:cNvSpPr/>
            <p:nvPr/>
          </p:nvSpPr>
          <p:spPr bwMode="auto">
            <a:xfrm>
              <a:off x="2662177" y="1898248"/>
              <a:ext cx="4398380" cy="2905246"/>
            </a:xfrm>
            <a:custGeom>
              <a:avLst/>
              <a:gdLst>
                <a:gd name="connsiteX0" fmla="*/ 0 w 4398380"/>
                <a:gd name="connsiteY0" fmla="*/ 0 h 2905246"/>
                <a:gd name="connsiteX1" fmla="*/ 277793 w 4398380"/>
                <a:gd name="connsiteY1" fmla="*/ 1296365 h 2905246"/>
                <a:gd name="connsiteX2" fmla="*/ 717631 w 4398380"/>
                <a:gd name="connsiteY2" fmla="*/ 2257063 h 2905246"/>
                <a:gd name="connsiteX3" fmla="*/ 1516284 w 4398380"/>
                <a:gd name="connsiteY3" fmla="*/ 2650603 h 2905246"/>
                <a:gd name="connsiteX4" fmla="*/ 4398380 w 4398380"/>
                <a:gd name="connsiteY4" fmla="*/ 2905246 h 290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8380" h="2905246">
                  <a:moveTo>
                    <a:pt x="0" y="0"/>
                  </a:moveTo>
                  <a:cubicBezTo>
                    <a:pt x="79094" y="460094"/>
                    <a:pt x="158188" y="920188"/>
                    <a:pt x="277793" y="1296365"/>
                  </a:cubicBezTo>
                  <a:cubicBezTo>
                    <a:pt x="397398" y="1672542"/>
                    <a:pt x="511216" y="2031357"/>
                    <a:pt x="717631" y="2257063"/>
                  </a:cubicBezTo>
                  <a:cubicBezTo>
                    <a:pt x="924046" y="2482769"/>
                    <a:pt x="902826" y="2542573"/>
                    <a:pt x="1516284" y="2650603"/>
                  </a:cubicBezTo>
                  <a:cubicBezTo>
                    <a:pt x="2129742" y="2758633"/>
                    <a:pt x="3264061" y="2831939"/>
                    <a:pt x="4398380" y="2905246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8" name="직선 화살표 연결선 17"/>
            <p:cNvCxnSpPr/>
            <p:nvPr/>
          </p:nvCxnSpPr>
          <p:spPr bwMode="auto">
            <a:xfrm rot="5400000" flipH="1" flipV="1">
              <a:off x="143638" y="3571876"/>
              <a:ext cx="3857652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직선 화살표 연결선 18"/>
            <p:cNvCxnSpPr/>
            <p:nvPr/>
          </p:nvCxnSpPr>
          <p:spPr bwMode="auto">
            <a:xfrm flipV="1">
              <a:off x="1714480" y="5072074"/>
              <a:ext cx="4849054" cy="103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 rot="16200000">
              <a:off x="908836" y="3157675"/>
              <a:ext cx="1837747" cy="358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Error(</a:t>
              </a:r>
              <a:r>
                <a:rPr lang="ko-KR" altLang="en-US" sz="1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학습 오류</a:t>
              </a:r>
              <a:r>
                <a:rPr lang="en-US" altLang="ko-KR" sz="1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59066" y="1285860"/>
              <a:ext cx="228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underfitting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14838" y="1294356"/>
              <a:ext cx="228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overfitting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198" y="2428868"/>
              <a:ext cx="228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validation error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86578" y="4345552"/>
              <a:ext cx="228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training error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E3E9BE28-A469-4A2A-AC80-DF8B40BEBDBA}"/>
              </a:ext>
            </a:extLst>
          </p:cNvPr>
          <p:cNvSpPr txBox="1"/>
          <p:nvPr/>
        </p:nvSpPr>
        <p:spPr>
          <a:xfrm>
            <a:off x="6415672" y="6282193"/>
            <a:ext cx="246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</a:t>
            </a:r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iterations(</a:t>
            </a:r>
            <a:r>
              <a:rPr lang="ko-KR" altLang="en-US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횟수</a:t>
            </a:r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</a:t>
            </a:r>
            <a:r>
              <a:rPr lang="ko-KR" altLang="en-US" dirty="0" err="1" smtClean="0"/>
              <a:t>드롭아웃</a:t>
            </a:r>
            <a:r>
              <a:rPr lang="en-US" altLang="ko-KR" dirty="0" smtClean="0"/>
              <a:t>(Dropout)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4" y="1641082"/>
            <a:ext cx="10230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드롭아웃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(Dropout)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구조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변경없이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가중치를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만들어서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발생하지 않도록 하는 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학습단계에서 랜덤으로 임의의 뉴런을 선택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삭제해 신호를 더 이상 다음 계층으로 전달하지 않음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1" name="그룹 261"/>
          <p:cNvGrpSpPr/>
          <p:nvPr/>
        </p:nvGrpSpPr>
        <p:grpSpPr>
          <a:xfrm>
            <a:off x="1796985" y="2953476"/>
            <a:ext cx="4143403" cy="2357454"/>
            <a:chOff x="1500165" y="2285988"/>
            <a:chExt cx="5072099" cy="2214576"/>
          </a:xfrm>
        </p:grpSpPr>
        <p:sp>
          <p:nvSpPr>
            <p:cNvPr id="12" name="타원 11"/>
            <p:cNvSpPr/>
            <p:nvPr/>
          </p:nvSpPr>
          <p:spPr bwMode="auto">
            <a:xfrm>
              <a:off x="1500165" y="268144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 bwMode="auto">
            <a:xfrm>
              <a:off x="1500165" y="3235092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 bwMode="auto">
            <a:xfrm>
              <a:off x="1500165" y="3788736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 bwMode="auto">
            <a:xfrm>
              <a:off x="2777241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 bwMode="auto">
            <a:xfrm>
              <a:off x="2777241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 bwMode="auto">
            <a:xfrm>
              <a:off x="2777241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 bwMode="auto">
            <a:xfrm>
              <a:off x="2777241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 bwMode="auto">
            <a:xfrm>
              <a:off x="3969179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 bwMode="auto">
            <a:xfrm>
              <a:off x="3969179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 bwMode="auto">
            <a:xfrm>
              <a:off x="3969179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 bwMode="auto">
            <a:xfrm>
              <a:off x="3969179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 bwMode="auto">
            <a:xfrm>
              <a:off x="6146572" y="2935312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 bwMode="auto">
            <a:xfrm>
              <a:off x="6146572" y="3488956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cxnSp>
          <p:nvCxnSpPr>
            <p:cNvPr id="25" name="직선 화살표 연결선 24"/>
            <p:cNvCxnSpPr>
              <a:stCxn id="12" idx="6"/>
              <a:endCxn id="15" idx="2"/>
            </p:cNvCxnSpPr>
            <p:nvPr/>
          </p:nvCxnSpPr>
          <p:spPr bwMode="auto">
            <a:xfrm flipV="1">
              <a:off x="1925857" y="2483718"/>
              <a:ext cx="851384" cy="3954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6" name="직선 화살표 연결선 25"/>
            <p:cNvCxnSpPr>
              <a:stCxn id="12" idx="6"/>
              <a:endCxn id="16" idx="2"/>
            </p:cNvCxnSpPr>
            <p:nvPr/>
          </p:nvCxnSpPr>
          <p:spPr bwMode="auto">
            <a:xfrm>
              <a:off x="1925857" y="2879178"/>
              <a:ext cx="851384" cy="2372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직선 화살표 연결선 26"/>
            <p:cNvCxnSpPr>
              <a:stCxn id="12" idx="6"/>
              <a:endCxn id="17" idx="2"/>
            </p:cNvCxnSpPr>
            <p:nvPr/>
          </p:nvCxnSpPr>
          <p:spPr bwMode="auto">
            <a:xfrm>
              <a:off x="1925857" y="2879178"/>
              <a:ext cx="851384" cy="7909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8" name="직선 화살표 연결선 27"/>
            <p:cNvCxnSpPr>
              <a:stCxn id="12" idx="6"/>
              <a:endCxn id="18" idx="2"/>
            </p:cNvCxnSpPr>
            <p:nvPr/>
          </p:nvCxnSpPr>
          <p:spPr bwMode="auto">
            <a:xfrm>
              <a:off x="1925857" y="2879178"/>
              <a:ext cx="851384" cy="14236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직선 화살표 연결선 28"/>
            <p:cNvCxnSpPr>
              <a:stCxn id="13" idx="6"/>
              <a:endCxn id="15" idx="2"/>
            </p:cNvCxnSpPr>
            <p:nvPr/>
          </p:nvCxnSpPr>
          <p:spPr bwMode="auto">
            <a:xfrm flipV="1">
              <a:off x="1925857" y="2483718"/>
              <a:ext cx="851384" cy="9491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직선 화살표 연결선 29"/>
            <p:cNvCxnSpPr>
              <a:stCxn id="13" idx="6"/>
              <a:endCxn id="16" idx="2"/>
            </p:cNvCxnSpPr>
            <p:nvPr/>
          </p:nvCxnSpPr>
          <p:spPr bwMode="auto">
            <a:xfrm flipV="1">
              <a:off x="1925857" y="3116454"/>
              <a:ext cx="851384" cy="3163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1" name="직선 화살표 연결선 30"/>
            <p:cNvCxnSpPr>
              <a:stCxn id="13" idx="6"/>
              <a:endCxn id="17" idx="2"/>
            </p:cNvCxnSpPr>
            <p:nvPr/>
          </p:nvCxnSpPr>
          <p:spPr bwMode="auto">
            <a:xfrm>
              <a:off x="1925857" y="3432822"/>
              <a:ext cx="851384" cy="2372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직선 화살표 연결선 31"/>
            <p:cNvCxnSpPr>
              <a:stCxn id="13" idx="6"/>
              <a:endCxn id="18" idx="2"/>
            </p:cNvCxnSpPr>
            <p:nvPr/>
          </p:nvCxnSpPr>
          <p:spPr bwMode="auto">
            <a:xfrm>
              <a:off x="1925857" y="3432822"/>
              <a:ext cx="851384" cy="8700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직선 화살표 연결선 32"/>
            <p:cNvCxnSpPr>
              <a:stCxn id="14" idx="6"/>
              <a:endCxn id="15" idx="2"/>
            </p:cNvCxnSpPr>
            <p:nvPr/>
          </p:nvCxnSpPr>
          <p:spPr bwMode="auto">
            <a:xfrm flipV="1">
              <a:off x="1925857" y="2483718"/>
              <a:ext cx="851384" cy="15027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직선 화살표 연결선 33"/>
            <p:cNvCxnSpPr>
              <a:stCxn id="14" idx="6"/>
              <a:endCxn id="16" idx="2"/>
            </p:cNvCxnSpPr>
            <p:nvPr/>
          </p:nvCxnSpPr>
          <p:spPr bwMode="auto">
            <a:xfrm flipV="1">
              <a:off x="1925857" y="3116454"/>
              <a:ext cx="851384" cy="8700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직선 화살표 연결선 34"/>
            <p:cNvCxnSpPr>
              <a:stCxn id="14" idx="6"/>
              <a:endCxn id="17" idx="2"/>
            </p:cNvCxnSpPr>
            <p:nvPr/>
          </p:nvCxnSpPr>
          <p:spPr bwMode="auto">
            <a:xfrm flipV="1">
              <a:off x="1925857" y="3670098"/>
              <a:ext cx="851384" cy="3163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6" name="직선 화살표 연결선 35"/>
            <p:cNvCxnSpPr>
              <a:stCxn id="14" idx="6"/>
              <a:endCxn id="18" idx="2"/>
            </p:cNvCxnSpPr>
            <p:nvPr/>
          </p:nvCxnSpPr>
          <p:spPr bwMode="auto">
            <a:xfrm>
              <a:off x="1925857" y="3986466"/>
              <a:ext cx="851384" cy="3163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직선 화살표 연결선 36"/>
            <p:cNvCxnSpPr>
              <a:stCxn id="15" idx="6"/>
              <a:endCxn id="19" idx="2"/>
            </p:cNvCxnSpPr>
            <p:nvPr/>
          </p:nvCxnSpPr>
          <p:spPr bwMode="auto">
            <a:xfrm>
              <a:off x="3202933" y="2483718"/>
              <a:ext cx="766246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직선 화살표 연결선 37"/>
            <p:cNvCxnSpPr>
              <a:stCxn id="16" idx="6"/>
              <a:endCxn id="20" idx="2"/>
            </p:cNvCxnSpPr>
            <p:nvPr/>
          </p:nvCxnSpPr>
          <p:spPr bwMode="auto">
            <a:xfrm>
              <a:off x="3202933" y="3116454"/>
              <a:ext cx="766246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9" name="직선 화살표 연결선 38"/>
            <p:cNvCxnSpPr>
              <a:stCxn id="17" idx="6"/>
              <a:endCxn id="21" idx="2"/>
            </p:cNvCxnSpPr>
            <p:nvPr/>
          </p:nvCxnSpPr>
          <p:spPr bwMode="auto">
            <a:xfrm>
              <a:off x="3202933" y="3670098"/>
              <a:ext cx="766246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직선 화살표 연결선 39"/>
            <p:cNvCxnSpPr>
              <a:stCxn id="18" idx="6"/>
              <a:endCxn id="22" idx="2"/>
            </p:cNvCxnSpPr>
            <p:nvPr/>
          </p:nvCxnSpPr>
          <p:spPr bwMode="auto">
            <a:xfrm>
              <a:off x="3202933" y="4302834"/>
              <a:ext cx="766246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직선 화살표 연결선 40"/>
            <p:cNvCxnSpPr>
              <a:stCxn id="15" idx="6"/>
              <a:endCxn id="20" idx="2"/>
            </p:cNvCxnSpPr>
            <p:nvPr/>
          </p:nvCxnSpPr>
          <p:spPr bwMode="auto">
            <a:xfrm>
              <a:off x="3202933" y="248371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2" name="직선 화살표 연결선 41"/>
            <p:cNvCxnSpPr>
              <a:stCxn id="15" idx="6"/>
              <a:endCxn id="21" idx="2"/>
            </p:cNvCxnSpPr>
            <p:nvPr/>
          </p:nvCxnSpPr>
          <p:spPr bwMode="auto">
            <a:xfrm>
              <a:off x="3202933" y="2483718"/>
              <a:ext cx="766246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직선 화살표 연결선 42"/>
            <p:cNvCxnSpPr>
              <a:stCxn id="15" idx="6"/>
              <a:endCxn id="22" idx="2"/>
            </p:cNvCxnSpPr>
            <p:nvPr/>
          </p:nvCxnSpPr>
          <p:spPr bwMode="auto">
            <a:xfrm>
              <a:off x="3202933" y="2483718"/>
              <a:ext cx="766246" cy="18191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직선 화살표 연결선 43"/>
            <p:cNvCxnSpPr>
              <a:stCxn id="16" idx="6"/>
              <a:endCxn id="19" idx="2"/>
            </p:cNvCxnSpPr>
            <p:nvPr/>
          </p:nvCxnSpPr>
          <p:spPr bwMode="auto">
            <a:xfrm flipV="1">
              <a:off x="3202933" y="248371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5" name="직선 화살표 연결선 44"/>
            <p:cNvCxnSpPr>
              <a:stCxn id="16" idx="6"/>
              <a:endCxn id="21" idx="2"/>
            </p:cNvCxnSpPr>
            <p:nvPr/>
          </p:nvCxnSpPr>
          <p:spPr bwMode="auto">
            <a:xfrm>
              <a:off x="3202933" y="3116454"/>
              <a:ext cx="766246" cy="5536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직선 화살표 연결선 45"/>
            <p:cNvCxnSpPr>
              <a:stCxn id="16" idx="6"/>
              <a:endCxn id="22" idx="2"/>
            </p:cNvCxnSpPr>
            <p:nvPr/>
          </p:nvCxnSpPr>
          <p:spPr bwMode="auto">
            <a:xfrm>
              <a:off x="3202933" y="3116454"/>
              <a:ext cx="766246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7" name="직선 화살표 연결선 46"/>
            <p:cNvCxnSpPr>
              <a:stCxn id="17" idx="6"/>
              <a:endCxn id="19" idx="2"/>
            </p:cNvCxnSpPr>
            <p:nvPr/>
          </p:nvCxnSpPr>
          <p:spPr bwMode="auto">
            <a:xfrm flipV="1">
              <a:off x="3202933" y="2483718"/>
              <a:ext cx="766246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8" name="직선 화살표 연결선 47"/>
            <p:cNvCxnSpPr>
              <a:stCxn id="17" idx="6"/>
              <a:endCxn id="20" idx="2"/>
            </p:cNvCxnSpPr>
            <p:nvPr/>
          </p:nvCxnSpPr>
          <p:spPr bwMode="auto">
            <a:xfrm flipV="1">
              <a:off x="3202933" y="3116454"/>
              <a:ext cx="766246" cy="5536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9" name="직선 화살표 연결선 48"/>
            <p:cNvCxnSpPr>
              <a:stCxn id="17" idx="6"/>
              <a:endCxn id="22" idx="2"/>
            </p:cNvCxnSpPr>
            <p:nvPr/>
          </p:nvCxnSpPr>
          <p:spPr bwMode="auto">
            <a:xfrm>
              <a:off x="3202933" y="367009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직선 화살표 연결선 49"/>
            <p:cNvCxnSpPr>
              <a:stCxn id="18" idx="6"/>
              <a:endCxn id="21" idx="2"/>
            </p:cNvCxnSpPr>
            <p:nvPr/>
          </p:nvCxnSpPr>
          <p:spPr bwMode="auto">
            <a:xfrm flipV="1">
              <a:off x="3202933" y="367009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직선 화살표 연결선 50"/>
            <p:cNvCxnSpPr>
              <a:stCxn id="18" idx="6"/>
              <a:endCxn id="20" idx="2"/>
            </p:cNvCxnSpPr>
            <p:nvPr/>
          </p:nvCxnSpPr>
          <p:spPr bwMode="auto">
            <a:xfrm flipV="1">
              <a:off x="3202933" y="3116454"/>
              <a:ext cx="766246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직선 화살표 연결선 51"/>
            <p:cNvCxnSpPr>
              <a:endCxn id="19" idx="2"/>
            </p:cNvCxnSpPr>
            <p:nvPr/>
          </p:nvCxnSpPr>
          <p:spPr bwMode="auto">
            <a:xfrm rot="5400000" flipH="1" flipV="1">
              <a:off x="2778386" y="2993405"/>
              <a:ext cx="1700479" cy="6811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53" name="타원 52"/>
            <p:cNvSpPr/>
            <p:nvPr/>
          </p:nvSpPr>
          <p:spPr bwMode="auto">
            <a:xfrm>
              <a:off x="4990840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54" name="타원 53"/>
            <p:cNvSpPr/>
            <p:nvPr/>
          </p:nvSpPr>
          <p:spPr bwMode="auto">
            <a:xfrm>
              <a:off x="4990840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55" name="타원 54"/>
            <p:cNvSpPr/>
            <p:nvPr/>
          </p:nvSpPr>
          <p:spPr bwMode="auto">
            <a:xfrm>
              <a:off x="4990840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56" name="타원 55"/>
            <p:cNvSpPr/>
            <p:nvPr/>
          </p:nvSpPr>
          <p:spPr bwMode="auto">
            <a:xfrm>
              <a:off x="4990840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cxnSp>
          <p:nvCxnSpPr>
            <p:cNvPr id="57" name="직선 화살표 연결선 56"/>
            <p:cNvCxnSpPr>
              <a:stCxn id="19" idx="6"/>
              <a:endCxn id="53" idx="2"/>
            </p:cNvCxnSpPr>
            <p:nvPr/>
          </p:nvCxnSpPr>
          <p:spPr bwMode="auto">
            <a:xfrm>
              <a:off x="4394871" y="2483718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직선 화살표 연결선 57"/>
            <p:cNvCxnSpPr>
              <a:stCxn id="19" idx="6"/>
              <a:endCxn id="54" idx="2"/>
            </p:cNvCxnSpPr>
            <p:nvPr/>
          </p:nvCxnSpPr>
          <p:spPr bwMode="auto">
            <a:xfrm>
              <a:off x="4394871" y="2483718"/>
              <a:ext cx="595969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직선 화살표 연결선 58"/>
            <p:cNvCxnSpPr>
              <a:stCxn id="19" idx="6"/>
              <a:endCxn id="55" idx="2"/>
            </p:cNvCxnSpPr>
            <p:nvPr/>
          </p:nvCxnSpPr>
          <p:spPr bwMode="auto">
            <a:xfrm>
              <a:off x="4394871" y="2483718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직선 화살표 연결선 59"/>
            <p:cNvCxnSpPr>
              <a:stCxn id="19" idx="6"/>
              <a:endCxn id="56" idx="2"/>
            </p:cNvCxnSpPr>
            <p:nvPr/>
          </p:nvCxnSpPr>
          <p:spPr bwMode="auto">
            <a:xfrm>
              <a:off x="4394871" y="2483718"/>
              <a:ext cx="595969" cy="18191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1" name="직선 화살표 연결선 60"/>
            <p:cNvCxnSpPr>
              <a:stCxn id="20" idx="6"/>
              <a:endCxn id="53" idx="2"/>
            </p:cNvCxnSpPr>
            <p:nvPr/>
          </p:nvCxnSpPr>
          <p:spPr bwMode="auto">
            <a:xfrm flipV="1">
              <a:off x="4394871" y="2483718"/>
              <a:ext cx="595969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직선 화살표 연결선 61"/>
            <p:cNvCxnSpPr>
              <a:stCxn id="20" idx="6"/>
              <a:endCxn id="54" idx="2"/>
            </p:cNvCxnSpPr>
            <p:nvPr/>
          </p:nvCxnSpPr>
          <p:spPr bwMode="auto">
            <a:xfrm>
              <a:off x="4394871" y="3116454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직선 화살표 연결선 62"/>
            <p:cNvCxnSpPr>
              <a:stCxn id="20" idx="6"/>
              <a:endCxn id="55" idx="2"/>
            </p:cNvCxnSpPr>
            <p:nvPr/>
          </p:nvCxnSpPr>
          <p:spPr bwMode="auto">
            <a:xfrm>
              <a:off x="4394871" y="3116454"/>
              <a:ext cx="595969" cy="5536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직선 화살표 연결선 63"/>
            <p:cNvCxnSpPr>
              <a:stCxn id="20" idx="6"/>
              <a:endCxn id="56" idx="2"/>
            </p:cNvCxnSpPr>
            <p:nvPr/>
          </p:nvCxnSpPr>
          <p:spPr bwMode="auto">
            <a:xfrm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직선 화살표 연결선 64"/>
            <p:cNvCxnSpPr>
              <a:stCxn id="21" idx="6"/>
              <a:endCxn id="53" idx="2"/>
            </p:cNvCxnSpPr>
            <p:nvPr/>
          </p:nvCxnSpPr>
          <p:spPr bwMode="auto">
            <a:xfrm flipV="1">
              <a:off x="4394871" y="2483718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직선 화살표 연결선 65"/>
            <p:cNvCxnSpPr>
              <a:stCxn id="21" idx="6"/>
              <a:endCxn id="54" idx="2"/>
            </p:cNvCxnSpPr>
            <p:nvPr/>
          </p:nvCxnSpPr>
          <p:spPr bwMode="auto">
            <a:xfrm flipV="1">
              <a:off x="4394871" y="3116454"/>
              <a:ext cx="595969" cy="5536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직선 화살표 연결선 66"/>
            <p:cNvCxnSpPr>
              <a:stCxn id="21" idx="6"/>
              <a:endCxn id="55" idx="2"/>
            </p:cNvCxnSpPr>
            <p:nvPr/>
          </p:nvCxnSpPr>
          <p:spPr bwMode="auto">
            <a:xfrm>
              <a:off x="4394871" y="3670098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직선 화살표 연결선 67"/>
            <p:cNvCxnSpPr>
              <a:stCxn id="21" idx="6"/>
              <a:endCxn id="56" idx="2"/>
            </p:cNvCxnSpPr>
            <p:nvPr/>
          </p:nvCxnSpPr>
          <p:spPr bwMode="auto">
            <a:xfrm>
              <a:off x="4394871" y="3670098"/>
              <a:ext cx="595969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직선 화살표 연결선 68"/>
            <p:cNvCxnSpPr>
              <a:stCxn id="22" idx="6"/>
              <a:endCxn id="56" idx="2"/>
            </p:cNvCxnSpPr>
            <p:nvPr/>
          </p:nvCxnSpPr>
          <p:spPr bwMode="auto">
            <a:xfrm>
              <a:off x="4394871" y="4302834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직선 화살표 연결선 69"/>
            <p:cNvCxnSpPr>
              <a:stCxn id="22" idx="6"/>
              <a:endCxn id="55" idx="2"/>
            </p:cNvCxnSpPr>
            <p:nvPr/>
          </p:nvCxnSpPr>
          <p:spPr bwMode="auto">
            <a:xfrm flipV="1">
              <a:off x="4394871" y="3670098"/>
              <a:ext cx="595969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직선 화살표 연결선 70"/>
            <p:cNvCxnSpPr>
              <a:stCxn id="22" idx="6"/>
              <a:endCxn id="54" idx="2"/>
            </p:cNvCxnSpPr>
            <p:nvPr/>
          </p:nvCxnSpPr>
          <p:spPr bwMode="auto">
            <a:xfrm flipV="1"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직선 화살표 연결선 71"/>
            <p:cNvCxnSpPr>
              <a:stCxn id="22" idx="6"/>
              <a:endCxn id="54" idx="2"/>
            </p:cNvCxnSpPr>
            <p:nvPr/>
          </p:nvCxnSpPr>
          <p:spPr bwMode="auto">
            <a:xfrm flipV="1"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직선 화살표 연결선 72"/>
            <p:cNvCxnSpPr>
              <a:stCxn id="22" idx="6"/>
              <a:endCxn id="53" idx="2"/>
            </p:cNvCxnSpPr>
            <p:nvPr/>
          </p:nvCxnSpPr>
          <p:spPr bwMode="auto">
            <a:xfrm flipV="1">
              <a:off x="4394871" y="2483718"/>
              <a:ext cx="595969" cy="18191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직선 화살표 연결선 73"/>
            <p:cNvCxnSpPr>
              <a:stCxn id="53" idx="6"/>
              <a:endCxn id="23" idx="2"/>
            </p:cNvCxnSpPr>
            <p:nvPr/>
          </p:nvCxnSpPr>
          <p:spPr bwMode="auto">
            <a:xfrm>
              <a:off x="5416532" y="2483718"/>
              <a:ext cx="730040" cy="6493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직선 화살표 연결선 74"/>
            <p:cNvCxnSpPr>
              <a:stCxn id="53" idx="6"/>
              <a:endCxn id="24" idx="2"/>
            </p:cNvCxnSpPr>
            <p:nvPr/>
          </p:nvCxnSpPr>
          <p:spPr bwMode="auto">
            <a:xfrm>
              <a:off x="5416532" y="2483718"/>
              <a:ext cx="730040" cy="12029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직선 화살표 연결선 75"/>
            <p:cNvCxnSpPr>
              <a:stCxn id="54" idx="6"/>
              <a:endCxn id="23" idx="2"/>
            </p:cNvCxnSpPr>
            <p:nvPr/>
          </p:nvCxnSpPr>
          <p:spPr bwMode="auto">
            <a:xfrm>
              <a:off x="5416532" y="3116454"/>
              <a:ext cx="730040" cy="16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직선 화살표 연결선 76"/>
            <p:cNvCxnSpPr>
              <a:stCxn id="54" idx="6"/>
              <a:endCxn id="24" idx="2"/>
            </p:cNvCxnSpPr>
            <p:nvPr/>
          </p:nvCxnSpPr>
          <p:spPr bwMode="auto">
            <a:xfrm>
              <a:off x="5416532" y="3116454"/>
              <a:ext cx="730040" cy="5702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직선 화살표 연결선 77"/>
            <p:cNvCxnSpPr>
              <a:stCxn id="55" idx="6"/>
              <a:endCxn id="23" idx="2"/>
            </p:cNvCxnSpPr>
            <p:nvPr/>
          </p:nvCxnSpPr>
          <p:spPr bwMode="auto">
            <a:xfrm flipV="1">
              <a:off x="5416532" y="3133042"/>
              <a:ext cx="730040" cy="5370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직선 화살표 연결선 78"/>
            <p:cNvCxnSpPr>
              <a:stCxn id="55" idx="6"/>
              <a:endCxn id="24" idx="2"/>
            </p:cNvCxnSpPr>
            <p:nvPr/>
          </p:nvCxnSpPr>
          <p:spPr bwMode="auto">
            <a:xfrm>
              <a:off x="5416532" y="3670098"/>
              <a:ext cx="730040" cy="16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직선 화살표 연결선 79"/>
            <p:cNvCxnSpPr>
              <a:stCxn id="56" idx="6"/>
              <a:endCxn id="24" idx="2"/>
            </p:cNvCxnSpPr>
            <p:nvPr/>
          </p:nvCxnSpPr>
          <p:spPr bwMode="auto">
            <a:xfrm flipV="1">
              <a:off x="5416532" y="3686686"/>
              <a:ext cx="730040" cy="6161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직선 화살표 연결선 80"/>
            <p:cNvCxnSpPr>
              <a:stCxn id="56" idx="6"/>
              <a:endCxn id="23" idx="2"/>
            </p:cNvCxnSpPr>
            <p:nvPr/>
          </p:nvCxnSpPr>
          <p:spPr bwMode="auto">
            <a:xfrm flipV="1">
              <a:off x="5416532" y="3133042"/>
              <a:ext cx="730040" cy="116979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82" name="그룹 262"/>
          <p:cNvGrpSpPr/>
          <p:nvPr/>
        </p:nvGrpSpPr>
        <p:grpSpPr>
          <a:xfrm>
            <a:off x="6297579" y="2953476"/>
            <a:ext cx="4143403" cy="2357454"/>
            <a:chOff x="1500165" y="2285988"/>
            <a:chExt cx="5072099" cy="2214576"/>
          </a:xfrm>
        </p:grpSpPr>
        <p:sp>
          <p:nvSpPr>
            <p:cNvPr id="83" name="타원 82"/>
            <p:cNvSpPr/>
            <p:nvPr/>
          </p:nvSpPr>
          <p:spPr bwMode="auto">
            <a:xfrm>
              <a:off x="1500165" y="268144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4" name="타원 83"/>
            <p:cNvSpPr/>
            <p:nvPr/>
          </p:nvSpPr>
          <p:spPr bwMode="auto">
            <a:xfrm>
              <a:off x="1500165" y="3235092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5" name="타원 84"/>
            <p:cNvSpPr/>
            <p:nvPr/>
          </p:nvSpPr>
          <p:spPr bwMode="auto">
            <a:xfrm>
              <a:off x="1500165" y="3788736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6" name="타원 85"/>
            <p:cNvSpPr/>
            <p:nvPr/>
          </p:nvSpPr>
          <p:spPr bwMode="auto">
            <a:xfrm>
              <a:off x="2777241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7" name="타원 86"/>
            <p:cNvSpPr/>
            <p:nvPr/>
          </p:nvSpPr>
          <p:spPr bwMode="auto">
            <a:xfrm>
              <a:off x="2777241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8" name="타원 87"/>
            <p:cNvSpPr/>
            <p:nvPr/>
          </p:nvSpPr>
          <p:spPr bwMode="auto">
            <a:xfrm>
              <a:off x="2777241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89" name="타원 88"/>
            <p:cNvSpPr/>
            <p:nvPr/>
          </p:nvSpPr>
          <p:spPr bwMode="auto">
            <a:xfrm>
              <a:off x="2777241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 bwMode="auto">
            <a:xfrm>
              <a:off x="3969179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 bwMode="auto">
            <a:xfrm>
              <a:off x="3969179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2" name="타원 91"/>
            <p:cNvSpPr/>
            <p:nvPr/>
          </p:nvSpPr>
          <p:spPr bwMode="auto">
            <a:xfrm>
              <a:off x="3969179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 bwMode="auto">
            <a:xfrm>
              <a:off x="3969179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 bwMode="auto">
            <a:xfrm>
              <a:off x="6146572" y="2935312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 bwMode="auto">
            <a:xfrm>
              <a:off x="6146572" y="3488956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cxnSp>
          <p:nvCxnSpPr>
            <p:cNvPr id="96" name="직선 화살표 연결선 95"/>
            <p:cNvCxnSpPr>
              <a:stCxn id="83" idx="6"/>
              <a:endCxn id="86" idx="2"/>
            </p:cNvCxnSpPr>
            <p:nvPr/>
          </p:nvCxnSpPr>
          <p:spPr bwMode="auto">
            <a:xfrm flipV="1">
              <a:off x="1925857" y="2483718"/>
              <a:ext cx="851384" cy="3954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직선 화살표 연결선 96"/>
            <p:cNvCxnSpPr>
              <a:stCxn id="83" idx="6"/>
              <a:endCxn id="88" idx="2"/>
            </p:cNvCxnSpPr>
            <p:nvPr/>
          </p:nvCxnSpPr>
          <p:spPr bwMode="auto">
            <a:xfrm>
              <a:off x="1925857" y="2879178"/>
              <a:ext cx="851384" cy="7909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직선 화살표 연결선 97"/>
            <p:cNvCxnSpPr>
              <a:stCxn id="83" idx="6"/>
              <a:endCxn id="89" idx="2"/>
            </p:cNvCxnSpPr>
            <p:nvPr/>
          </p:nvCxnSpPr>
          <p:spPr bwMode="auto">
            <a:xfrm>
              <a:off x="1925857" y="2879178"/>
              <a:ext cx="851384" cy="14236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직선 화살표 연결선 98"/>
            <p:cNvCxnSpPr>
              <a:stCxn id="84" idx="6"/>
              <a:endCxn id="86" idx="2"/>
            </p:cNvCxnSpPr>
            <p:nvPr/>
          </p:nvCxnSpPr>
          <p:spPr bwMode="auto">
            <a:xfrm flipV="1">
              <a:off x="1925857" y="2483718"/>
              <a:ext cx="851384" cy="9491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직선 화살표 연결선 99"/>
            <p:cNvCxnSpPr>
              <a:stCxn id="84" idx="6"/>
              <a:endCxn id="88" idx="2"/>
            </p:cNvCxnSpPr>
            <p:nvPr/>
          </p:nvCxnSpPr>
          <p:spPr bwMode="auto">
            <a:xfrm>
              <a:off x="1925857" y="3432822"/>
              <a:ext cx="851384" cy="2372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직선 화살표 연결선 100"/>
            <p:cNvCxnSpPr>
              <a:stCxn id="84" idx="6"/>
              <a:endCxn id="89" idx="2"/>
            </p:cNvCxnSpPr>
            <p:nvPr/>
          </p:nvCxnSpPr>
          <p:spPr bwMode="auto">
            <a:xfrm>
              <a:off x="1925857" y="3432822"/>
              <a:ext cx="851384" cy="8700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직선 화살표 연결선 101"/>
            <p:cNvCxnSpPr>
              <a:stCxn id="85" idx="6"/>
              <a:endCxn id="86" idx="2"/>
            </p:cNvCxnSpPr>
            <p:nvPr/>
          </p:nvCxnSpPr>
          <p:spPr bwMode="auto">
            <a:xfrm flipV="1">
              <a:off x="1925857" y="2483718"/>
              <a:ext cx="851384" cy="15027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직선 화살표 연결선 102"/>
            <p:cNvCxnSpPr>
              <a:stCxn id="85" idx="6"/>
              <a:endCxn id="88" idx="2"/>
            </p:cNvCxnSpPr>
            <p:nvPr/>
          </p:nvCxnSpPr>
          <p:spPr bwMode="auto">
            <a:xfrm flipV="1">
              <a:off x="1925857" y="3670098"/>
              <a:ext cx="851384" cy="3163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직선 화살표 연결선 103"/>
            <p:cNvCxnSpPr>
              <a:stCxn id="85" idx="6"/>
              <a:endCxn id="89" idx="2"/>
            </p:cNvCxnSpPr>
            <p:nvPr/>
          </p:nvCxnSpPr>
          <p:spPr bwMode="auto">
            <a:xfrm>
              <a:off x="1925857" y="3986466"/>
              <a:ext cx="851384" cy="3163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직선 화살표 연결선 104"/>
            <p:cNvCxnSpPr>
              <a:stCxn id="89" idx="6"/>
              <a:endCxn id="93" idx="2"/>
            </p:cNvCxnSpPr>
            <p:nvPr/>
          </p:nvCxnSpPr>
          <p:spPr bwMode="auto">
            <a:xfrm>
              <a:off x="3202933" y="4302834"/>
              <a:ext cx="766246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7" name="직선 화살표 연결선 106"/>
            <p:cNvCxnSpPr>
              <a:stCxn id="86" idx="6"/>
              <a:endCxn id="91" idx="2"/>
            </p:cNvCxnSpPr>
            <p:nvPr/>
          </p:nvCxnSpPr>
          <p:spPr bwMode="auto">
            <a:xfrm>
              <a:off x="3202933" y="248371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8" name="직선 화살표 연결선 107"/>
            <p:cNvCxnSpPr>
              <a:stCxn id="86" idx="6"/>
              <a:endCxn id="93" idx="2"/>
            </p:cNvCxnSpPr>
            <p:nvPr/>
          </p:nvCxnSpPr>
          <p:spPr bwMode="auto">
            <a:xfrm>
              <a:off x="3202933" y="2483718"/>
              <a:ext cx="766246" cy="18191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직선 화살표 연결선 108"/>
            <p:cNvCxnSpPr>
              <a:stCxn id="88" idx="6"/>
              <a:endCxn id="91" idx="2"/>
            </p:cNvCxnSpPr>
            <p:nvPr/>
          </p:nvCxnSpPr>
          <p:spPr bwMode="auto">
            <a:xfrm flipV="1">
              <a:off x="3202933" y="3116454"/>
              <a:ext cx="766246" cy="5536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0" name="직선 화살표 연결선 109"/>
            <p:cNvCxnSpPr>
              <a:stCxn id="88" idx="6"/>
              <a:endCxn id="93" idx="2"/>
            </p:cNvCxnSpPr>
            <p:nvPr/>
          </p:nvCxnSpPr>
          <p:spPr bwMode="auto">
            <a:xfrm>
              <a:off x="3202933" y="3670098"/>
              <a:ext cx="766246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직선 화살표 연결선 110"/>
            <p:cNvCxnSpPr>
              <a:stCxn id="89" idx="6"/>
              <a:endCxn id="91" idx="2"/>
            </p:cNvCxnSpPr>
            <p:nvPr/>
          </p:nvCxnSpPr>
          <p:spPr bwMode="auto">
            <a:xfrm flipV="1">
              <a:off x="3202933" y="3116454"/>
              <a:ext cx="766246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12" name="타원 111"/>
            <p:cNvSpPr/>
            <p:nvPr/>
          </p:nvSpPr>
          <p:spPr bwMode="auto">
            <a:xfrm>
              <a:off x="4990840" y="228598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13" name="타원 112"/>
            <p:cNvSpPr/>
            <p:nvPr/>
          </p:nvSpPr>
          <p:spPr bwMode="auto">
            <a:xfrm>
              <a:off x="4990840" y="291872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14" name="타원 113"/>
            <p:cNvSpPr/>
            <p:nvPr/>
          </p:nvSpPr>
          <p:spPr bwMode="auto">
            <a:xfrm>
              <a:off x="4990840" y="3472368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 bwMode="auto">
            <a:xfrm>
              <a:off x="4990840" y="4105104"/>
              <a:ext cx="425692" cy="3954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/>
            </a:p>
          </p:txBody>
        </p:sp>
        <p:cxnSp>
          <p:nvCxnSpPr>
            <p:cNvPr id="116" name="직선 화살표 연결선 115"/>
            <p:cNvCxnSpPr>
              <a:stCxn id="91" idx="6"/>
              <a:endCxn id="112" idx="2"/>
            </p:cNvCxnSpPr>
            <p:nvPr/>
          </p:nvCxnSpPr>
          <p:spPr bwMode="auto">
            <a:xfrm flipV="1">
              <a:off x="4394871" y="2483718"/>
              <a:ext cx="595969" cy="6327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직선 화살표 연결선 116"/>
            <p:cNvCxnSpPr>
              <a:stCxn id="91" idx="6"/>
              <a:endCxn id="113" idx="2"/>
            </p:cNvCxnSpPr>
            <p:nvPr/>
          </p:nvCxnSpPr>
          <p:spPr bwMode="auto">
            <a:xfrm>
              <a:off x="4394871" y="3116454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직선 화살표 연결선 117"/>
            <p:cNvCxnSpPr>
              <a:stCxn id="91" idx="6"/>
              <a:endCxn id="115" idx="2"/>
            </p:cNvCxnSpPr>
            <p:nvPr/>
          </p:nvCxnSpPr>
          <p:spPr bwMode="auto">
            <a:xfrm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9" name="직선 화살표 연결선 118"/>
            <p:cNvCxnSpPr>
              <a:stCxn id="93" idx="6"/>
              <a:endCxn id="115" idx="2"/>
            </p:cNvCxnSpPr>
            <p:nvPr/>
          </p:nvCxnSpPr>
          <p:spPr bwMode="auto">
            <a:xfrm>
              <a:off x="4394871" y="4302834"/>
              <a:ext cx="595969" cy="17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직선 화살표 연결선 119"/>
            <p:cNvCxnSpPr>
              <a:stCxn id="93" idx="6"/>
              <a:endCxn id="113" idx="2"/>
            </p:cNvCxnSpPr>
            <p:nvPr/>
          </p:nvCxnSpPr>
          <p:spPr bwMode="auto">
            <a:xfrm flipV="1"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직선 화살표 연결선 120"/>
            <p:cNvCxnSpPr>
              <a:stCxn id="93" idx="6"/>
              <a:endCxn id="113" idx="2"/>
            </p:cNvCxnSpPr>
            <p:nvPr/>
          </p:nvCxnSpPr>
          <p:spPr bwMode="auto">
            <a:xfrm flipV="1">
              <a:off x="4394871" y="3116454"/>
              <a:ext cx="595969" cy="1186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직선 화살표 연결선 121"/>
            <p:cNvCxnSpPr>
              <a:stCxn id="93" idx="6"/>
              <a:endCxn id="112" idx="2"/>
            </p:cNvCxnSpPr>
            <p:nvPr/>
          </p:nvCxnSpPr>
          <p:spPr bwMode="auto">
            <a:xfrm flipV="1">
              <a:off x="4394871" y="2483718"/>
              <a:ext cx="595969" cy="18191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9" name="직선 화살표 연결선 128"/>
            <p:cNvCxnSpPr>
              <a:stCxn id="112" idx="6"/>
              <a:endCxn id="94" idx="2"/>
            </p:cNvCxnSpPr>
            <p:nvPr/>
          </p:nvCxnSpPr>
          <p:spPr bwMode="auto">
            <a:xfrm>
              <a:off x="5416532" y="2483718"/>
              <a:ext cx="730040" cy="6493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0" name="직선 화살표 연결선 129"/>
            <p:cNvCxnSpPr>
              <a:stCxn id="112" idx="6"/>
              <a:endCxn id="95" idx="2"/>
            </p:cNvCxnSpPr>
            <p:nvPr/>
          </p:nvCxnSpPr>
          <p:spPr bwMode="auto">
            <a:xfrm>
              <a:off x="5416532" y="2483718"/>
              <a:ext cx="730040" cy="12029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1" name="직선 화살표 연결선 130"/>
            <p:cNvCxnSpPr>
              <a:stCxn id="113" idx="6"/>
              <a:endCxn id="94" idx="2"/>
            </p:cNvCxnSpPr>
            <p:nvPr/>
          </p:nvCxnSpPr>
          <p:spPr bwMode="auto">
            <a:xfrm>
              <a:off x="5416532" y="3116454"/>
              <a:ext cx="730040" cy="16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2" name="직선 화살표 연결선 131"/>
            <p:cNvCxnSpPr>
              <a:stCxn id="113" idx="6"/>
              <a:endCxn id="95" idx="2"/>
            </p:cNvCxnSpPr>
            <p:nvPr/>
          </p:nvCxnSpPr>
          <p:spPr bwMode="auto">
            <a:xfrm>
              <a:off x="5416532" y="3116454"/>
              <a:ext cx="730040" cy="5702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직선 화살표 연결선 132"/>
            <p:cNvCxnSpPr>
              <a:stCxn id="115" idx="6"/>
              <a:endCxn id="95" idx="2"/>
            </p:cNvCxnSpPr>
            <p:nvPr/>
          </p:nvCxnSpPr>
          <p:spPr bwMode="auto">
            <a:xfrm flipV="1">
              <a:off x="5416532" y="3686686"/>
              <a:ext cx="730040" cy="6161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직선 화살표 연결선 133"/>
            <p:cNvCxnSpPr>
              <a:stCxn id="115" idx="6"/>
              <a:endCxn id="94" idx="2"/>
            </p:cNvCxnSpPr>
            <p:nvPr/>
          </p:nvCxnSpPr>
          <p:spPr bwMode="auto">
            <a:xfrm flipV="1">
              <a:off x="5416532" y="3133042"/>
              <a:ext cx="730040" cy="116979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10477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드롭아웃</a:t>
            </a:r>
            <a:r>
              <a:rPr lang="ko-KR" altLang="en-US" dirty="0" smtClean="0"/>
              <a:t> 효과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다소 부정확한 다수의 약한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분류기들을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Voting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방식으로 결합함으로써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회피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7169" y="2604751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약한 분류기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(weak classifier)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7169" y="3133697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약한 분류기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(weak classifier)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7169" y="3662643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약한 분류기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(weak classifier)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50122" y="3133697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강한 분류기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(strong classifier)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5778115" y="3196820"/>
            <a:ext cx="632723" cy="2430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440999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가중치 값이 현저하게 큰 특정 가중치 값이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드롭아웃될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확률이 높아져 전체적으로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서로 적응해 학습에 참여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(co-adaptation)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3225" y="5846778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[ 0.72   0.01   -0.02 ]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오른쪽 화살표 17"/>
          <p:cNvSpPr/>
          <p:nvPr/>
        </p:nvSpPr>
        <p:spPr>
          <a:xfrm>
            <a:off x="5778115" y="5909901"/>
            <a:ext cx="632723" cy="2430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001517" y="5846778"/>
            <a:ext cx="310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</a:t>
            </a:r>
            <a:r>
              <a:rPr lang="en-US" altLang="ko-KR" dirty="0" smtClean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0.01   -0.02 ]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앙상블 방법을 사용한 분류기 성능 개선 사례 </a:t>
            </a:r>
            <a:r>
              <a:rPr lang="en-US" altLang="ko-KR" dirty="0" smtClean="0"/>
              <a:t>#1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약한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분류기들의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조합으로 강한 분류기를 만들어 성능 개선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4944044" y="2419928"/>
            <a:ext cx="3568652" cy="2632686"/>
            <a:chOff x="3000364" y="3357562"/>
            <a:chExt cx="4163924" cy="3071834"/>
          </a:xfrm>
        </p:grpSpPr>
        <p:grpSp>
          <p:nvGrpSpPr>
            <p:cNvPr id="30" name="그룹 63">
              <a:extLst>
                <a:ext uri="{FF2B5EF4-FFF2-40B4-BE49-F238E27FC236}">
                  <a16:creationId xmlns="" xmlns:a16="http://schemas.microsoft.com/office/drawing/2014/main" id="{09E5B074-E44D-4719-927C-CD61A4400F1B}"/>
                </a:ext>
              </a:extLst>
            </p:cNvPr>
            <p:cNvGrpSpPr/>
            <p:nvPr/>
          </p:nvGrpSpPr>
          <p:grpSpPr>
            <a:xfrm>
              <a:off x="3428993" y="3429000"/>
              <a:ext cx="3735295" cy="3000396"/>
              <a:chOff x="5143505" y="3286124"/>
              <a:chExt cx="3735295" cy="3000396"/>
            </a:xfrm>
          </p:grpSpPr>
          <p:grpSp>
            <p:nvGrpSpPr>
              <p:cNvPr id="31" name="그룹 32">
                <a:extLst>
                  <a:ext uri="{FF2B5EF4-FFF2-40B4-BE49-F238E27FC236}">
                    <a16:creationId xmlns="" xmlns:a16="http://schemas.microsoft.com/office/drawing/2014/main" id="{31851EA2-E35B-46AA-9F34-23426A7B177B}"/>
                  </a:ext>
                </a:extLst>
              </p:cNvPr>
              <p:cNvGrpSpPr/>
              <p:nvPr/>
            </p:nvGrpSpPr>
            <p:grpSpPr>
              <a:xfrm>
                <a:off x="5286380" y="3429000"/>
                <a:ext cx="1785950" cy="2643206"/>
                <a:chOff x="5286380" y="3429000"/>
                <a:chExt cx="1785950" cy="2643206"/>
              </a:xfrm>
            </p:grpSpPr>
            <p:sp>
              <p:nvSpPr>
                <p:cNvPr id="56" name="직사각형 55">
                  <a:extLst>
                    <a:ext uri="{FF2B5EF4-FFF2-40B4-BE49-F238E27FC236}">
                      <a16:creationId xmlns="" xmlns:a16="http://schemas.microsoft.com/office/drawing/2014/main" id="{50FECDAD-6A25-47DD-A420-85AD56565F8A}"/>
                    </a:ext>
                  </a:extLst>
                </p:cNvPr>
                <p:cNvSpPr/>
                <p:nvPr/>
              </p:nvSpPr>
              <p:spPr bwMode="auto">
                <a:xfrm>
                  <a:off x="5286380" y="3429000"/>
                  <a:ext cx="1785950" cy="264320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grpSp>
              <p:nvGrpSpPr>
                <p:cNvPr id="57" name="그룹 12">
                  <a:extLst>
                    <a:ext uri="{FF2B5EF4-FFF2-40B4-BE49-F238E27FC236}">
                      <a16:creationId xmlns="" xmlns:a16="http://schemas.microsoft.com/office/drawing/2014/main" id="{7FE20328-FF86-4CD3-81FB-1D74C8E5EC67}"/>
                    </a:ext>
                  </a:extLst>
                </p:cNvPr>
                <p:cNvGrpSpPr/>
                <p:nvPr/>
              </p:nvGrpSpPr>
              <p:grpSpPr>
                <a:xfrm>
                  <a:off x="5286380" y="3429000"/>
                  <a:ext cx="1428760" cy="2643206"/>
                  <a:chOff x="6715140" y="3429000"/>
                  <a:chExt cx="1428760" cy="1428760"/>
                </a:xfrm>
              </p:grpSpPr>
              <p:sp>
                <p:nvSpPr>
                  <p:cNvPr id="65" name="직사각형 64">
                    <a:extLst>
                      <a:ext uri="{FF2B5EF4-FFF2-40B4-BE49-F238E27FC236}">
                        <a16:creationId xmlns="" xmlns:a16="http://schemas.microsoft.com/office/drawing/2014/main" id="{8E70BC3A-7CF3-4687-AAE8-31A230CD6B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1428760" cy="1428760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6" name="직사각형 65">
                    <a:extLst>
                      <a:ext uri="{FF2B5EF4-FFF2-40B4-BE49-F238E27FC236}">
                        <a16:creationId xmlns="" xmlns:a16="http://schemas.microsoft.com/office/drawing/2014/main" id="{631298E6-C08F-448F-9AA5-DA695774EB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357190" cy="1428760"/>
                  </a:xfrm>
                  <a:prstGeom prst="rect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grpSp>
              <p:nvGrpSpPr>
                <p:cNvPr id="58" name="그룹 25">
                  <a:extLst>
                    <a:ext uri="{FF2B5EF4-FFF2-40B4-BE49-F238E27FC236}">
                      <a16:creationId xmlns="" xmlns:a16="http://schemas.microsoft.com/office/drawing/2014/main" id="{BD350A1A-1932-4369-AC34-F271E598CE8E}"/>
                    </a:ext>
                  </a:extLst>
                </p:cNvPr>
                <p:cNvGrpSpPr/>
                <p:nvPr/>
              </p:nvGrpSpPr>
              <p:grpSpPr>
                <a:xfrm>
                  <a:off x="5643570" y="3429000"/>
                  <a:ext cx="1428760" cy="2643206"/>
                  <a:chOff x="6715140" y="3429000"/>
                  <a:chExt cx="1428760" cy="1428760"/>
                </a:xfrm>
              </p:grpSpPr>
              <p:sp>
                <p:nvSpPr>
                  <p:cNvPr id="63" name="직사각형 62">
                    <a:extLst>
                      <a:ext uri="{FF2B5EF4-FFF2-40B4-BE49-F238E27FC236}">
                        <a16:creationId xmlns="" xmlns:a16="http://schemas.microsoft.com/office/drawing/2014/main" id="{6F3FCEE3-EE66-4068-9162-83EBA5A0F4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1428760" cy="1428760"/>
                  </a:xfrm>
                  <a:prstGeom prst="rect">
                    <a:avLst/>
                  </a:prstGeom>
                  <a:solidFill>
                    <a:srgbClr val="66FF66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4" name="직사각형 63">
                    <a:extLst>
                      <a:ext uri="{FF2B5EF4-FFF2-40B4-BE49-F238E27FC236}">
                        <a16:creationId xmlns="" xmlns:a16="http://schemas.microsoft.com/office/drawing/2014/main" id="{82414620-0D79-44F5-9AFD-B608C1EDCF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86710" y="3429000"/>
                    <a:ext cx="357190" cy="142876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grpSp>
              <p:nvGrpSpPr>
                <p:cNvPr id="59" name="그룹 28">
                  <a:extLst>
                    <a:ext uri="{FF2B5EF4-FFF2-40B4-BE49-F238E27FC236}">
                      <a16:creationId xmlns="" xmlns:a16="http://schemas.microsoft.com/office/drawing/2014/main" id="{51D213FB-0C57-4C64-BF26-5DF9BBCB9EA5}"/>
                    </a:ext>
                  </a:extLst>
                </p:cNvPr>
                <p:cNvGrpSpPr/>
                <p:nvPr/>
              </p:nvGrpSpPr>
              <p:grpSpPr>
                <a:xfrm>
                  <a:off x="5643570" y="3429000"/>
                  <a:ext cx="1071570" cy="1428760"/>
                  <a:chOff x="5429256" y="5143512"/>
                  <a:chExt cx="1428760" cy="1428760"/>
                </a:xfrm>
              </p:grpSpPr>
              <p:sp>
                <p:nvSpPr>
                  <p:cNvPr id="61" name="직사각형 60">
                    <a:extLst>
                      <a:ext uri="{FF2B5EF4-FFF2-40B4-BE49-F238E27FC236}">
                        <a16:creationId xmlns="" xmlns:a16="http://schemas.microsoft.com/office/drawing/2014/main" id="{391DE27A-77C1-43CA-9AE4-95574FCC88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29256" y="5143512"/>
                    <a:ext cx="1428760" cy="142876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2" name="직사각형 61">
                    <a:extLst>
                      <a:ext uri="{FF2B5EF4-FFF2-40B4-BE49-F238E27FC236}">
                        <a16:creationId xmlns="" xmlns:a16="http://schemas.microsoft.com/office/drawing/2014/main" id="{7C3EDF7F-8C65-4C69-BCBD-66B6E2BE8D14}"/>
                      </a:ext>
                    </a:extLst>
                  </p:cNvPr>
                  <p:cNvSpPr/>
                  <p:nvPr/>
                </p:nvSpPr>
                <p:spPr bwMode="auto">
                  <a:xfrm rot="5400000">
                    <a:off x="5893603" y="4679165"/>
                    <a:ext cx="500066" cy="1428760"/>
                  </a:xfrm>
                  <a:prstGeom prst="rect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sp>
              <p:nvSpPr>
                <p:cNvPr id="60" name="직사각형 59">
                  <a:extLst>
                    <a:ext uri="{FF2B5EF4-FFF2-40B4-BE49-F238E27FC236}">
                      <a16:creationId xmlns="" xmlns:a16="http://schemas.microsoft.com/office/drawing/2014/main" id="{11F4BD00-7717-49AC-A11A-8EC3B3A78342}"/>
                    </a:ext>
                  </a:extLst>
                </p:cNvPr>
                <p:cNvSpPr/>
                <p:nvPr/>
              </p:nvSpPr>
              <p:spPr bwMode="auto">
                <a:xfrm>
                  <a:off x="5643570" y="4857760"/>
                  <a:ext cx="1071570" cy="1214446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47B26760-458F-41BF-B862-02417E3F16C2}"/>
                  </a:ext>
                </a:extLst>
              </p:cNvPr>
              <p:cNvSpPr txBox="1"/>
              <p:nvPr/>
            </p:nvSpPr>
            <p:spPr>
              <a:xfrm>
                <a:off x="6357950" y="350043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4687918E-41A7-40E0-B193-78CD9DF2BB74}"/>
                  </a:ext>
                </a:extLst>
              </p:cNvPr>
              <p:cNvSpPr txBox="1"/>
              <p:nvPr/>
            </p:nvSpPr>
            <p:spPr>
              <a:xfrm>
                <a:off x="6072198" y="3357562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BE525E5F-61A5-42A3-B552-9433CF652D9C}"/>
                  </a:ext>
                </a:extLst>
              </p:cNvPr>
              <p:cNvSpPr txBox="1"/>
              <p:nvPr/>
            </p:nvSpPr>
            <p:spPr>
              <a:xfrm>
                <a:off x="5786446" y="3600394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FA3E1688-BDF4-475F-9B9C-00ABC3A29B92}"/>
                  </a:ext>
                </a:extLst>
              </p:cNvPr>
              <p:cNvSpPr txBox="1"/>
              <p:nvPr/>
            </p:nvSpPr>
            <p:spPr>
              <a:xfrm>
                <a:off x="5286380" y="381470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="" xmlns:a16="http://schemas.microsoft.com/office/drawing/2014/main" id="{E039979B-4AE3-4293-8DCB-5B43EA523F4D}"/>
                  </a:ext>
                </a:extLst>
              </p:cNvPr>
              <p:cNvSpPr txBox="1"/>
              <p:nvPr/>
            </p:nvSpPr>
            <p:spPr>
              <a:xfrm>
                <a:off x="5429256" y="560065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="" xmlns:a16="http://schemas.microsoft.com/office/drawing/2014/main" id="{AE99A9B6-69BC-4112-AC93-A8B10791506C}"/>
                  </a:ext>
                </a:extLst>
              </p:cNvPr>
              <p:cNvSpPr txBox="1"/>
              <p:nvPr/>
            </p:nvSpPr>
            <p:spPr>
              <a:xfrm>
                <a:off x="5214942" y="4600526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722F199F-2B7D-41CD-AF5D-939C36BAF39B}"/>
                  </a:ext>
                </a:extLst>
              </p:cNvPr>
              <p:cNvSpPr txBox="1"/>
              <p:nvPr/>
            </p:nvSpPr>
            <p:spPr>
              <a:xfrm>
                <a:off x="6783660" y="3429000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290A5F9D-D4AF-433D-9723-A90A50461503}"/>
                  </a:ext>
                </a:extLst>
              </p:cNvPr>
              <p:cNvSpPr txBox="1"/>
              <p:nvPr/>
            </p:nvSpPr>
            <p:spPr>
              <a:xfrm>
                <a:off x="8593048" y="3538839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E7C632CA-19F3-4642-94E8-EABF050334DF}"/>
                  </a:ext>
                </a:extLst>
              </p:cNvPr>
              <p:cNvSpPr txBox="1"/>
              <p:nvPr/>
            </p:nvSpPr>
            <p:spPr>
              <a:xfrm>
                <a:off x="6786578" y="3714752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="" xmlns:a16="http://schemas.microsoft.com/office/drawing/2014/main" id="{168FDA00-4C46-4774-A7FD-340B7559B751}"/>
                  </a:ext>
                </a:extLst>
              </p:cNvPr>
              <p:cNvSpPr txBox="1"/>
              <p:nvPr/>
            </p:nvSpPr>
            <p:spPr>
              <a:xfrm>
                <a:off x="6643702" y="4967599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F4E0EAAE-E5B0-4268-B94D-FE1A937F64C2}"/>
                  </a:ext>
                </a:extLst>
              </p:cNvPr>
              <p:cNvSpPr txBox="1"/>
              <p:nvPr/>
            </p:nvSpPr>
            <p:spPr>
              <a:xfrm>
                <a:off x="5715008" y="5181913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="" xmlns:a16="http://schemas.microsoft.com/office/drawing/2014/main" id="{15C6361E-ED62-4036-9CE4-41B7FE576188}"/>
                  </a:ext>
                </a:extLst>
              </p:cNvPr>
              <p:cNvSpPr txBox="1"/>
              <p:nvPr/>
            </p:nvSpPr>
            <p:spPr>
              <a:xfrm>
                <a:off x="5786446" y="3857628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="" xmlns:a16="http://schemas.microsoft.com/office/drawing/2014/main" id="{3F1D81BA-0A0E-48FB-AF47-E0DFF0F7EAFA}"/>
                  </a:ext>
                </a:extLst>
              </p:cNvPr>
              <p:cNvSpPr txBox="1"/>
              <p:nvPr/>
            </p:nvSpPr>
            <p:spPr>
              <a:xfrm>
                <a:off x="6286512" y="4181781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8F330C55-680A-4DA3-ADA8-AD4831B1CD79}"/>
                  </a:ext>
                </a:extLst>
              </p:cNvPr>
              <p:cNvSpPr txBox="1"/>
              <p:nvPr/>
            </p:nvSpPr>
            <p:spPr>
              <a:xfrm>
                <a:off x="6286512" y="4500570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="" xmlns:a16="http://schemas.microsoft.com/office/drawing/2014/main" id="{F93D9A67-A437-4FA0-A7C5-98A88C39C9C7}"/>
                  </a:ext>
                </a:extLst>
              </p:cNvPr>
              <p:cNvCxnSpPr/>
              <p:nvPr/>
            </p:nvCxnSpPr>
            <p:spPr bwMode="auto">
              <a:xfrm rot="5400000">
                <a:off x="4144166" y="4785528"/>
                <a:ext cx="3000396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직선 연결선 53">
                <a:extLst>
                  <a:ext uri="{FF2B5EF4-FFF2-40B4-BE49-F238E27FC236}">
                    <a16:creationId xmlns="" xmlns:a16="http://schemas.microsoft.com/office/drawing/2014/main" id="{3681F7BE-EAE9-4F58-95E8-38267976B9F4}"/>
                  </a:ext>
                </a:extLst>
              </p:cNvPr>
              <p:cNvCxnSpPr/>
              <p:nvPr/>
            </p:nvCxnSpPr>
            <p:spPr bwMode="auto">
              <a:xfrm rot="5400000">
                <a:off x="5214147" y="4785528"/>
                <a:ext cx="3000396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직선 연결선 54">
                <a:extLst>
                  <a:ext uri="{FF2B5EF4-FFF2-40B4-BE49-F238E27FC236}">
                    <a16:creationId xmlns="" xmlns:a16="http://schemas.microsoft.com/office/drawing/2014/main" id="{4117F1BB-6F19-42D5-9659-F605FD2F0E28}"/>
                  </a:ext>
                </a:extLst>
              </p:cNvPr>
              <p:cNvCxnSpPr/>
              <p:nvPr/>
            </p:nvCxnSpPr>
            <p:spPr bwMode="auto">
              <a:xfrm rot="10800000">
                <a:off x="5143505" y="3929066"/>
                <a:ext cx="2071702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67" name="직선 연결선 66">
              <a:extLst>
                <a:ext uri="{FF2B5EF4-FFF2-40B4-BE49-F238E27FC236}">
                  <a16:creationId xmlns="" xmlns:a16="http://schemas.microsoft.com/office/drawing/2014/main" id="{0ADAC53F-C8EC-4BE9-9D87-13A4C2664C46}"/>
                </a:ext>
              </a:extLst>
            </p:cNvPr>
            <p:cNvCxnSpPr/>
            <p:nvPr/>
          </p:nvCxnSpPr>
          <p:spPr bwMode="auto">
            <a:xfrm rot="5400000">
              <a:off x="3000364" y="3357562"/>
              <a:ext cx="2714644" cy="27146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" name="그룹 2"/>
          <p:cNvGrpSpPr/>
          <p:nvPr/>
        </p:nvGrpSpPr>
        <p:grpSpPr>
          <a:xfrm>
            <a:off x="3708197" y="5199504"/>
            <a:ext cx="5288056" cy="1591858"/>
            <a:chOff x="1402264" y="1285860"/>
            <a:chExt cx="6170132" cy="1857388"/>
          </a:xfrm>
        </p:grpSpPr>
        <p:grpSp>
          <p:nvGrpSpPr>
            <p:cNvPr id="68" name="그룹 62">
              <a:extLst>
                <a:ext uri="{FF2B5EF4-FFF2-40B4-BE49-F238E27FC236}">
                  <a16:creationId xmlns="" xmlns:a16="http://schemas.microsoft.com/office/drawing/2014/main" id="{8DDFBDF8-881A-4EDF-AD78-E071FF6892F3}"/>
                </a:ext>
              </a:extLst>
            </p:cNvPr>
            <p:cNvGrpSpPr/>
            <p:nvPr/>
          </p:nvGrpSpPr>
          <p:grpSpPr>
            <a:xfrm>
              <a:off x="1428728" y="1285860"/>
              <a:ext cx="6143668" cy="1857388"/>
              <a:chOff x="500034" y="1285860"/>
              <a:chExt cx="6143668" cy="1857388"/>
            </a:xfrm>
          </p:grpSpPr>
          <p:grpSp>
            <p:nvGrpSpPr>
              <p:cNvPr id="69" name="그룹 13">
                <a:extLst>
                  <a:ext uri="{FF2B5EF4-FFF2-40B4-BE49-F238E27FC236}">
                    <a16:creationId xmlns="" xmlns:a16="http://schemas.microsoft.com/office/drawing/2014/main" id="{1176ABBA-E6C1-4500-AFE2-E129E1B0EA6B}"/>
                  </a:ext>
                </a:extLst>
              </p:cNvPr>
              <p:cNvGrpSpPr/>
              <p:nvPr/>
            </p:nvGrpSpPr>
            <p:grpSpPr>
              <a:xfrm>
                <a:off x="2643174" y="1500174"/>
                <a:ext cx="1428760" cy="1428760"/>
                <a:chOff x="6715140" y="3429000"/>
                <a:chExt cx="1428760" cy="1428760"/>
              </a:xfrm>
            </p:grpSpPr>
            <p:sp>
              <p:nvSpPr>
                <p:cNvPr id="81" name="직사각형 80">
                  <a:extLst>
                    <a:ext uri="{FF2B5EF4-FFF2-40B4-BE49-F238E27FC236}">
                      <a16:creationId xmlns="" xmlns:a16="http://schemas.microsoft.com/office/drawing/2014/main" id="{73A6CD43-A470-4171-9809-0948E3B6A777}"/>
                    </a:ext>
                  </a:extLst>
                </p:cNvPr>
                <p:cNvSpPr/>
                <p:nvPr/>
              </p:nvSpPr>
              <p:spPr bwMode="auto">
                <a:xfrm>
                  <a:off x="6715140" y="3429000"/>
                  <a:ext cx="1428760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82" name="직사각형 81">
                  <a:extLst>
                    <a:ext uri="{FF2B5EF4-FFF2-40B4-BE49-F238E27FC236}">
                      <a16:creationId xmlns="" xmlns:a16="http://schemas.microsoft.com/office/drawing/2014/main" id="{54EE754A-39B8-49E7-9C63-A2EB07AE5261}"/>
                    </a:ext>
                  </a:extLst>
                </p:cNvPr>
                <p:cNvSpPr/>
                <p:nvPr/>
              </p:nvSpPr>
              <p:spPr bwMode="auto">
                <a:xfrm>
                  <a:off x="7786710" y="3429000"/>
                  <a:ext cx="35719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grpSp>
            <p:nvGrpSpPr>
              <p:cNvPr id="70" name="그룹 18">
                <a:extLst>
                  <a:ext uri="{FF2B5EF4-FFF2-40B4-BE49-F238E27FC236}">
                    <a16:creationId xmlns="" xmlns:a16="http://schemas.microsoft.com/office/drawing/2014/main" id="{3ACDE57B-240A-41B7-8A7E-415D07D5715D}"/>
                  </a:ext>
                </a:extLst>
              </p:cNvPr>
              <p:cNvGrpSpPr/>
              <p:nvPr/>
            </p:nvGrpSpPr>
            <p:grpSpPr>
              <a:xfrm>
                <a:off x="5000628" y="1500174"/>
                <a:ext cx="1428760" cy="1428760"/>
                <a:chOff x="5429256" y="5143512"/>
                <a:chExt cx="1428760" cy="1428760"/>
              </a:xfrm>
            </p:grpSpPr>
            <p:sp>
              <p:nvSpPr>
                <p:cNvPr id="79" name="직사각형 78">
                  <a:extLst>
                    <a:ext uri="{FF2B5EF4-FFF2-40B4-BE49-F238E27FC236}">
                      <a16:creationId xmlns="" xmlns:a16="http://schemas.microsoft.com/office/drawing/2014/main" id="{6F18906F-62F1-4BA6-8465-A1ED7FEE688E}"/>
                    </a:ext>
                  </a:extLst>
                </p:cNvPr>
                <p:cNvSpPr/>
                <p:nvPr/>
              </p:nvSpPr>
              <p:spPr bwMode="auto">
                <a:xfrm>
                  <a:off x="5429256" y="5143512"/>
                  <a:ext cx="142876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80" name="직사각형 79">
                  <a:extLst>
                    <a:ext uri="{FF2B5EF4-FFF2-40B4-BE49-F238E27FC236}">
                      <a16:creationId xmlns="" xmlns:a16="http://schemas.microsoft.com/office/drawing/2014/main" id="{ACA8327E-D47E-4313-B9F3-44CD8B9357B7}"/>
                    </a:ext>
                  </a:extLst>
                </p:cNvPr>
                <p:cNvSpPr/>
                <p:nvPr/>
              </p:nvSpPr>
              <p:spPr bwMode="auto">
                <a:xfrm rot="5400000">
                  <a:off x="5893603" y="4679165"/>
                  <a:ext cx="500066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grpSp>
            <p:nvGrpSpPr>
              <p:cNvPr id="71" name="그룹 22">
                <a:extLst>
                  <a:ext uri="{FF2B5EF4-FFF2-40B4-BE49-F238E27FC236}">
                    <a16:creationId xmlns="" xmlns:a16="http://schemas.microsoft.com/office/drawing/2014/main" id="{CD547A6D-8A2D-4F68-B032-97D232FEE7CE}"/>
                  </a:ext>
                </a:extLst>
              </p:cNvPr>
              <p:cNvGrpSpPr/>
              <p:nvPr/>
            </p:nvGrpSpPr>
            <p:grpSpPr>
              <a:xfrm>
                <a:off x="500034" y="1500174"/>
                <a:ext cx="1487088" cy="1428760"/>
                <a:chOff x="6715140" y="3429000"/>
                <a:chExt cx="1487088" cy="1428760"/>
              </a:xfrm>
            </p:grpSpPr>
            <p:sp>
              <p:nvSpPr>
                <p:cNvPr id="77" name="직사각형 76">
                  <a:extLst>
                    <a:ext uri="{FF2B5EF4-FFF2-40B4-BE49-F238E27FC236}">
                      <a16:creationId xmlns="" xmlns:a16="http://schemas.microsoft.com/office/drawing/2014/main" id="{1E7FF591-0B92-484A-9DB8-E0C5972C2F96}"/>
                    </a:ext>
                  </a:extLst>
                </p:cNvPr>
                <p:cNvSpPr/>
                <p:nvPr/>
              </p:nvSpPr>
              <p:spPr bwMode="auto">
                <a:xfrm>
                  <a:off x="6773468" y="3429000"/>
                  <a:ext cx="142876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="" xmlns:a16="http://schemas.microsoft.com/office/drawing/2014/main" id="{4D1BA1B8-105D-4FA6-A5B4-AFE54B8CF888}"/>
                    </a:ext>
                  </a:extLst>
                </p:cNvPr>
                <p:cNvSpPr/>
                <p:nvPr/>
              </p:nvSpPr>
              <p:spPr bwMode="auto">
                <a:xfrm>
                  <a:off x="6715140" y="3429000"/>
                  <a:ext cx="357190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solidFill>
                    <a:schemeClr val="accent2">
                      <a:lumMod val="75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cxnSp>
            <p:nvCxnSpPr>
              <p:cNvPr id="72" name="직선 연결선 71">
                <a:extLst>
                  <a:ext uri="{FF2B5EF4-FFF2-40B4-BE49-F238E27FC236}">
                    <a16:creationId xmlns="" xmlns:a16="http://schemas.microsoft.com/office/drawing/2014/main" id="{C5405E04-116B-4CF8-8C28-BDC5A4C4E910}"/>
                  </a:ext>
                </a:extLst>
              </p:cNvPr>
              <p:cNvCxnSpPr/>
              <p:nvPr/>
            </p:nvCxnSpPr>
            <p:spPr bwMode="auto">
              <a:xfrm rot="5400000">
                <a:off x="-71470" y="221376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직선 연결선 72">
                <a:extLst>
                  <a:ext uri="{FF2B5EF4-FFF2-40B4-BE49-F238E27FC236}">
                    <a16:creationId xmlns="" xmlns:a16="http://schemas.microsoft.com/office/drawing/2014/main" id="{FF1D4766-74A4-4FC4-AD8A-D81B4A7816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2786844" y="221376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직선 연결선 73">
                <a:extLst>
                  <a:ext uri="{FF2B5EF4-FFF2-40B4-BE49-F238E27FC236}">
                    <a16:creationId xmlns="" xmlns:a16="http://schemas.microsoft.com/office/drawing/2014/main" id="{3F386DD9-CA7A-478D-8DC7-CF4CD6101BA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0800000" flipV="1">
                <a:off x="4786314" y="200024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" name="TextBox 74">
                <a:extLst>
                  <a:ext uri="{FF2B5EF4-FFF2-40B4-BE49-F238E27FC236}">
                    <a16:creationId xmlns="" xmlns:a16="http://schemas.microsoft.com/office/drawing/2014/main" id="{FE9F0F43-3265-4E8E-9A15-C630C476B4CB}"/>
                  </a:ext>
                </a:extLst>
              </p:cNvPr>
              <p:cNvSpPr txBox="1"/>
              <p:nvPr/>
            </p:nvSpPr>
            <p:spPr>
              <a:xfrm>
                <a:off x="2143108" y="1895765"/>
                <a:ext cx="64294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+</a:t>
                </a:r>
                <a:endParaRPr lang="ko-KR" altLang="en-US" sz="2400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="" xmlns:a16="http://schemas.microsoft.com/office/drawing/2014/main" id="{7AD9DED6-89B4-4719-B81B-E4B348291373}"/>
                  </a:ext>
                </a:extLst>
              </p:cNvPr>
              <p:cNvSpPr txBox="1"/>
              <p:nvPr/>
            </p:nvSpPr>
            <p:spPr>
              <a:xfrm>
                <a:off x="4357686" y="1895765"/>
                <a:ext cx="64294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+</a:t>
                </a:r>
                <a:endParaRPr lang="ko-KR" altLang="en-US" sz="2400" dirty="0"/>
              </a:p>
            </p:txBody>
          </p:sp>
        </p:grpSp>
        <p:sp>
          <p:nvSpPr>
            <p:cNvPr id="83" name="직사각형 82">
              <a:extLst>
                <a:ext uri="{FF2B5EF4-FFF2-40B4-BE49-F238E27FC236}">
                  <a16:creationId xmlns="" xmlns:a16="http://schemas.microsoft.com/office/drawing/2014/main" id="{51E8F146-07E2-493A-9272-BA7DED876247}"/>
                </a:ext>
              </a:extLst>
            </p:cNvPr>
            <p:cNvSpPr/>
            <p:nvPr/>
          </p:nvSpPr>
          <p:spPr>
            <a:xfrm flipH="1">
              <a:off x="1402264" y="2051556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="" xmlns:a16="http://schemas.microsoft.com/office/drawing/2014/main" id="{B328874C-95F5-41D4-9BD9-1B117D8F69BF}"/>
                </a:ext>
              </a:extLst>
            </p:cNvPr>
            <p:cNvSpPr/>
            <p:nvPr/>
          </p:nvSpPr>
          <p:spPr>
            <a:xfrm flipH="1">
              <a:off x="2128960" y="2032003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="" xmlns:a16="http://schemas.microsoft.com/office/drawing/2014/main" id="{6AE21042-050C-4380-BCF2-DBF6989D8E6C}"/>
                </a:ext>
              </a:extLst>
            </p:cNvPr>
            <p:cNvSpPr/>
            <p:nvPr/>
          </p:nvSpPr>
          <p:spPr>
            <a:xfrm flipH="1">
              <a:off x="3948017" y="1908115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="" xmlns:a16="http://schemas.microsoft.com/office/drawing/2014/main" id="{95B82D8D-A9E7-4476-B570-6EB65CEDD5DD}"/>
                </a:ext>
              </a:extLst>
            </p:cNvPr>
            <p:cNvSpPr/>
            <p:nvPr/>
          </p:nvSpPr>
          <p:spPr>
            <a:xfrm flipH="1">
              <a:off x="4674713" y="1888562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="" xmlns:a16="http://schemas.microsoft.com/office/drawing/2014/main" id="{13829520-98A9-4EC3-A047-9B2FD7BAFC83}"/>
                </a:ext>
              </a:extLst>
            </p:cNvPr>
            <p:cNvSpPr/>
            <p:nvPr/>
          </p:nvSpPr>
          <p:spPr>
            <a:xfrm flipH="1">
              <a:off x="6490892" y="1575317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147C734D-EE07-411E-91EC-C787A82E4BA4}"/>
                </a:ext>
              </a:extLst>
            </p:cNvPr>
            <p:cNvSpPr/>
            <p:nvPr/>
          </p:nvSpPr>
          <p:spPr>
            <a:xfrm flipH="1">
              <a:off x="6537736" y="2244921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앙상블 방법을 사용한 분류기 성능 개선 사례 </a:t>
            </a:r>
            <a:r>
              <a:rPr lang="en-US" altLang="ko-KR" dirty="0" smtClean="0"/>
              <a:t>#2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명암이라는 간단한 특징으로 얼굴인지 아닌지를 검출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간단한 분류기를 연속적으로 수천 개 조합해 얼굴 검출 알고리즘으로 사용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25" y="3375993"/>
            <a:ext cx="3508103" cy="2228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50555" y="3375993"/>
            <a:ext cx="4000528" cy="224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1" name="직사각형 90"/>
          <p:cNvSpPr/>
          <p:nvPr/>
        </p:nvSpPr>
        <p:spPr>
          <a:xfrm>
            <a:off x="5428278" y="5838051"/>
            <a:ext cx="51213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Rapid Object Detection Using a Boosted Cascade of Simple Features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873285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앙상블 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앙상블 알고리즘 구조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498315" y="2365521"/>
            <a:ext cx="5192324" cy="3990829"/>
            <a:chOff x="3236957" y="2148913"/>
            <a:chExt cx="5715040" cy="4392589"/>
          </a:xfrm>
        </p:grpSpPr>
        <p:sp>
          <p:nvSpPr>
            <p:cNvPr id="9" name="직사각형 8">
              <a:extLst>
                <a:ext uri="{FF2B5EF4-FFF2-40B4-BE49-F238E27FC236}">
                  <a16:creationId xmlns="" xmlns:a16="http://schemas.microsoft.com/office/drawing/2014/main" id="{D92FAFAC-FF14-4BB2-8135-FB55385A81B0}"/>
                </a:ext>
              </a:extLst>
            </p:cNvPr>
            <p:cNvSpPr/>
            <p:nvPr/>
          </p:nvSpPr>
          <p:spPr bwMode="auto">
            <a:xfrm>
              <a:off x="3236957" y="2148913"/>
              <a:ext cx="5640819" cy="62545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="" xmlns:a16="http://schemas.microsoft.com/office/drawing/2014/main" id="{B2A2343B-3356-4145-8613-3FEA6656B282}"/>
                </a:ext>
              </a:extLst>
            </p:cNvPr>
            <p:cNvSpPr/>
            <p:nvPr/>
          </p:nvSpPr>
          <p:spPr bwMode="auto">
            <a:xfrm>
              <a:off x="3236957" y="3816508"/>
              <a:ext cx="1187541" cy="62545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93FBD9D3-640E-445E-9950-58A47122B37A}"/>
                </a:ext>
              </a:extLst>
            </p:cNvPr>
            <p:cNvSpPr/>
            <p:nvPr/>
          </p:nvSpPr>
          <p:spPr bwMode="auto">
            <a:xfrm>
              <a:off x="4721383" y="3816508"/>
              <a:ext cx="1187541" cy="62545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="" xmlns:a16="http://schemas.microsoft.com/office/drawing/2014/main" id="{F05D14A5-58C9-4498-8646-86C728747D13}"/>
                </a:ext>
              </a:extLst>
            </p:cNvPr>
            <p:cNvSpPr/>
            <p:nvPr/>
          </p:nvSpPr>
          <p:spPr bwMode="auto">
            <a:xfrm>
              <a:off x="6205809" y="3816508"/>
              <a:ext cx="1187541" cy="62545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="" xmlns:a16="http://schemas.microsoft.com/office/drawing/2014/main" id="{2E4254FD-ABC3-4E81-BB4C-397440F75967}"/>
                </a:ext>
              </a:extLst>
            </p:cNvPr>
            <p:cNvSpPr/>
            <p:nvPr/>
          </p:nvSpPr>
          <p:spPr bwMode="auto">
            <a:xfrm>
              <a:off x="7616014" y="3816508"/>
              <a:ext cx="1187541" cy="62545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="" xmlns:a16="http://schemas.microsoft.com/office/drawing/2014/main" id="{779EB760-F47B-4BC2-B82A-DA1BE65C2E25}"/>
                </a:ext>
              </a:extLst>
            </p:cNvPr>
            <p:cNvCxnSpPr>
              <a:cxnSpLocks/>
              <a:endCxn id="10" idx="0"/>
            </p:cNvCxnSpPr>
            <p:nvPr/>
          </p:nvCxnSpPr>
          <p:spPr bwMode="auto">
            <a:xfrm>
              <a:off x="3830728" y="2768610"/>
              <a:ext cx="0" cy="104789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5" name="직선 화살표 연결선 14">
              <a:extLst>
                <a:ext uri="{FF2B5EF4-FFF2-40B4-BE49-F238E27FC236}">
                  <a16:creationId xmlns="" xmlns:a16="http://schemas.microsoft.com/office/drawing/2014/main" id="{E3F873F1-D9F6-4ACD-BBA7-F3C247712724}"/>
                </a:ext>
              </a:extLst>
            </p:cNvPr>
            <p:cNvCxnSpPr>
              <a:cxnSpLocks/>
              <a:endCxn id="11" idx="0"/>
            </p:cNvCxnSpPr>
            <p:nvPr/>
          </p:nvCxnSpPr>
          <p:spPr bwMode="auto">
            <a:xfrm>
              <a:off x="5315154" y="2774368"/>
              <a:ext cx="0" cy="10421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6" name="직선 화살표 연결선 15">
              <a:extLst>
                <a:ext uri="{FF2B5EF4-FFF2-40B4-BE49-F238E27FC236}">
                  <a16:creationId xmlns="" xmlns:a16="http://schemas.microsoft.com/office/drawing/2014/main" id="{6065D605-3791-40FC-87CF-5E5D1AF5BBA8}"/>
                </a:ext>
              </a:extLst>
            </p:cNvPr>
            <p:cNvCxnSpPr>
              <a:cxnSpLocks/>
              <a:endCxn id="12" idx="0"/>
            </p:cNvCxnSpPr>
            <p:nvPr/>
          </p:nvCxnSpPr>
          <p:spPr bwMode="auto">
            <a:xfrm>
              <a:off x="6799580" y="2781899"/>
              <a:ext cx="0" cy="103460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7" name="직선 화살표 연결선 16">
              <a:extLst>
                <a:ext uri="{FF2B5EF4-FFF2-40B4-BE49-F238E27FC236}">
                  <a16:creationId xmlns="" xmlns:a16="http://schemas.microsoft.com/office/drawing/2014/main" id="{51FAF772-EBD9-48E8-A223-A2B12842D655}"/>
                </a:ext>
              </a:extLst>
            </p:cNvPr>
            <p:cNvCxnSpPr>
              <a:cxnSpLocks/>
              <a:endCxn id="13" idx="0"/>
            </p:cNvCxnSpPr>
            <p:nvPr/>
          </p:nvCxnSpPr>
          <p:spPr bwMode="auto">
            <a:xfrm>
              <a:off x="8209785" y="2774368"/>
              <a:ext cx="0" cy="10421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8" name="직선 화살표 연결선 17">
              <a:extLst>
                <a:ext uri="{FF2B5EF4-FFF2-40B4-BE49-F238E27FC236}">
                  <a16:creationId xmlns="" xmlns:a16="http://schemas.microsoft.com/office/drawing/2014/main" id="{F8002E27-8873-4F34-93D6-FA716757801C}"/>
                </a:ext>
              </a:extLst>
            </p:cNvPr>
            <p:cNvCxnSpPr/>
            <p:nvPr/>
          </p:nvCxnSpPr>
          <p:spPr bwMode="auto">
            <a:xfrm rot="5400000">
              <a:off x="3557916" y="4715643"/>
              <a:ext cx="547273" cy="165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9" name="직선 화살표 연결선 18">
              <a:extLst>
                <a:ext uri="{FF2B5EF4-FFF2-40B4-BE49-F238E27FC236}">
                  <a16:creationId xmlns="" xmlns:a16="http://schemas.microsoft.com/office/drawing/2014/main" id="{66892552-1FA0-48F6-8457-801C74C7B36A}"/>
                </a:ext>
              </a:extLst>
            </p:cNvPr>
            <p:cNvCxnSpPr/>
            <p:nvPr/>
          </p:nvCxnSpPr>
          <p:spPr bwMode="auto">
            <a:xfrm rot="5400000">
              <a:off x="5042342" y="4715643"/>
              <a:ext cx="547273" cy="165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0" name="직선 화살표 연결선 19">
              <a:extLst>
                <a:ext uri="{FF2B5EF4-FFF2-40B4-BE49-F238E27FC236}">
                  <a16:creationId xmlns="" xmlns:a16="http://schemas.microsoft.com/office/drawing/2014/main" id="{31EC069B-33D5-4781-ACEC-BE0BD6D4FF47}"/>
                </a:ext>
              </a:extLst>
            </p:cNvPr>
            <p:cNvCxnSpPr/>
            <p:nvPr/>
          </p:nvCxnSpPr>
          <p:spPr bwMode="auto">
            <a:xfrm rot="5400000">
              <a:off x="6526768" y="4715643"/>
              <a:ext cx="547273" cy="165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1" name="직선 화살표 연결선 20">
              <a:extLst>
                <a:ext uri="{FF2B5EF4-FFF2-40B4-BE49-F238E27FC236}">
                  <a16:creationId xmlns="" xmlns:a16="http://schemas.microsoft.com/office/drawing/2014/main" id="{B9DB691C-AB10-45DC-8B4A-92AC33EE2DF5}"/>
                </a:ext>
              </a:extLst>
            </p:cNvPr>
            <p:cNvCxnSpPr/>
            <p:nvPr/>
          </p:nvCxnSpPr>
          <p:spPr bwMode="auto">
            <a:xfrm rot="5400000">
              <a:off x="7937797" y="4714774"/>
              <a:ext cx="547273" cy="165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="" xmlns:a16="http://schemas.microsoft.com/office/drawing/2014/main" id="{FB3F9F46-FA37-4C71-855B-9C6AD014A1FF}"/>
                </a:ext>
              </a:extLst>
            </p:cNvPr>
            <p:cNvSpPr/>
            <p:nvPr/>
          </p:nvSpPr>
          <p:spPr>
            <a:xfrm>
              <a:off x="3608063" y="4911054"/>
              <a:ext cx="445328" cy="406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altLang="ko-KR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2535DAF4-8D81-49B7-9963-487B9D0C80C8}"/>
                </a:ext>
              </a:extLst>
            </p:cNvPr>
            <p:cNvSpPr/>
            <p:nvPr/>
          </p:nvSpPr>
          <p:spPr>
            <a:xfrm>
              <a:off x="5166710" y="4911054"/>
              <a:ext cx="445328" cy="406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altLang="ko-KR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ko-KR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="" xmlns:a16="http://schemas.microsoft.com/office/drawing/2014/main" id="{FEDA0F7F-CCA1-466A-BF5E-2CE669521A1D}"/>
                </a:ext>
              </a:extLst>
            </p:cNvPr>
            <p:cNvSpPr/>
            <p:nvPr/>
          </p:nvSpPr>
          <p:spPr>
            <a:xfrm>
              <a:off x="6651137" y="4911054"/>
              <a:ext cx="445328" cy="406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altLang="ko-KR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ko-KR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97862E2B-54E6-4B00-8F16-BAE774485322}"/>
                </a:ext>
              </a:extLst>
            </p:cNvPr>
            <p:cNvSpPr/>
            <p:nvPr/>
          </p:nvSpPr>
          <p:spPr>
            <a:xfrm>
              <a:off x="8061341" y="4911054"/>
              <a:ext cx="445328" cy="406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altLang="ko-KR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ko-KR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638576DD-0C8E-4DAC-AD0C-DF29E8B1FD22}"/>
                </a:ext>
              </a:extLst>
            </p:cNvPr>
            <p:cNvSpPr/>
            <p:nvPr/>
          </p:nvSpPr>
          <p:spPr>
            <a:xfrm>
              <a:off x="5612040" y="6134989"/>
              <a:ext cx="1929752" cy="4065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latin typeface="맑은 고딕" pitchFamily="50" charset="-127"/>
                  <a:ea typeface="맑은 고딕" pitchFamily="50" charset="-127"/>
                </a:rPr>
                <a:t>     </a:t>
              </a:r>
              <a:r>
                <a:rPr lang="en-US" altLang="ko-KR" b="1" dirty="0">
                  <a:latin typeface="맑은 고딕" pitchFamily="50" charset="-127"/>
                  <a:ea typeface="맑은 고딕" pitchFamily="50" charset="-127"/>
                </a:rPr>
                <a:t>Voting</a:t>
              </a:r>
              <a:endParaRPr lang="ko-KR" altLang="en-US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="" xmlns:a16="http://schemas.microsoft.com/office/drawing/2014/main" id="{85DEB72C-4230-4B09-A480-FC8D35FD35E8}"/>
                </a:ext>
              </a:extLst>
            </p:cNvPr>
            <p:cNvCxnSpPr>
              <a:cxnSpLocks/>
              <a:stCxn id="22" idx="2"/>
              <a:endCxn id="26" idx="0"/>
            </p:cNvCxnSpPr>
            <p:nvPr/>
          </p:nvCxnSpPr>
          <p:spPr bwMode="auto">
            <a:xfrm>
              <a:off x="3830727" y="5317567"/>
              <a:ext cx="2746189" cy="81742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8" name="직선 화살표 연결선 27">
              <a:extLst>
                <a:ext uri="{FF2B5EF4-FFF2-40B4-BE49-F238E27FC236}">
                  <a16:creationId xmlns="" xmlns:a16="http://schemas.microsoft.com/office/drawing/2014/main" id="{CE194F9F-3E4C-48F5-849F-FD3A08006A0A}"/>
                </a:ext>
              </a:extLst>
            </p:cNvPr>
            <p:cNvCxnSpPr>
              <a:cxnSpLocks/>
              <a:stCxn id="23" idx="2"/>
              <a:endCxn id="26" idx="0"/>
            </p:cNvCxnSpPr>
            <p:nvPr/>
          </p:nvCxnSpPr>
          <p:spPr bwMode="auto">
            <a:xfrm>
              <a:off x="5389375" y="5317567"/>
              <a:ext cx="1187541" cy="81742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9" name="직선 화살표 연결선 28">
              <a:extLst>
                <a:ext uri="{FF2B5EF4-FFF2-40B4-BE49-F238E27FC236}">
                  <a16:creationId xmlns="" xmlns:a16="http://schemas.microsoft.com/office/drawing/2014/main" id="{FDB88F85-8A62-4739-B653-C56BF22B3B89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 bwMode="auto">
            <a:xfrm flipH="1">
              <a:off x="6576916" y="5317567"/>
              <a:ext cx="296885" cy="81742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30" name="직선 화살표 연결선 29">
              <a:extLst>
                <a:ext uri="{FF2B5EF4-FFF2-40B4-BE49-F238E27FC236}">
                  <a16:creationId xmlns="" xmlns:a16="http://schemas.microsoft.com/office/drawing/2014/main" id="{F2201E8F-CDA2-46CC-8E91-9D9C59C8F2F6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 bwMode="auto">
            <a:xfrm flipH="1">
              <a:off x="6576916" y="5317567"/>
              <a:ext cx="1707089" cy="81742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31" name="직사각형 30">
              <a:extLst>
                <a:ext uri="{FF2B5EF4-FFF2-40B4-BE49-F238E27FC236}">
                  <a16:creationId xmlns="" xmlns:a16="http://schemas.microsoft.com/office/drawing/2014/main" id="{334F9CC8-E776-4613-96AD-F7AE6BBCE105}"/>
                </a:ext>
              </a:extLst>
            </p:cNvPr>
            <p:cNvSpPr/>
            <p:nvPr/>
          </p:nvSpPr>
          <p:spPr>
            <a:xfrm>
              <a:off x="3311178" y="3928373"/>
              <a:ext cx="1261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신경망</a:t>
              </a:r>
              <a:r>
                <a:rPr lang="en-US" altLang="ko-KR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="" xmlns:a16="http://schemas.microsoft.com/office/drawing/2014/main" id="{9BC3F97E-680A-46F9-881E-00DFE8BC9ECB}"/>
                </a:ext>
              </a:extLst>
            </p:cNvPr>
            <p:cNvSpPr/>
            <p:nvPr/>
          </p:nvSpPr>
          <p:spPr>
            <a:xfrm>
              <a:off x="4795604" y="3928373"/>
              <a:ext cx="1261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신경망</a:t>
              </a:r>
              <a:r>
                <a:rPr lang="en-US" altLang="ko-KR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	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="" xmlns:a16="http://schemas.microsoft.com/office/drawing/2014/main" id="{B55F4B04-F076-4236-9EB3-2BEBE68E642A}"/>
                </a:ext>
              </a:extLst>
            </p:cNvPr>
            <p:cNvSpPr/>
            <p:nvPr/>
          </p:nvSpPr>
          <p:spPr>
            <a:xfrm>
              <a:off x="6280030" y="3928373"/>
              <a:ext cx="1261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신경망</a:t>
              </a:r>
              <a:r>
                <a:rPr lang="en-US" altLang="ko-KR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="" xmlns:a16="http://schemas.microsoft.com/office/drawing/2014/main" id="{6F42A8F3-20BE-4796-9399-740A778614BE}"/>
                </a:ext>
              </a:extLst>
            </p:cNvPr>
            <p:cNvSpPr/>
            <p:nvPr/>
          </p:nvSpPr>
          <p:spPr>
            <a:xfrm>
              <a:off x="7690235" y="3941662"/>
              <a:ext cx="1261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신경망</a:t>
              </a:r>
              <a:r>
                <a:rPr lang="en-US" altLang="ko-KR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="" xmlns:a16="http://schemas.microsoft.com/office/drawing/2014/main" id="{9A3E51F0-45FE-40F7-9590-77A2AEC535F7}"/>
                </a:ext>
              </a:extLst>
            </p:cNvPr>
            <p:cNvSpPr/>
            <p:nvPr/>
          </p:nvSpPr>
          <p:spPr>
            <a:xfrm>
              <a:off x="5308659" y="2274303"/>
              <a:ext cx="2438699" cy="372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Training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452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미니 배치 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 데이터를 다수의 데이터 셋으로 분할해서 각각 학습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각각의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분류기들을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학습시키고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Voting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통해 최종 분류하는 형태가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드롭아웃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구조와 유사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D92FAFAC-FF14-4BB2-8135-FB55385A81B0}"/>
              </a:ext>
            </a:extLst>
          </p:cNvPr>
          <p:cNvSpPr/>
          <p:nvPr/>
        </p:nvSpPr>
        <p:spPr bwMode="auto">
          <a:xfrm>
            <a:off x="3498315" y="2733191"/>
            <a:ext cx="5124891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B2A2343B-3356-4145-8613-3FEA6656B282}"/>
              </a:ext>
            </a:extLst>
          </p:cNvPr>
          <p:cNvSpPr/>
          <p:nvPr/>
        </p:nvSpPr>
        <p:spPr bwMode="auto">
          <a:xfrm>
            <a:off x="3498315" y="4639418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93FBD9D3-640E-445E-9950-58A47122B37A}"/>
              </a:ext>
            </a:extLst>
          </p:cNvPr>
          <p:cNvSpPr/>
          <p:nvPr/>
        </p:nvSpPr>
        <p:spPr bwMode="auto">
          <a:xfrm>
            <a:off x="4846971" y="4639418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05D14A5-58C9-4498-8646-86C728747D13}"/>
              </a:ext>
            </a:extLst>
          </p:cNvPr>
          <p:cNvSpPr/>
          <p:nvPr/>
        </p:nvSpPr>
        <p:spPr bwMode="auto">
          <a:xfrm>
            <a:off x="6195626" y="4639418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2E4254FD-ABC3-4E81-BB4C-397440F75967}"/>
              </a:ext>
            </a:extLst>
          </p:cNvPr>
          <p:cNvSpPr/>
          <p:nvPr/>
        </p:nvSpPr>
        <p:spPr bwMode="auto">
          <a:xfrm>
            <a:off x="7476849" y="4639418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  <a:endCxn id="40" idx="0"/>
          </p:cNvCxnSpPr>
          <p:nvPr/>
        </p:nvCxnSpPr>
        <p:spPr bwMode="auto">
          <a:xfrm>
            <a:off x="6735089" y="3308282"/>
            <a:ext cx="0" cy="3935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18" name="직선 화살표 연결선 17">
            <a:extLst>
              <a:ext uri="{FF2B5EF4-FFF2-40B4-BE49-F238E27FC236}">
                <a16:creationId xmlns="" xmlns:a16="http://schemas.microsoft.com/office/drawing/2014/main" id="{F8002E27-8873-4F34-93D6-FA716757801C}"/>
              </a:ext>
            </a:extLst>
          </p:cNvPr>
          <p:cNvCxnSpPr/>
          <p:nvPr/>
        </p:nvCxnSpPr>
        <p:spPr bwMode="auto">
          <a:xfrm>
            <a:off x="4039277" y="5208456"/>
            <a:ext cx="0" cy="43034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FB3F9F46-FA37-4C71-855B-9C6AD014A1FF}"/>
              </a:ext>
            </a:extLst>
          </p:cNvPr>
          <p:cNvSpPr/>
          <p:nvPr/>
        </p:nvSpPr>
        <p:spPr>
          <a:xfrm>
            <a:off x="3835478" y="5583053"/>
            <a:ext cx="40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ko-KR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altLang="ko-KR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2535DAF4-8D81-49B7-9963-487B9D0C80C8}"/>
              </a:ext>
            </a:extLst>
          </p:cNvPr>
          <p:cNvSpPr/>
          <p:nvPr/>
        </p:nvSpPr>
        <p:spPr>
          <a:xfrm>
            <a:off x="5251567" y="5583053"/>
            <a:ext cx="40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ko-KR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altLang="ko-KR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FEDA0F7F-CCA1-466A-BF5E-2CE669521A1D}"/>
              </a:ext>
            </a:extLst>
          </p:cNvPr>
          <p:cNvSpPr/>
          <p:nvPr/>
        </p:nvSpPr>
        <p:spPr>
          <a:xfrm>
            <a:off x="6600223" y="5583053"/>
            <a:ext cx="40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ko-KR" baseline="-25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US" altLang="ko-KR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97862E2B-54E6-4B00-8F16-BAE774485322}"/>
              </a:ext>
            </a:extLst>
          </p:cNvPr>
          <p:cNvSpPr/>
          <p:nvPr/>
        </p:nvSpPr>
        <p:spPr>
          <a:xfrm>
            <a:off x="7881445" y="5583053"/>
            <a:ext cx="404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ko-KR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US" altLang="ko-KR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638576DD-0C8E-4DAC-AD0C-DF29E8B1FD22}"/>
              </a:ext>
            </a:extLst>
          </p:cNvPr>
          <p:cNvSpPr/>
          <p:nvPr/>
        </p:nvSpPr>
        <p:spPr>
          <a:xfrm>
            <a:off x="5656165" y="6339443"/>
            <a:ext cx="17532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Voting</a:t>
            </a:r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="" xmlns:a16="http://schemas.microsoft.com/office/drawing/2014/main" id="{85DEB72C-4230-4B09-A480-FC8D35FD35E8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>
            <a:off x="4037777" y="5952385"/>
            <a:ext cx="2495014" cy="38705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="" xmlns:a16="http://schemas.microsoft.com/office/drawing/2014/main" id="{CE194F9F-3E4C-48F5-849F-FD3A08006A0A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 bwMode="auto">
          <a:xfrm>
            <a:off x="5453866" y="5952385"/>
            <a:ext cx="1078925" cy="38705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="" xmlns:a16="http://schemas.microsoft.com/office/drawing/2014/main" id="{FDB88F85-8A62-4739-B653-C56BF22B3B89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 bwMode="auto">
          <a:xfrm flipH="1">
            <a:off x="6532791" y="5952385"/>
            <a:ext cx="269731" cy="38705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F2201E8F-CDA2-46CC-8E91-9D9C59C8F2F6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 bwMode="auto">
          <a:xfrm flipH="1">
            <a:off x="6532791" y="5952385"/>
            <a:ext cx="1550953" cy="38705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334F9CC8-E776-4613-96AD-F7AE6BBCE105}"/>
              </a:ext>
            </a:extLst>
          </p:cNvPr>
          <p:cNvSpPr/>
          <p:nvPr/>
        </p:nvSpPr>
        <p:spPr>
          <a:xfrm>
            <a:off x="3565748" y="4741051"/>
            <a:ext cx="1146357" cy="33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신경망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9BC3F97E-680A-46F9-881E-00DFE8BC9ECB}"/>
              </a:ext>
            </a:extLst>
          </p:cNvPr>
          <p:cNvSpPr/>
          <p:nvPr/>
        </p:nvSpPr>
        <p:spPr>
          <a:xfrm>
            <a:off x="4914403" y="4741051"/>
            <a:ext cx="1146357" cy="33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신경망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	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="" xmlns:a16="http://schemas.microsoft.com/office/drawing/2014/main" id="{B55F4B04-F076-4236-9EB3-2BEBE68E642A}"/>
              </a:ext>
            </a:extLst>
          </p:cNvPr>
          <p:cNvSpPr/>
          <p:nvPr/>
        </p:nvSpPr>
        <p:spPr>
          <a:xfrm>
            <a:off x="6263059" y="4741051"/>
            <a:ext cx="1146357" cy="33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신경망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="" xmlns:a16="http://schemas.microsoft.com/office/drawing/2014/main" id="{6F42A8F3-20BE-4796-9399-740A778614BE}"/>
              </a:ext>
            </a:extLst>
          </p:cNvPr>
          <p:cNvSpPr/>
          <p:nvPr/>
        </p:nvSpPr>
        <p:spPr>
          <a:xfrm>
            <a:off x="7544282" y="4753125"/>
            <a:ext cx="1146357" cy="33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신경망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9A3E51F0-45FE-40F7-9590-77A2AEC535F7}"/>
              </a:ext>
            </a:extLst>
          </p:cNvPr>
          <p:cNvSpPr/>
          <p:nvPr/>
        </p:nvSpPr>
        <p:spPr>
          <a:xfrm>
            <a:off x="5380532" y="2847112"/>
            <a:ext cx="2215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Training data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B2A2343B-3356-4145-8613-3FEA6656B282}"/>
              </a:ext>
            </a:extLst>
          </p:cNvPr>
          <p:cNvSpPr/>
          <p:nvPr/>
        </p:nvSpPr>
        <p:spPr bwMode="auto">
          <a:xfrm>
            <a:off x="3498315" y="3701837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="" xmlns:a16="http://schemas.microsoft.com/office/drawing/2014/main" id="{93FBD9D3-640E-445E-9950-58A47122B37A}"/>
              </a:ext>
            </a:extLst>
          </p:cNvPr>
          <p:cNvSpPr/>
          <p:nvPr/>
        </p:nvSpPr>
        <p:spPr bwMode="auto">
          <a:xfrm>
            <a:off x="4846971" y="3701837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="" xmlns:a16="http://schemas.microsoft.com/office/drawing/2014/main" id="{F05D14A5-58C9-4498-8646-86C728747D13}"/>
              </a:ext>
            </a:extLst>
          </p:cNvPr>
          <p:cNvSpPr/>
          <p:nvPr/>
        </p:nvSpPr>
        <p:spPr bwMode="auto">
          <a:xfrm>
            <a:off x="6195626" y="3701837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="" xmlns:a16="http://schemas.microsoft.com/office/drawing/2014/main" id="{2E4254FD-ABC3-4E81-BB4C-397440F75967}"/>
              </a:ext>
            </a:extLst>
          </p:cNvPr>
          <p:cNvSpPr/>
          <p:nvPr/>
        </p:nvSpPr>
        <p:spPr bwMode="auto">
          <a:xfrm>
            <a:off x="7476849" y="3701837"/>
            <a:ext cx="1078925" cy="568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="" xmlns:a16="http://schemas.microsoft.com/office/drawing/2014/main" id="{334F9CC8-E776-4613-96AD-F7AE6BBCE105}"/>
              </a:ext>
            </a:extLst>
          </p:cNvPr>
          <p:cNvSpPr/>
          <p:nvPr/>
        </p:nvSpPr>
        <p:spPr>
          <a:xfrm>
            <a:off x="3454400" y="3803470"/>
            <a:ext cx="1166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spc="-8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Mini-batch</a:t>
            </a:r>
            <a:endParaRPr lang="en-US" altLang="ko-KR" sz="1600" b="1" spc="-8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334F9CC8-E776-4613-96AD-F7AE6BBCE105}"/>
              </a:ext>
            </a:extLst>
          </p:cNvPr>
          <p:cNvSpPr/>
          <p:nvPr/>
        </p:nvSpPr>
        <p:spPr>
          <a:xfrm>
            <a:off x="4803805" y="3803470"/>
            <a:ext cx="1166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spc="-8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Mini-batch</a:t>
            </a:r>
            <a:endParaRPr lang="en-US" altLang="ko-KR" sz="1600" b="1" spc="-8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="" xmlns:a16="http://schemas.microsoft.com/office/drawing/2014/main" id="{334F9CC8-E776-4613-96AD-F7AE6BBCE105}"/>
              </a:ext>
            </a:extLst>
          </p:cNvPr>
          <p:cNvSpPr/>
          <p:nvPr/>
        </p:nvSpPr>
        <p:spPr>
          <a:xfrm>
            <a:off x="6151710" y="3803470"/>
            <a:ext cx="1166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spc="-8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Mini-batch</a:t>
            </a:r>
            <a:endParaRPr lang="en-US" altLang="ko-KR" sz="1600" b="1" spc="-8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334F9CC8-E776-4613-96AD-F7AE6BBCE105}"/>
              </a:ext>
            </a:extLst>
          </p:cNvPr>
          <p:cNvSpPr/>
          <p:nvPr/>
        </p:nvSpPr>
        <p:spPr>
          <a:xfrm>
            <a:off x="7443235" y="3803470"/>
            <a:ext cx="1166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spc="-8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Mini-batch</a:t>
            </a:r>
            <a:endParaRPr lang="en-US" altLang="ko-KR" sz="1600" b="1" spc="-8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8007700" y="3308282"/>
            <a:ext cx="0" cy="3935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0" name="직선 화살표 연결선 49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5380532" y="3308282"/>
            <a:ext cx="0" cy="3935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4037776" y="3308282"/>
            <a:ext cx="0" cy="3935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>
            <a:off x="4037776" y="4270086"/>
            <a:ext cx="2" cy="3693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4" name="직선 화살표 연결선 53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5372074" y="4270086"/>
            <a:ext cx="2" cy="3693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5" name="직선 화살표 연결선 54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6735060" y="4270086"/>
            <a:ext cx="2" cy="3693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6" name="직선 화살표 연결선 55">
            <a:extLst>
              <a:ext uri="{FF2B5EF4-FFF2-40B4-BE49-F238E27FC236}">
                <a16:creationId xmlns="" xmlns:a16="http://schemas.microsoft.com/office/drawing/2014/main" id="{6065D605-3791-40FC-87CF-5E5D1AF5BBA8}"/>
              </a:ext>
            </a:extLst>
          </p:cNvPr>
          <p:cNvCxnSpPr>
            <a:cxnSpLocks/>
          </p:cNvCxnSpPr>
          <p:nvPr/>
        </p:nvCxnSpPr>
        <p:spPr bwMode="auto">
          <a:xfrm>
            <a:off x="8007698" y="4270086"/>
            <a:ext cx="2" cy="3693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2" name="직선 화살표 연결선 61">
            <a:extLst>
              <a:ext uri="{FF2B5EF4-FFF2-40B4-BE49-F238E27FC236}">
                <a16:creationId xmlns="" xmlns:a16="http://schemas.microsoft.com/office/drawing/2014/main" id="{F8002E27-8873-4F34-93D6-FA716757801C}"/>
              </a:ext>
            </a:extLst>
          </p:cNvPr>
          <p:cNvCxnSpPr/>
          <p:nvPr/>
        </p:nvCxnSpPr>
        <p:spPr bwMode="auto">
          <a:xfrm>
            <a:off x="5372074" y="5208456"/>
            <a:ext cx="0" cy="43034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3" name="직선 화살표 연결선 62">
            <a:extLst>
              <a:ext uri="{FF2B5EF4-FFF2-40B4-BE49-F238E27FC236}">
                <a16:creationId xmlns="" xmlns:a16="http://schemas.microsoft.com/office/drawing/2014/main" id="{F8002E27-8873-4F34-93D6-FA716757801C}"/>
              </a:ext>
            </a:extLst>
          </p:cNvPr>
          <p:cNvCxnSpPr/>
          <p:nvPr/>
        </p:nvCxnSpPr>
        <p:spPr bwMode="auto">
          <a:xfrm>
            <a:off x="6735060" y="5208456"/>
            <a:ext cx="0" cy="43034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4" name="직선 화살표 연결선 63">
            <a:extLst>
              <a:ext uri="{FF2B5EF4-FFF2-40B4-BE49-F238E27FC236}">
                <a16:creationId xmlns="" xmlns:a16="http://schemas.microsoft.com/office/drawing/2014/main" id="{F8002E27-8873-4F34-93D6-FA716757801C}"/>
              </a:ext>
            </a:extLst>
          </p:cNvPr>
          <p:cNvCxnSpPr/>
          <p:nvPr/>
        </p:nvCxnSpPr>
        <p:spPr bwMode="auto">
          <a:xfrm>
            <a:off x="8011758" y="5208456"/>
            <a:ext cx="0" cy="43034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1528227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미니 배치 </a:t>
            </a:r>
            <a:r>
              <a:rPr lang="en-US" altLang="ko-KR" dirty="0" smtClean="0"/>
              <a:t>dropout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드롭아웃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과정을 통해 일부 가중치들이 제거되어 연결관계가 끊어진 것처럼 됨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각각의 개별적인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분류기들이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학습되는 구조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2321590" y="3058002"/>
            <a:ext cx="7286676" cy="3286148"/>
            <a:chOff x="1000100" y="1643050"/>
            <a:chExt cx="7286676" cy="3429024"/>
          </a:xfrm>
        </p:grpSpPr>
        <p:sp>
          <p:nvSpPr>
            <p:cNvPr id="45" name="타원 44"/>
            <p:cNvSpPr/>
            <p:nvPr/>
          </p:nvSpPr>
          <p:spPr bwMode="auto">
            <a:xfrm>
              <a:off x="1371869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3" name="타원 52"/>
            <p:cNvSpPr/>
            <p:nvPr/>
          </p:nvSpPr>
          <p:spPr bwMode="auto">
            <a:xfrm>
              <a:off x="1892346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 bwMode="auto">
            <a:xfrm>
              <a:off x="1148808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 bwMode="auto">
            <a:xfrm>
              <a:off x="1594931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 bwMode="auto">
            <a:xfrm>
              <a:off x="2041054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1371869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1" name="타원 60"/>
            <p:cNvSpPr/>
            <p:nvPr/>
          </p:nvSpPr>
          <p:spPr bwMode="auto">
            <a:xfrm>
              <a:off x="3305069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5" name="타원 64"/>
            <p:cNvSpPr/>
            <p:nvPr/>
          </p:nvSpPr>
          <p:spPr bwMode="auto">
            <a:xfrm>
              <a:off x="3825546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6" name="타원 65"/>
            <p:cNvSpPr/>
            <p:nvPr/>
          </p:nvSpPr>
          <p:spPr bwMode="auto">
            <a:xfrm>
              <a:off x="3082007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7" name="타원 66"/>
            <p:cNvSpPr/>
            <p:nvPr/>
          </p:nvSpPr>
          <p:spPr bwMode="auto">
            <a:xfrm>
              <a:off x="3602484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8" name="타원 67"/>
            <p:cNvSpPr/>
            <p:nvPr/>
          </p:nvSpPr>
          <p:spPr bwMode="auto">
            <a:xfrm>
              <a:off x="5089561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9" name="타원 68"/>
            <p:cNvSpPr/>
            <p:nvPr/>
          </p:nvSpPr>
          <p:spPr bwMode="auto">
            <a:xfrm>
              <a:off x="5610038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0" name="타원 69"/>
            <p:cNvSpPr/>
            <p:nvPr/>
          </p:nvSpPr>
          <p:spPr bwMode="auto">
            <a:xfrm>
              <a:off x="4866500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1" name="타원 70"/>
            <p:cNvSpPr/>
            <p:nvPr/>
          </p:nvSpPr>
          <p:spPr bwMode="auto">
            <a:xfrm>
              <a:off x="5386976" y="3893530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2" name="타원 71"/>
            <p:cNvSpPr/>
            <p:nvPr/>
          </p:nvSpPr>
          <p:spPr bwMode="auto">
            <a:xfrm>
              <a:off x="6056161" y="3259472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 bwMode="auto">
            <a:xfrm>
              <a:off x="1000100" y="1643050"/>
              <a:ext cx="1561431" cy="64294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000100" y="1786526"/>
              <a:ext cx="1558534" cy="385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Mini batch1</a:t>
              </a:r>
            </a:p>
          </p:txBody>
        </p:sp>
        <p:sp>
          <p:nvSpPr>
            <p:cNvPr id="75" name="직사각형 74"/>
            <p:cNvSpPr/>
            <p:nvPr/>
          </p:nvSpPr>
          <p:spPr bwMode="auto">
            <a:xfrm>
              <a:off x="2858946" y="1643051"/>
              <a:ext cx="1561431" cy="64294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58946" y="1808814"/>
              <a:ext cx="1558534" cy="385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Mini batch2</a:t>
              </a:r>
            </a:p>
          </p:txBody>
        </p:sp>
        <p:sp>
          <p:nvSpPr>
            <p:cNvPr id="77" name="직사각형 76"/>
            <p:cNvSpPr/>
            <p:nvPr/>
          </p:nvSpPr>
          <p:spPr bwMode="auto">
            <a:xfrm>
              <a:off x="4717792" y="1680733"/>
              <a:ext cx="1561431" cy="60525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717792" y="1808814"/>
              <a:ext cx="1558534" cy="385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Mini batch3</a:t>
              </a:r>
            </a:p>
          </p:txBody>
        </p:sp>
        <p:sp>
          <p:nvSpPr>
            <p:cNvPr id="79" name="직사각형 78"/>
            <p:cNvSpPr/>
            <p:nvPr/>
          </p:nvSpPr>
          <p:spPr bwMode="auto">
            <a:xfrm>
              <a:off x="6576637" y="1643051"/>
              <a:ext cx="1561431" cy="64294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6576638" y="1786526"/>
              <a:ext cx="1558534" cy="385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800" b="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mini batch4</a:t>
              </a:r>
            </a:p>
          </p:txBody>
        </p:sp>
        <p:sp>
          <p:nvSpPr>
            <p:cNvPr id="81" name="직사각형 80"/>
            <p:cNvSpPr/>
            <p:nvPr/>
          </p:nvSpPr>
          <p:spPr bwMode="auto">
            <a:xfrm>
              <a:off x="1074454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 bwMode="auto">
            <a:xfrm>
              <a:off x="2264115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 bwMode="auto">
            <a:xfrm>
              <a:off x="1446223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 bwMode="auto">
            <a:xfrm>
              <a:off x="3379423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5" name="직사각형 84"/>
            <p:cNvSpPr/>
            <p:nvPr/>
          </p:nvSpPr>
          <p:spPr bwMode="auto">
            <a:xfrm>
              <a:off x="3899900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6" name="직사각형 85"/>
            <p:cNvSpPr/>
            <p:nvPr/>
          </p:nvSpPr>
          <p:spPr bwMode="auto">
            <a:xfrm>
              <a:off x="4940853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 bwMode="auto">
            <a:xfrm>
              <a:off x="5684391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 bwMode="auto">
            <a:xfrm>
              <a:off x="6799699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 bwMode="auto">
            <a:xfrm>
              <a:off x="7245822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0" name="직사각형 89"/>
            <p:cNvSpPr/>
            <p:nvPr/>
          </p:nvSpPr>
          <p:spPr bwMode="auto">
            <a:xfrm>
              <a:off x="7617591" y="2353674"/>
              <a:ext cx="74354" cy="905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91" name="직선 연결선 90"/>
            <p:cNvCxnSpPr>
              <a:stCxn id="81" idx="2"/>
              <a:endCxn id="45" idx="0"/>
            </p:cNvCxnSpPr>
            <p:nvPr/>
          </p:nvCxnSpPr>
          <p:spPr bwMode="auto">
            <a:xfrm rot="16200000" flipH="1">
              <a:off x="889907" y="2665979"/>
              <a:ext cx="815217" cy="3717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직선 연결선 91"/>
            <p:cNvCxnSpPr>
              <a:stCxn id="81" idx="2"/>
              <a:endCxn id="53" idx="0"/>
            </p:cNvCxnSpPr>
            <p:nvPr/>
          </p:nvCxnSpPr>
          <p:spPr bwMode="auto">
            <a:xfrm rot="16200000" flipH="1">
              <a:off x="1150145" y="2405740"/>
              <a:ext cx="815217" cy="8922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직선 연결선 92"/>
            <p:cNvCxnSpPr>
              <a:stCxn id="83" idx="2"/>
              <a:endCxn id="45" idx="0"/>
            </p:cNvCxnSpPr>
            <p:nvPr/>
          </p:nvCxnSpPr>
          <p:spPr bwMode="auto">
            <a:xfrm rot="5400000">
              <a:off x="1075791" y="2852044"/>
              <a:ext cx="815217" cy="16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직선 연결선 93"/>
            <p:cNvCxnSpPr>
              <a:stCxn id="82" idx="2"/>
              <a:endCxn id="45" idx="0"/>
            </p:cNvCxnSpPr>
            <p:nvPr/>
          </p:nvCxnSpPr>
          <p:spPr bwMode="auto">
            <a:xfrm rot="5400000">
              <a:off x="1484737" y="2442917"/>
              <a:ext cx="815217" cy="81789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직선 연결선 94"/>
            <p:cNvCxnSpPr>
              <a:stCxn id="83" idx="2"/>
              <a:endCxn id="53" idx="0"/>
            </p:cNvCxnSpPr>
            <p:nvPr/>
          </p:nvCxnSpPr>
          <p:spPr bwMode="auto">
            <a:xfrm rot="16200000" flipH="1">
              <a:off x="1336030" y="2591625"/>
              <a:ext cx="815217" cy="5204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직선 연결선 95"/>
            <p:cNvCxnSpPr>
              <a:stCxn id="82" idx="2"/>
              <a:endCxn id="53" idx="0"/>
            </p:cNvCxnSpPr>
            <p:nvPr/>
          </p:nvCxnSpPr>
          <p:spPr bwMode="auto">
            <a:xfrm rot="5400000">
              <a:off x="1744976" y="2703155"/>
              <a:ext cx="815217" cy="297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직선 연결선 96"/>
            <p:cNvCxnSpPr>
              <a:stCxn id="45" idx="4"/>
              <a:endCxn id="59" idx="0"/>
            </p:cNvCxnSpPr>
            <p:nvPr/>
          </p:nvCxnSpPr>
          <p:spPr bwMode="auto">
            <a:xfrm rot="16200000" flipH="1">
              <a:off x="1636833" y="3377778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직선 연결선 97"/>
            <p:cNvCxnSpPr>
              <a:stCxn id="45" idx="4"/>
              <a:endCxn id="58" idx="0"/>
            </p:cNvCxnSpPr>
            <p:nvPr/>
          </p:nvCxnSpPr>
          <p:spPr bwMode="auto">
            <a:xfrm rot="16200000" flipH="1">
              <a:off x="1413771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직선 연결선 98"/>
            <p:cNvCxnSpPr>
              <a:stCxn id="45" idx="4"/>
              <a:endCxn id="57" idx="0"/>
            </p:cNvCxnSpPr>
            <p:nvPr/>
          </p:nvCxnSpPr>
          <p:spPr bwMode="auto">
            <a:xfrm rot="5400000">
              <a:off x="1190710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직선 연결선 99"/>
            <p:cNvCxnSpPr>
              <a:stCxn id="53" idx="4"/>
              <a:endCxn id="57" idx="0"/>
            </p:cNvCxnSpPr>
            <p:nvPr/>
          </p:nvCxnSpPr>
          <p:spPr bwMode="auto">
            <a:xfrm rot="5400000">
              <a:off x="1450948" y="3340601"/>
              <a:ext cx="362319" cy="7435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직선 연결선 100"/>
            <p:cNvCxnSpPr>
              <a:stCxn id="53" idx="4"/>
              <a:endCxn id="58" idx="0"/>
            </p:cNvCxnSpPr>
            <p:nvPr/>
          </p:nvCxnSpPr>
          <p:spPr bwMode="auto">
            <a:xfrm rot="5400000">
              <a:off x="1674010" y="3563663"/>
              <a:ext cx="362319" cy="297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직선 연결선 101"/>
            <p:cNvCxnSpPr>
              <a:stCxn id="53" idx="4"/>
              <a:endCxn id="59" idx="0"/>
            </p:cNvCxnSpPr>
            <p:nvPr/>
          </p:nvCxnSpPr>
          <p:spPr bwMode="auto">
            <a:xfrm rot="16200000" flipH="1">
              <a:off x="1897071" y="3638017"/>
              <a:ext cx="362319" cy="1487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직선 연결선 102"/>
            <p:cNvCxnSpPr>
              <a:stCxn id="60" idx="0"/>
              <a:endCxn id="57" idx="4"/>
            </p:cNvCxnSpPr>
            <p:nvPr/>
          </p:nvCxnSpPr>
          <p:spPr bwMode="auto">
            <a:xfrm rot="16200000" flipV="1">
              <a:off x="1190710" y="4234898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직선 연결선 103"/>
            <p:cNvCxnSpPr>
              <a:endCxn id="57" idx="4"/>
            </p:cNvCxnSpPr>
            <p:nvPr/>
          </p:nvCxnSpPr>
          <p:spPr bwMode="auto">
            <a:xfrm rot="16200000" flipV="1">
              <a:off x="1450948" y="3974659"/>
              <a:ext cx="362319" cy="7435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직선 연결선 104"/>
            <p:cNvCxnSpPr>
              <a:stCxn id="60" idx="0"/>
              <a:endCxn id="58" idx="4"/>
            </p:cNvCxnSpPr>
            <p:nvPr/>
          </p:nvCxnSpPr>
          <p:spPr bwMode="auto">
            <a:xfrm rot="5400000" flipH="1" flipV="1">
              <a:off x="1413771" y="4234898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직선 연결선 105"/>
            <p:cNvCxnSpPr>
              <a:endCxn id="58" idx="4"/>
            </p:cNvCxnSpPr>
            <p:nvPr/>
          </p:nvCxnSpPr>
          <p:spPr bwMode="auto">
            <a:xfrm rot="16200000" flipV="1">
              <a:off x="1674010" y="4197721"/>
              <a:ext cx="362319" cy="297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직선 연결선 106"/>
            <p:cNvCxnSpPr>
              <a:endCxn id="59" idx="4"/>
            </p:cNvCxnSpPr>
            <p:nvPr/>
          </p:nvCxnSpPr>
          <p:spPr bwMode="auto">
            <a:xfrm rot="5400000" flipH="1" flipV="1">
              <a:off x="1897071" y="4272074"/>
              <a:ext cx="362319" cy="1487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직선 연결선 107"/>
            <p:cNvCxnSpPr>
              <a:stCxn id="60" idx="0"/>
              <a:endCxn id="59" idx="4"/>
            </p:cNvCxnSpPr>
            <p:nvPr/>
          </p:nvCxnSpPr>
          <p:spPr bwMode="auto">
            <a:xfrm rot="5400000" flipH="1" flipV="1">
              <a:off x="1636833" y="4011836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직선 화살표 연결선 108"/>
            <p:cNvCxnSpPr>
              <a:stCxn id="60" idx="4"/>
            </p:cNvCxnSpPr>
            <p:nvPr/>
          </p:nvCxnSpPr>
          <p:spPr bwMode="auto">
            <a:xfrm rot="5400000">
              <a:off x="1347530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0" name="직선 연결선 109"/>
            <p:cNvCxnSpPr>
              <a:stCxn id="84" idx="2"/>
              <a:endCxn id="61" idx="0"/>
            </p:cNvCxnSpPr>
            <p:nvPr/>
          </p:nvCxnSpPr>
          <p:spPr bwMode="auto">
            <a:xfrm rot="5400000">
              <a:off x="3008991" y="2852044"/>
              <a:ext cx="815217" cy="16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직선 연결선 110"/>
            <p:cNvCxnSpPr>
              <a:stCxn id="84" idx="2"/>
              <a:endCxn id="65" idx="0"/>
            </p:cNvCxnSpPr>
            <p:nvPr/>
          </p:nvCxnSpPr>
          <p:spPr bwMode="auto">
            <a:xfrm rot="16200000" flipH="1">
              <a:off x="3269229" y="2591625"/>
              <a:ext cx="815217" cy="5204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직선 연결선 111"/>
            <p:cNvCxnSpPr>
              <a:stCxn id="85" idx="2"/>
              <a:endCxn id="61" idx="0"/>
            </p:cNvCxnSpPr>
            <p:nvPr/>
          </p:nvCxnSpPr>
          <p:spPr bwMode="auto">
            <a:xfrm rot="5400000">
              <a:off x="3269229" y="2591625"/>
              <a:ext cx="815217" cy="5204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직선 연결선 112"/>
            <p:cNvCxnSpPr>
              <a:stCxn id="85" idx="2"/>
              <a:endCxn id="65" idx="0"/>
            </p:cNvCxnSpPr>
            <p:nvPr/>
          </p:nvCxnSpPr>
          <p:spPr bwMode="auto">
            <a:xfrm rot="5400000">
              <a:off x="3529468" y="2852044"/>
              <a:ext cx="815217" cy="16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직선 연결선 113"/>
            <p:cNvCxnSpPr>
              <a:stCxn id="66" idx="0"/>
              <a:endCxn id="61" idx="4"/>
            </p:cNvCxnSpPr>
            <p:nvPr/>
          </p:nvCxnSpPr>
          <p:spPr bwMode="auto">
            <a:xfrm rot="5400000" flipH="1" flipV="1">
              <a:off x="3123910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직선 연결선 114"/>
            <p:cNvCxnSpPr>
              <a:stCxn id="67" idx="0"/>
              <a:endCxn id="61" idx="4"/>
            </p:cNvCxnSpPr>
            <p:nvPr/>
          </p:nvCxnSpPr>
          <p:spPr bwMode="auto">
            <a:xfrm rot="16200000" flipV="1">
              <a:off x="3384148" y="3563663"/>
              <a:ext cx="362319" cy="297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직선 연결선 115"/>
            <p:cNvCxnSpPr>
              <a:stCxn id="66" idx="0"/>
              <a:endCxn id="65" idx="4"/>
            </p:cNvCxnSpPr>
            <p:nvPr/>
          </p:nvCxnSpPr>
          <p:spPr bwMode="auto">
            <a:xfrm rot="5400000" flipH="1" flipV="1">
              <a:off x="3384148" y="3340601"/>
              <a:ext cx="362319" cy="7435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직선 연결선 116"/>
            <p:cNvCxnSpPr>
              <a:stCxn id="67" idx="0"/>
              <a:endCxn id="65" idx="4"/>
            </p:cNvCxnSpPr>
            <p:nvPr/>
          </p:nvCxnSpPr>
          <p:spPr bwMode="auto">
            <a:xfrm rot="5400000" flipH="1" flipV="1">
              <a:off x="3644386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직선 연결선 117"/>
            <p:cNvCxnSpPr>
              <a:endCxn id="67" idx="4"/>
            </p:cNvCxnSpPr>
            <p:nvPr/>
          </p:nvCxnSpPr>
          <p:spPr bwMode="auto">
            <a:xfrm rot="16200000" flipV="1">
              <a:off x="3607209" y="4272074"/>
              <a:ext cx="362319" cy="1487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직선 연결선 118"/>
            <p:cNvCxnSpPr>
              <a:endCxn id="67" idx="4"/>
            </p:cNvCxnSpPr>
            <p:nvPr/>
          </p:nvCxnSpPr>
          <p:spPr bwMode="auto">
            <a:xfrm rot="16200000" flipV="1">
              <a:off x="3830271" y="4049013"/>
              <a:ext cx="362319" cy="5948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직선 연결선 119"/>
            <p:cNvCxnSpPr>
              <a:endCxn id="66" idx="4"/>
            </p:cNvCxnSpPr>
            <p:nvPr/>
          </p:nvCxnSpPr>
          <p:spPr bwMode="auto">
            <a:xfrm rot="16200000" flipV="1">
              <a:off x="3346971" y="4011836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직선 연결선 120"/>
            <p:cNvCxnSpPr>
              <a:endCxn id="66" idx="4"/>
            </p:cNvCxnSpPr>
            <p:nvPr/>
          </p:nvCxnSpPr>
          <p:spPr bwMode="auto">
            <a:xfrm rot="16200000" flipV="1">
              <a:off x="3570033" y="3788775"/>
              <a:ext cx="362319" cy="11153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직선 연결선 121"/>
            <p:cNvCxnSpPr>
              <a:stCxn id="86" idx="2"/>
              <a:endCxn id="68" idx="0"/>
            </p:cNvCxnSpPr>
            <p:nvPr/>
          </p:nvCxnSpPr>
          <p:spPr bwMode="auto">
            <a:xfrm rot="16200000" flipH="1">
              <a:off x="4681952" y="2740332"/>
              <a:ext cx="815217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직선 연결선 122"/>
            <p:cNvCxnSpPr>
              <a:stCxn id="86" idx="2"/>
              <a:endCxn id="69" idx="0"/>
            </p:cNvCxnSpPr>
            <p:nvPr/>
          </p:nvCxnSpPr>
          <p:spPr bwMode="auto">
            <a:xfrm rot="16200000" flipH="1">
              <a:off x="4942191" y="2480094"/>
              <a:ext cx="815217" cy="7435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직선 연결선 123"/>
            <p:cNvCxnSpPr>
              <a:stCxn id="86" idx="2"/>
              <a:endCxn id="72" idx="0"/>
            </p:cNvCxnSpPr>
            <p:nvPr/>
          </p:nvCxnSpPr>
          <p:spPr bwMode="auto">
            <a:xfrm rot="16200000" flipH="1">
              <a:off x="5165252" y="2257032"/>
              <a:ext cx="815217" cy="11896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직선 연결선 124"/>
            <p:cNvCxnSpPr>
              <a:stCxn id="87" idx="2"/>
              <a:endCxn id="68" idx="0"/>
            </p:cNvCxnSpPr>
            <p:nvPr/>
          </p:nvCxnSpPr>
          <p:spPr bwMode="auto">
            <a:xfrm rot="5400000">
              <a:off x="5053722" y="2591625"/>
              <a:ext cx="815217" cy="5204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직선 연결선 125"/>
            <p:cNvCxnSpPr>
              <a:stCxn id="87" idx="2"/>
              <a:endCxn id="69" idx="0"/>
            </p:cNvCxnSpPr>
            <p:nvPr/>
          </p:nvCxnSpPr>
          <p:spPr bwMode="auto">
            <a:xfrm rot="5400000">
              <a:off x="5313960" y="2852044"/>
              <a:ext cx="815217" cy="16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직선 연결선 126"/>
            <p:cNvCxnSpPr>
              <a:stCxn id="87" idx="2"/>
              <a:endCxn id="72" idx="0"/>
            </p:cNvCxnSpPr>
            <p:nvPr/>
          </p:nvCxnSpPr>
          <p:spPr bwMode="auto">
            <a:xfrm rot="16200000" flipH="1">
              <a:off x="5537021" y="2628802"/>
              <a:ext cx="815217" cy="44612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직선 연결선 127"/>
            <p:cNvCxnSpPr>
              <a:stCxn id="70" idx="0"/>
              <a:endCxn id="68" idx="4"/>
            </p:cNvCxnSpPr>
            <p:nvPr/>
          </p:nvCxnSpPr>
          <p:spPr bwMode="auto">
            <a:xfrm rot="5400000" flipH="1" flipV="1">
              <a:off x="4908402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직선 연결선 128"/>
            <p:cNvCxnSpPr>
              <a:stCxn id="71" idx="0"/>
              <a:endCxn id="68" idx="4"/>
            </p:cNvCxnSpPr>
            <p:nvPr/>
          </p:nvCxnSpPr>
          <p:spPr bwMode="auto">
            <a:xfrm rot="16200000" flipV="1">
              <a:off x="5168640" y="3563663"/>
              <a:ext cx="362319" cy="297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직선 연결선 129"/>
            <p:cNvCxnSpPr>
              <a:stCxn id="70" idx="0"/>
              <a:endCxn id="69" idx="4"/>
            </p:cNvCxnSpPr>
            <p:nvPr/>
          </p:nvCxnSpPr>
          <p:spPr bwMode="auto">
            <a:xfrm rot="5400000" flipH="1" flipV="1">
              <a:off x="5168640" y="3340601"/>
              <a:ext cx="362319" cy="7435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직선 연결선 130"/>
            <p:cNvCxnSpPr>
              <a:stCxn id="71" idx="0"/>
              <a:endCxn id="69" idx="4"/>
            </p:cNvCxnSpPr>
            <p:nvPr/>
          </p:nvCxnSpPr>
          <p:spPr bwMode="auto">
            <a:xfrm rot="5400000" flipH="1" flipV="1">
              <a:off x="5428878" y="3600840"/>
              <a:ext cx="362319" cy="22306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직선 연결선 131"/>
            <p:cNvCxnSpPr>
              <a:stCxn id="70" idx="0"/>
              <a:endCxn id="72" idx="4"/>
            </p:cNvCxnSpPr>
            <p:nvPr/>
          </p:nvCxnSpPr>
          <p:spPr bwMode="auto">
            <a:xfrm rot="5400000" flipH="1" flipV="1">
              <a:off x="5391702" y="3117540"/>
              <a:ext cx="362319" cy="11896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직선 연결선 132"/>
            <p:cNvCxnSpPr>
              <a:stCxn id="71" idx="0"/>
              <a:endCxn id="72" idx="4"/>
            </p:cNvCxnSpPr>
            <p:nvPr/>
          </p:nvCxnSpPr>
          <p:spPr bwMode="auto">
            <a:xfrm rot="5400000" flipH="1" flipV="1">
              <a:off x="5651940" y="3377778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직선 연결선 133"/>
            <p:cNvCxnSpPr>
              <a:stCxn id="70" idx="4"/>
            </p:cNvCxnSpPr>
            <p:nvPr/>
          </p:nvCxnSpPr>
          <p:spPr bwMode="auto">
            <a:xfrm rot="16200000" flipH="1">
              <a:off x="5131463" y="4011836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직선 연결선 134"/>
            <p:cNvCxnSpPr>
              <a:stCxn id="70" idx="4"/>
            </p:cNvCxnSpPr>
            <p:nvPr/>
          </p:nvCxnSpPr>
          <p:spPr bwMode="auto">
            <a:xfrm rot="16200000" flipH="1">
              <a:off x="5354525" y="3788775"/>
              <a:ext cx="362319" cy="11153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직선 연결선 135"/>
            <p:cNvCxnSpPr>
              <a:stCxn id="71" idx="4"/>
            </p:cNvCxnSpPr>
            <p:nvPr/>
          </p:nvCxnSpPr>
          <p:spPr bwMode="auto">
            <a:xfrm rot="16200000" flipH="1">
              <a:off x="5391702" y="4272074"/>
              <a:ext cx="362319" cy="1487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직선 연결선 136"/>
            <p:cNvCxnSpPr>
              <a:stCxn id="71" idx="4"/>
            </p:cNvCxnSpPr>
            <p:nvPr/>
          </p:nvCxnSpPr>
          <p:spPr bwMode="auto">
            <a:xfrm rot="16200000" flipH="1">
              <a:off x="5614763" y="4049013"/>
              <a:ext cx="362319" cy="5948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38" name="타원 137"/>
            <p:cNvSpPr/>
            <p:nvPr/>
          </p:nvSpPr>
          <p:spPr bwMode="auto">
            <a:xfrm>
              <a:off x="7134292" y="3259473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39" name="타원 138"/>
            <p:cNvSpPr/>
            <p:nvPr/>
          </p:nvSpPr>
          <p:spPr bwMode="auto">
            <a:xfrm>
              <a:off x="8063714" y="3259473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40" name="타원 139"/>
            <p:cNvSpPr/>
            <p:nvPr/>
          </p:nvSpPr>
          <p:spPr bwMode="auto">
            <a:xfrm>
              <a:off x="6427930" y="3893531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41" name="타원 140"/>
            <p:cNvSpPr/>
            <p:nvPr/>
          </p:nvSpPr>
          <p:spPr bwMode="auto">
            <a:xfrm>
              <a:off x="7803476" y="3893531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42" name="타원 141"/>
            <p:cNvSpPr/>
            <p:nvPr/>
          </p:nvSpPr>
          <p:spPr bwMode="auto">
            <a:xfrm>
              <a:off x="7134292" y="4527589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43" name="타원 142"/>
            <p:cNvSpPr/>
            <p:nvPr/>
          </p:nvSpPr>
          <p:spPr bwMode="auto">
            <a:xfrm>
              <a:off x="7654768" y="4527589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44" name="직선 연결선 143"/>
            <p:cNvCxnSpPr>
              <a:stCxn id="88" idx="2"/>
              <a:endCxn id="138" idx="0"/>
            </p:cNvCxnSpPr>
            <p:nvPr/>
          </p:nvCxnSpPr>
          <p:spPr bwMode="auto">
            <a:xfrm rot="16200000" flipH="1">
              <a:off x="6633740" y="2647389"/>
              <a:ext cx="815219" cy="4089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직선 연결선 144"/>
            <p:cNvCxnSpPr>
              <a:stCxn id="88" idx="2"/>
              <a:endCxn id="139" idx="0"/>
            </p:cNvCxnSpPr>
            <p:nvPr/>
          </p:nvCxnSpPr>
          <p:spPr bwMode="auto">
            <a:xfrm rot="16200000" flipH="1">
              <a:off x="7098452" y="2182679"/>
              <a:ext cx="815219" cy="13383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직선 연결선 145"/>
            <p:cNvCxnSpPr>
              <a:stCxn id="89" idx="2"/>
              <a:endCxn id="138" idx="0"/>
            </p:cNvCxnSpPr>
            <p:nvPr/>
          </p:nvCxnSpPr>
          <p:spPr bwMode="auto">
            <a:xfrm rot="5400000">
              <a:off x="6856802" y="2833275"/>
              <a:ext cx="815219" cy="371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직선 연결선 146"/>
            <p:cNvCxnSpPr>
              <a:stCxn id="90" idx="2"/>
              <a:endCxn id="138" idx="0"/>
            </p:cNvCxnSpPr>
            <p:nvPr/>
          </p:nvCxnSpPr>
          <p:spPr bwMode="auto">
            <a:xfrm rot="5400000">
              <a:off x="7042687" y="2647391"/>
              <a:ext cx="815219" cy="4089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직선 연결선 147"/>
            <p:cNvCxnSpPr>
              <a:stCxn id="89" idx="2"/>
              <a:endCxn id="139" idx="0"/>
            </p:cNvCxnSpPr>
            <p:nvPr/>
          </p:nvCxnSpPr>
          <p:spPr bwMode="auto">
            <a:xfrm rot="16200000" flipH="1">
              <a:off x="7321513" y="2405740"/>
              <a:ext cx="815219" cy="8922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직선 연결선 148"/>
            <p:cNvCxnSpPr>
              <a:stCxn id="90" idx="2"/>
              <a:endCxn id="139" idx="0"/>
            </p:cNvCxnSpPr>
            <p:nvPr/>
          </p:nvCxnSpPr>
          <p:spPr bwMode="auto">
            <a:xfrm rot="16200000" flipH="1">
              <a:off x="7507398" y="2591625"/>
              <a:ext cx="815219" cy="5204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직선 연결선 149"/>
            <p:cNvCxnSpPr>
              <a:stCxn id="138" idx="4"/>
              <a:endCxn id="141" idx="0"/>
            </p:cNvCxnSpPr>
            <p:nvPr/>
          </p:nvCxnSpPr>
          <p:spPr bwMode="auto">
            <a:xfrm rot="16200000" flipH="1">
              <a:off x="7399255" y="3377779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직선 연결선 150"/>
            <p:cNvCxnSpPr>
              <a:stCxn id="138" idx="4"/>
              <a:endCxn id="140" idx="0"/>
            </p:cNvCxnSpPr>
            <p:nvPr/>
          </p:nvCxnSpPr>
          <p:spPr bwMode="auto">
            <a:xfrm rot="5400000">
              <a:off x="6711483" y="3359192"/>
              <a:ext cx="362319" cy="706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직선 연결선 151"/>
            <p:cNvCxnSpPr>
              <a:stCxn id="139" idx="4"/>
              <a:endCxn id="140" idx="0"/>
            </p:cNvCxnSpPr>
            <p:nvPr/>
          </p:nvCxnSpPr>
          <p:spPr bwMode="auto">
            <a:xfrm rot="5400000">
              <a:off x="7176194" y="2894479"/>
              <a:ext cx="362319" cy="163578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직선 연결선 152"/>
            <p:cNvCxnSpPr>
              <a:stCxn id="139" idx="4"/>
              <a:endCxn id="141" idx="0"/>
            </p:cNvCxnSpPr>
            <p:nvPr/>
          </p:nvCxnSpPr>
          <p:spPr bwMode="auto">
            <a:xfrm rot="5400000">
              <a:off x="7863967" y="3582253"/>
              <a:ext cx="362319" cy="2602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직선 연결선 153"/>
            <p:cNvCxnSpPr>
              <a:stCxn id="142" idx="0"/>
              <a:endCxn id="140" idx="4"/>
            </p:cNvCxnSpPr>
            <p:nvPr/>
          </p:nvCxnSpPr>
          <p:spPr bwMode="auto">
            <a:xfrm rot="16200000" flipV="1">
              <a:off x="6711483" y="3993248"/>
              <a:ext cx="362319" cy="706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직선 연결선 154"/>
            <p:cNvCxnSpPr>
              <a:stCxn id="143" idx="0"/>
              <a:endCxn id="140" idx="4"/>
            </p:cNvCxnSpPr>
            <p:nvPr/>
          </p:nvCxnSpPr>
          <p:spPr bwMode="auto">
            <a:xfrm rot="16200000" flipV="1">
              <a:off x="6971721" y="3733010"/>
              <a:ext cx="362319" cy="12268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직선 연결선 155"/>
            <p:cNvCxnSpPr>
              <a:stCxn id="143" idx="0"/>
              <a:endCxn id="141" idx="4"/>
            </p:cNvCxnSpPr>
            <p:nvPr/>
          </p:nvCxnSpPr>
          <p:spPr bwMode="auto">
            <a:xfrm rot="5400000" flipH="1" flipV="1">
              <a:off x="7659494" y="4272076"/>
              <a:ext cx="362319" cy="1487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직선 연결선 156"/>
            <p:cNvCxnSpPr>
              <a:stCxn id="142" idx="0"/>
              <a:endCxn id="141" idx="4"/>
            </p:cNvCxnSpPr>
            <p:nvPr/>
          </p:nvCxnSpPr>
          <p:spPr bwMode="auto">
            <a:xfrm rot="5400000" flipH="1" flipV="1">
              <a:off x="7399255" y="4011837"/>
              <a:ext cx="362319" cy="6691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직선 화살표 연결선 157"/>
            <p:cNvCxnSpPr>
              <a:stCxn id="142" idx="4"/>
            </p:cNvCxnSpPr>
            <p:nvPr/>
          </p:nvCxnSpPr>
          <p:spPr bwMode="auto">
            <a:xfrm rot="5400000">
              <a:off x="7109953" y="4935378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직선 화살표 연결선 158"/>
            <p:cNvCxnSpPr/>
            <p:nvPr/>
          </p:nvCxnSpPr>
          <p:spPr bwMode="auto">
            <a:xfrm rot="5400000">
              <a:off x="7630430" y="4935378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60" name="타원 159"/>
            <p:cNvSpPr/>
            <p:nvPr/>
          </p:nvSpPr>
          <p:spPr bwMode="auto">
            <a:xfrm>
              <a:off x="1892346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61" name="직선 화살표 연결선 160"/>
            <p:cNvCxnSpPr>
              <a:stCxn id="160" idx="4"/>
            </p:cNvCxnSpPr>
            <p:nvPr/>
          </p:nvCxnSpPr>
          <p:spPr bwMode="auto">
            <a:xfrm rot="5400000">
              <a:off x="1868007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62" name="타원 161"/>
            <p:cNvSpPr/>
            <p:nvPr/>
          </p:nvSpPr>
          <p:spPr bwMode="auto">
            <a:xfrm>
              <a:off x="3751192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63" name="직선 화살표 연결선 162"/>
            <p:cNvCxnSpPr>
              <a:stCxn id="162" idx="4"/>
            </p:cNvCxnSpPr>
            <p:nvPr/>
          </p:nvCxnSpPr>
          <p:spPr bwMode="auto">
            <a:xfrm rot="5400000">
              <a:off x="3726853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64" name="타원 163"/>
            <p:cNvSpPr/>
            <p:nvPr/>
          </p:nvSpPr>
          <p:spPr bwMode="auto">
            <a:xfrm>
              <a:off x="4197315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65" name="직선 화살표 연결선 164"/>
            <p:cNvCxnSpPr>
              <a:stCxn id="164" idx="4"/>
            </p:cNvCxnSpPr>
            <p:nvPr/>
          </p:nvCxnSpPr>
          <p:spPr bwMode="auto">
            <a:xfrm rot="5400000">
              <a:off x="4172976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66" name="타원 165"/>
            <p:cNvSpPr/>
            <p:nvPr/>
          </p:nvSpPr>
          <p:spPr bwMode="auto">
            <a:xfrm>
              <a:off x="5535684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67" name="직선 화살표 연결선 166"/>
            <p:cNvCxnSpPr>
              <a:stCxn id="166" idx="4"/>
            </p:cNvCxnSpPr>
            <p:nvPr/>
          </p:nvCxnSpPr>
          <p:spPr bwMode="auto">
            <a:xfrm rot="5400000">
              <a:off x="5511345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68" name="타원 167"/>
            <p:cNvSpPr/>
            <p:nvPr/>
          </p:nvSpPr>
          <p:spPr bwMode="auto">
            <a:xfrm>
              <a:off x="5981807" y="4527588"/>
              <a:ext cx="223062" cy="27173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169" name="직선 화살표 연결선 168"/>
            <p:cNvCxnSpPr>
              <a:stCxn id="168" idx="4"/>
            </p:cNvCxnSpPr>
            <p:nvPr/>
          </p:nvCxnSpPr>
          <p:spPr bwMode="auto">
            <a:xfrm rot="5400000">
              <a:off x="5957468" y="4935377"/>
              <a:ext cx="271739" cy="1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39556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다양성 역설</a:t>
            </a:r>
            <a:r>
              <a:rPr lang="en-US" altLang="ko-KR" dirty="0" smtClean="0"/>
              <a:t>(Paradox of Diversity)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다양성 높음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같은 데이터에 대해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분류기들이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서로 다른 값 출력</a:t>
            </a:r>
            <a:r>
              <a:rPr lang="en-US" altLang="ko-KR" sz="24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다양성이 낮으면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Voting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효과가 거의 발생하지 않음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다양성의 역설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정확도와 다양성이 상호 대립되는 특성을 보이는 것</a:t>
            </a:r>
            <a:endParaRPr lang="en-US" altLang="ko-KR" sz="36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882900" y="3122165"/>
            <a:ext cx="5715002" cy="3682454"/>
            <a:chOff x="2338723" y="2718300"/>
            <a:chExt cx="7549826" cy="4864720"/>
          </a:xfrm>
        </p:grpSpPr>
        <p:sp>
          <p:nvSpPr>
            <p:cNvPr id="170" name="TextBox 169"/>
            <p:cNvSpPr txBox="1"/>
            <p:nvPr/>
          </p:nvSpPr>
          <p:spPr>
            <a:xfrm>
              <a:off x="8428917" y="7135772"/>
              <a:ext cx="1459632" cy="447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accuracy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2338723" y="2790533"/>
              <a:ext cx="1435757" cy="447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diversity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2" name="타원 171"/>
            <p:cNvSpPr/>
            <p:nvPr/>
          </p:nvSpPr>
          <p:spPr bwMode="auto">
            <a:xfrm>
              <a:off x="4297346" y="5147192"/>
              <a:ext cx="1500198" cy="121444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3" name="타원 172"/>
            <p:cNvSpPr/>
            <p:nvPr/>
          </p:nvSpPr>
          <p:spPr bwMode="auto">
            <a:xfrm>
              <a:off x="4868850" y="3004052"/>
              <a:ext cx="1500198" cy="121444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4" name="타원 173"/>
            <p:cNvSpPr/>
            <p:nvPr/>
          </p:nvSpPr>
          <p:spPr bwMode="auto">
            <a:xfrm>
              <a:off x="7297742" y="5004316"/>
              <a:ext cx="1500198" cy="121444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7194232" y="6433076"/>
              <a:ext cx="2391116" cy="447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큰 성능 개선 없음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3868718" y="2718300"/>
              <a:ext cx="1857387" cy="487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성능 개선 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4261553" y="6433076"/>
              <a:ext cx="1700622" cy="447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인식률 낮음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4839623" y="3289804"/>
              <a:ext cx="1857387" cy="60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Low accuracy/</a:t>
              </a:r>
            </a:p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High diversity</a:t>
              </a:r>
              <a:endPara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7247409" y="5306846"/>
              <a:ext cx="1857387" cy="609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High accuracy/</a:t>
              </a:r>
            </a:p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Low  diversity</a:t>
              </a:r>
              <a:endPara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80" name="직선 화살표 연결선 179"/>
            <p:cNvCxnSpPr/>
            <p:nvPr/>
          </p:nvCxnSpPr>
          <p:spPr bwMode="auto">
            <a:xfrm rot="16200000" flipV="1">
              <a:off x="1474750" y="5040035"/>
              <a:ext cx="450059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181" name="직선 화살표 연결선 180"/>
            <p:cNvCxnSpPr/>
            <p:nvPr/>
          </p:nvCxnSpPr>
          <p:spPr bwMode="auto">
            <a:xfrm>
              <a:off x="3582966" y="7076018"/>
              <a:ext cx="5786478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182" name="직사각형 181"/>
          <p:cNvSpPr/>
          <p:nvPr/>
        </p:nvSpPr>
        <p:spPr>
          <a:xfrm>
            <a:off x="6192689" y="3118635"/>
            <a:ext cx="3176780" cy="3541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분류기 조합으로 성능개선 </a:t>
            </a:r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폭이 큰 영역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979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필기체 숫자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/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패션 영상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데이터셋에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대한 이해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미니배치 알고리즘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과밀학습 방지를 위한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dropout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필기체 숫자 인식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패션 영상 인식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3687</TotalTime>
  <Words>731</Words>
  <Application>Microsoft Office PowerPoint</Application>
  <PresentationFormat>와이드스크린</PresentationFormat>
  <Paragraphs>213</Paragraphs>
  <Slides>22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나눔바른고딕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학습데이터와 경사하강법</vt:lpstr>
      <vt:lpstr>미니배치</vt:lpstr>
      <vt:lpstr>미니배치</vt:lpstr>
      <vt:lpstr>미니배치를 이용한 경사하강법</vt:lpstr>
      <vt:lpstr>미니배치</vt:lpstr>
      <vt:lpstr>과적합(Overfitting)</vt:lpstr>
      <vt:lpstr>과적합(Overfitting)</vt:lpstr>
      <vt:lpstr>과적합(Overfitting)</vt:lpstr>
      <vt:lpstr>분류 문제에서 과적합(Overfitting)</vt:lpstr>
      <vt:lpstr>다층신경망에서 과밀학습</vt:lpstr>
      <vt:lpstr>과적합 검출</vt:lpstr>
      <vt:lpstr>신경망 드롭아웃(Dropout)</vt:lpstr>
      <vt:lpstr>드롭아웃 효과</vt:lpstr>
      <vt:lpstr>앙상블 방법을 사용한 분류기 성능 개선 사례 #1</vt:lpstr>
      <vt:lpstr>앙상블 방법을 사용한 분류기 성능 개선 사례 #2</vt:lpstr>
      <vt:lpstr>신경망 앙상블 학습</vt:lpstr>
      <vt:lpstr>신경망 미니 배치 학습</vt:lpstr>
      <vt:lpstr>신경망 미니 배치 dropout</vt:lpstr>
      <vt:lpstr>다양성 역설(Paradox of Diversity)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905</cp:revision>
  <dcterms:created xsi:type="dcterms:W3CDTF">2019-01-19T08:23:23Z</dcterms:created>
  <dcterms:modified xsi:type="dcterms:W3CDTF">2020-03-10T06:51:20Z</dcterms:modified>
</cp:coreProperties>
</file>