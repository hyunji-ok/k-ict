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19"/>
  </p:notesMasterIdLst>
  <p:handoutMasterIdLst>
    <p:handoutMasterId r:id="rId20"/>
  </p:handoutMasterIdLst>
  <p:sldIdLst>
    <p:sldId id="314" r:id="rId2"/>
    <p:sldId id="261" r:id="rId3"/>
    <p:sldId id="354" r:id="rId4"/>
    <p:sldId id="355" r:id="rId5"/>
    <p:sldId id="356" r:id="rId6"/>
    <p:sldId id="357" r:id="rId7"/>
    <p:sldId id="430" r:id="rId8"/>
    <p:sldId id="409" r:id="rId9"/>
    <p:sldId id="439" r:id="rId10"/>
    <p:sldId id="424" r:id="rId11"/>
    <p:sldId id="431" r:id="rId12"/>
    <p:sldId id="410" r:id="rId13"/>
    <p:sldId id="425" r:id="rId14"/>
    <p:sldId id="440" r:id="rId15"/>
    <p:sldId id="426" r:id="rId16"/>
    <p:sldId id="411" r:id="rId17"/>
    <p:sldId id="404" r:id="rId18"/>
  </p:sldIdLst>
  <p:sldSz cx="12192000" cy="6858000"/>
  <p:notesSz cx="6858000" cy="9144000"/>
  <p:embeddedFontLst>
    <p:embeddedFont>
      <p:font typeface="나눔바른고딕" panose="020B0603020101020101" pitchFamily="50" charset="-127"/>
      <p:regular r:id="rId21"/>
      <p:bold r:id="rId22"/>
    </p:embeddedFont>
    <p:embeddedFont>
      <p:font typeface="Cambria Math" panose="02040503050406030204" pitchFamily="18" charset="0"/>
      <p:regular r:id="rId23"/>
    </p:embeddedFont>
    <p:embeddedFont>
      <p:font typeface="Impact" panose="020B0806030902050204" pitchFamily="34" charset="0"/>
      <p:regular r:id="rId24"/>
    </p:embeddedFont>
    <p:embeddedFont>
      <p:font typeface="나눔스퀘어 Bold" panose="020B0600000101010101" pitchFamily="50" charset="-127"/>
      <p:bold r:id="rId25"/>
    </p:embeddedFont>
    <p:embeddedFont>
      <p:font typeface="휴먼모음T" panose="02030504000101010101" pitchFamily="18" charset="-127"/>
      <p:regular r:id="rId26"/>
    </p:embeddedFont>
    <p:embeddedFont>
      <p:font typeface="스웨거 TTF" panose="020B0600000101010101" pitchFamily="50" charset="-127"/>
      <p:regular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F95"/>
    <a:srgbClr val="CC0099"/>
    <a:srgbClr val="37AADA"/>
    <a:srgbClr val="95D5E1"/>
    <a:srgbClr val="99CCFF"/>
    <a:srgbClr val="66CCFF"/>
    <a:srgbClr val="3399FF"/>
    <a:srgbClr val="36AAD9"/>
    <a:srgbClr val="5AA8C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7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4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4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46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0750" y="2852777"/>
            <a:ext cx="107668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12.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깊은 신경망을 위한 </a:t>
            </a:r>
            <a:r>
              <a:rPr lang="ko-KR" altLang="en-US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딥러닝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학습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/>
          <p:cNvGrpSpPr/>
          <p:nvPr/>
        </p:nvGrpSpPr>
        <p:grpSpPr>
          <a:xfrm>
            <a:off x="1986130" y="1082980"/>
            <a:ext cx="8345735" cy="539110"/>
            <a:chOff x="1986130" y="1509700"/>
            <a:chExt cx="8345735" cy="5391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9" y="15181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기울기 소실 문제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150970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9906000" y="150970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986130" y="2155376"/>
            <a:ext cx="8345735" cy="542649"/>
            <a:chOff x="1986130" y="2630163"/>
            <a:chExt cx="8345735" cy="54264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264959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기울기 소실을 위한 활성화 함수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263016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8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9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906001" y="2646054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5</a:t>
              </a:r>
              <a:endParaRPr lang="ko-KR" altLang="en-US" sz="28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86130" y="3231311"/>
            <a:ext cx="8345735" cy="553652"/>
            <a:chOff x="1986130" y="3736085"/>
            <a:chExt cx="8345735" cy="5536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3736085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효과적인 가중치 초기화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375062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9906001" y="3736085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7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986130" y="4318249"/>
            <a:ext cx="8345735" cy="553652"/>
            <a:chOff x="1986130" y="4856549"/>
            <a:chExt cx="8345735" cy="55365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학습 수렴 속도 최적화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16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86130" y="5405189"/>
            <a:ext cx="8345735" cy="553652"/>
            <a:chOff x="1986130" y="4856549"/>
            <a:chExt cx="8345735" cy="55365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이용한 실습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753714" y="485663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17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기울기 소실</a:t>
            </a:r>
            <a:r>
              <a:rPr lang="en-US" altLang="ko-KR" dirty="0" smtClean="0"/>
              <a:t>(Vanishing Gradient)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grpSp>
        <p:nvGrpSpPr>
          <p:cNvPr id="26" name="그룹 225"/>
          <p:cNvGrpSpPr/>
          <p:nvPr/>
        </p:nvGrpSpPr>
        <p:grpSpPr>
          <a:xfrm>
            <a:off x="2739022" y="3327820"/>
            <a:ext cx="6500858" cy="2726786"/>
            <a:chOff x="1357290" y="2285992"/>
            <a:chExt cx="6500858" cy="2726786"/>
          </a:xfrm>
        </p:grpSpPr>
        <p:sp>
          <p:nvSpPr>
            <p:cNvPr id="27" name="TextBox 26"/>
            <p:cNvSpPr txBox="1"/>
            <p:nvPr/>
          </p:nvSpPr>
          <p:spPr>
            <a:xfrm>
              <a:off x="6357950" y="4631304"/>
              <a:ext cx="15001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b="1">
                  <a:latin typeface="맑은 고딕"/>
                  <a:ea typeface="맑은 고딕"/>
                  <a:cs typeface="+mj-cs"/>
                </a:rPr>
                <a:t>학습이 잘됨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357290" y="4643446"/>
              <a:ext cx="150019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b="1">
                  <a:latin typeface="맑은 고딕"/>
                  <a:ea typeface="맑은 고딕"/>
                  <a:cs typeface="+mj-cs"/>
                </a:rPr>
                <a:t>학습이 안됨</a:t>
              </a:r>
            </a:p>
          </p:txBody>
        </p:sp>
        <p:grpSp>
          <p:nvGrpSpPr>
            <p:cNvPr id="29" name="그룹 224"/>
            <p:cNvGrpSpPr/>
            <p:nvPr/>
          </p:nvGrpSpPr>
          <p:grpSpPr>
            <a:xfrm>
              <a:off x="1500166" y="2285992"/>
              <a:ext cx="6215106" cy="2214578"/>
              <a:chOff x="1214414" y="3857628"/>
              <a:chExt cx="5214974" cy="2000264"/>
            </a:xfrm>
          </p:grpSpPr>
          <p:sp>
            <p:nvSpPr>
              <p:cNvPr id="30" name="타원 29"/>
              <p:cNvSpPr/>
              <p:nvPr/>
            </p:nvSpPr>
            <p:spPr>
              <a:xfrm>
                <a:off x="1214414" y="421481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1" name="타원 30"/>
              <p:cNvSpPr/>
              <p:nvPr/>
            </p:nvSpPr>
            <p:spPr>
              <a:xfrm>
                <a:off x="1214414" y="4714884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2" name="타원 31"/>
              <p:cNvSpPr/>
              <p:nvPr/>
            </p:nvSpPr>
            <p:spPr>
              <a:xfrm>
                <a:off x="1214414" y="5214950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3" name="타원 32"/>
              <p:cNvSpPr/>
              <p:nvPr/>
            </p:nvSpPr>
            <p:spPr>
              <a:xfrm>
                <a:off x="2285984" y="385762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4" name="타원 33"/>
              <p:cNvSpPr/>
              <p:nvPr/>
            </p:nvSpPr>
            <p:spPr>
              <a:xfrm>
                <a:off x="2285984" y="442913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5" name="타원 34"/>
              <p:cNvSpPr/>
              <p:nvPr/>
            </p:nvSpPr>
            <p:spPr>
              <a:xfrm>
                <a:off x="2285984" y="492919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6" name="타원 35"/>
              <p:cNvSpPr/>
              <p:nvPr/>
            </p:nvSpPr>
            <p:spPr>
              <a:xfrm>
                <a:off x="2285984" y="550070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7" name="타원 36"/>
              <p:cNvSpPr/>
              <p:nvPr/>
            </p:nvSpPr>
            <p:spPr>
              <a:xfrm>
                <a:off x="3286116" y="385762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8" name="타원 37"/>
              <p:cNvSpPr/>
              <p:nvPr/>
            </p:nvSpPr>
            <p:spPr>
              <a:xfrm>
                <a:off x="3286116" y="442913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39" name="타원 38"/>
              <p:cNvSpPr/>
              <p:nvPr/>
            </p:nvSpPr>
            <p:spPr>
              <a:xfrm>
                <a:off x="3286116" y="492919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40" name="타원 39"/>
              <p:cNvSpPr/>
              <p:nvPr/>
            </p:nvSpPr>
            <p:spPr>
              <a:xfrm>
                <a:off x="3286116" y="550070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41" name="타원 40"/>
              <p:cNvSpPr/>
              <p:nvPr/>
            </p:nvSpPr>
            <p:spPr>
              <a:xfrm>
                <a:off x="6072198" y="442913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42" name="타원 41"/>
              <p:cNvSpPr/>
              <p:nvPr/>
            </p:nvSpPr>
            <p:spPr>
              <a:xfrm>
                <a:off x="6072198" y="492919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cxnSp>
            <p:nvCxnSpPr>
              <p:cNvPr id="43" name="직선 화살표 연결선 42"/>
              <p:cNvCxnSpPr/>
              <p:nvPr/>
            </p:nvCxnSpPr>
            <p:spPr>
              <a:xfrm flipV="1">
                <a:off x="1571604" y="4036223"/>
                <a:ext cx="714380" cy="35719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44" name="직선 화살표 연결선 43"/>
              <p:cNvCxnSpPr/>
              <p:nvPr/>
            </p:nvCxnSpPr>
            <p:spPr>
              <a:xfrm>
                <a:off x="1571604" y="4393413"/>
                <a:ext cx="714380" cy="21431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45" name="직선 화살표 연결선 44"/>
              <p:cNvCxnSpPr/>
              <p:nvPr/>
            </p:nvCxnSpPr>
            <p:spPr>
              <a:xfrm>
                <a:off x="1571604" y="4393413"/>
                <a:ext cx="714380" cy="71438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46" name="직선 화살표 연결선 45"/>
              <p:cNvCxnSpPr/>
              <p:nvPr/>
            </p:nvCxnSpPr>
            <p:spPr>
              <a:xfrm>
                <a:off x="1571604" y="4393413"/>
                <a:ext cx="714380" cy="128588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47" name="직선 화살표 연결선 46"/>
              <p:cNvCxnSpPr/>
              <p:nvPr/>
            </p:nvCxnSpPr>
            <p:spPr>
              <a:xfrm flipV="1">
                <a:off x="1571604" y="4036223"/>
                <a:ext cx="714380" cy="85725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48" name="직선 화살표 연결선 47"/>
              <p:cNvCxnSpPr/>
              <p:nvPr/>
            </p:nvCxnSpPr>
            <p:spPr>
              <a:xfrm flipV="1">
                <a:off x="1571604" y="4607727"/>
                <a:ext cx="714380" cy="2857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49" name="직선 화살표 연결선 48"/>
              <p:cNvCxnSpPr/>
              <p:nvPr/>
            </p:nvCxnSpPr>
            <p:spPr>
              <a:xfrm>
                <a:off x="1571604" y="4893479"/>
                <a:ext cx="714380" cy="21431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50" name="직선 화살표 연결선 49"/>
              <p:cNvCxnSpPr/>
              <p:nvPr/>
            </p:nvCxnSpPr>
            <p:spPr>
              <a:xfrm>
                <a:off x="1571604" y="4893479"/>
                <a:ext cx="714380" cy="78581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51" name="직선 화살표 연결선 50"/>
              <p:cNvCxnSpPr/>
              <p:nvPr/>
            </p:nvCxnSpPr>
            <p:spPr>
              <a:xfrm flipV="1">
                <a:off x="1571604" y="4036223"/>
                <a:ext cx="714380" cy="135732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52" name="직선 화살표 연결선 51"/>
              <p:cNvCxnSpPr/>
              <p:nvPr/>
            </p:nvCxnSpPr>
            <p:spPr>
              <a:xfrm flipV="1">
                <a:off x="1571604" y="4607727"/>
                <a:ext cx="714380" cy="78581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53" name="직선 화살표 연결선 52"/>
              <p:cNvCxnSpPr/>
              <p:nvPr/>
            </p:nvCxnSpPr>
            <p:spPr>
              <a:xfrm flipV="1">
                <a:off x="1571604" y="5107793"/>
                <a:ext cx="714380" cy="2857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54" name="직선 화살표 연결선 53"/>
              <p:cNvCxnSpPr/>
              <p:nvPr/>
            </p:nvCxnSpPr>
            <p:spPr>
              <a:xfrm>
                <a:off x="1571604" y="5393545"/>
                <a:ext cx="714380" cy="28575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40000"/>
                    <a:lumOff val="6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55" name="직선 화살표 연결선 54"/>
              <p:cNvCxnSpPr/>
              <p:nvPr/>
            </p:nvCxnSpPr>
            <p:spPr>
              <a:xfrm>
                <a:off x="2643174" y="4036223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56" name="직선 화살표 연결선 55"/>
              <p:cNvCxnSpPr/>
              <p:nvPr/>
            </p:nvCxnSpPr>
            <p:spPr>
              <a:xfrm>
                <a:off x="2643174" y="4607727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57" name="직선 화살표 연결선 56"/>
              <p:cNvCxnSpPr/>
              <p:nvPr/>
            </p:nvCxnSpPr>
            <p:spPr>
              <a:xfrm>
                <a:off x="2643174" y="5107793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58" name="직선 화살표 연결선 57"/>
              <p:cNvCxnSpPr/>
              <p:nvPr/>
            </p:nvCxnSpPr>
            <p:spPr>
              <a:xfrm>
                <a:off x="2643174" y="5679297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59" name="직선 화살표 연결선 58"/>
              <p:cNvCxnSpPr/>
              <p:nvPr/>
            </p:nvCxnSpPr>
            <p:spPr>
              <a:xfrm>
                <a:off x="2643174" y="403622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60" name="직선 화살표 연결선 59"/>
              <p:cNvCxnSpPr/>
              <p:nvPr/>
            </p:nvCxnSpPr>
            <p:spPr>
              <a:xfrm>
                <a:off x="2643174" y="4036223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61" name="직선 화살표 연결선 60"/>
              <p:cNvCxnSpPr/>
              <p:nvPr/>
            </p:nvCxnSpPr>
            <p:spPr>
              <a:xfrm>
                <a:off x="2643174" y="4036223"/>
                <a:ext cx="642942" cy="164307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62" name="직선 화살표 연결선 61"/>
              <p:cNvCxnSpPr/>
              <p:nvPr/>
            </p:nvCxnSpPr>
            <p:spPr>
              <a:xfrm flipV="1">
                <a:off x="2643174" y="403622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63" name="직선 화살표 연결선 62"/>
              <p:cNvCxnSpPr/>
              <p:nvPr/>
            </p:nvCxnSpPr>
            <p:spPr>
              <a:xfrm>
                <a:off x="2643174" y="4607727"/>
                <a:ext cx="642942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64" name="직선 화살표 연결선 63"/>
              <p:cNvCxnSpPr/>
              <p:nvPr/>
            </p:nvCxnSpPr>
            <p:spPr>
              <a:xfrm>
                <a:off x="2643174" y="4607727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65" name="직선 화살표 연결선 64"/>
              <p:cNvCxnSpPr/>
              <p:nvPr/>
            </p:nvCxnSpPr>
            <p:spPr>
              <a:xfrm flipV="1">
                <a:off x="2643174" y="4036223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66" name="직선 화살표 연결선 65"/>
              <p:cNvCxnSpPr/>
              <p:nvPr/>
            </p:nvCxnSpPr>
            <p:spPr>
              <a:xfrm flipV="1">
                <a:off x="2643174" y="4607727"/>
                <a:ext cx="642942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67" name="직선 화살표 연결선 66"/>
              <p:cNvCxnSpPr/>
              <p:nvPr/>
            </p:nvCxnSpPr>
            <p:spPr>
              <a:xfrm>
                <a:off x="2643174" y="510779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68" name="직선 화살표 연결선 67"/>
              <p:cNvCxnSpPr/>
              <p:nvPr/>
            </p:nvCxnSpPr>
            <p:spPr>
              <a:xfrm flipV="1">
                <a:off x="2643174" y="510779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69" name="직선 화살표 연결선 68"/>
              <p:cNvCxnSpPr/>
              <p:nvPr/>
            </p:nvCxnSpPr>
            <p:spPr>
              <a:xfrm flipV="1">
                <a:off x="2643174" y="4607727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70" name="직선 화살표 연결선 69"/>
              <p:cNvCxnSpPr/>
              <p:nvPr/>
            </p:nvCxnSpPr>
            <p:spPr>
              <a:xfrm rot="5400000" flipH="1" flipV="1">
                <a:off x="2232405" y="4518431"/>
                <a:ext cx="1535918" cy="57150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sp>
            <p:nvSpPr>
              <p:cNvPr id="71" name="타원 70"/>
              <p:cNvSpPr/>
              <p:nvPr/>
            </p:nvSpPr>
            <p:spPr>
              <a:xfrm>
                <a:off x="4143372" y="385762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72" name="타원 71"/>
              <p:cNvSpPr/>
              <p:nvPr/>
            </p:nvSpPr>
            <p:spPr>
              <a:xfrm>
                <a:off x="4143372" y="442913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73" name="타원 72"/>
              <p:cNvSpPr/>
              <p:nvPr/>
            </p:nvSpPr>
            <p:spPr>
              <a:xfrm>
                <a:off x="4143372" y="492919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74" name="타원 73"/>
              <p:cNvSpPr/>
              <p:nvPr/>
            </p:nvSpPr>
            <p:spPr>
              <a:xfrm>
                <a:off x="4143372" y="550070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75" name="타원 74"/>
              <p:cNvSpPr/>
              <p:nvPr/>
            </p:nvSpPr>
            <p:spPr>
              <a:xfrm>
                <a:off x="5143504" y="385762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76" name="타원 75"/>
              <p:cNvSpPr/>
              <p:nvPr/>
            </p:nvSpPr>
            <p:spPr>
              <a:xfrm>
                <a:off x="5143504" y="442913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77" name="타원 76"/>
              <p:cNvSpPr/>
              <p:nvPr/>
            </p:nvSpPr>
            <p:spPr>
              <a:xfrm>
                <a:off x="5143504" y="4929198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78" name="타원 77"/>
              <p:cNvSpPr/>
              <p:nvPr/>
            </p:nvSpPr>
            <p:spPr>
              <a:xfrm>
                <a:off x="5143504" y="5500702"/>
                <a:ext cx="357190" cy="35719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cxnSp>
            <p:nvCxnSpPr>
              <p:cNvPr id="79" name="직선 화살표 연결선 78"/>
              <p:cNvCxnSpPr/>
              <p:nvPr/>
            </p:nvCxnSpPr>
            <p:spPr>
              <a:xfrm>
                <a:off x="4500562" y="4036223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80" name="직선 화살표 연결선 79"/>
              <p:cNvCxnSpPr/>
              <p:nvPr/>
            </p:nvCxnSpPr>
            <p:spPr>
              <a:xfrm>
                <a:off x="4500562" y="4607727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81" name="직선 화살표 연결선 80"/>
              <p:cNvCxnSpPr/>
              <p:nvPr/>
            </p:nvCxnSpPr>
            <p:spPr>
              <a:xfrm>
                <a:off x="4500562" y="5107793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82" name="직선 화살표 연결선 81"/>
              <p:cNvCxnSpPr/>
              <p:nvPr/>
            </p:nvCxnSpPr>
            <p:spPr>
              <a:xfrm>
                <a:off x="4500562" y="5679297"/>
                <a:ext cx="642942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83" name="직선 화살표 연결선 82"/>
              <p:cNvCxnSpPr/>
              <p:nvPr/>
            </p:nvCxnSpPr>
            <p:spPr>
              <a:xfrm>
                <a:off x="4500562" y="403622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84" name="직선 화살표 연결선 83"/>
              <p:cNvCxnSpPr/>
              <p:nvPr/>
            </p:nvCxnSpPr>
            <p:spPr>
              <a:xfrm>
                <a:off x="4500562" y="4036223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85" name="직선 화살표 연결선 84"/>
              <p:cNvCxnSpPr/>
              <p:nvPr/>
            </p:nvCxnSpPr>
            <p:spPr>
              <a:xfrm>
                <a:off x="4500562" y="4036223"/>
                <a:ext cx="642942" cy="164307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86" name="직선 화살표 연결선 85"/>
              <p:cNvCxnSpPr/>
              <p:nvPr/>
            </p:nvCxnSpPr>
            <p:spPr>
              <a:xfrm flipV="1">
                <a:off x="4500562" y="403622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87" name="직선 화살표 연결선 86"/>
              <p:cNvCxnSpPr/>
              <p:nvPr/>
            </p:nvCxnSpPr>
            <p:spPr>
              <a:xfrm>
                <a:off x="4500562" y="4607727"/>
                <a:ext cx="642942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88" name="직선 화살표 연결선 87"/>
              <p:cNvCxnSpPr/>
              <p:nvPr/>
            </p:nvCxnSpPr>
            <p:spPr>
              <a:xfrm>
                <a:off x="4500562" y="4607727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89" name="직선 화살표 연결선 88"/>
              <p:cNvCxnSpPr/>
              <p:nvPr/>
            </p:nvCxnSpPr>
            <p:spPr>
              <a:xfrm flipV="1">
                <a:off x="4500562" y="4036223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90" name="직선 화살표 연결선 89"/>
              <p:cNvCxnSpPr/>
              <p:nvPr/>
            </p:nvCxnSpPr>
            <p:spPr>
              <a:xfrm flipV="1">
                <a:off x="4500562" y="4607727"/>
                <a:ext cx="642942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91" name="직선 화살표 연결선 90"/>
              <p:cNvCxnSpPr/>
              <p:nvPr/>
            </p:nvCxnSpPr>
            <p:spPr>
              <a:xfrm>
                <a:off x="4500562" y="510779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92" name="직선 화살표 연결선 91"/>
              <p:cNvCxnSpPr/>
              <p:nvPr/>
            </p:nvCxnSpPr>
            <p:spPr>
              <a:xfrm flipV="1">
                <a:off x="4500562" y="5107793"/>
                <a:ext cx="642942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93" name="직선 화살표 연결선 92"/>
              <p:cNvCxnSpPr/>
              <p:nvPr/>
            </p:nvCxnSpPr>
            <p:spPr>
              <a:xfrm flipV="1">
                <a:off x="4500562" y="4607727"/>
                <a:ext cx="642942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94" name="직선 화살표 연결선 93"/>
              <p:cNvCxnSpPr/>
              <p:nvPr/>
            </p:nvCxnSpPr>
            <p:spPr>
              <a:xfrm rot="5400000" flipH="1" flipV="1">
                <a:off x="4089793" y="4518431"/>
                <a:ext cx="1535918" cy="57150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50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95" name="직선 화살표 연결선 94"/>
              <p:cNvCxnSpPr/>
              <p:nvPr/>
            </p:nvCxnSpPr>
            <p:spPr>
              <a:xfrm>
                <a:off x="3643306" y="4036223"/>
                <a:ext cx="500066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96" name="직선 화살표 연결선 95"/>
              <p:cNvCxnSpPr/>
              <p:nvPr/>
            </p:nvCxnSpPr>
            <p:spPr>
              <a:xfrm>
                <a:off x="3643306" y="4036223"/>
                <a:ext cx="500066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97" name="직선 화살표 연결선 96"/>
              <p:cNvCxnSpPr/>
              <p:nvPr/>
            </p:nvCxnSpPr>
            <p:spPr>
              <a:xfrm>
                <a:off x="3643306" y="4036223"/>
                <a:ext cx="500066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98" name="직선 화살표 연결선 97"/>
              <p:cNvCxnSpPr/>
              <p:nvPr/>
            </p:nvCxnSpPr>
            <p:spPr>
              <a:xfrm>
                <a:off x="3643306" y="4036223"/>
                <a:ext cx="500066" cy="164307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99" name="직선 화살표 연결선 98"/>
              <p:cNvCxnSpPr/>
              <p:nvPr/>
            </p:nvCxnSpPr>
            <p:spPr>
              <a:xfrm flipV="1">
                <a:off x="3643306" y="4036223"/>
                <a:ext cx="500066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00" name="직선 화살표 연결선 99"/>
              <p:cNvCxnSpPr/>
              <p:nvPr/>
            </p:nvCxnSpPr>
            <p:spPr>
              <a:xfrm>
                <a:off x="3643306" y="4607727"/>
                <a:ext cx="500066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01" name="직선 화살표 연결선 100"/>
              <p:cNvCxnSpPr/>
              <p:nvPr/>
            </p:nvCxnSpPr>
            <p:spPr>
              <a:xfrm>
                <a:off x="3643306" y="4607727"/>
                <a:ext cx="500066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02" name="직선 화살표 연결선 101"/>
              <p:cNvCxnSpPr/>
              <p:nvPr/>
            </p:nvCxnSpPr>
            <p:spPr>
              <a:xfrm>
                <a:off x="3643306" y="4607727"/>
                <a:ext cx="500066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03" name="직선 화살표 연결선 102"/>
              <p:cNvCxnSpPr/>
              <p:nvPr/>
            </p:nvCxnSpPr>
            <p:spPr>
              <a:xfrm flipV="1">
                <a:off x="3643306" y="4036223"/>
                <a:ext cx="500066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04" name="직선 화살표 연결선 103"/>
              <p:cNvCxnSpPr/>
              <p:nvPr/>
            </p:nvCxnSpPr>
            <p:spPr>
              <a:xfrm flipV="1">
                <a:off x="3643306" y="4607727"/>
                <a:ext cx="500066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05" name="직선 화살표 연결선 104"/>
              <p:cNvCxnSpPr/>
              <p:nvPr/>
            </p:nvCxnSpPr>
            <p:spPr>
              <a:xfrm>
                <a:off x="3643306" y="5107793"/>
                <a:ext cx="500066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06" name="직선 화살표 연결선 105"/>
              <p:cNvCxnSpPr/>
              <p:nvPr/>
            </p:nvCxnSpPr>
            <p:spPr>
              <a:xfrm>
                <a:off x="3643306" y="5107793"/>
                <a:ext cx="500066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07" name="직선 화살표 연결선 106"/>
              <p:cNvCxnSpPr/>
              <p:nvPr/>
            </p:nvCxnSpPr>
            <p:spPr>
              <a:xfrm>
                <a:off x="3643306" y="5679297"/>
                <a:ext cx="500066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08" name="직선 화살표 연결선 107"/>
              <p:cNvCxnSpPr/>
              <p:nvPr/>
            </p:nvCxnSpPr>
            <p:spPr>
              <a:xfrm flipV="1">
                <a:off x="3643306" y="5107793"/>
                <a:ext cx="500066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09" name="직선 화살표 연결선 108"/>
              <p:cNvCxnSpPr/>
              <p:nvPr/>
            </p:nvCxnSpPr>
            <p:spPr>
              <a:xfrm flipV="1">
                <a:off x="3643306" y="4607727"/>
                <a:ext cx="500066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10" name="직선 화살표 연결선 109"/>
              <p:cNvCxnSpPr/>
              <p:nvPr/>
            </p:nvCxnSpPr>
            <p:spPr>
              <a:xfrm flipV="1">
                <a:off x="3643306" y="4607727"/>
                <a:ext cx="500066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11" name="직선 화살표 연결선 110"/>
              <p:cNvCxnSpPr/>
              <p:nvPr/>
            </p:nvCxnSpPr>
            <p:spPr>
              <a:xfrm flipV="1">
                <a:off x="3643306" y="4036223"/>
                <a:ext cx="500066" cy="164307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12" name="직선 화살표 연결선 111"/>
              <p:cNvCxnSpPr/>
              <p:nvPr/>
            </p:nvCxnSpPr>
            <p:spPr>
              <a:xfrm>
                <a:off x="5500694" y="4036223"/>
                <a:ext cx="571504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2060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13" name="직선 화살표 연결선 112"/>
              <p:cNvCxnSpPr/>
              <p:nvPr/>
            </p:nvCxnSpPr>
            <p:spPr>
              <a:xfrm>
                <a:off x="5500694" y="4036223"/>
                <a:ext cx="571504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2060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14" name="직선 화살표 연결선 113"/>
              <p:cNvCxnSpPr/>
              <p:nvPr/>
            </p:nvCxnSpPr>
            <p:spPr>
              <a:xfrm>
                <a:off x="5500694" y="4607727"/>
                <a:ext cx="571504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2060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15" name="직선 화살표 연결선 114"/>
              <p:cNvCxnSpPr/>
              <p:nvPr/>
            </p:nvCxnSpPr>
            <p:spPr>
              <a:xfrm>
                <a:off x="5500694" y="4607727"/>
                <a:ext cx="571504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2060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16" name="직선 화살표 연결선 115"/>
              <p:cNvCxnSpPr/>
              <p:nvPr/>
            </p:nvCxnSpPr>
            <p:spPr>
              <a:xfrm flipV="1">
                <a:off x="5500694" y="4607727"/>
                <a:ext cx="571504" cy="50006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2060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17" name="직선 화살표 연결선 116"/>
              <p:cNvCxnSpPr/>
              <p:nvPr/>
            </p:nvCxnSpPr>
            <p:spPr>
              <a:xfrm>
                <a:off x="5500694" y="5107793"/>
                <a:ext cx="571504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2060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18" name="직선 화살표 연결선 117"/>
              <p:cNvCxnSpPr/>
              <p:nvPr/>
            </p:nvCxnSpPr>
            <p:spPr>
              <a:xfrm flipV="1">
                <a:off x="5500694" y="5107793"/>
                <a:ext cx="571504" cy="57150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2060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119" name="직선 화살표 연결선 118"/>
              <p:cNvCxnSpPr/>
              <p:nvPr/>
            </p:nvCxnSpPr>
            <p:spPr>
              <a:xfrm flipV="1">
                <a:off x="5500694" y="4607727"/>
                <a:ext cx="571504" cy="107157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2060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051560" y="1641082"/>
            <a:ext cx="10027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기울기 소실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앞층으로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갈수록 오차가 잘 전달되지 않는 현상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학습이 이루어지지 않음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</a:p>
          <a:p>
            <a:pPr marL="265113" indent="-250825"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계층이 깊어질수록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입력층과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가까이 있는 가중치들의 학습이 잘 일어나지 않음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271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기울기 소실</a:t>
            </a:r>
            <a:r>
              <a:rPr lang="en-US" altLang="ko-KR" dirty="0"/>
              <a:t>(Vanishing Gradient)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051560" y="1641082"/>
            <a:ext cx="104800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sigmoid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함수에서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0, 1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 강제 출력하는 영역에서는 학습이 이루어지지 않음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도함수의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계산결과가 역방향으로 전달될 때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출력값이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현저하게 감소됨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입력층으로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갈수록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에 가까워짐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62" name="Picture 2"/>
          <p:cNvPicPr>
            <a:picLocks noChangeAspect="1" noChangeArrowheads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800472" y="3340726"/>
            <a:ext cx="4721228" cy="3506970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63" name="TextBox 62"/>
          <p:cNvSpPr txBox="1"/>
          <p:nvPr/>
        </p:nvSpPr>
        <p:spPr>
          <a:xfrm>
            <a:off x="5342012" y="4278957"/>
            <a:ext cx="10065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 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함수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6527800" y="5556427"/>
            <a:ext cx="184777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미분함수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1669604" y="2595189"/>
                <a:ext cx="3672408" cy="792396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igmoid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ko-KR" sz="2000" b="0" i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604" y="2595189"/>
                <a:ext cx="3672408" cy="79239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5197996" y="2679250"/>
                <a:ext cx="5152648" cy="624273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sigmoid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altLang="ko-K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sigmoid</m:t>
                    </m:r>
                    <m:r>
                      <a:rPr lang="en-US" altLang="ko-KR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altLang="ko-KR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)(1-sigmoid(x))</a:t>
                </a:r>
                <a:endParaRPr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996" y="2679250"/>
                <a:ext cx="5152648" cy="62427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222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ReLU</a:t>
            </a:r>
            <a:r>
              <a:rPr lang="en-US" altLang="ko-KR" dirty="0" smtClean="0"/>
              <a:t>(Re Rectified Linear Unit)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314552" y="2666988"/>
            <a:ext cx="5476875" cy="4095750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3287D986-EFBF-4221-B55E-BFC84D8411AC}"/>
              </a:ext>
            </a:extLst>
          </p:cNvPr>
          <p:cNvGrpSpPr/>
          <p:nvPr/>
        </p:nvGrpSpPr>
        <p:grpSpPr>
          <a:xfrm>
            <a:off x="3823672" y="4006977"/>
            <a:ext cx="3053994" cy="707886"/>
            <a:chOff x="1095648" y="778054"/>
            <a:chExt cx="3476352" cy="111387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7C2B1978-793E-4DEC-ABD9-6C15DA68E055}"/>
                </a:ext>
              </a:extLst>
            </p:cNvPr>
            <p:cNvSpPr txBox="1"/>
            <p:nvPr/>
          </p:nvSpPr>
          <p:spPr>
            <a:xfrm>
              <a:off x="1095648" y="1088558"/>
              <a:ext cx="792088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f(x)=</a:t>
              </a:r>
              <a:endParaRPr lang="ko-KR" altLang="en-US" dirty="0"/>
            </a:p>
          </p:txBody>
        </p:sp>
        <p:sp>
          <p:nvSpPr>
            <p:cNvPr id="20" name="왼쪽 중괄호 19">
              <a:extLst>
                <a:ext uri="{FF2B5EF4-FFF2-40B4-BE49-F238E27FC236}">
                  <a16:creationId xmlns:a16="http://schemas.microsoft.com/office/drawing/2014/main" xmlns="" id="{F02CA04E-801C-4FA7-9908-101C0491A37C}"/>
                </a:ext>
              </a:extLst>
            </p:cNvPr>
            <p:cNvSpPr/>
            <p:nvPr/>
          </p:nvSpPr>
          <p:spPr>
            <a:xfrm>
              <a:off x="1887736" y="973882"/>
              <a:ext cx="146896" cy="733760"/>
            </a:xfrm>
            <a:prstGeom prst="leftBrac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9264DCE-D63D-4E9C-9703-12FCFE85800C}"/>
                </a:ext>
              </a:extLst>
            </p:cNvPr>
            <p:cNvSpPr txBox="1"/>
            <p:nvPr/>
          </p:nvSpPr>
          <p:spPr>
            <a:xfrm>
              <a:off x="2123728" y="778054"/>
              <a:ext cx="2448272" cy="111387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0    for   x &lt; 0</a:t>
              </a:r>
            </a:p>
            <a:p>
              <a:r>
                <a:rPr lang="en-US" altLang="ko-KR" sz="2000" dirty="0"/>
                <a:t>x    for   x ≥ 0</a:t>
              </a:r>
              <a:endParaRPr lang="ko-KR" altLang="en-US" sz="2000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D6672AC0-A544-4A5E-869A-D06475BEC9AF}"/>
              </a:ext>
            </a:extLst>
          </p:cNvPr>
          <p:cNvGrpSpPr/>
          <p:nvPr/>
        </p:nvGrpSpPr>
        <p:grpSpPr>
          <a:xfrm>
            <a:off x="6464796" y="5700909"/>
            <a:ext cx="3456384" cy="707886"/>
            <a:chOff x="1095648" y="778054"/>
            <a:chExt cx="3476352" cy="111387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E9D0F2A0-A27C-459D-81E8-56B09EE7002E}"/>
                </a:ext>
              </a:extLst>
            </p:cNvPr>
            <p:cNvSpPr txBox="1"/>
            <p:nvPr/>
          </p:nvSpPr>
          <p:spPr>
            <a:xfrm>
              <a:off x="1095648" y="1088558"/>
              <a:ext cx="938983" cy="58115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f'(x)=</a:t>
              </a:r>
              <a:endParaRPr lang="ko-KR" altLang="en-US" dirty="0"/>
            </a:p>
          </p:txBody>
        </p:sp>
        <p:sp>
          <p:nvSpPr>
            <p:cNvPr id="24" name="왼쪽 중괄호 23">
              <a:extLst>
                <a:ext uri="{FF2B5EF4-FFF2-40B4-BE49-F238E27FC236}">
                  <a16:creationId xmlns:a16="http://schemas.microsoft.com/office/drawing/2014/main" xmlns="" id="{A22D1AC3-B5F9-4711-A0D1-16D661BA4C70}"/>
                </a:ext>
              </a:extLst>
            </p:cNvPr>
            <p:cNvSpPr/>
            <p:nvPr/>
          </p:nvSpPr>
          <p:spPr>
            <a:xfrm>
              <a:off x="1887736" y="973882"/>
              <a:ext cx="146896" cy="733760"/>
            </a:xfrm>
            <a:prstGeom prst="leftBrac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FF3D1D9A-999A-472A-B001-0A004C1DF0B8}"/>
                </a:ext>
              </a:extLst>
            </p:cNvPr>
            <p:cNvSpPr txBox="1"/>
            <p:nvPr/>
          </p:nvSpPr>
          <p:spPr>
            <a:xfrm>
              <a:off x="2123728" y="778054"/>
              <a:ext cx="2448272" cy="111387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0    for   x &lt; 0</a:t>
              </a:r>
            </a:p>
            <a:p>
              <a:r>
                <a:rPr lang="en-US" altLang="ko-KR" sz="2000" dirty="0"/>
                <a:t>1    for   x ≥ 0</a:t>
              </a:r>
              <a:endParaRPr lang="ko-KR" altLang="en-US" sz="2000" dirty="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051560" y="1641082"/>
            <a:ext cx="10027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err="1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ReLu</a:t>
            </a: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 </a:t>
            </a: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y=x</a:t>
            </a: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라는 직선부분과 모든 부분을 </a:t>
            </a: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</a:t>
            </a: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으로 출력하는 부분으로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구성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-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음수영역에서는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미분값이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양수영역에서는 전 구간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미분값이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존재하여 학습이 이루어짐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853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Leaky </a:t>
            </a:r>
            <a:r>
              <a:rPr lang="en-US" altLang="ko-KR" dirty="0" err="1" smtClean="0"/>
              <a:t>ReLU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29" name="Picture 1"/>
          <p:cNvPicPr>
            <a:picLocks noChangeAspect="1" noChangeArrowheads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638404" y="2333612"/>
            <a:ext cx="5314950" cy="4219575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grpSp>
        <p:nvGrpSpPr>
          <p:cNvPr id="30" name="그룹 29">
            <a:extLst>
              <a:ext uri="{FF2B5EF4-FFF2-40B4-BE49-F238E27FC236}">
                <a16:creationId xmlns:a16="http://schemas.microsoft.com/office/drawing/2014/main" xmlns="" id="{B1577980-4C03-4772-BBD9-F2399DF7E35F}"/>
              </a:ext>
            </a:extLst>
          </p:cNvPr>
          <p:cNvGrpSpPr/>
          <p:nvPr/>
        </p:nvGrpSpPr>
        <p:grpSpPr>
          <a:xfrm>
            <a:off x="3694584" y="3686944"/>
            <a:ext cx="3053994" cy="707886"/>
            <a:chOff x="1095648" y="778054"/>
            <a:chExt cx="3476352" cy="1113873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A4804F94-A44D-4892-A8E5-3B65383D8577}"/>
                </a:ext>
              </a:extLst>
            </p:cNvPr>
            <p:cNvSpPr txBox="1"/>
            <p:nvPr/>
          </p:nvSpPr>
          <p:spPr>
            <a:xfrm>
              <a:off x="1095648" y="1088558"/>
              <a:ext cx="792088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f(x)=</a:t>
              </a:r>
              <a:endParaRPr lang="ko-KR" altLang="en-US" dirty="0"/>
            </a:p>
          </p:txBody>
        </p:sp>
        <p:sp>
          <p:nvSpPr>
            <p:cNvPr id="32" name="왼쪽 중괄호 31">
              <a:extLst>
                <a:ext uri="{FF2B5EF4-FFF2-40B4-BE49-F238E27FC236}">
                  <a16:creationId xmlns:a16="http://schemas.microsoft.com/office/drawing/2014/main" xmlns="" id="{201F591A-5C6E-401A-9129-ACFA4B8CCE20}"/>
                </a:ext>
              </a:extLst>
            </p:cNvPr>
            <p:cNvSpPr/>
            <p:nvPr/>
          </p:nvSpPr>
          <p:spPr>
            <a:xfrm>
              <a:off x="1887736" y="973882"/>
              <a:ext cx="146896" cy="733760"/>
            </a:xfrm>
            <a:prstGeom prst="leftBrac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76888336-18F3-4EF6-80D2-033DC8564C30}"/>
                </a:ext>
              </a:extLst>
            </p:cNvPr>
            <p:cNvSpPr txBox="1"/>
            <p:nvPr/>
          </p:nvSpPr>
          <p:spPr>
            <a:xfrm>
              <a:off x="2123728" y="778054"/>
              <a:ext cx="2448272" cy="111387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αx    for   x &lt; 0</a:t>
              </a:r>
            </a:p>
            <a:p>
              <a:r>
                <a:rPr lang="en-US" altLang="ko-KR" sz="2000" dirty="0"/>
                <a:t> x     for   x ≥ 0</a:t>
              </a:r>
              <a:endParaRPr lang="ko-KR" altLang="en-US" sz="2000" dirty="0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xmlns="" id="{3D23F2FA-635E-4240-8997-37D31C25979C}"/>
              </a:ext>
            </a:extLst>
          </p:cNvPr>
          <p:cNvGrpSpPr/>
          <p:nvPr/>
        </p:nvGrpSpPr>
        <p:grpSpPr>
          <a:xfrm>
            <a:off x="6286872" y="5040276"/>
            <a:ext cx="3053994" cy="707886"/>
            <a:chOff x="1095648" y="778054"/>
            <a:chExt cx="3476352" cy="111387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7F089B4B-C38A-4FC5-939A-E74773CD05F9}"/>
                </a:ext>
              </a:extLst>
            </p:cNvPr>
            <p:cNvSpPr txBox="1"/>
            <p:nvPr/>
          </p:nvSpPr>
          <p:spPr>
            <a:xfrm>
              <a:off x="1095648" y="1088558"/>
              <a:ext cx="792088" cy="581151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f'(x)=</a:t>
              </a:r>
              <a:endParaRPr lang="ko-KR" altLang="en-US" dirty="0"/>
            </a:p>
          </p:txBody>
        </p:sp>
        <p:sp>
          <p:nvSpPr>
            <p:cNvPr id="36" name="왼쪽 중괄호 35">
              <a:extLst>
                <a:ext uri="{FF2B5EF4-FFF2-40B4-BE49-F238E27FC236}">
                  <a16:creationId xmlns:a16="http://schemas.microsoft.com/office/drawing/2014/main" xmlns="" id="{3DC34278-291A-4628-AA03-6D824B4EFA99}"/>
                </a:ext>
              </a:extLst>
            </p:cNvPr>
            <p:cNvSpPr/>
            <p:nvPr/>
          </p:nvSpPr>
          <p:spPr>
            <a:xfrm>
              <a:off x="1887736" y="973882"/>
              <a:ext cx="146896" cy="733760"/>
            </a:xfrm>
            <a:prstGeom prst="leftBrac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371B839B-44C1-4424-AE74-AF44D913F47E}"/>
                </a:ext>
              </a:extLst>
            </p:cNvPr>
            <p:cNvSpPr txBox="1"/>
            <p:nvPr/>
          </p:nvSpPr>
          <p:spPr>
            <a:xfrm>
              <a:off x="2123728" y="778054"/>
              <a:ext cx="2448272" cy="111387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sz="2000" dirty="0"/>
                <a:t>α     for   x &lt; 0</a:t>
              </a:r>
            </a:p>
            <a:p>
              <a:r>
                <a:rPr lang="en-US" altLang="ko-KR" sz="2000" dirty="0"/>
                <a:t>1     for   x ≥ 0</a:t>
              </a:r>
              <a:endParaRPr lang="ko-KR" altLang="en-US" sz="2000" dirty="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051560" y="1641082"/>
            <a:ext cx="10027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Leaky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ReLU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: x&lt;0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인 영역은 아주 작은 기울기를 가져 약간의 학습이 일어남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8394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가중치 초기화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005840" y="1641082"/>
            <a:ext cx="10716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0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spc="-5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사전 정보가 없다면 </a:t>
            </a:r>
            <a:r>
              <a:rPr lang="ko-KR" altLang="en-US" sz="3200" spc="-5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랜덤하게</a:t>
            </a:r>
            <a:r>
              <a:rPr lang="ko-KR" altLang="en-US" sz="3200" spc="-5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가중치를 지정해서 </a:t>
            </a:r>
            <a:r>
              <a:rPr lang="ko-KR" altLang="en-US" sz="3200" spc="-5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경사하강법으로</a:t>
            </a:r>
            <a:r>
              <a:rPr lang="ko-KR" altLang="en-US" sz="3200" spc="-5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최적의 </a:t>
            </a:r>
            <a:r>
              <a:rPr lang="en-US" altLang="ko-KR" sz="3200" spc="-5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w</a:t>
            </a:r>
            <a:r>
              <a:rPr lang="ko-KR" altLang="en-US" sz="3200" spc="-5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와 </a:t>
            </a:r>
            <a:r>
              <a:rPr lang="en-US" altLang="ko-KR" sz="3200" spc="-5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b</a:t>
            </a:r>
            <a:r>
              <a:rPr lang="ko-KR" altLang="en-US" sz="3200" spc="-5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를 찾을 수 있음</a:t>
            </a:r>
            <a:endParaRPr lang="en-US" altLang="ko-KR" sz="3200" spc="-5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15" name="직선 연결선 14"/>
          <p:cNvCxnSpPr>
            <a:endCxn id="21" idx="2"/>
          </p:cNvCxnSpPr>
          <p:nvPr/>
        </p:nvCxnSpPr>
        <p:spPr>
          <a:xfrm flipH="1">
            <a:off x="4735853" y="2964688"/>
            <a:ext cx="1634320" cy="3363753"/>
          </a:xfrm>
          <a:prstGeom prst="line">
            <a:avLst/>
          </a:prstGeom>
          <a:ln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4194348" y="3649420"/>
            <a:ext cx="3067844" cy="1633780"/>
          </a:xfrm>
          <a:prstGeom prst="line">
            <a:avLst/>
          </a:prstGeom>
          <a:ln>
            <a:solidFill>
              <a:schemeClr val="accent4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V="1">
            <a:off x="4064000" y="3149354"/>
            <a:ext cx="3565134" cy="33895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01012" y="2780022"/>
            <a:ext cx="2052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최적화된 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w,b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290179" y="5171375"/>
            <a:ext cx="315819" cy="243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/>
              <a:t>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78140" y="6084953"/>
            <a:ext cx="315426" cy="243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101952" y="5517068"/>
            <a:ext cx="315630" cy="243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/>
              <a:t>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78014" y="4868996"/>
            <a:ext cx="316026" cy="243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/>
              <a:t>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65996" y="4841929"/>
            <a:ext cx="316076" cy="24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/>
              <a:t>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67133" y="4409484"/>
            <a:ext cx="315296" cy="243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/>
              <a:t>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71327" y="4265469"/>
            <a:ext cx="315927" cy="243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/>
              <a:t>●</a:t>
            </a:r>
          </a:p>
        </p:txBody>
      </p:sp>
      <p:sp>
        <p:nvSpPr>
          <p:cNvPr id="37" name="TextBox 27"/>
          <p:cNvSpPr txBox="1"/>
          <p:nvPr/>
        </p:nvSpPr>
        <p:spPr>
          <a:xfrm>
            <a:off x="6154755" y="3977436"/>
            <a:ext cx="315721" cy="24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/>
              <a:t>●</a:t>
            </a:r>
          </a:p>
        </p:txBody>
      </p:sp>
      <p:sp>
        <p:nvSpPr>
          <p:cNvPr id="38" name="TextBox 28"/>
          <p:cNvSpPr txBox="1"/>
          <p:nvPr/>
        </p:nvSpPr>
        <p:spPr>
          <a:xfrm>
            <a:off x="6370173" y="3833123"/>
            <a:ext cx="315955" cy="243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●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A759B139-85F9-415D-B06B-D983943B9D0F}"/>
              </a:ext>
            </a:extLst>
          </p:cNvPr>
          <p:cNvSpPr txBox="1"/>
          <p:nvPr/>
        </p:nvSpPr>
        <p:spPr>
          <a:xfrm>
            <a:off x="3589802" y="3338090"/>
            <a:ext cx="130982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초기 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w,b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86DF4BD9-1E60-4968-A725-4492E53156A2}"/>
              </a:ext>
            </a:extLst>
          </p:cNvPr>
          <p:cNvSpPr txBox="1"/>
          <p:nvPr/>
        </p:nvSpPr>
        <p:spPr>
          <a:xfrm>
            <a:off x="5297507" y="2652720"/>
            <a:ext cx="1309823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초기 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w,b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TextBox 28"/>
          <p:cNvSpPr txBox="1"/>
          <p:nvPr/>
        </p:nvSpPr>
        <p:spPr>
          <a:xfrm>
            <a:off x="6341282" y="3012191"/>
            <a:ext cx="315955" cy="243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000" b="1" dirty="0"/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838602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전역 최적화</a:t>
            </a:r>
            <a:r>
              <a:rPr lang="en-US" altLang="ko-KR" dirty="0" smtClean="0"/>
              <a:t>(Global Optimization)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선형함수를 사용하는 경우 어떤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w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에서 시작해도 수렴이 보장됨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0" name="그룹 6"/>
          <p:cNvGrpSpPr/>
          <p:nvPr/>
        </p:nvGrpSpPr>
        <p:grpSpPr>
          <a:xfrm>
            <a:off x="1757939" y="3426605"/>
            <a:ext cx="2000264" cy="1857337"/>
            <a:chOff x="785786" y="1195786"/>
            <a:chExt cx="2000264" cy="1857337"/>
          </a:xfrm>
        </p:grpSpPr>
        <p:grpSp>
          <p:nvGrpSpPr>
            <p:cNvPr id="21" name="그룹 30"/>
            <p:cNvGrpSpPr/>
            <p:nvPr/>
          </p:nvGrpSpPr>
          <p:grpSpPr>
            <a:xfrm>
              <a:off x="785786" y="1195786"/>
              <a:ext cx="1928827" cy="1857337"/>
              <a:chOff x="877635" y="1146090"/>
              <a:chExt cx="1653279" cy="1776634"/>
            </a:xfrm>
          </p:grpSpPr>
          <p:cxnSp>
            <p:nvCxnSpPr>
              <p:cNvPr id="23" name="직선 연결선 22"/>
              <p:cNvCxnSpPr/>
              <p:nvPr/>
            </p:nvCxnSpPr>
            <p:spPr bwMode="auto">
              <a:xfrm>
                <a:off x="877635" y="2034406"/>
                <a:ext cx="1653279" cy="1519"/>
              </a:xfrm>
              <a:prstGeom prst="line">
                <a:avLst/>
              </a:prstGeom>
              <a:solidFill>
                <a:schemeClr val="accent1"/>
              </a:solidFill>
              <a:ln w="63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4" name="직선 연결선 23"/>
              <p:cNvCxnSpPr/>
              <p:nvPr/>
            </p:nvCxnSpPr>
            <p:spPr bwMode="auto">
              <a:xfrm rot="16200000" flipH="1">
                <a:off x="785343" y="2034406"/>
                <a:ext cx="1776634" cy="2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2" name="직선 연결선 21"/>
            <p:cNvCxnSpPr/>
            <p:nvPr/>
          </p:nvCxnSpPr>
          <p:spPr bwMode="auto">
            <a:xfrm flipV="1">
              <a:off x="1357290" y="1583754"/>
              <a:ext cx="1428760" cy="121444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25" name="TextBox 24"/>
          <p:cNvSpPr txBox="1"/>
          <p:nvPr/>
        </p:nvSpPr>
        <p:spPr>
          <a:xfrm>
            <a:off x="2788946" y="4672894"/>
            <a:ext cx="1566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y = </a:t>
            </a:r>
            <a:r>
              <a:rPr lang="en-US" altLang="ko-KR" dirty="0" err="1">
                <a:latin typeface="맑은 고딕" pitchFamily="50" charset="-127"/>
                <a:ea typeface="맑은 고딕" pitchFamily="50" charset="-127"/>
              </a:rPr>
              <a:t>wx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+ b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6" name="그룹 82"/>
          <p:cNvGrpSpPr/>
          <p:nvPr/>
        </p:nvGrpSpPr>
        <p:grpSpPr>
          <a:xfrm>
            <a:off x="7862659" y="3498043"/>
            <a:ext cx="2286015" cy="2000265"/>
            <a:chOff x="4699431" y="2357430"/>
            <a:chExt cx="1729957" cy="1625171"/>
          </a:xfrm>
        </p:grpSpPr>
        <p:grpSp>
          <p:nvGrpSpPr>
            <p:cNvPr id="27" name="그룹 30"/>
            <p:cNvGrpSpPr/>
            <p:nvPr/>
          </p:nvGrpSpPr>
          <p:grpSpPr>
            <a:xfrm>
              <a:off x="4699431" y="2357430"/>
              <a:ext cx="1658521" cy="1625171"/>
              <a:chOff x="1109326" y="1146090"/>
              <a:chExt cx="1421588" cy="1554556"/>
            </a:xfrm>
          </p:grpSpPr>
          <p:cxnSp>
            <p:nvCxnSpPr>
              <p:cNvPr id="34" name="직선 연결선 33"/>
              <p:cNvCxnSpPr/>
              <p:nvPr/>
            </p:nvCxnSpPr>
            <p:spPr bwMode="auto">
              <a:xfrm>
                <a:off x="1109326" y="2034407"/>
                <a:ext cx="1421588" cy="1519"/>
              </a:xfrm>
              <a:prstGeom prst="line">
                <a:avLst/>
              </a:prstGeom>
              <a:solidFill>
                <a:schemeClr val="accent1"/>
              </a:solidFill>
              <a:ln w="6350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직선 연결선 34"/>
              <p:cNvCxnSpPr/>
              <p:nvPr/>
            </p:nvCxnSpPr>
            <p:spPr bwMode="auto">
              <a:xfrm rot="5400000">
                <a:off x="892242" y="1919230"/>
                <a:ext cx="1554556" cy="827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8" name="자유형 27"/>
            <p:cNvSpPr/>
            <p:nvPr/>
          </p:nvSpPr>
          <p:spPr bwMode="auto">
            <a:xfrm>
              <a:off x="5286380" y="2357430"/>
              <a:ext cx="1143008" cy="928694"/>
            </a:xfrm>
            <a:custGeom>
              <a:avLst/>
              <a:gdLst>
                <a:gd name="connsiteX0" fmla="*/ 482010 w 482010"/>
                <a:gd name="connsiteY0" fmla="*/ 17721 h 668670"/>
                <a:gd name="connsiteX1" fmla="*/ 460745 w 482010"/>
                <a:gd name="connsiteY1" fmla="*/ 212651 h 668670"/>
                <a:gd name="connsiteX2" fmla="*/ 379228 w 482010"/>
                <a:gd name="connsiteY2" fmla="*/ 517451 h 668670"/>
                <a:gd name="connsiteX3" fmla="*/ 248093 w 482010"/>
                <a:gd name="connsiteY3" fmla="*/ 662763 h 668670"/>
                <a:gd name="connsiteX4" fmla="*/ 113414 w 482010"/>
                <a:gd name="connsiteY4" fmla="*/ 552893 h 668670"/>
                <a:gd name="connsiteX5" fmla="*/ 35442 w 482010"/>
                <a:gd name="connsiteY5" fmla="*/ 318977 h 668670"/>
                <a:gd name="connsiteX6" fmla="*/ 0 w 482010"/>
                <a:gd name="connsiteY6" fmla="*/ 0 h 668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2010" h="668670">
                  <a:moveTo>
                    <a:pt x="482010" y="17721"/>
                  </a:moveTo>
                  <a:cubicBezTo>
                    <a:pt x="479942" y="73542"/>
                    <a:pt x="477875" y="129363"/>
                    <a:pt x="460745" y="212651"/>
                  </a:cubicBezTo>
                  <a:cubicBezTo>
                    <a:pt x="443615" y="295939"/>
                    <a:pt x="414670" y="442432"/>
                    <a:pt x="379228" y="517451"/>
                  </a:cubicBezTo>
                  <a:cubicBezTo>
                    <a:pt x="343786" y="592470"/>
                    <a:pt x="292395" y="656856"/>
                    <a:pt x="248093" y="662763"/>
                  </a:cubicBezTo>
                  <a:cubicBezTo>
                    <a:pt x="203791" y="668670"/>
                    <a:pt x="148856" y="610191"/>
                    <a:pt x="113414" y="552893"/>
                  </a:cubicBezTo>
                  <a:cubicBezTo>
                    <a:pt x="77972" y="495595"/>
                    <a:pt x="54344" y="411126"/>
                    <a:pt x="35442" y="318977"/>
                  </a:cubicBezTo>
                  <a:cubicBezTo>
                    <a:pt x="16540" y="226828"/>
                    <a:pt x="8270" y="113414"/>
                    <a:pt x="0" y="0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9" name="타원 28"/>
            <p:cNvSpPr/>
            <p:nvPr/>
          </p:nvSpPr>
          <p:spPr bwMode="auto">
            <a:xfrm>
              <a:off x="5383537" y="2883215"/>
              <a:ext cx="45719" cy="4571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0" name="직선 화살표 연결선 29"/>
            <p:cNvCxnSpPr>
              <a:stCxn id="29" idx="5"/>
              <a:endCxn id="28" idx="4"/>
            </p:cNvCxnSpPr>
            <p:nvPr/>
          </p:nvCxnSpPr>
          <p:spPr bwMode="auto">
            <a:xfrm rot="16200000" flipH="1">
              <a:off x="5387399" y="2957401"/>
              <a:ext cx="203086" cy="13276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1" name="직선 화살표 연결선 30"/>
            <p:cNvCxnSpPr>
              <a:stCxn id="28" idx="4"/>
            </p:cNvCxnSpPr>
            <p:nvPr/>
          </p:nvCxnSpPr>
          <p:spPr bwMode="auto">
            <a:xfrm>
              <a:off x="5555323" y="3125325"/>
              <a:ext cx="159685" cy="10728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32" name="직선 화살표 연결선 31"/>
            <p:cNvCxnSpPr>
              <a:endCxn id="33" idx="4"/>
            </p:cNvCxnSpPr>
            <p:nvPr/>
          </p:nvCxnSpPr>
          <p:spPr bwMode="auto">
            <a:xfrm>
              <a:off x="5698199" y="3214686"/>
              <a:ext cx="136826" cy="7143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33" name="타원 32"/>
            <p:cNvSpPr/>
            <p:nvPr/>
          </p:nvSpPr>
          <p:spPr bwMode="auto">
            <a:xfrm>
              <a:off x="5812165" y="3240405"/>
              <a:ext cx="45719" cy="45719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6" name="오른쪽 화살표 35"/>
          <p:cNvSpPr/>
          <p:nvPr/>
        </p:nvSpPr>
        <p:spPr bwMode="auto">
          <a:xfrm>
            <a:off x="4441344" y="4438645"/>
            <a:ext cx="502046" cy="27384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78382" y="4343156"/>
            <a:ext cx="150019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cost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정의</a:t>
            </a:r>
          </a:p>
        </p:txBody>
      </p:sp>
      <p:sp>
        <p:nvSpPr>
          <p:cNvPr id="38" name="오른쪽 화살표 37"/>
          <p:cNvSpPr/>
          <p:nvPr/>
        </p:nvSpPr>
        <p:spPr bwMode="auto">
          <a:xfrm>
            <a:off x="6870236" y="4438645"/>
            <a:ext cx="502046" cy="27384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B50183F9-F51C-46A9-8FE7-196EAB642615}"/>
              </a:ext>
            </a:extLst>
          </p:cNvPr>
          <p:cNvSpPr txBox="1"/>
          <p:nvPr/>
        </p:nvSpPr>
        <p:spPr>
          <a:xfrm>
            <a:off x="8466105" y="3173524"/>
            <a:ext cx="70637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cost</a:t>
            </a:r>
            <a:endParaRPr lang="ko-KR" alt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E8F3083B-6EEE-4BAA-9164-D53EDBB9DB33}"/>
              </a:ext>
            </a:extLst>
          </p:cNvPr>
          <p:cNvSpPr txBox="1"/>
          <p:nvPr/>
        </p:nvSpPr>
        <p:spPr>
          <a:xfrm>
            <a:off x="9906265" y="4569613"/>
            <a:ext cx="706377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w</a:t>
            </a:r>
            <a:endParaRPr lang="ko-KR" altLang="en-US" sz="1600" dirty="0"/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xmlns="" id="{473977EC-C6D1-43C9-BA0A-315E452C6F00}"/>
              </a:ext>
            </a:extLst>
          </p:cNvPr>
          <p:cNvCxnSpPr>
            <a:endCxn id="29" idx="7"/>
          </p:cNvCxnSpPr>
          <p:nvPr/>
        </p:nvCxnSpPr>
        <p:spPr>
          <a:xfrm flipH="1">
            <a:off x="8818223" y="3714067"/>
            <a:ext cx="364237" cy="4393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33C4F5C2-5C74-4AD4-B4D8-D848313002E4}"/>
              </a:ext>
            </a:extLst>
          </p:cNvPr>
          <p:cNvSpPr txBox="1"/>
          <p:nvPr/>
        </p:nvSpPr>
        <p:spPr>
          <a:xfrm>
            <a:off x="9137635" y="3480112"/>
            <a:ext cx="847277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초기값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자유형: 도형 29">
                <a:extLst>
                  <a:ext uri="{FF2B5EF4-FFF2-40B4-BE49-F238E27FC236}">
                    <a16:creationId xmlns:a16="http://schemas.microsoft.com/office/drawing/2014/main" xmlns="" id="{FCF3B60F-4815-4027-9B2A-131E28770EC7}"/>
                  </a:ext>
                </a:extLst>
              </p:cNvPr>
              <p:cNvSpPr/>
              <p:nvPr/>
            </p:nvSpPr>
            <p:spPr>
              <a:xfrm>
                <a:off x="4419359" y="3447761"/>
                <a:ext cx="4197497" cy="9779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16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600" i="1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1600" i="1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1600" i="0">
                          <a:latin typeface="Cambria Math"/>
                          <a:sym typeface="Cambria Math"/>
                        </a:rPr>
                        <m:t>)</m:t>
                      </m:r>
                      <m:r>
                        <a:rPr sz="1600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16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600" i="1">
                              <a:latin typeface="Cambria Math"/>
                              <a:sym typeface="Cambria Math"/>
                            </a:rPr>
                            <m:t>1</m:t>
                          </m:r>
                        </m:num>
                        <m:den>
                          <m:r>
                            <a:rPr sz="1600" i="1">
                              <a:latin typeface="Cambria Math"/>
                              <a:sym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sz="16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>
                          <m:r>
                            <a:rPr sz="1600" i="1">
                              <a:latin typeface="Cambria Math"/>
                              <a:sym typeface="Cambria Math"/>
                            </a:rPr>
                            <m:t>𝑖</m:t>
                          </m:r>
                          <m:r>
                            <a:rPr sz="1600" i="1">
                              <a:latin typeface="Cambria Math"/>
                              <a:sym typeface="Cambria Math"/>
                            </a:rPr>
                            <m:t>=1</m:t>
                          </m:r>
                        </m:sub>
                        <m:sup>
                          <m:r>
                            <a:rPr sz="1600" i="1">
                              <a:latin typeface="Cambria Math"/>
                              <a:sym typeface="Cambria Math"/>
                            </a:rPr>
                            <m:t>𝑚</m:t>
                          </m:r>
                        </m:sup>
                        <m:e>
                          <m:r>
                            <a:rPr sz="1600" i="1">
                              <a:latin typeface="Cambria Math"/>
                              <a:sym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sz="16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600" i="1">
                                  <a:latin typeface="Cambria Math"/>
                                  <a:sym typeface="Cambria Math"/>
                                </a:rPr>
                                <m:t>𝐻</m:t>
                              </m:r>
                              <m:r>
                                <a:rPr sz="16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sz="16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1600" i="1">
                                      <a:latin typeface="Cambria Math"/>
                                      <a:sym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sz="1600" i="1">
                                      <a:latin typeface="Cambria Math"/>
                                      <a:sym typeface="Cambria Math"/>
                                    </a:rPr>
                                    <m:t>(</m:t>
                                  </m:r>
                                  <m:r>
                                    <a:rPr sz="1600" i="1"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  <m:r>
                                    <a:rPr sz="1600" i="1">
                                      <a:latin typeface="Cambria Math"/>
                                      <a:sym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sz="1600" i="1">
                                  <a:latin typeface="Cambria Math"/>
                                  <a:sym typeface="Cambria Math"/>
                                </a:rPr>
                                <m:t>)−</m:t>
                              </m:r>
                              <m:sSup>
                                <m:sSupPr>
                                  <m:ctrlPr>
                                    <a:rPr sz="16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1600" i="1">
                                      <a:latin typeface="Cambria Math"/>
                                      <a:sym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sz="1600" i="1">
                                      <a:latin typeface="Cambria Math"/>
                                      <a:sym typeface="Cambria Math"/>
                                    </a:rPr>
                                    <m:t>(</m:t>
                                  </m:r>
                                  <m:r>
                                    <a:rPr sz="1600" i="1"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  <m:r>
                                    <a:rPr sz="1600" i="1">
                                      <a:latin typeface="Cambria Math"/>
                                      <a:sym typeface="Cambria Math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sz="16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sz="1600" i="1">
                                  <a:latin typeface="Cambria Math"/>
                                  <a:sym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sz="1200" dirty="0"/>
              </a:p>
            </p:txBody>
          </p:sp>
        </mc:Choice>
        <mc:Fallback xmlns="">
          <p:sp>
            <p:nvSpPr>
              <p:cNvPr id="43" name="자유형: 도형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CF3B60F-4815-4027-9B2A-131E28770E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359" y="3447761"/>
                <a:ext cx="4197497" cy="9779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672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지역 </a:t>
            </a:r>
            <a:r>
              <a:rPr lang="ko-KR" altLang="en-US" dirty="0"/>
              <a:t>최적화</a:t>
            </a:r>
            <a:r>
              <a:rPr lang="en-US" altLang="ko-KR" dirty="0" smtClean="0"/>
              <a:t>(Local </a:t>
            </a:r>
            <a:r>
              <a:rPr lang="en-US" altLang="ko-KR" dirty="0"/>
              <a:t>Optimization)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다층 구조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각각의 층에서 다양한 비선형 함수를 사용할 경우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w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에 대한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cost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 형태가 복잡 </a:t>
            </a: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 -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 때 잘못된 초기값을 선택하면 지역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최소점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(local minimum)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에 도달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원활한 학습을 위해 주어진 문제에 맞는 데이터 분포를 고려해서 적절한 초기화 수행이 필요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3477264" y="3304702"/>
            <a:ext cx="5349236" cy="3316512"/>
            <a:chOff x="3194348" y="2659435"/>
            <a:chExt cx="6143668" cy="3809058"/>
          </a:xfrm>
        </p:grpSpPr>
        <p:grpSp>
          <p:nvGrpSpPr>
            <p:cNvPr id="40" name="그룹 17"/>
            <p:cNvGrpSpPr/>
            <p:nvPr/>
          </p:nvGrpSpPr>
          <p:grpSpPr>
            <a:xfrm>
              <a:off x="3194348" y="2659435"/>
              <a:ext cx="6143668" cy="3643338"/>
              <a:chOff x="785786" y="2000240"/>
              <a:chExt cx="7420028" cy="4572032"/>
            </a:xfrm>
          </p:grpSpPr>
          <p:sp>
            <p:nvSpPr>
              <p:cNvPr id="41" name="자유형 40"/>
              <p:cNvSpPr/>
              <p:nvPr/>
            </p:nvSpPr>
            <p:spPr>
              <a:xfrm>
                <a:off x="795359" y="2428868"/>
                <a:ext cx="7205665" cy="4143404"/>
              </a:xfrm>
              <a:custGeom>
                <a:avLst/>
                <a:gdLst>
                  <a:gd name="connsiteX0" fmla="*/ 0 w 6848475"/>
                  <a:gd name="connsiteY0" fmla="*/ 647700 h 2946400"/>
                  <a:gd name="connsiteX1" fmla="*/ 476250 w 6848475"/>
                  <a:gd name="connsiteY1" fmla="*/ 2266950 h 2946400"/>
                  <a:gd name="connsiteX2" fmla="*/ 885825 w 6848475"/>
                  <a:gd name="connsiteY2" fmla="*/ 2819400 h 2946400"/>
                  <a:gd name="connsiteX3" fmla="*/ 1428750 w 6848475"/>
                  <a:gd name="connsiteY3" fmla="*/ 2781300 h 2946400"/>
                  <a:gd name="connsiteX4" fmla="*/ 1857375 w 6848475"/>
                  <a:gd name="connsiteY4" fmla="*/ 1828800 h 2946400"/>
                  <a:gd name="connsiteX5" fmla="*/ 2143125 w 6848475"/>
                  <a:gd name="connsiteY5" fmla="*/ 838200 h 2946400"/>
                  <a:gd name="connsiteX6" fmla="*/ 2390775 w 6848475"/>
                  <a:gd name="connsiteY6" fmla="*/ 238125 h 2946400"/>
                  <a:gd name="connsiteX7" fmla="*/ 2914650 w 6848475"/>
                  <a:gd name="connsiteY7" fmla="*/ 95250 h 2946400"/>
                  <a:gd name="connsiteX8" fmla="*/ 3524250 w 6848475"/>
                  <a:gd name="connsiteY8" fmla="*/ 809625 h 2946400"/>
                  <a:gd name="connsiteX9" fmla="*/ 3867150 w 6848475"/>
                  <a:gd name="connsiteY9" fmla="*/ 714375 h 2946400"/>
                  <a:gd name="connsiteX10" fmla="*/ 4057650 w 6848475"/>
                  <a:gd name="connsiteY10" fmla="*/ 314325 h 2946400"/>
                  <a:gd name="connsiteX11" fmla="*/ 4724400 w 6848475"/>
                  <a:gd name="connsiteY11" fmla="*/ 266700 h 2946400"/>
                  <a:gd name="connsiteX12" fmla="*/ 5076825 w 6848475"/>
                  <a:gd name="connsiteY12" fmla="*/ 914400 h 2946400"/>
                  <a:gd name="connsiteX13" fmla="*/ 5943600 w 6848475"/>
                  <a:gd name="connsiteY13" fmla="*/ 981075 h 2946400"/>
                  <a:gd name="connsiteX14" fmla="*/ 6276975 w 6848475"/>
                  <a:gd name="connsiteY14" fmla="*/ 1466850 h 2946400"/>
                  <a:gd name="connsiteX15" fmla="*/ 6600825 w 6848475"/>
                  <a:gd name="connsiteY15" fmla="*/ 1362075 h 2946400"/>
                  <a:gd name="connsiteX16" fmla="*/ 6848475 w 6848475"/>
                  <a:gd name="connsiteY16" fmla="*/ 771525 h 2946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848475" h="2946400">
                    <a:moveTo>
                      <a:pt x="0" y="647700"/>
                    </a:moveTo>
                    <a:cubicBezTo>
                      <a:pt x="164306" y="1276350"/>
                      <a:pt x="328612" y="1905000"/>
                      <a:pt x="476250" y="2266950"/>
                    </a:cubicBezTo>
                    <a:cubicBezTo>
                      <a:pt x="623888" y="2628900"/>
                      <a:pt x="727075" y="2733675"/>
                      <a:pt x="885825" y="2819400"/>
                    </a:cubicBezTo>
                    <a:cubicBezTo>
                      <a:pt x="1044575" y="2905125"/>
                      <a:pt x="1266825" y="2946400"/>
                      <a:pt x="1428750" y="2781300"/>
                    </a:cubicBezTo>
                    <a:cubicBezTo>
                      <a:pt x="1590675" y="2616200"/>
                      <a:pt x="1738313" y="2152650"/>
                      <a:pt x="1857375" y="1828800"/>
                    </a:cubicBezTo>
                    <a:cubicBezTo>
                      <a:pt x="1976437" y="1504950"/>
                      <a:pt x="2054225" y="1103313"/>
                      <a:pt x="2143125" y="838200"/>
                    </a:cubicBezTo>
                    <a:cubicBezTo>
                      <a:pt x="2232025" y="573087"/>
                      <a:pt x="2262188" y="361950"/>
                      <a:pt x="2390775" y="238125"/>
                    </a:cubicBezTo>
                    <a:cubicBezTo>
                      <a:pt x="2519363" y="114300"/>
                      <a:pt x="2725738" y="0"/>
                      <a:pt x="2914650" y="95250"/>
                    </a:cubicBezTo>
                    <a:cubicBezTo>
                      <a:pt x="3103562" y="190500"/>
                      <a:pt x="3365500" y="706438"/>
                      <a:pt x="3524250" y="809625"/>
                    </a:cubicBezTo>
                    <a:cubicBezTo>
                      <a:pt x="3683000" y="912812"/>
                      <a:pt x="3778250" y="796925"/>
                      <a:pt x="3867150" y="714375"/>
                    </a:cubicBezTo>
                    <a:cubicBezTo>
                      <a:pt x="3956050" y="631825"/>
                      <a:pt x="3914775" y="388938"/>
                      <a:pt x="4057650" y="314325"/>
                    </a:cubicBezTo>
                    <a:cubicBezTo>
                      <a:pt x="4200525" y="239713"/>
                      <a:pt x="4554538" y="166688"/>
                      <a:pt x="4724400" y="266700"/>
                    </a:cubicBezTo>
                    <a:cubicBezTo>
                      <a:pt x="4894262" y="366712"/>
                      <a:pt x="4873625" y="795338"/>
                      <a:pt x="5076825" y="914400"/>
                    </a:cubicBezTo>
                    <a:cubicBezTo>
                      <a:pt x="5280025" y="1033463"/>
                      <a:pt x="5743575" y="889000"/>
                      <a:pt x="5943600" y="981075"/>
                    </a:cubicBezTo>
                    <a:cubicBezTo>
                      <a:pt x="6143625" y="1073150"/>
                      <a:pt x="6167437" y="1403350"/>
                      <a:pt x="6276975" y="1466850"/>
                    </a:cubicBezTo>
                    <a:cubicBezTo>
                      <a:pt x="6386513" y="1530350"/>
                      <a:pt x="6505575" y="1477962"/>
                      <a:pt x="6600825" y="1362075"/>
                    </a:cubicBezTo>
                    <a:cubicBezTo>
                      <a:pt x="6696075" y="1246188"/>
                      <a:pt x="6772275" y="1008856"/>
                      <a:pt x="6848475" y="771525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Times New Roman"/>
                  <a:ea typeface="나눔바른고딕" panose="020B0603020101020101" pitchFamily="50" charset="-127"/>
                </a:endParaRPr>
              </a:p>
            </p:txBody>
          </p:sp>
          <p:cxnSp>
            <p:nvCxnSpPr>
              <p:cNvPr id="42" name="직선 화살표 연결선 41"/>
              <p:cNvCxnSpPr/>
              <p:nvPr/>
            </p:nvCxnSpPr>
            <p:spPr>
              <a:xfrm rot="5400000" flipH="1" flipV="1">
                <a:off x="-857288" y="3786190"/>
                <a:ext cx="3643338" cy="7143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43" name="직선 화살표 연결선 42"/>
              <p:cNvCxnSpPr/>
              <p:nvPr/>
            </p:nvCxnSpPr>
            <p:spPr>
              <a:xfrm flipV="1">
                <a:off x="785786" y="5429264"/>
                <a:ext cx="7420028" cy="9524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</p:grpSp>
        <p:sp>
          <p:nvSpPr>
            <p:cNvPr id="44" name="타원 43"/>
            <p:cNvSpPr/>
            <p:nvPr/>
          </p:nvSpPr>
          <p:spPr>
            <a:xfrm>
              <a:off x="4123042" y="6231335"/>
              <a:ext cx="71438" cy="7143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5" name="타원 44"/>
            <p:cNvSpPr/>
            <p:nvPr/>
          </p:nvSpPr>
          <p:spPr>
            <a:xfrm>
              <a:off x="6337620" y="3945320"/>
              <a:ext cx="71438" cy="7143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8695074" y="4659700"/>
              <a:ext cx="71438" cy="7143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408794" y="6129939"/>
              <a:ext cx="24288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global minimum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623240" y="4218929"/>
              <a:ext cx="24288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local minimum</a:t>
              </a:r>
              <a:endParaRPr lang="ko-KR" altLang="en-US" sz="160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49" name="타원 48"/>
            <p:cNvSpPr/>
            <p:nvPr/>
          </p:nvSpPr>
          <p:spPr>
            <a:xfrm>
              <a:off x="5837554" y="3230939"/>
              <a:ext cx="71438" cy="7143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cxnSp>
          <p:nvCxnSpPr>
            <p:cNvPr id="50" name="직선 화살표 연결선 49"/>
            <p:cNvCxnSpPr>
              <a:stCxn id="49" idx="5"/>
            </p:cNvCxnSpPr>
            <p:nvPr/>
          </p:nvCxnSpPr>
          <p:spPr>
            <a:xfrm rot="16200000" flipH="1">
              <a:off x="5827092" y="3363351"/>
              <a:ext cx="296214" cy="153339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cxnSp>
          <p:nvCxnSpPr>
            <p:cNvPr id="51" name="직선 화살표 연결선 50"/>
            <p:cNvCxnSpPr/>
            <p:nvPr/>
          </p:nvCxnSpPr>
          <p:spPr>
            <a:xfrm rot="16200000" flipH="1">
              <a:off x="6016150" y="3623850"/>
              <a:ext cx="214314" cy="14287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cxnSp>
          <p:nvCxnSpPr>
            <p:cNvPr id="52" name="직선 화살표 연결선 51"/>
            <p:cNvCxnSpPr>
              <a:endCxn id="41" idx="8"/>
            </p:cNvCxnSpPr>
            <p:nvPr/>
          </p:nvCxnSpPr>
          <p:spPr>
            <a:xfrm rot="16200000" flipH="1">
              <a:off x="6180704" y="3816486"/>
              <a:ext cx="105830" cy="7774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cxnSp>
          <p:nvCxnSpPr>
            <p:cNvPr id="53" name="직선 화살표 연결선 52"/>
            <p:cNvCxnSpPr/>
            <p:nvPr/>
          </p:nvCxnSpPr>
          <p:spPr>
            <a:xfrm rot="16200000" flipH="1">
              <a:off x="6252141" y="3887922"/>
              <a:ext cx="105830" cy="7774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sp>
          <p:nvSpPr>
            <p:cNvPr id="54" name="TextBox 53"/>
            <p:cNvSpPr txBox="1"/>
            <p:nvPr/>
          </p:nvSpPr>
          <p:spPr>
            <a:xfrm>
              <a:off x="7480628" y="4159633"/>
              <a:ext cx="100013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plateau</a:t>
              </a:r>
              <a:endPara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55" name="타원 54"/>
            <p:cNvSpPr/>
            <p:nvPr/>
          </p:nvSpPr>
          <p:spPr>
            <a:xfrm>
              <a:off x="7623504" y="4016758"/>
              <a:ext cx="71438" cy="7143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0000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cxnSp>
          <p:nvCxnSpPr>
            <p:cNvPr id="56" name="직선 화살표 연결선 55"/>
            <p:cNvCxnSpPr>
              <a:stCxn id="55" idx="6"/>
            </p:cNvCxnSpPr>
            <p:nvPr/>
          </p:nvCxnSpPr>
          <p:spPr>
            <a:xfrm>
              <a:off x="7694942" y="4052477"/>
              <a:ext cx="142876" cy="3730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cxnSp>
          <p:nvCxnSpPr>
            <p:cNvPr id="57" name="직선 화살표 연결선 56"/>
            <p:cNvCxnSpPr/>
            <p:nvPr/>
          </p:nvCxnSpPr>
          <p:spPr>
            <a:xfrm>
              <a:off x="7837818" y="4088195"/>
              <a:ext cx="142876" cy="158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  <p:cxnSp>
          <p:nvCxnSpPr>
            <p:cNvPr id="58" name="직선 화살표 연결선 57"/>
            <p:cNvCxnSpPr/>
            <p:nvPr/>
          </p:nvCxnSpPr>
          <p:spPr>
            <a:xfrm>
              <a:off x="7980694" y="4086607"/>
              <a:ext cx="142876" cy="158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48813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정규분포 초기화의 문제점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2447816" y="4831066"/>
            <a:ext cx="142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087" y="4831066"/>
            <a:ext cx="2428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sigmoid(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분포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13514" y="2501275"/>
            <a:ext cx="8958571" cy="2389485"/>
          </a:xfrm>
          <a:prstGeom prst="rect">
            <a:avLst/>
          </a:prstGeom>
        </p:spPr>
      </p:pic>
      <p:sp>
        <p:nvSpPr>
          <p:cNvPr id="29" name="TextBox 7"/>
          <p:cNvSpPr txBox="1"/>
          <p:nvPr/>
        </p:nvSpPr>
        <p:spPr>
          <a:xfrm>
            <a:off x="5328135" y="4841330"/>
            <a:ext cx="1428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xmlns="" id="{2E440DF5-CB4D-415C-92B7-8D3E682EC7E9}"/>
              </a:ext>
            </a:extLst>
          </p:cNvPr>
          <p:cNvCxnSpPr/>
          <p:nvPr/>
        </p:nvCxnSpPr>
        <p:spPr>
          <a:xfrm>
            <a:off x="5604768" y="5280194"/>
            <a:ext cx="0" cy="3703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xmlns="" id="{0CE4B245-4F2C-42B0-869A-37DC4F887840}"/>
              </a:ext>
            </a:extLst>
          </p:cNvPr>
          <p:cNvCxnSpPr/>
          <p:nvPr/>
        </p:nvCxnSpPr>
        <p:spPr>
          <a:xfrm>
            <a:off x="5400143" y="5280194"/>
            <a:ext cx="34864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sp>
        <p:nvSpPr>
          <p:cNvPr id="32" name="TextBox 7">
            <a:extLst>
              <a:ext uri="{FF2B5EF4-FFF2-40B4-BE49-F238E27FC236}">
                <a16:creationId xmlns:a16="http://schemas.microsoft.com/office/drawing/2014/main" xmlns="" id="{F42731A3-CB77-45CC-8884-CEEE78320B18}"/>
              </a:ext>
            </a:extLst>
          </p:cNvPr>
          <p:cNvSpPr txBox="1"/>
          <p:nvPr/>
        </p:nvSpPr>
        <p:spPr>
          <a:xfrm>
            <a:off x="4524648" y="5518348"/>
            <a:ext cx="380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</a:t>
            </a:r>
            <a:r>
              <a:rPr lang="en-US" altLang="ko-KR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+ w</a:t>
            </a:r>
            <a:r>
              <a:rPr lang="en-US" altLang="ko-KR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+ w</a:t>
            </a:r>
            <a:r>
              <a:rPr lang="en-US" altLang="ko-KR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+ w</a:t>
            </a:r>
            <a:r>
              <a:rPr lang="en-US" altLang="ko-KR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en-US" altLang="ko-KR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+ ….</a:t>
            </a:r>
            <a:endParaRPr lang="en-US" altLang="ko-KR" baseline="-25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420411" y="5553327"/>
            <a:ext cx="2878066" cy="55436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값이 커질 경우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함수 적용결과는 대부분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수렴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4309751" y="6142443"/>
            <a:ext cx="2878066" cy="55436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특징의 수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(w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개수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늘어날 경우 </a:t>
            </a:r>
            <a:r>
              <a:rPr lang="en-US" altLang="ko-KR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합이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초과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정규분포를 이용한 초기화의 경우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68074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정규분포 초기화의 문제점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4" y="1641082"/>
            <a:ext cx="10295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출력값이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근처에 모여있을 경우 가중치 값이 업데이트되지 않아 학습이 일어나지 않음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35290" y="2400558"/>
            <a:ext cx="6000792" cy="4457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" name="TextBox 38"/>
          <p:cNvSpPr txBox="1"/>
          <p:nvPr/>
        </p:nvSpPr>
        <p:spPr>
          <a:xfrm>
            <a:off x="5278430" y="3615004"/>
            <a:ext cx="10715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782048" y="5408934"/>
            <a:ext cx="173637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미분함수</a:t>
            </a:r>
          </a:p>
        </p:txBody>
      </p:sp>
    </p:spTree>
    <p:extLst>
      <p:ext uri="{BB962C8B-B14F-4D97-AF65-F5344CB8AC3E}">
        <p14:creationId xmlns:p14="http://schemas.microsoft.com/office/powerpoint/2010/main" val="35152971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정규분포 초기화의 문제점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-4~4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 초기화할 경우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118" name="Picture 4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84320" y="2212143"/>
            <a:ext cx="8358214" cy="3509232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119" name="TextBox 118"/>
          <p:cNvSpPr txBox="1"/>
          <p:nvPr/>
        </p:nvSpPr>
        <p:spPr>
          <a:xfrm>
            <a:off x="5856286" y="5721375"/>
            <a:ext cx="1285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wx+b</a:t>
            </a:r>
            <a:endParaRPr lang="ko-KR" altLang="en-US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927328" y="5721375"/>
            <a:ext cx="1285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w </a:t>
            </a:r>
            <a:r>
              <a: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분포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85112" y="5721375"/>
            <a:ext cx="2428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sigmoid(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wx+b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)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분포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4343466" y="6141661"/>
            <a:ext cx="2355766" cy="46218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중심으로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-40~40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사이에 분포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7775879" y="6160210"/>
            <a:ext cx="3221974" cy="56796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함수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출력값이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0, 1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 경우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도함수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값이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가까워 학습이 되지 않음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949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표준</a:t>
            </a:r>
            <a:r>
              <a:rPr lang="en-US" altLang="ko-KR" dirty="0" smtClean="0"/>
              <a:t> </a:t>
            </a:r>
            <a:r>
              <a:rPr lang="ko-KR" altLang="en-US" dirty="0" smtClean="0"/>
              <a:t>편차를 이용한 초기화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N(0, 0.1)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의 경우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-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적절한 표준편차 설정이 필요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113" name="그룹 10"/>
          <p:cNvGrpSpPr/>
          <p:nvPr/>
        </p:nvGrpSpPr>
        <p:grpSpPr>
          <a:xfrm>
            <a:off x="2056653" y="2345487"/>
            <a:ext cx="7608048" cy="3402986"/>
            <a:chOff x="1074439" y="1738809"/>
            <a:chExt cx="5783576" cy="3398625"/>
          </a:xfrm>
        </p:grpSpPr>
        <p:pic>
          <p:nvPicPr>
            <p:cNvPr id="114" name="Picture 2"/>
            <p:cNvPicPr>
              <a:picLocks noChangeAspect="1" noChangeArrowheads="1"/>
            </p:cNvPicPr>
            <p:nvPr/>
          </p:nvPicPr>
          <p:blipFill rotWithShape="1">
            <a:blip r:embed="rId3"/>
            <a:srcRect t="4478"/>
            <a:stretch/>
          </p:blipFill>
          <p:spPr bwMode="auto">
            <a:xfrm>
              <a:off x="1074439" y="2140730"/>
              <a:ext cx="5783576" cy="2996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15" name="TextBox 114"/>
            <p:cNvSpPr txBox="1"/>
            <p:nvPr/>
          </p:nvSpPr>
          <p:spPr>
            <a:xfrm>
              <a:off x="1870416" y="1738809"/>
              <a:ext cx="1071570" cy="3378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16" name="TextBox 115"/>
          <p:cNvSpPr txBox="1"/>
          <p:nvPr/>
        </p:nvSpPr>
        <p:spPr>
          <a:xfrm>
            <a:off x="5729492" y="5688653"/>
            <a:ext cx="1285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3185808" y="5688653"/>
            <a:ext cx="1285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분포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73692" y="5688653"/>
            <a:ext cx="2428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sigmoid(</a:t>
            </a:r>
            <a:r>
              <a:rPr lang="en-US" altLang="ko-KR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분포</a:t>
            </a:r>
          </a:p>
        </p:txBody>
      </p:sp>
      <p:sp>
        <p:nvSpPr>
          <p:cNvPr id="119" name="직사각형 118"/>
          <p:cNvSpPr/>
          <p:nvPr/>
        </p:nvSpPr>
        <p:spPr>
          <a:xfrm>
            <a:off x="4352624" y="6144811"/>
            <a:ext cx="2337450" cy="48128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중심으로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-5~5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사이에 분포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7788405" y="6162419"/>
            <a:ext cx="3196922" cy="56354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함수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출력값이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0.5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가까워 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도함수가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되지 않아 학습이 이루어짐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9078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Xavier </a:t>
            </a:r>
            <a:r>
              <a:rPr lang="ko-KR" altLang="en-US" dirty="0" smtClean="0"/>
              <a:t>초기화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데이터의 특성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입력과 출력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노드의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수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를 이용한 초기화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12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94888" y="3115203"/>
            <a:ext cx="8311178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4" name="TextBox 123"/>
          <p:cNvSpPr txBox="1"/>
          <p:nvPr/>
        </p:nvSpPr>
        <p:spPr>
          <a:xfrm>
            <a:off x="5678682" y="6352143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2749724" y="6352143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분포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607508" y="6352143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sigmoid(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xmlns="" id="{9AA59069-ACFA-4C30-A384-31E19451FA9D}"/>
                  </a:ext>
                </a:extLst>
              </p:cNvPr>
              <p:cNvSpPr txBox="1"/>
              <p:nvPr/>
            </p:nvSpPr>
            <p:spPr>
              <a:xfrm>
                <a:off x="1287255" y="2393364"/>
                <a:ext cx="6777638" cy="704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/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1. </a:t>
                </a:r>
                <a:r>
                  <a:rPr lang="ko-KR" alt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정규분포</a:t>
                </a:r>
                <a:endPara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pPr marL="342900" indent="-342900"/>
                <a:r>
                  <a:rPr lang="ko-KR" alt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   표준편차</a:t>
                </a:r>
                <a:r>
                  <a:rPr 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ko-KR" altLang="en-US" i="1" smtClean="0">
                            <a:latin typeface="Cambria Math" panose="02040503050406030204" pitchFamily="18" charset="0"/>
                            <a:ea typeface="맑은 고딕" pitchFamily="50" charset="-127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ko-KR" b="0" i="0" smtClean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ko-KR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rPr>
                          <m:t>.0 / (</m:t>
                        </m:r>
                        <m:r>
                          <m:rPr>
                            <m:nor/>
                          </m:rPr>
                          <a:rPr lang="en-US" altLang="ko-KR" b="0" i="0" dirty="0" smtClean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rPr>
                          <m:t>input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ko-KR" b="0" i="0" dirty="0" smtClean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rPr>
                          <m:t>output</m:t>
                        </m:r>
                        <m:r>
                          <m:rPr>
                            <m:nor/>
                          </m:rPr>
                          <a:rPr lang="en-US" altLang="ko-KR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rPr>
                          <m:t>)</m:t>
                        </m:r>
                      </m:e>
                    </m:rad>
                  </m:oMath>
                </a14:m>
                <a:endParaRPr 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AA59069-ACFA-4C30-A384-31E19451F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55" y="2393364"/>
                <a:ext cx="6777638" cy="704745"/>
              </a:xfrm>
              <a:prstGeom prst="rect">
                <a:avLst/>
              </a:prstGeom>
              <a:blipFill rotWithShape="0">
                <a:blip r:embed="rId4"/>
                <a:stretch>
                  <a:fillRect l="-719" t="-4348" b="-139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xmlns="" id="{9AA59069-ACFA-4C30-A384-31E19451FA9D}"/>
                  </a:ext>
                </a:extLst>
              </p:cNvPr>
              <p:cNvSpPr txBox="1"/>
              <p:nvPr/>
            </p:nvSpPr>
            <p:spPr>
              <a:xfrm>
                <a:off x="5452856" y="2415594"/>
                <a:ext cx="5519945" cy="1258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 smtClean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2.</a:t>
                </a:r>
                <a:r>
                  <a:rPr lang="ko-KR" altLang="en-US" dirty="0" smtClean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uniform </a:t>
                </a:r>
                <a:r>
                  <a:rPr lang="ko-KR" alt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분포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range ~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range </a:t>
                </a:r>
                <a:r>
                  <a:rPr lang="ko-KR" alt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사이로</a:t>
                </a:r>
                <a:r>
                  <a:rPr 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:r>
                  <a:rPr lang="ko-KR" alt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랜덤 초기화</a:t>
                </a:r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 </a:t>
                </a:r>
              </a:p>
              <a:p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   range</a:t>
                </a:r>
                <a:r>
                  <a:rPr 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ko-KR" altLang="en-US" i="1">
                            <a:latin typeface="Cambria Math" panose="02040503050406030204" pitchFamily="18" charset="0"/>
                            <a:ea typeface="맑은 고딕" pitchFamily="50" charset="-127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ko-KR" b="0" i="0" smtClean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rPr>
                          <m:t>6</m:t>
                        </m:r>
                        <m:r>
                          <m:rPr>
                            <m:nor/>
                          </m:rPr>
                          <a:rPr lang="en-US" altLang="ko-KR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rPr>
                          <m:t>.0 / (</m:t>
                        </m:r>
                        <m:r>
                          <m:rPr>
                            <m:nor/>
                          </m:rPr>
                          <a:rPr lang="en-US" altLang="ko-KR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rPr>
                          <m:t>input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ko-KR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rPr>
                          <m:t>output</m:t>
                        </m:r>
                        <m:r>
                          <m:rPr>
                            <m:nor/>
                          </m:rPr>
                          <a:rPr lang="en-US" altLang="ko-KR" dirty="0">
                            <a:latin typeface="나눔스퀘어 Bold" panose="020B0600000101010101" pitchFamily="50" charset="-127"/>
                            <a:ea typeface="나눔스퀘어 Bold" panose="020B0600000101010101" pitchFamily="50" charset="-127"/>
                          </a:rPr>
                          <m:t>)</m:t>
                        </m:r>
                      </m:e>
                    </m:rad>
                  </m:oMath>
                </a14:m>
                <a:endParaRPr 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r>
                  <a:rPr 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  </a:t>
                </a:r>
                <a:endPara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endParaRPr lang="en-US" altLang="ko-KR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AA59069-ACFA-4C30-A384-31E19451F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856" y="2415594"/>
                <a:ext cx="5519945" cy="1258743"/>
              </a:xfrm>
              <a:prstGeom prst="rect">
                <a:avLst/>
              </a:prstGeom>
              <a:blipFill rotWithShape="0">
                <a:blip r:embed="rId5"/>
                <a:stretch>
                  <a:fillRect l="-883" t="-1932" r="-6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04776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He </a:t>
            </a:r>
            <a:r>
              <a:rPr lang="ko-KR" altLang="en-US" dirty="0" smtClean="0"/>
              <a:t>초기화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ReLU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활성화 함수를 사용할 때 초기화 방법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-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입력값을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반으로 나눈 제곱근을 사용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64544" y="2776364"/>
            <a:ext cx="8066712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5722196" y="6040288"/>
            <a:ext cx="1285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23438" y="6040288"/>
            <a:ext cx="1285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1022" y="6040288"/>
            <a:ext cx="2428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ReLU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en-US" altLang="ko-KR" sz="1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wx+b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분포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7764464" y="6432930"/>
            <a:ext cx="2832556" cy="29199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보다</a:t>
            </a:r>
            <a:r>
              <a:rPr lang="en-US" altLang="ko-KR" sz="1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큰 부분은 학습이 이루어짐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44669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모멘텀을</a:t>
            </a:r>
            <a:r>
              <a:rPr lang="ko-KR" altLang="en-US" dirty="0" smtClean="0"/>
              <a:t> 이용한 수렴 속도 개선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6347063" y="2645137"/>
            <a:ext cx="4366779" cy="2263570"/>
            <a:chOff x="4705815" y="1584591"/>
            <a:chExt cx="4366779" cy="2263570"/>
          </a:xfrm>
        </p:grpSpPr>
        <p:sp>
          <p:nvSpPr>
            <p:cNvPr id="14" name="자유형 13"/>
            <p:cNvSpPr/>
            <p:nvPr/>
          </p:nvSpPr>
          <p:spPr>
            <a:xfrm>
              <a:off x="4705815" y="1643050"/>
              <a:ext cx="4248614" cy="2115015"/>
            </a:xfrm>
            <a:custGeom>
              <a:avLst/>
              <a:gdLst>
                <a:gd name="connsiteX0" fmla="*/ 0 w 4248614"/>
                <a:gd name="connsiteY0" fmla="*/ 477644 h 2115015"/>
                <a:gd name="connsiteX1" fmla="*/ 412595 w 4248614"/>
                <a:gd name="connsiteY1" fmla="*/ 1748883 h 2115015"/>
                <a:gd name="connsiteX2" fmla="*/ 959005 w 4248614"/>
                <a:gd name="connsiteY2" fmla="*/ 1893849 h 2115015"/>
                <a:gd name="connsiteX3" fmla="*/ 1382751 w 4248614"/>
                <a:gd name="connsiteY3" fmla="*/ 421888 h 2115015"/>
                <a:gd name="connsiteX4" fmla="*/ 1750741 w 4248614"/>
                <a:gd name="connsiteY4" fmla="*/ 20444 h 2115015"/>
                <a:gd name="connsiteX5" fmla="*/ 2062975 w 4248614"/>
                <a:gd name="connsiteY5" fmla="*/ 544551 h 2115015"/>
                <a:gd name="connsiteX6" fmla="*/ 2642839 w 4248614"/>
                <a:gd name="connsiteY6" fmla="*/ 589156 h 2115015"/>
                <a:gd name="connsiteX7" fmla="*/ 2977375 w 4248614"/>
                <a:gd name="connsiteY7" fmla="*/ 65049 h 2115015"/>
                <a:gd name="connsiteX8" fmla="*/ 3345365 w 4248614"/>
                <a:gd name="connsiteY8" fmla="*/ 511097 h 2115015"/>
                <a:gd name="connsiteX9" fmla="*/ 3780263 w 4248614"/>
                <a:gd name="connsiteY9" fmla="*/ 611458 h 2115015"/>
                <a:gd name="connsiteX10" fmla="*/ 3880624 w 4248614"/>
                <a:gd name="connsiteY10" fmla="*/ 1024054 h 2115015"/>
                <a:gd name="connsiteX11" fmla="*/ 4159405 w 4248614"/>
                <a:gd name="connsiteY11" fmla="*/ 1001751 h 2115015"/>
                <a:gd name="connsiteX12" fmla="*/ 4248614 w 4248614"/>
                <a:gd name="connsiteY12" fmla="*/ 388434 h 2115015"/>
                <a:gd name="connsiteX13" fmla="*/ 4248614 w 4248614"/>
                <a:gd name="connsiteY13" fmla="*/ 388434 h 2115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248614" h="2115015">
                  <a:moveTo>
                    <a:pt x="0" y="477644"/>
                  </a:moveTo>
                  <a:cubicBezTo>
                    <a:pt x="126380" y="995246"/>
                    <a:pt x="252761" y="1512849"/>
                    <a:pt x="412595" y="1748883"/>
                  </a:cubicBezTo>
                  <a:cubicBezTo>
                    <a:pt x="572429" y="1984917"/>
                    <a:pt x="797312" y="2115015"/>
                    <a:pt x="959005" y="1893849"/>
                  </a:cubicBezTo>
                  <a:cubicBezTo>
                    <a:pt x="1120698" y="1672683"/>
                    <a:pt x="1250795" y="734122"/>
                    <a:pt x="1382751" y="421888"/>
                  </a:cubicBezTo>
                  <a:cubicBezTo>
                    <a:pt x="1514707" y="109654"/>
                    <a:pt x="1637370" y="0"/>
                    <a:pt x="1750741" y="20444"/>
                  </a:cubicBezTo>
                  <a:cubicBezTo>
                    <a:pt x="1864112" y="40888"/>
                    <a:pt x="1914292" y="449766"/>
                    <a:pt x="2062975" y="544551"/>
                  </a:cubicBezTo>
                  <a:cubicBezTo>
                    <a:pt x="2211658" y="639336"/>
                    <a:pt x="2490439" y="669073"/>
                    <a:pt x="2642839" y="589156"/>
                  </a:cubicBezTo>
                  <a:cubicBezTo>
                    <a:pt x="2795239" y="509239"/>
                    <a:pt x="2860287" y="78059"/>
                    <a:pt x="2977375" y="65049"/>
                  </a:cubicBezTo>
                  <a:cubicBezTo>
                    <a:pt x="3094463" y="52039"/>
                    <a:pt x="3211550" y="420029"/>
                    <a:pt x="3345365" y="511097"/>
                  </a:cubicBezTo>
                  <a:cubicBezTo>
                    <a:pt x="3479180" y="602165"/>
                    <a:pt x="3691053" y="525965"/>
                    <a:pt x="3780263" y="611458"/>
                  </a:cubicBezTo>
                  <a:cubicBezTo>
                    <a:pt x="3869473" y="696951"/>
                    <a:pt x="3817434" y="959005"/>
                    <a:pt x="3880624" y="1024054"/>
                  </a:cubicBezTo>
                  <a:cubicBezTo>
                    <a:pt x="3943814" y="1089103"/>
                    <a:pt x="4098073" y="1107688"/>
                    <a:pt x="4159405" y="1001751"/>
                  </a:cubicBezTo>
                  <a:cubicBezTo>
                    <a:pt x="4220737" y="895814"/>
                    <a:pt x="4248614" y="388434"/>
                    <a:pt x="4248614" y="388434"/>
                  </a:cubicBezTo>
                  <a:lnTo>
                    <a:pt x="4248614" y="388434"/>
                  </a:ln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ko-KR" altLang="en-US" sz="2400" b="0" i="0" u="none" strike="noStrike" cap="none" normalizeH="0" baseline="0" dirty="0">
                <a:ln w="19050">
                  <a:solidFill>
                    <a:schemeClr val="tx1"/>
                  </a:solidFill>
                </a:ln>
                <a:solidFill>
                  <a:schemeClr val="tx1"/>
                </a:solidFill>
                <a:effectLst/>
                <a:latin typeface="Times New Roman"/>
                <a:ea typeface="나눔바른고딕" panose="020B0603020101020101" pitchFamily="50" charset="-127"/>
              </a:endParaRPr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4730639" y="1584591"/>
              <a:ext cx="4341955" cy="2263570"/>
              <a:chOff x="4730639" y="1584591"/>
              <a:chExt cx="4341955" cy="2263570"/>
            </a:xfrm>
          </p:grpSpPr>
          <p:grpSp>
            <p:nvGrpSpPr>
              <p:cNvPr id="17" name="그룹 17"/>
              <p:cNvGrpSpPr/>
              <p:nvPr/>
            </p:nvGrpSpPr>
            <p:grpSpPr>
              <a:xfrm>
                <a:off x="4730639" y="1584591"/>
                <a:ext cx="4341955" cy="1720036"/>
                <a:chOff x="785786" y="2000240"/>
                <a:chExt cx="7420028" cy="3643338"/>
              </a:xfrm>
            </p:grpSpPr>
            <p:cxnSp>
              <p:nvCxnSpPr>
                <p:cNvPr id="25" name="직선 화살표 연결선 24"/>
                <p:cNvCxnSpPr/>
                <p:nvPr/>
              </p:nvCxnSpPr>
              <p:spPr>
                <a:xfrm rot="5400000" flipH="1" flipV="1">
                  <a:off x="-857288" y="3786190"/>
                  <a:ext cx="3643338" cy="71438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  <p:cxnSp>
              <p:nvCxnSpPr>
                <p:cNvPr id="26" name="직선 화살표 연결선 25"/>
                <p:cNvCxnSpPr/>
                <p:nvPr/>
              </p:nvCxnSpPr>
              <p:spPr>
                <a:xfrm flipV="1">
                  <a:off x="785786" y="5429264"/>
                  <a:ext cx="7420028" cy="9524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type="triangle" w="med" len="med"/>
                </a:ln>
                <a:effectLst/>
              </p:spPr>
            </p:cxnSp>
          </p:grpSp>
          <p:sp>
            <p:nvSpPr>
              <p:cNvPr id="18" name="타원 17"/>
              <p:cNvSpPr/>
              <p:nvPr/>
            </p:nvSpPr>
            <p:spPr>
              <a:xfrm>
                <a:off x="5450206" y="3643314"/>
                <a:ext cx="50488" cy="42322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19" name="타원 18"/>
              <p:cNvSpPr/>
              <p:nvPr/>
            </p:nvSpPr>
            <p:spPr>
              <a:xfrm>
                <a:off x="7072330" y="2285992"/>
                <a:ext cx="50488" cy="42322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20" name="타원 19"/>
              <p:cNvSpPr/>
              <p:nvPr/>
            </p:nvSpPr>
            <p:spPr>
              <a:xfrm>
                <a:off x="8715404" y="2714620"/>
                <a:ext cx="50488" cy="42323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rgbClr val="FF0000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ko-KR" alt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5684678" y="3509607"/>
                <a:ext cx="229088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global minimum</a:t>
                </a:r>
                <a:endParaRPr lang="ko-KR" altLang="en-US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6655409" y="2508505"/>
                <a:ext cx="198855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local minimum</a:t>
                </a:r>
                <a:endParaRPr lang="ko-KR" altLang="en-US" sz="16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endParaRPr>
              </a:p>
            </p:txBody>
          </p:sp>
          <p:cxnSp>
            <p:nvCxnSpPr>
              <p:cNvPr id="23" name="직선 화살표 연결선 22"/>
              <p:cNvCxnSpPr/>
              <p:nvPr/>
            </p:nvCxnSpPr>
            <p:spPr>
              <a:xfrm flipH="1">
                <a:off x="7461602" y="1714488"/>
                <a:ext cx="182232" cy="363579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  <p:cxnSp>
            <p:nvCxnSpPr>
              <p:cNvPr id="24" name="직선 화살표 연결선 23"/>
              <p:cNvCxnSpPr>
                <a:endCxn id="14" idx="6"/>
              </p:cNvCxnSpPr>
              <p:nvPr/>
            </p:nvCxnSpPr>
            <p:spPr>
              <a:xfrm rot="5400000">
                <a:off x="7344542" y="2075790"/>
                <a:ext cx="160528" cy="152304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miter/>
                <a:headEnd w="med" len="med"/>
                <a:tailEnd type="triangle" w="med" len="med"/>
              </a:ln>
              <a:effectLst/>
            </p:spPr>
          </p:cxnSp>
        </p:grpSp>
        <p:cxnSp>
          <p:nvCxnSpPr>
            <p:cNvPr id="16" name="직선 화살표 연결선 15"/>
            <p:cNvCxnSpPr>
              <a:stCxn id="14" idx="6"/>
              <a:endCxn id="19" idx="7"/>
            </p:cNvCxnSpPr>
            <p:nvPr/>
          </p:nvCxnSpPr>
          <p:spPr>
            <a:xfrm flipH="1">
              <a:off x="7115424" y="2232206"/>
              <a:ext cx="233230" cy="5998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miter/>
              <a:headEnd w="med" len="med"/>
              <a:tailEnd type="triangle" w="med" len="med"/>
            </a:ln>
            <a:effectLst/>
          </p:spPr>
        </p:cxnSp>
      </p:grpSp>
      <p:cxnSp>
        <p:nvCxnSpPr>
          <p:cNvPr id="27" name="직선 화살표 연결선 26"/>
          <p:cNvCxnSpPr/>
          <p:nvPr/>
        </p:nvCxnSpPr>
        <p:spPr>
          <a:xfrm rot="10800000">
            <a:off x="8427826" y="3288079"/>
            <a:ext cx="285753" cy="7143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miter/>
            <a:headEnd w="med" len="med"/>
            <a:tailEnd type="triangle" w="med" len="med"/>
          </a:ln>
          <a:effectLst/>
        </p:spPr>
      </p:cxnSp>
      <p:cxnSp>
        <p:nvCxnSpPr>
          <p:cNvPr id="28" name="직선 화살표 연결선 27"/>
          <p:cNvCxnSpPr/>
          <p:nvPr/>
        </p:nvCxnSpPr>
        <p:spPr>
          <a:xfrm rot="16200000" flipV="1">
            <a:off x="8249233" y="3109482"/>
            <a:ext cx="214314" cy="14287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miter/>
            <a:headEnd w="med" len="med"/>
            <a:tailEnd type="triangle" w="med" len="med"/>
          </a:ln>
          <a:effectLst/>
        </p:spPr>
      </p:cxnSp>
      <p:cxnSp>
        <p:nvCxnSpPr>
          <p:cNvPr id="29" name="직선 화살표 연결선 28"/>
          <p:cNvCxnSpPr/>
          <p:nvPr/>
        </p:nvCxnSpPr>
        <p:spPr>
          <a:xfrm rot="16200000" flipV="1">
            <a:off x="7999199" y="2788013"/>
            <a:ext cx="357190" cy="21431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70C0"/>
            </a:solidFill>
            <a:prstDash val="solid"/>
            <a:miter/>
            <a:headEnd w="med" len="med"/>
            <a:tailEnd type="triangl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450286" y="3988768"/>
                <a:ext cx="2970877" cy="829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2400" b="0" i="0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400" b="0" i="0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wt</m:t>
                      </m:r>
                      <m:r>
                        <a:rPr lang="en-US" altLang="ko-KR" sz="2400" b="0" i="0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 −</m:t>
                      </m:r>
                      <m:d>
                        <m:dPr>
                          <m:ctrlP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sz="24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+</m:t>
                          </m:r>
                          <m:r>
                            <a:rPr lang="ko-KR" altLang="en-US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𝛼</m:t>
                          </m:r>
                          <m:f>
                            <m:fPr>
                              <m:ctrlPr>
                                <a:rPr lang="en-US" altLang="ko-KR" sz="24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fPr>
                            <m:num>
                              <m:r>
                                <a:rPr lang="en-US" altLang="ko-KR" sz="24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𝜕</m:t>
                              </m:r>
                              <m:r>
                                <a:rPr lang="en-US" altLang="ko-KR" sz="24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𝐶𝑜𝑠𝑡</m:t>
                              </m:r>
                            </m:num>
                            <m:den>
                              <m:r>
                                <a:rPr lang="en-US" altLang="ko-KR" sz="24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𝜕</m:t>
                              </m:r>
                              <m:r>
                                <a:rPr lang="en-US" altLang="ko-KR" sz="2400" b="0" i="1" spc="-300" smtClean="0">
                                  <a:ln w="25400" cap="flat">
                                    <a:noFill/>
                                    <a:miter lim="800000"/>
                                  </a:ln>
                                  <a:solidFill>
                                    <a:schemeClr val="tx1"/>
                                  </a:solidFill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𝑤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ko-KR" altLang="en-US" sz="2400" spc="-30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휴먼모음T" panose="02030504000101010101" pitchFamily="18" charset="-127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286" y="3988768"/>
                <a:ext cx="2970877" cy="82984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450286" y="5476429"/>
                <a:ext cx="6371488" cy="8799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2400" b="0" i="0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dPr>
                            <m:e>
                              <m:r>
                                <a:rPr lang="ko-KR" altLang="en-US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𝛼</m:t>
                              </m:r>
                              <m:f>
                                <m:fPr>
                                  <m:ctrlP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𝜕</m:t>
                                  </m:r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𝐶𝑜𝑠𝑡</m:t>
                                  </m:r>
                                </m:num>
                                <m:den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𝜕</m:t>
                                  </m:r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ko-KR" altLang="en-US" sz="2400" spc="-300" dirty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Impact" panose="020B0806030902050204" pitchFamily="34" charset="0"/>
                              <a:ea typeface="휴먼모음T" panose="02030504000101010101" pitchFamily="18" charset="-127"/>
                            </a:rPr>
                            <m:t> </m:t>
                          </m:r>
                        </m:e>
                        <m:sub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solidFill>
                                <a:schemeClr val="tx1"/>
                              </a:solidFill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𝑡</m:t>
                          </m:r>
                        </m:sub>
                      </m:sSub>
                      <m:r>
                        <a:rPr lang="en-US" altLang="ko-KR" sz="2400" b="0" i="1" spc="-300" smtClean="0">
                          <a:ln w="25400" cap="flat">
                            <a:noFill/>
                            <a:miter lim="800000"/>
                          </a:ln>
                          <a:solidFill>
                            <a:schemeClr val="tx1"/>
                          </a:solidFill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𝑟</m:t>
                      </m:r>
                      <m:sSub>
                        <m:sSubPr>
                          <m:ctrlPr>
                            <a:rPr lang="en-US" altLang="ko-KR" sz="2400" i="1" spc="-30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dPr>
                            <m:e>
                              <m:r>
                                <a:rPr lang="ko-KR" altLang="en-US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𝛼</m:t>
                              </m:r>
                              <m:f>
                                <m:fPr>
                                  <m:ctrlP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𝜕</m:t>
                                  </m:r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𝐶𝑜𝑠𝑡</m:t>
                                  </m:r>
                                </m:num>
                                <m:den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𝜕</m:t>
                                  </m:r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ko-KR" altLang="en-US" sz="2400" spc="-300" dirty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Impact" panose="020B0806030902050204" pitchFamily="34" charset="0"/>
                              <a:ea typeface="휴먼모음T" panose="02030504000101010101" pitchFamily="18" charset="-127"/>
                            </a:rPr>
                            <m:t> </m:t>
                          </m:r>
                        </m:e>
                        <m:sub>
                          <m:r>
                            <a:rPr lang="en-US" altLang="ko-KR" sz="2400" i="1" spc="-30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𝑡</m:t>
                          </m:r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−1</m:t>
                          </m:r>
                        </m:sub>
                      </m:sSub>
                      <m:r>
                        <a:rPr lang="en-US" altLang="ko-KR" sz="2400" b="0" i="1" spc="-300" smtClean="0">
                          <a:ln w="25400" cap="flat">
                            <a:noFill/>
                            <a:miter lim="800000"/>
                          </a:ln>
                          <a:effectLst>
                            <a:glow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휴먼모음T" panose="02030504000101010101" pitchFamily="18" charset="-127"/>
                        </a:rPr>
                        <m:t>+…+</m:t>
                      </m:r>
                      <m:sSup>
                        <m:sSupPr>
                          <m:ctrlP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pPr>
                        <m:e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𝑟</m:t>
                          </m:r>
                        </m:e>
                        <m:sup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𝑛</m:t>
                          </m:r>
                        </m:sup>
                      </m:sSup>
                      <m:sSub>
                        <m:sSubPr>
                          <m:ctrlPr>
                            <a:rPr lang="en-US" altLang="ko-KR" sz="2400" i="1" spc="-30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</m:ctrlPr>
                            </m:dPr>
                            <m:e>
                              <m:r>
                                <a:rPr lang="ko-KR" altLang="en-US" sz="2400" i="1" spc="-300">
                                  <a:ln w="25400" cap="flat">
                                    <a:noFill/>
                                    <a:miter lim="800000"/>
                                  </a:ln>
                                  <a:effectLst>
                                    <a:glow>
                                      <a:schemeClr val="bg1"/>
                                    </a:glow>
                                  </a:effectLst>
                                  <a:latin typeface="Cambria Math" panose="02040503050406030204" pitchFamily="18" charset="0"/>
                                  <a:ea typeface="휴먼모음T" panose="02030504000101010101" pitchFamily="18" charset="-127"/>
                                </a:rPr>
                                <m:t>𝛼</m:t>
                              </m:r>
                              <m:f>
                                <m:fPr>
                                  <m:ctrlP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𝜕</m:t>
                                  </m:r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𝐶𝑜𝑠𝑡</m:t>
                                  </m:r>
                                </m:num>
                                <m:den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𝜕</m:t>
                                  </m:r>
                                  <m:r>
                                    <a:rPr lang="en-US" altLang="ko-KR" sz="2400" i="1" spc="-300">
                                      <a:ln w="25400" cap="flat">
                                        <a:noFill/>
                                        <a:miter lim="800000"/>
                                      </a:ln>
                                      <a:effectLst>
                                        <a:glow>
                                          <a:schemeClr val="bg1"/>
                                        </a:glow>
                                      </a:effectLst>
                                      <a:latin typeface="Cambria Math" panose="02040503050406030204" pitchFamily="18" charset="0"/>
                                      <a:ea typeface="휴먼모음T" panose="02030504000101010101" pitchFamily="18" charset="-127"/>
                                    </a:rPr>
                                    <m:t>𝑤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ko-KR" altLang="en-US" sz="2400" spc="-300" dirty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Impact" panose="020B0806030902050204" pitchFamily="34" charset="0"/>
                              <a:ea typeface="휴먼모음T" panose="02030504000101010101" pitchFamily="18" charset="-127"/>
                            </a:rPr>
                            <m:t> </m:t>
                          </m:r>
                        </m:e>
                        <m:sub>
                          <m:r>
                            <a:rPr lang="en-US" altLang="ko-KR" sz="2400" i="1" spc="-30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𝑡</m:t>
                          </m:r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−</m:t>
                          </m:r>
                          <m:r>
                            <a:rPr lang="en-US" altLang="ko-KR" sz="2400" b="0" i="1" spc="-300" smtClean="0">
                              <a:ln w="25400" cap="flat">
                                <a:noFill/>
                                <a:miter lim="800000"/>
                              </a:ln>
                              <a:effectLst>
                                <a:glow>
                                  <a:schemeClr val="bg1"/>
                                </a:glow>
                              </a:effectLst>
                              <a:latin typeface="Cambria Math" panose="02040503050406030204" pitchFamily="18" charset="0"/>
                              <a:ea typeface="휴먼모음T" panose="02030504000101010101" pitchFamily="18" charset="-127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ko-KR" altLang="en-US" sz="2400" spc="-300" dirty="0" smtClean="0">
                  <a:ln w="25400" cap="flat">
                    <a:noFill/>
                    <a:miter lim="800000"/>
                  </a:ln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Impact" panose="020B0806030902050204" pitchFamily="34" charset="0"/>
                  <a:ea typeface="휴먼모음T" panose="02030504000101010101" pitchFamily="18" charset="-127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286" y="5476429"/>
                <a:ext cx="6371488" cy="87992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8233361" y="5747112"/>
            <a:ext cx="20518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r : </a:t>
            </a:r>
            <a:r>
              <a:rPr lang="ko-KR" altLang="en-US" sz="1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모멘텀</a:t>
            </a:r>
            <a:r>
              <a:rPr lang="ko-KR" altLang="en-US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상수 </a:t>
            </a:r>
            <a:r>
              <a:rPr lang="en-US" altLang="ko-KR" sz="16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(r&lt;1)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4"/>
              </a:buBlip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모멘텀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(Momentum) :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진행 중인 방향으로 관성을 더해 지역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최소점에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빠지지 않도록 함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4"/>
              </a:buBlip>
            </a:pP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ADAM(Adaptive Moment Estimation) :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기울기의 지수 평균과 기울기 제곱의 지수 평균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- 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속도가 클수록 기울기가 크게 업데이트 되어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</a:t>
            </a:r>
            <a:b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    </a:t>
            </a: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경사하강법의 단점을 보완할 수 있음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796280" y="4179054"/>
            <a:ext cx="410955" cy="524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2682348" y="4751598"/>
            <a:ext cx="7565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모멘텀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207235" y="5617539"/>
            <a:ext cx="410955" cy="524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5888999" y="5617539"/>
            <a:ext cx="410955" cy="5248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6408322" y="4953044"/>
            <a:ext cx="3650078" cy="59796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오래된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변화량에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작은 값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최근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변화량에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큰 값을 주기 위해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모멘텀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상수를 지수로 곱함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8127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TensorFlow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1808679"/>
            <a:ext cx="91498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딥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네트웍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구성하기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ReLU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활성화 함수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Xavier/He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초기화의 효율성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모멘텀을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이용한 학습 수렴 속도 개선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와인 분류 모델 만들기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299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3578</TotalTime>
  <Words>617</Words>
  <Application>Microsoft Office PowerPoint</Application>
  <PresentationFormat>와이드스크린</PresentationFormat>
  <Paragraphs>154</Paragraphs>
  <Slides>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나눔바른고딕</vt:lpstr>
      <vt:lpstr>Cambria Math</vt:lpstr>
      <vt:lpstr>Impact</vt:lpstr>
      <vt:lpstr>나눔스퀘어 Bold</vt:lpstr>
      <vt:lpstr>휴먼모음T</vt:lpstr>
      <vt:lpstr>Times New Roman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기울기 소실(Vanishing Gradient)</vt:lpstr>
      <vt:lpstr>기울기 소실(Vanishing Gradient)</vt:lpstr>
      <vt:lpstr>ReLU(Re Rectified Linear Unit)</vt:lpstr>
      <vt:lpstr>Leaky ReLU</vt:lpstr>
      <vt:lpstr>가중치 초기화</vt:lpstr>
      <vt:lpstr>전역 최적화(Global Optimization)</vt:lpstr>
      <vt:lpstr>지역 최적화(Local Optimization)</vt:lpstr>
      <vt:lpstr>정규분포 초기화의 문제점</vt:lpstr>
      <vt:lpstr>정규분포 초기화의 문제점</vt:lpstr>
      <vt:lpstr>정규분포 초기화의 문제점</vt:lpstr>
      <vt:lpstr>표준 편차를 이용한 초기화</vt:lpstr>
      <vt:lpstr>Xavier 초기화</vt:lpstr>
      <vt:lpstr>He 초기화</vt:lpstr>
      <vt:lpstr>모멘텀을 이용한 수렴 속도 개선</vt:lpstr>
      <vt:lpstr>TensorFlow 실습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857</cp:revision>
  <dcterms:created xsi:type="dcterms:W3CDTF">2019-01-19T08:23:23Z</dcterms:created>
  <dcterms:modified xsi:type="dcterms:W3CDTF">2020-03-10T06:50:55Z</dcterms:modified>
</cp:coreProperties>
</file>