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30"/>
  </p:notesMasterIdLst>
  <p:handoutMasterIdLst>
    <p:handoutMasterId r:id="rId31"/>
  </p:handoutMasterIdLst>
  <p:sldIdLst>
    <p:sldId id="314" r:id="rId2"/>
    <p:sldId id="261" r:id="rId3"/>
    <p:sldId id="354" r:id="rId4"/>
    <p:sldId id="355" r:id="rId5"/>
    <p:sldId id="356" r:id="rId6"/>
    <p:sldId id="357" r:id="rId7"/>
    <p:sldId id="409" r:id="rId8"/>
    <p:sldId id="424" r:id="rId9"/>
    <p:sldId id="410" r:id="rId10"/>
    <p:sldId id="398" r:id="rId11"/>
    <p:sldId id="425" r:id="rId12"/>
    <p:sldId id="426" r:id="rId13"/>
    <p:sldId id="411" r:id="rId14"/>
    <p:sldId id="419" r:id="rId15"/>
    <p:sldId id="427" r:id="rId16"/>
    <p:sldId id="428" r:id="rId17"/>
    <p:sldId id="420" r:id="rId18"/>
    <p:sldId id="412" r:id="rId19"/>
    <p:sldId id="401" r:id="rId20"/>
    <p:sldId id="421" r:id="rId21"/>
    <p:sldId id="422" r:id="rId22"/>
    <p:sldId id="413" r:id="rId23"/>
    <p:sldId id="429" r:id="rId24"/>
    <p:sldId id="402" r:id="rId25"/>
    <p:sldId id="403" r:id="rId26"/>
    <p:sldId id="405" r:id="rId27"/>
    <p:sldId id="400" r:id="rId28"/>
    <p:sldId id="404" r:id="rId29"/>
  </p:sldIdLst>
  <p:sldSz cx="12192000" cy="6858000"/>
  <p:notesSz cx="6858000" cy="9144000"/>
  <p:embeddedFontLst>
    <p:embeddedFont>
      <p:font typeface="나눔바른고딕" panose="020B0603020101020101" pitchFamily="50" charset="-127"/>
      <p:regular r:id="rId32"/>
      <p:bold r:id="rId33"/>
    </p:embeddedFont>
    <p:embeddedFont>
      <p:font typeface="Cambria Math" panose="02040503050406030204" pitchFamily="18" charset="0"/>
      <p:regular r:id="rId34"/>
    </p:embeddedFont>
    <p:embeddedFont>
      <p:font typeface="Impact" panose="020B0806030902050204" pitchFamily="34" charset="0"/>
      <p:regular r:id="rId35"/>
    </p:embeddedFont>
    <p:embeddedFont>
      <p:font typeface="나눔스퀘어 Bold" panose="020B0600000101010101" pitchFamily="50" charset="-127"/>
      <p:bold r:id="rId36"/>
    </p:embeddedFont>
    <p:embeddedFont>
      <p:font typeface="휴먼모음T" panose="02030504000101010101" pitchFamily="18" charset="-127"/>
      <p:regular r:id="rId37"/>
    </p:embeddedFont>
    <p:embeddedFont>
      <p:font typeface="스웨거 TTF" panose="020B0600000101010101" pitchFamily="50" charset="-127"/>
      <p:regular r:id="rId38"/>
    </p:embeddedFont>
    <p:embeddedFont>
      <p:font typeface="맑은 고딕" panose="020B0503020000020004" pitchFamily="50" charset="-127"/>
      <p:regular r:id="rId39"/>
      <p:bold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70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53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0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medium.com/@Lidinwise/the-revolution-of-depth-facf174924f5" TargetMode="Externa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750" y="2852777"/>
            <a:ext cx="10766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8.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인공 신경망 이해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인공 신경망 구조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단층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퍼셉트론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학습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753716" y="2646054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19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퍼셉트론의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한계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6" y="373608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21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딥러닝의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시작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26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실습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28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구조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986674" y="2963835"/>
            <a:ext cx="1285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축삭말단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9060" y="3260185"/>
            <a:ext cx="1285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신호출력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272690" y="2528671"/>
            <a:ext cx="5061072" cy="2814643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cxnSp>
        <p:nvCxnSpPr>
          <p:cNvPr id="23" name="직선 화살표 연결선 22"/>
          <p:cNvCxnSpPr>
            <a:endCxn id="26" idx="2"/>
          </p:cNvCxnSpPr>
          <p:nvPr/>
        </p:nvCxnSpPr>
        <p:spPr>
          <a:xfrm>
            <a:off x="2986806" y="3100175"/>
            <a:ext cx="1368308" cy="240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24" name="직선 화살표 연결선 23"/>
          <p:cNvCxnSpPr/>
          <p:nvPr/>
        </p:nvCxnSpPr>
        <p:spPr>
          <a:xfrm>
            <a:off x="8962754" y="3700240"/>
            <a:ext cx="107157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pic>
        <p:nvPicPr>
          <p:cNvPr id="25" name="Picture 3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843830" y="3700240"/>
            <a:ext cx="2110464" cy="2095496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26" name="타원 25"/>
          <p:cNvSpPr/>
          <p:nvPr/>
        </p:nvSpPr>
        <p:spPr>
          <a:xfrm>
            <a:off x="4355114" y="2908152"/>
            <a:ext cx="432048" cy="432048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2" name="직선 화살표 연결선 41"/>
          <p:cNvCxnSpPr>
            <a:stCxn id="26" idx="3"/>
          </p:cNvCxnSpPr>
          <p:nvPr/>
        </p:nvCxnSpPr>
        <p:spPr>
          <a:xfrm rot="5400000">
            <a:off x="3851058" y="3420944"/>
            <a:ext cx="711344" cy="423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 w="med" len="med"/>
          </a:ln>
          <a:effectLst/>
        </p:spPr>
      </p:cxnSp>
      <p:sp>
        <p:nvSpPr>
          <p:cNvPr id="43" name="직사각형 42"/>
          <p:cNvSpPr/>
          <p:nvPr/>
        </p:nvSpPr>
        <p:spPr>
          <a:xfrm>
            <a:off x="3438998" y="2103301"/>
            <a:ext cx="1701198" cy="3135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입력신호를 받아들임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521554" y="5446801"/>
            <a:ext cx="1701198" cy="3135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입력된 신호 처리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508774" y="5288036"/>
            <a:ext cx="1701198" cy="3135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처리된 신호 전달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8194365" y="2280885"/>
            <a:ext cx="1701198" cy="3135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출력 결과를 보냄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778698" y="2592742"/>
            <a:ext cx="889830" cy="3135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외부 자극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500196" y="5989587"/>
            <a:ext cx="2220034" cy="5186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신경전달물질의 양에 따라 신호 전달 강도 결정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신경망에서의 정보 처리 과정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478380" y="2393931"/>
            <a:ext cx="71434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06942" y="1885812"/>
            <a:ext cx="1000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시냅스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1124" y="2243002"/>
            <a:ext cx="1143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3618" y="2136695"/>
            <a:ext cx="868142" cy="338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output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68095" y="5470252"/>
            <a:ext cx="1008112" cy="338554"/>
          </a:xfrm>
          <a:prstGeom prst="rect">
            <a:avLst/>
          </a:prstGeom>
          <a:solidFill>
            <a:schemeClr val="dk1">
              <a:alpha val="9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신호처리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889503" y="4244406"/>
            <a:ext cx="21852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시냅스연결강도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657233" y="4030092"/>
            <a:ext cx="21707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시냅스연결강도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657233" y="4554300"/>
            <a:ext cx="21707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시냅스연결강도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7338" y="2190200"/>
            <a:ext cx="1000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세포체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7264694" y="2176546"/>
            <a:ext cx="9284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축삭말단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401803" y="2190200"/>
            <a:ext cx="9284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수상돌기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4621520" y="2384290"/>
            <a:ext cx="5715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24" name="직선 화살표 연결선 23"/>
          <p:cNvCxnSpPr/>
          <p:nvPr/>
        </p:nvCxnSpPr>
        <p:spPr>
          <a:xfrm>
            <a:off x="6475564" y="2359477"/>
            <a:ext cx="64294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2666918" y="5476932"/>
            <a:ext cx="1051620" cy="338554"/>
          </a:xfrm>
          <a:prstGeom prst="rect">
            <a:avLst/>
          </a:prstGeom>
          <a:solidFill>
            <a:schemeClr val="dk1">
              <a:alpha val="9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신호수용</a:t>
            </a:r>
            <a:endParaRPr lang="en-US" altLang="ko-KR" sz="1600" b="1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228737" y="4309092"/>
            <a:ext cx="3080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8479172" y="2344235"/>
            <a:ext cx="114300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8979100" y="5460908"/>
            <a:ext cx="1008112" cy="338554"/>
          </a:xfrm>
          <a:prstGeom prst="rect">
            <a:avLst/>
          </a:prstGeom>
          <a:solidFill>
            <a:schemeClr val="dk1">
              <a:alpha val="9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신호변환</a:t>
            </a:r>
          </a:p>
        </p:txBody>
      </p:sp>
      <p:cxnSp>
        <p:nvCxnSpPr>
          <p:cNvPr id="29" name="꺾인 연결선 28"/>
          <p:cNvCxnSpPr/>
          <p:nvPr/>
        </p:nvCxnSpPr>
        <p:spPr>
          <a:xfrm flipV="1">
            <a:off x="8443315" y="4101530"/>
            <a:ext cx="1071570" cy="5715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30" name="직사각형 29"/>
          <p:cNvSpPr/>
          <p:nvPr/>
        </p:nvSpPr>
        <p:spPr>
          <a:xfrm>
            <a:off x="1656705" y="4244406"/>
            <a:ext cx="686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</a:t>
            </a:r>
            <a:endParaRPr lang="ko-KR" altLang="en-US" sz="16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38026" y="4075129"/>
            <a:ext cx="868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output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2371085" y="4457132"/>
            <a:ext cx="42862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33" name="직선 화살표 연결선 32"/>
          <p:cNvCxnSpPr/>
          <p:nvPr/>
        </p:nvCxnSpPr>
        <p:spPr>
          <a:xfrm>
            <a:off x="5157167" y="4387282"/>
            <a:ext cx="42862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34" name="직선 화살표 연결선 33"/>
          <p:cNvCxnSpPr/>
          <p:nvPr/>
        </p:nvCxnSpPr>
        <p:spPr>
          <a:xfrm>
            <a:off x="8086125" y="4315844"/>
            <a:ext cx="42862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35" name="직선 화살표 연결선 34"/>
          <p:cNvCxnSpPr/>
          <p:nvPr/>
        </p:nvCxnSpPr>
        <p:spPr>
          <a:xfrm>
            <a:off x="9300571" y="4307504"/>
            <a:ext cx="42862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36" name="아래쪽 화살표 35"/>
          <p:cNvSpPr/>
          <p:nvPr/>
        </p:nvSpPr>
        <p:spPr>
          <a:xfrm>
            <a:off x="5871547" y="3101398"/>
            <a:ext cx="285752" cy="42862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357134" y="5979363"/>
            <a:ext cx="1602662" cy="56959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신호와 연결강도가 곱해지는 부분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870820" y="5979363"/>
            <a:ext cx="1602662" cy="56959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데이터가 모아지는 부분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327685" y="5979363"/>
            <a:ext cx="2181652" cy="56959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모아진 데이터들의 신호를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변환하는 부분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신경망에 대한 수학적 모델링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pSp>
        <p:nvGrpSpPr>
          <p:cNvPr id="7" name="Group 54"/>
          <p:cNvGrpSpPr/>
          <p:nvPr/>
        </p:nvGrpSpPr>
        <p:grpSpPr>
          <a:xfrm>
            <a:off x="2576340" y="4889396"/>
            <a:ext cx="3487624" cy="1818893"/>
            <a:chOff x="1296" y="2400"/>
            <a:chExt cx="2880" cy="1502"/>
          </a:xfrm>
        </p:grpSpPr>
        <p:sp>
          <p:nvSpPr>
            <p:cNvPr id="8" name="Oval 55"/>
            <p:cNvSpPr>
              <a:spLocks noChangeArrowheads="1"/>
            </p:cNvSpPr>
            <p:nvPr/>
          </p:nvSpPr>
          <p:spPr>
            <a:xfrm>
              <a:off x="2160" y="2688"/>
              <a:ext cx="672" cy="6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rou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dirty="0">
                <a:solidFill>
                  <a:srgbClr val="66FF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" name="Line 56"/>
            <p:cNvSpPr>
              <a:spLocks noChangeShapeType="1"/>
            </p:cNvSpPr>
            <p:nvPr/>
          </p:nvSpPr>
          <p:spPr>
            <a:xfrm>
              <a:off x="1584" y="2544"/>
              <a:ext cx="624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lvl="0">
                <a:defRPr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Line 57"/>
            <p:cNvSpPr>
              <a:spLocks noChangeShapeType="1"/>
            </p:cNvSpPr>
            <p:nvPr/>
          </p:nvSpPr>
          <p:spPr>
            <a:xfrm>
              <a:off x="1536" y="3024"/>
              <a:ext cx="6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lvl="0">
                <a:defRPr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" name="Line 58"/>
            <p:cNvSpPr>
              <a:spLocks noChangeShapeType="1"/>
            </p:cNvSpPr>
            <p:nvPr/>
          </p:nvSpPr>
          <p:spPr>
            <a:xfrm flipV="1">
              <a:off x="1584" y="3264"/>
              <a:ext cx="67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lvl="0">
                <a:defRPr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2" name="Line 59"/>
            <p:cNvSpPr>
              <a:spLocks noChangeShapeType="1"/>
            </p:cNvSpPr>
            <p:nvPr/>
          </p:nvSpPr>
          <p:spPr>
            <a:xfrm>
              <a:off x="2832" y="3024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lvl="0">
                <a:defRPr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Text Box 60"/>
            <p:cNvSpPr txBox="1">
              <a:spLocks noChangeArrowheads="1"/>
            </p:cNvSpPr>
            <p:nvPr/>
          </p:nvSpPr>
          <p:spPr>
            <a:xfrm>
              <a:off x="3408" y="2928"/>
              <a:ext cx="768" cy="19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4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Y = f(h)</a:t>
              </a:r>
            </a:p>
          </p:txBody>
        </p:sp>
        <p:sp>
          <p:nvSpPr>
            <p:cNvPr id="14" name="Text Box 61"/>
            <p:cNvSpPr txBox="1">
              <a:spLocks noChangeArrowheads="1"/>
            </p:cNvSpPr>
            <p:nvPr/>
          </p:nvSpPr>
          <p:spPr>
            <a:xfrm>
              <a:off x="1344" y="2400"/>
              <a:ext cx="360" cy="2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4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X</a:t>
              </a:r>
              <a:r>
                <a:rPr lang="en-US" altLang="ko-KR" sz="1400" baseline="-250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endParaRPr lang="en-US" altLang="ko-KR" sz="14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Text Box 62"/>
            <p:cNvSpPr txBox="1">
              <a:spLocks noChangeArrowheads="1"/>
            </p:cNvSpPr>
            <p:nvPr/>
          </p:nvSpPr>
          <p:spPr>
            <a:xfrm>
              <a:off x="1296" y="2928"/>
              <a:ext cx="336" cy="19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4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X</a:t>
              </a:r>
              <a:r>
                <a:rPr lang="en-US" altLang="ko-KR" sz="1400" baseline="-250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endParaRPr lang="en-US" altLang="ko-KR" sz="14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6" name="Text Box 63"/>
            <p:cNvSpPr txBox="1">
              <a:spLocks noChangeArrowheads="1"/>
            </p:cNvSpPr>
            <p:nvPr/>
          </p:nvSpPr>
          <p:spPr>
            <a:xfrm>
              <a:off x="1344" y="3648"/>
              <a:ext cx="363" cy="2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4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X</a:t>
              </a:r>
              <a:r>
                <a:rPr lang="en-US" altLang="ko-KR" sz="1400" baseline="-250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endParaRPr lang="en-US" altLang="ko-KR" sz="14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" name="Text Box 64"/>
            <p:cNvSpPr txBox="1">
              <a:spLocks noChangeArrowheads="1"/>
            </p:cNvSpPr>
            <p:nvPr/>
          </p:nvSpPr>
          <p:spPr>
            <a:xfrm>
              <a:off x="1776" y="2496"/>
              <a:ext cx="432" cy="2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4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en-US" altLang="ko-KR" sz="1400" baseline="-250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endParaRPr lang="en-US" altLang="ko-KR" sz="14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8" name="Text Box 65"/>
            <p:cNvSpPr txBox="1">
              <a:spLocks noChangeArrowheads="1"/>
            </p:cNvSpPr>
            <p:nvPr/>
          </p:nvSpPr>
          <p:spPr>
            <a:xfrm>
              <a:off x="1670" y="2832"/>
              <a:ext cx="437" cy="2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4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en-US" altLang="ko-KR" sz="1400" baseline="-250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endParaRPr lang="en-US" altLang="ko-KR" sz="14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9" name="Text Box 66"/>
            <p:cNvSpPr txBox="1">
              <a:spLocks noChangeArrowheads="1"/>
            </p:cNvSpPr>
            <p:nvPr/>
          </p:nvSpPr>
          <p:spPr>
            <a:xfrm>
              <a:off x="1632" y="3360"/>
              <a:ext cx="424" cy="2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4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W3</a:t>
              </a:r>
            </a:p>
          </p:txBody>
        </p:sp>
        <p:sp>
          <p:nvSpPr>
            <p:cNvPr id="20" name="Text Box 69"/>
            <p:cNvSpPr txBox="1">
              <a:spLocks noChangeArrowheads="1"/>
            </p:cNvSpPr>
            <p:nvPr/>
          </p:nvSpPr>
          <p:spPr>
            <a:xfrm>
              <a:off x="2400" y="2894"/>
              <a:ext cx="192" cy="23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f</a:t>
              </a:r>
            </a:p>
          </p:txBody>
        </p:sp>
        <p:sp>
          <p:nvSpPr>
            <p:cNvPr id="21" name="Text Box 70"/>
            <p:cNvSpPr txBox="1">
              <a:spLocks noChangeArrowheads="1"/>
            </p:cNvSpPr>
            <p:nvPr/>
          </p:nvSpPr>
          <p:spPr>
            <a:xfrm>
              <a:off x="2826" y="2490"/>
              <a:ext cx="1104" cy="21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 = </a:t>
              </a:r>
              <a:r>
                <a:rPr lang="en-US" altLang="ko-KR" sz="16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sym typeface="Symbol"/>
                </a:rPr>
                <a:t> </a:t>
              </a:r>
              <a:r>
                <a:rPr lang="en-US" altLang="ko-KR" sz="16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</a:t>
              </a:r>
              <a:r>
                <a:rPr lang="en-US" altLang="ko-KR" sz="16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x</a:t>
              </a:r>
              <a:r>
                <a:rPr lang="en-US" altLang="ko-KR" sz="1600" baseline="-2500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852459" y="3683202"/>
            <a:ext cx="285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가중치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493" y="3666671"/>
            <a:ext cx="174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합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임계점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129988" y="3589722"/>
            <a:ext cx="12875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가중치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129988" y="4018350"/>
            <a:ext cx="12875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가중치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129988" y="4446978"/>
            <a:ext cx="1305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가중치</a:t>
            </a: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2444300" y="4117648"/>
            <a:ext cx="200526" cy="771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5849877" y="3804036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endParaRPr lang="ko-KR" altLang="en-US" sz="14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849877" y="4232664"/>
            <a:ext cx="292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endParaRPr lang="ko-KR" altLang="en-US" sz="14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3" name="직선 화살표 연결선 32"/>
          <p:cNvCxnSpPr/>
          <p:nvPr/>
        </p:nvCxnSpPr>
        <p:spPr>
          <a:xfrm flipH="1">
            <a:off x="5450406" y="4800703"/>
            <a:ext cx="331144" cy="2630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3274650" y="4092282"/>
            <a:ext cx="28277" cy="8134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8"/>
          <p:cNvSpPr txBox="1"/>
          <p:nvPr/>
        </p:nvSpPr>
        <p:spPr>
          <a:xfrm>
            <a:off x="2394893" y="3075139"/>
            <a:ext cx="1051620" cy="337559"/>
          </a:xfrm>
          <a:prstGeom prst="rect">
            <a:avLst/>
          </a:prstGeom>
          <a:solidFill>
            <a:schemeClr val="dk1">
              <a:alpha val="9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신호수용</a:t>
            </a:r>
            <a:endParaRPr lang="en-US" altLang="ko-KR" sz="1600" b="1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15"/>
          <p:cNvSpPr txBox="1"/>
          <p:nvPr/>
        </p:nvSpPr>
        <p:spPr>
          <a:xfrm>
            <a:off x="5347221" y="3075139"/>
            <a:ext cx="1008112" cy="339085"/>
          </a:xfrm>
          <a:prstGeom prst="rect">
            <a:avLst/>
          </a:prstGeom>
          <a:solidFill>
            <a:schemeClr val="dk1">
              <a:alpha val="9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신호처리</a:t>
            </a:r>
          </a:p>
        </p:txBody>
      </p:sp>
      <p:sp>
        <p:nvSpPr>
          <p:cNvPr id="37" name="TextBox 33"/>
          <p:cNvSpPr txBox="1"/>
          <p:nvPr/>
        </p:nvSpPr>
        <p:spPr>
          <a:xfrm>
            <a:off x="8515573" y="3075139"/>
            <a:ext cx="1008112" cy="339085"/>
          </a:xfrm>
          <a:prstGeom prst="rect">
            <a:avLst/>
          </a:prstGeom>
          <a:solidFill>
            <a:schemeClr val="dk1">
              <a:alpha val="9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신호변환</a:t>
            </a:r>
          </a:p>
        </p:txBody>
      </p:sp>
      <p:sp>
        <p:nvSpPr>
          <p:cNvPr id="38" name="화살표: 오른쪽 3">
            <a:extLst>
              <a:ext uri="{FF2B5EF4-FFF2-40B4-BE49-F238E27FC236}">
                <a16:creationId xmlns="" xmlns:a16="http://schemas.microsoft.com/office/drawing/2014/main" id="{E1E67667-D5F5-4E13-8AED-4BA3F3F90B62}"/>
              </a:ext>
            </a:extLst>
          </p:cNvPr>
          <p:cNvSpPr/>
          <p:nvPr/>
        </p:nvSpPr>
        <p:spPr>
          <a:xfrm>
            <a:off x="6318629" y="5492647"/>
            <a:ext cx="438411" cy="30480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="" xmlns:a16="http://schemas.microsoft.com/office/drawing/2014/main" id="{8B260227-47EF-4F81-9369-9F35E445D03E}"/>
              </a:ext>
            </a:extLst>
          </p:cNvPr>
          <p:cNvGrpSpPr/>
          <p:nvPr/>
        </p:nvGrpSpPr>
        <p:grpSpPr>
          <a:xfrm>
            <a:off x="7299219" y="4372807"/>
            <a:ext cx="2833714" cy="2348668"/>
            <a:chOff x="1475656" y="1862265"/>
            <a:chExt cx="3996442" cy="3176467"/>
          </a:xfrm>
        </p:grpSpPr>
        <p:cxnSp>
          <p:nvCxnSpPr>
            <p:cNvPr id="40" name="직선 화살표 연결선 39">
              <a:extLst>
                <a:ext uri="{FF2B5EF4-FFF2-40B4-BE49-F238E27FC236}">
                  <a16:creationId xmlns="" xmlns:a16="http://schemas.microsoft.com/office/drawing/2014/main" id="{1B272B0C-ABDB-4B20-988C-E0E065CDC26C}"/>
                </a:ext>
              </a:extLst>
            </p:cNvPr>
            <p:cNvCxnSpPr/>
            <p:nvPr/>
          </p:nvCxnSpPr>
          <p:spPr>
            <a:xfrm flipV="1">
              <a:off x="2627784" y="2086404"/>
              <a:ext cx="0" cy="2952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/>
            </a:ln>
            <a:effectLst/>
          </p:spPr>
        </p:cxnSp>
        <p:cxnSp>
          <p:nvCxnSpPr>
            <p:cNvPr id="41" name="직선 화살표 연결선 40">
              <a:extLst>
                <a:ext uri="{FF2B5EF4-FFF2-40B4-BE49-F238E27FC236}">
                  <a16:creationId xmlns="" xmlns:a16="http://schemas.microsoft.com/office/drawing/2014/main" id="{FC09DE97-C43C-412F-BBD0-E633EB416CBD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6" y="4005064"/>
              <a:ext cx="324036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/>
            </a:ln>
            <a:effectLst/>
          </p:spPr>
        </p:cxnSp>
        <p:cxnSp>
          <p:nvCxnSpPr>
            <p:cNvPr id="42" name="직선 연결선 41">
              <a:extLst>
                <a:ext uri="{FF2B5EF4-FFF2-40B4-BE49-F238E27FC236}">
                  <a16:creationId xmlns="" xmlns:a16="http://schemas.microsoft.com/office/drawing/2014/main" id="{22FC39D4-144A-4F6E-9B1F-2A2F9F42D4C5}"/>
                </a:ext>
              </a:extLst>
            </p:cNvPr>
            <p:cNvCxnSpPr>
              <a:cxnSpLocks/>
            </p:cNvCxnSpPr>
            <p:nvPr/>
          </p:nvCxnSpPr>
          <p:spPr>
            <a:xfrm>
              <a:off x="1835696" y="4005064"/>
              <a:ext cx="122413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43" name="직선 연결선 42">
              <a:extLst>
                <a:ext uri="{FF2B5EF4-FFF2-40B4-BE49-F238E27FC236}">
                  <a16:creationId xmlns="" xmlns:a16="http://schemas.microsoft.com/office/drawing/2014/main" id="{E4244FBA-9ED1-487A-95D3-6BA1B836141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832" y="3096591"/>
              <a:ext cx="0" cy="9084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44" name="직선 연결선 43">
              <a:extLst>
                <a:ext uri="{FF2B5EF4-FFF2-40B4-BE49-F238E27FC236}">
                  <a16:creationId xmlns="" xmlns:a16="http://schemas.microsoft.com/office/drawing/2014/main" id="{4FD31241-FA30-4E61-8D02-BB05884FDF3D}"/>
                </a:ext>
              </a:extLst>
            </p:cNvPr>
            <p:cNvCxnSpPr>
              <a:cxnSpLocks/>
            </p:cNvCxnSpPr>
            <p:nvPr/>
          </p:nvCxnSpPr>
          <p:spPr>
            <a:xfrm>
              <a:off x="3041960" y="3096000"/>
              <a:ext cx="102598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45" name="직선 화살표 연결선 44">
              <a:extLst>
                <a:ext uri="{FF2B5EF4-FFF2-40B4-BE49-F238E27FC236}">
                  <a16:creationId xmlns="" xmlns:a16="http://schemas.microsoft.com/office/drawing/2014/main" id="{C34CD745-2CA2-4D41-9E77-FF3DFB55AB5D}"/>
                </a:ext>
              </a:extLst>
            </p:cNvPr>
            <p:cNvCxnSpPr/>
            <p:nvPr/>
          </p:nvCxnSpPr>
          <p:spPr>
            <a:xfrm>
              <a:off x="2627784" y="4077072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type="triangle"/>
              <a:tailEnd type="triangle"/>
            </a:ln>
            <a:effectLst/>
          </p:spPr>
        </p:cxn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43FF3287-A0BB-43A6-985C-6E3D9EE74E4D}"/>
                </a:ext>
              </a:extLst>
            </p:cNvPr>
            <p:cNvSpPr txBox="1"/>
            <p:nvPr/>
          </p:nvSpPr>
          <p:spPr>
            <a:xfrm>
              <a:off x="2805585" y="4172395"/>
              <a:ext cx="792086" cy="2616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05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임계점</a:t>
              </a:r>
              <a:endParaRPr lang="ko-KR" altLang="en-US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3D2D4743-5A84-43C5-91E3-2304885C2D41}"/>
                </a:ext>
              </a:extLst>
            </p:cNvPr>
            <p:cNvSpPr txBox="1"/>
            <p:nvPr/>
          </p:nvSpPr>
          <p:spPr>
            <a:xfrm>
              <a:off x="4680012" y="3880685"/>
              <a:ext cx="792086" cy="2616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05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입력</a:t>
              </a:r>
              <a:endParaRPr lang="ko-KR" altLang="en-US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2C6754B6-2AED-4868-AA21-7D5A9A13A4B6}"/>
                </a:ext>
              </a:extLst>
            </p:cNvPr>
            <p:cNvSpPr txBox="1"/>
            <p:nvPr/>
          </p:nvSpPr>
          <p:spPr>
            <a:xfrm>
              <a:off x="3771920" y="2834687"/>
              <a:ext cx="987284" cy="3434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계단함수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08293D5D-98A8-4FD7-81E2-6AD6ED5F32DE}"/>
                </a:ext>
              </a:extLst>
            </p:cNvPr>
            <p:cNvSpPr txBox="1"/>
            <p:nvPr/>
          </p:nvSpPr>
          <p:spPr>
            <a:xfrm>
              <a:off x="2430383" y="1862265"/>
              <a:ext cx="792086" cy="2616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출력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C0A4A674-F51F-4204-9637-3C1FCA35E1E9}"/>
                </a:ext>
              </a:extLst>
            </p:cNvPr>
            <p:cNvSpPr txBox="1"/>
            <p:nvPr/>
          </p:nvSpPr>
          <p:spPr>
            <a:xfrm>
              <a:off x="2339752" y="2093803"/>
              <a:ext cx="378663" cy="34928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Y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5C559042-A84A-4405-BE55-B6D1CB4E05DB}"/>
                </a:ext>
              </a:extLst>
            </p:cNvPr>
            <p:cNvSpPr txBox="1"/>
            <p:nvPr/>
          </p:nvSpPr>
          <p:spPr>
            <a:xfrm>
              <a:off x="4089989" y="2973988"/>
              <a:ext cx="924233" cy="45787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f(h)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신경망 모델은 입력 신호와 가중치를 곱하고 곱해진 것을 모두 더한 다음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계단 함수를 통과시켜서 신호를 출력하는 함수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신경망에 대한 수학적 모델링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3509946" y="3465098"/>
            <a:ext cx="475869" cy="444912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337434" y="1838307"/>
            <a:ext cx="7850446" cy="4131328"/>
            <a:chOff x="565778" y="1000107"/>
            <a:chExt cx="7850446" cy="4131328"/>
          </a:xfrm>
        </p:grpSpPr>
        <p:grpSp>
          <p:nvGrpSpPr>
            <p:cNvPr id="12" name="그룹 11"/>
            <p:cNvGrpSpPr/>
            <p:nvPr/>
          </p:nvGrpSpPr>
          <p:grpSpPr>
            <a:xfrm>
              <a:off x="565778" y="1000107"/>
              <a:ext cx="7850446" cy="4131328"/>
              <a:chOff x="898869" y="785793"/>
              <a:chExt cx="8249618" cy="4643471"/>
            </a:xfrm>
          </p:grpSpPr>
          <p:sp>
            <p:nvSpPr>
              <p:cNvPr id="16" name="Text Box 61"/>
              <p:cNvSpPr txBox="1">
                <a:spLocks noChangeArrowheads="1"/>
              </p:cNvSpPr>
              <p:nvPr/>
            </p:nvSpPr>
            <p:spPr>
              <a:xfrm>
                <a:off x="2214545" y="785793"/>
                <a:ext cx="571504" cy="58808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800" dirty="0" err="1">
                    <a:solidFill>
                      <a:srgbClr val="FF0000"/>
                    </a:solidFill>
                    <a:latin typeface="Times New Roman"/>
                  </a:rPr>
                  <a:t>w</a:t>
                </a:r>
                <a:r>
                  <a:rPr lang="en-US" altLang="ko-KR" sz="2800" baseline="-25000" dirty="0" err="1">
                    <a:solidFill>
                      <a:srgbClr val="FF0000"/>
                    </a:solidFill>
                    <a:latin typeface="Times New Roman"/>
                  </a:rPr>
                  <a:t>i</a:t>
                </a:r>
                <a:endParaRPr lang="en-US" altLang="ko-KR" sz="2800" baseline="-25000" dirty="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17" name="Text Box 61"/>
              <p:cNvSpPr txBox="1">
                <a:spLocks noChangeArrowheads="1"/>
              </p:cNvSpPr>
              <p:nvPr/>
            </p:nvSpPr>
            <p:spPr>
              <a:xfrm>
                <a:off x="928660" y="785794"/>
                <a:ext cx="571504" cy="58808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800" dirty="0">
                    <a:solidFill>
                      <a:srgbClr val="FF0000"/>
                    </a:solidFill>
                    <a:latin typeface="Times New Roman"/>
                  </a:rPr>
                  <a:t>x</a:t>
                </a:r>
                <a:r>
                  <a:rPr lang="en-US" altLang="ko-KR" sz="2800" baseline="-25000" dirty="0">
                    <a:solidFill>
                      <a:srgbClr val="FF0000"/>
                    </a:solidFill>
                    <a:latin typeface="Times New Roman"/>
                  </a:rPr>
                  <a:t>i</a:t>
                </a:r>
              </a:p>
            </p:txBody>
          </p:sp>
          <p:grpSp>
            <p:nvGrpSpPr>
              <p:cNvPr id="18" name="그룹 17"/>
              <p:cNvGrpSpPr/>
              <p:nvPr/>
            </p:nvGrpSpPr>
            <p:grpSpPr>
              <a:xfrm>
                <a:off x="898869" y="1314377"/>
                <a:ext cx="8249618" cy="4114887"/>
                <a:chOff x="898869" y="1314377"/>
                <a:chExt cx="8249618" cy="4114887"/>
              </a:xfrm>
            </p:grpSpPr>
            <p:sp>
              <p:nvSpPr>
                <p:cNvPr id="19" name="타원 18"/>
                <p:cNvSpPr/>
                <p:nvPr/>
              </p:nvSpPr>
              <p:spPr>
                <a:xfrm>
                  <a:off x="2143108" y="1357298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2143108" y="2000240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143108" y="3214686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2143108" y="4929198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2197131" y="3929065"/>
                  <a:ext cx="517481" cy="928693"/>
                </a:xfrm>
                <a:prstGeom prst="rect">
                  <a:avLst/>
                </a:prstGeom>
                <a:noFill/>
              </p:spPr>
              <p:txBody>
                <a:bodyPr vert="eaVert"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000"/>
                    <a:t>……</a:t>
                  </a:r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429124" y="2857496"/>
                  <a:ext cx="714380" cy="642942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6378544" y="2872843"/>
                  <a:ext cx="857256" cy="64294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cxnSp>
              <p:nvCxnSpPr>
                <p:cNvPr id="26" name="직선 화살표 연결선 25"/>
                <p:cNvCxnSpPr/>
                <p:nvPr/>
              </p:nvCxnSpPr>
              <p:spPr>
                <a:xfrm>
                  <a:off x="2643174" y="1607331"/>
                  <a:ext cx="1857388" cy="1250165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27" name="직선 화살표 연결선 26"/>
                <p:cNvCxnSpPr/>
                <p:nvPr/>
              </p:nvCxnSpPr>
              <p:spPr>
                <a:xfrm>
                  <a:off x="2643174" y="2250273"/>
                  <a:ext cx="1785950" cy="750099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28" name="직선 화살표 연결선 27"/>
                <p:cNvCxnSpPr/>
                <p:nvPr/>
              </p:nvCxnSpPr>
              <p:spPr>
                <a:xfrm>
                  <a:off x="2643174" y="2821777"/>
                  <a:ext cx="1714512" cy="321471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29" name="직선 화살표 연결선 28"/>
                <p:cNvCxnSpPr/>
                <p:nvPr/>
              </p:nvCxnSpPr>
              <p:spPr>
                <a:xfrm flipV="1">
                  <a:off x="2643174" y="3286124"/>
                  <a:ext cx="1714512" cy="178595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0" name="직선 화살표 연결선 29"/>
                <p:cNvCxnSpPr/>
                <p:nvPr/>
              </p:nvCxnSpPr>
              <p:spPr>
                <a:xfrm flipV="1">
                  <a:off x="2631472" y="3523163"/>
                  <a:ext cx="1785950" cy="1678793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1" name="직선 화살표 연결선 30"/>
                <p:cNvCxnSpPr/>
                <p:nvPr/>
              </p:nvCxnSpPr>
              <p:spPr>
                <a:xfrm>
                  <a:off x="5415794" y="3178967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2" name="직선 화살표 연결선 31"/>
                <p:cNvCxnSpPr/>
                <p:nvPr/>
              </p:nvCxnSpPr>
              <p:spPr>
                <a:xfrm>
                  <a:off x="7381403" y="3143248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3" name="직선 화살표 연결선 32"/>
                <p:cNvCxnSpPr/>
                <p:nvPr/>
              </p:nvCxnSpPr>
              <p:spPr>
                <a:xfrm>
                  <a:off x="1285852" y="1570024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4" name="직선 화살표 연결선 33"/>
                <p:cNvCxnSpPr/>
                <p:nvPr/>
              </p:nvCxnSpPr>
              <p:spPr>
                <a:xfrm>
                  <a:off x="1285852" y="2214554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5" name="직선 화살표 연결선 34"/>
                <p:cNvCxnSpPr/>
                <p:nvPr/>
              </p:nvCxnSpPr>
              <p:spPr>
                <a:xfrm>
                  <a:off x="1285852" y="2786058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6" name="직선 화살표 연결선 35"/>
                <p:cNvCxnSpPr/>
                <p:nvPr/>
              </p:nvCxnSpPr>
              <p:spPr>
                <a:xfrm>
                  <a:off x="1285852" y="3429000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7" name="직선 화살표 연결선 36"/>
                <p:cNvCxnSpPr/>
                <p:nvPr/>
              </p:nvCxnSpPr>
              <p:spPr>
                <a:xfrm>
                  <a:off x="1285852" y="5143512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sp>
              <p:nvSpPr>
                <p:cNvPr id="38" name="TextBox 37"/>
                <p:cNvSpPr txBox="1"/>
                <p:nvPr/>
              </p:nvSpPr>
              <p:spPr>
                <a:xfrm>
                  <a:off x="898869" y="3929065"/>
                  <a:ext cx="529858" cy="928693"/>
                </a:xfrm>
                <a:prstGeom prst="rect">
                  <a:avLst/>
                </a:prstGeom>
                <a:noFill/>
              </p:spPr>
              <p:txBody>
                <a:bodyPr vert="eaVert"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000"/>
                    <a:t>……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3197261" y="3500437"/>
                  <a:ext cx="517481" cy="928693"/>
                </a:xfrm>
                <a:prstGeom prst="rect">
                  <a:avLst/>
                </a:prstGeom>
                <a:noFill/>
              </p:spPr>
              <p:txBody>
                <a:bodyPr vert="eaVert"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000"/>
                    <a:t>……</a:t>
                  </a:r>
                </a:p>
              </p:txBody>
            </p:sp>
            <p:sp>
              <p:nvSpPr>
                <p:cNvPr id="40" name="Text Box 61"/>
                <p:cNvSpPr txBox="1">
                  <a:spLocks noChangeArrowheads="1"/>
                </p:cNvSpPr>
                <p:nvPr/>
              </p:nvSpPr>
              <p:spPr>
                <a:xfrm>
                  <a:off x="904850" y="1314377"/>
                  <a:ext cx="452438" cy="44352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1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1928801"/>
                  <a:ext cx="452438" cy="439324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2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2500305"/>
                  <a:ext cx="452438" cy="43522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3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3143248"/>
                  <a:ext cx="452438" cy="44533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4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4857760"/>
                  <a:ext cx="452438" cy="443748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n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5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1416593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6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2059536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7" name="Text Box 61"/>
                <p:cNvSpPr txBox="1">
                  <a:spLocks noChangeArrowheads="1"/>
                </p:cNvSpPr>
                <p:nvPr/>
              </p:nvSpPr>
              <p:spPr>
                <a:xfrm>
                  <a:off x="2181048" y="2552259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8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3273982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9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4988495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n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0" name="Text Box 70"/>
                <p:cNvSpPr txBox="1">
                  <a:spLocks noChangeArrowheads="1"/>
                </p:cNvSpPr>
                <p:nvPr/>
              </p:nvSpPr>
              <p:spPr>
                <a:xfrm>
                  <a:off x="4571999" y="2928933"/>
                  <a:ext cx="357207" cy="1055764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800" dirty="0">
                      <a:solidFill>
                        <a:srgbClr val="000000"/>
                      </a:solidFill>
                      <a:latin typeface="Times New Roman"/>
                      <a:sym typeface="Symbol"/>
                    </a:rPr>
                    <a:t> </a:t>
                  </a:r>
                  <a:endParaRPr lang="en-US" altLang="ko-KR" sz="2800" baseline="-25000" dirty="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1" name="Text Box 61"/>
                <p:cNvSpPr txBox="1">
                  <a:spLocks noChangeArrowheads="1"/>
                </p:cNvSpPr>
                <p:nvPr/>
              </p:nvSpPr>
              <p:spPr>
                <a:xfrm>
                  <a:off x="8470839" y="2793139"/>
                  <a:ext cx="677648" cy="588081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800" dirty="0">
                      <a:solidFill>
                        <a:srgbClr val="FF0000"/>
                      </a:solidFill>
                      <a:latin typeface="Times New Roman"/>
                    </a:rPr>
                    <a:t>y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6427381" y="2872843"/>
                  <a:ext cx="785818" cy="5812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800" dirty="0">
                      <a:solidFill>
                        <a:srgbClr val="000000"/>
                      </a:solidFill>
                      <a:latin typeface="Times New Roman"/>
                      <a:sym typeface="Symbol"/>
                    </a:rPr>
                    <a:t>(z)</a:t>
                  </a:r>
                  <a:endParaRPr lang="en-US" altLang="ko-KR" sz="2800" baseline="-25000" dirty="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3" name="Text Box 61"/>
                <p:cNvSpPr txBox="1">
                  <a:spLocks noChangeArrowheads="1"/>
                </p:cNvSpPr>
                <p:nvPr/>
              </p:nvSpPr>
              <p:spPr>
                <a:xfrm>
                  <a:off x="5743364" y="2552258"/>
                  <a:ext cx="571503" cy="575977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800" dirty="0">
                      <a:solidFill>
                        <a:srgbClr val="FF0000"/>
                      </a:solidFill>
                      <a:latin typeface="Times New Roman"/>
                    </a:rPr>
                    <a:t>z</a:t>
                  </a:r>
                </a:p>
              </p:txBody>
            </p:sp>
          </p:grpSp>
        </p:grpSp>
        <p:sp>
          <p:nvSpPr>
            <p:cNvPr id="14" name="Text Box 61"/>
            <p:cNvSpPr txBox="1">
              <a:spLocks noChangeArrowheads="1"/>
            </p:cNvSpPr>
            <p:nvPr/>
          </p:nvSpPr>
          <p:spPr>
            <a:xfrm>
              <a:off x="3516118" y="3584082"/>
              <a:ext cx="1714512" cy="3385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rgbClr val="000000"/>
                  </a:solidFill>
                  <a:latin typeface="Times New Roman"/>
                </a:rPr>
                <a:t>transfer function</a:t>
              </a:r>
            </a:p>
          </p:txBody>
        </p:sp>
        <p:sp>
          <p:nvSpPr>
            <p:cNvPr id="15" name="Text Box 61"/>
            <p:cNvSpPr txBox="1">
              <a:spLocks noChangeArrowheads="1"/>
            </p:cNvSpPr>
            <p:nvPr/>
          </p:nvSpPr>
          <p:spPr>
            <a:xfrm>
              <a:off x="5360132" y="3587976"/>
              <a:ext cx="2428892" cy="3385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rgbClr val="000000"/>
                  </a:solidFill>
                  <a:latin typeface="Times New Roman"/>
                </a:rPr>
                <a:t>activation function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737465" y="5496988"/>
                <a:ext cx="2178985" cy="76097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ko-KR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dirty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w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b="0" i="0" baseline="-25000" dirty="0" smtClean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b="0" i="0" dirty="0" smtClean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baseline="-25000" dirty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nor/>
                            </m:rPr>
                            <a:rPr lang="ko-KR" altLang="en-US" dirty="0"/>
                            <m:t> 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465" y="5496988"/>
                <a:ext cx="2178985" cy="760978"/>
              </a:xfrm>
              <a:prstGeom prst="rect">
                <a:avLst/>
              </a:prstGeom>
              <a:blipFill rotWithShape="0">
                <a:blip r:embed="rId2"/>
                <a:stretch>
                  <a:fillRect b="-48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61">
            <a:extLst>
              <a:ext uri="{FF2B5EF4-FFF2-40B4-BE49-F238E27FC236}">
                <a16:creationId xmlns="" xmlns:a16="http://schemas.microsoft.com/office/drawing/2014/main" id="{36647CAC-B34C-46AC-B89B-3C4A03C04FC1}"/>
              </a:ext>
            </a:extLst>
          </p:cNvPr>
          <p:cNvSpPr txBox="1">
            <a:spLocks noChangeArrowheads="1"/>
          </p:cNvSpPr>
          <p:nvPr/>
        </p:nvSpPr>
        <p:spPr>
          <a:xfrm>
            <a:off x="2130895" y="6234464"/>
            <a:ext cx="855008" cy="33855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sp>
        <p:nvSpPr>
          <p:cNvPr id="56" name="Text Box 61">
            <a:extLst>
              <a:ext uri="{FF2B5EF4-FFF2-40B4-BE49-F238E27FC236}">
                <a16:creationId xmlns="" xmlns:a16="http://schemas.microsoft.com/office/drawing/2014/main" id="{BEDC73C6-FEE5-4F29-BC9F-DFF669DF0B40}"/>
              </a:ext>
            </a:extLst>
          </p:cNvPr>
          <p:cNvSpPr txBox="1">
            <a:spLocks noChangeArrowheads="1"/>
          </p:cNvSpPr>
          <p:nvPr/>
        </p:nvSpPr>
        <p:spPr>
          <a:xfrm>
            <a:off x="3401994" y="6228367"/>
            <a:ext cx="855008" cy="33855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weight</a:t>
            </a:r>
          </a:p>
        </p:txBody>
      </p:sp>
      <p:sp>
        <p:nvSpPr>
          <p:cNvPr id="57" name="Text Box 61">
            <a:extLst>
              <a:ext uri="{FF2B5EF4-FFF2-40B4-BE49-F238E27FC236}">
                <a16:creationId xmlns="" xmlns:a16="http://schemas.microsoft.com/office/drawing/2014/main" id="{395C67E2-1AC0-43DB-A48F-6F78E7A6091C}"/>
              </a:ext>
            </a:extLst>
          </p:cNvPr>
          <p:cNvSpPr txBox="1">
            <a:spLocks noChangeArrowheads="1"/>
          </p:cNvSpPr>
          <p:nvPr/>
        </p:nvSpPr>
        <p:spPr>
          <a:xfrm>
            <a:off x="9260864" y="4432702"/>
            <a:ext cx="855008" cy="33855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간단한 신경망 예제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01211"/>
              </p:ext>
            </p:extLst>
          </p:nvPr>
        </p:nvGraphicFramePr>
        <p:xfrm>
          <a:off x="5162309" y="1993017"/>
          <a:ext cx="1428279" cy="13441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7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07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0674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931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>
                          <a:latin typeface="Times New Roman"/>
                          <a:cs typeface="Times New Roman"/>
                        </a:rPr>
                        <a:t>x</a:t>
                      </a:r>
                      <a:endParaRPr lang="ko-KR" altLang="en-US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>
                          <a:latin typeface="Times New Roman"/>
                          <a:cs typeface="Times New Roman"/>
                        </a:rPr>
                        <a:t>z</a:t>
                      </a:r>
                      <a:endParaRPr lang="ko-KR" altLang="en-US" dirty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cs typeface="Times New Roman"/>
                        </a:rPr>
                        <a:t>NOT</a:t>
                      </a:r>
                      <a:endParaRPr lang="ko-KR" altLang="en-US" sz="1400" dirty="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-1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그룹 23"/>
          <p:cNvGrpSpPr/>
          <p:nvPr/>
        </p:nvGrpSpPr>
        <p:grpSpPr>
          <a:xfrm>
            <a:off x="1840200" y="1900948"/>
            <a:ext cx="1571636" cy="873540"/>
            <a:chOff x="1000100" y="1643050"/>
            <a:chExt cx="1571636" cy="873540"/>
          </a:xfrm>
        </p:grpSpPr>
        <p:sp>
          <p:nvSpPr>
            <p:cNvPr id="20" name="타원 19"/>
            <p:cNvSpPr/>
            <p:nvPr/>
          </p:nvSpPr>
          <p:spPr>
            <a:xfrm>
              <a:off x="1000100" y="207167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2095867" y="207167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22" name="Text Box 61"/>
            <p:cNvSpPr txBox="1">
              <a:spLocks noChangeArrowheads="1"/>
            </p:cNvSpPr>
            <p:nvPr/>
          </p:nvSpPr>
          <p:spPr>
            <a:xfrm>
              <a:off x="1069620" y="2115807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</a:p>
          </p:txBody>
        </p:sp>
        <p:cxnSp>
          <p:nvCxnSpPr>
            <p:cNvPr id="23" name="직선 화살표 연결선 22"/>
            <p:cNvCxnSpPr/>
            <p:nvPr/>
          </p:nvCxnSpPr>
          <p:spPr>
            <a:xfrm>
              <a:off x="1475969" y="2294134"/>
              <a:ext cx="619898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24" name="Text Box 61"/>
            <p:cNvSpPr txBox="1">
              <a:spLocks noChangeArrowheads="1"/>
            </p:cNvSpPr>
            <p:nvPr/>
          </p:nvSpPr>
          <p:spPr>
            <a:xfrm>
              <a:off x="2141190" y="2071678"/>
              <a:ext cx="430546" cy="38863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 y</a:t>
              </a:r>
            </a:p>
          </p:txBody>
        </p:sp>
        <p:sp>
          <p:nvSpPr>
            <p:cNvPr id="25" name="Text Box 61"/>
            <p:cNvSpPr txBox="1">
              <a:spLocks noChangeArrowheads="1"/>
            </p:cNvSpPr>
            <p:nvPr/>
          </p:nvSpPr>
          <p:spPr>
            <a:xfrm>
              <a:off x="1428728" y="1643050"/>
              <a:ext cx="928694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1 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-1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840200" y="1517314"/>
            <a:ext cx="2714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NOT </a:t>
            </a:r>
            <a:r>
              <a:rPr lang="ko-KR" altLang="en-US" sz="2400" dirty="0" err="1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게이트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105941"/>
              </p:ext>
            </p:extLst>
          </p:nvPr>
        </p:nvGraphicFramePr>
        <p:xfrm>
          <a:off x="5126348" y="4401361"/>
          <a:ext cx="185738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51486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latin typeface="Times New Roman"/>
                          <a:cs typeface="Times New Roman"/>
                        </a:rPr>
                        <a:t>z</a:t>
                      </a:r>
                      <a:endParaRPr lang="ko-KR" altLang="en-US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cs typeface="Times New Roman"/>
                        </a:rPr>
                        <a:t>AND</a:t>
                      </a:r>
                      <a:endParaRPr lang="ko-KR" altLang="en-US" sz="1400" dirty="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785907" y="4030360"/>
            <a:ext cx="2714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AND </a:t>
            </a:r>
            <a:r>
              <a:rPr lang="ko-KR" altLang="en-US" sz="2400" dirty="0" err="1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게이트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43" name="그룹 64"/>
          <p:cNvGrpSpPr/>
          <p:nvPr/>
        </p:nvGrpSpPr>
        <p:grpSpPr>
          <a:xfrm>
            <a:off x="1840200" y="4437120"/>
            <a:ext cx="2000264" cy="1471680"/>
            <a:chOff x="5286380" y="1957320"/>
            <a:chExt cx="2000264" cy="1471680"/>
          </a:xfrm>
        </p:grpSpPr>
        <p:sp>
          <p:nvSpPr>
            <p:cNvPr id="44" name="타원 43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92108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47" name="직선 화살표 연결선 46"/>
            <p:cNvCxnSpPr/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48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49" name="Text Box 61"/>
            <p:cNvSpPr txBox="1">
              <a:spLocks noChangeArrowheads="1"/>
            </p:cNvSpPr>
            <p:nvPr/>
          </p:nvSpPr>
          <p:spPr>
            <a:xfrm>
              <a:off x="6000760" y="1957320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</p:txBody>
        </p:sp>
        <p:sp>
          <p:nvSpPr>
            <p:cNvPr id="50" name="타원 49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387397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2" name="Text Box 61"/>
            <p:cNvSpPr txBox="1">
              <a:spLocks noChangeArrowheads="1"/>
            </p:cNvSpPr>
            <p:nvPr/>
          </p:nvSpPr>
          <p:spPr>
            <a:xfrm>
              <a:off x="6000760" y="2600262"/>
              <a:ext cx="857256" cy="769666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53" name="직선 화살표 연결선 52"/>
            <p:cNvCxnSpPr/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sp>
        <p:nvSpPr>
          <p:cNvPr id="54" name="직사각형 53"/>
          <p:cNvSpPr/>
          <p:nvPr/>
        </p:nvSpPr>
        <p:spPr>
          <a:xfrm>
            <a:off x="2956503" y="2903762"/>
            <a:ext cx="2053615" cy="830997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 = -0.49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 -0.49)    y = 0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  -0.49)    y = 1 </a:t>
            </a:r>
            <a:endParaRPr lang="ko-KR" altLang="en-US" sz="1600"/>
          </a:p>
        </p:txBody>
      </p:sp>
      <p:sp>
        <p:nvSpPr>
          <p:cNvPr id="55" name="TextBox 54"/>
          <p:cNvSpPr txBox="1"/>
          <p:nvPr/>
        </p:nvSpPr>
        <p:spPr>
          <a:xfrm>
            <a:off x="7769586" y="1588752"/>
            <a:ext cx="2714612" cy="2363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z 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y = (z)</a:t>
            </a:r>
          </a:p>
          <a:p>
            <a:pPr lvl="0">
              <a:lnSpc>
                <a:spcPct val="90000"/>
              </a:lnSpc>
              <a:defRPr/>
            </a:pPr>
            <a:endParaRPr lang="en-US" altLang="ko-KR" sz="1000" dirty="0">
              <a:solidFill>
                <a:srgbClr val="000000"/>
              </a:solidFill>
              <a:latin typeface="Times New Roman"/>
            </a:endParaRP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if  x = 0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   z = -1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 0 = 0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(z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 -0.49) 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    y = 1</a:t>
            </a:r>
          </a:p>
          <a:p>
            <a:pPr lvl="0">
              <a:lnSpc>
                <a:spcPct val="90000"/>
              </a:lnSpc>
              <a:defRPr/>
            </a:pPr>
            <a:endParaRPr lang="en-US" altLang="ko-KR" sz="10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if  x = 1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   z = -1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 1 = -1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(z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 -0.49) 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    y = 0</a:t>
            </a:r>
          </a:p>
          <a:p>
            <a:pPr lvl="0">
              <a:lnSpc>
                <a:spcPct val="90000"/>
              </a:lnSpc>
              <a:defRPr/>
            </a:pPr>
            <a:endParaRPr lang="ko-KR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786699" y="4113879"/>
            <a:ext cx="2714612" cy="264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z 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y = (z)</a:t>
            </a:r>
          </a:p>
          <a:p>
            <a:pPr lvl="0">
              <a:lnSpc>
                <a:spcPct val="90000"/>
              </a:lnSpc>
              <a:defRPr/>
            </a:pPr>
            <a:endParaRPr lang="en-US" altLang="ko-KR" sz="1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1,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1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   z = 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+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2</a:t>
            </a: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(z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1.5) 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 y 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</a:t>
            </a: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  <a:p>
            <a:pPr lvl="0">
              <a:lnSpc>
                <a:spcPct val="90000"/>
              </a:lnSpc>
              <a:defRPr/>
            </a:pPr>
            <a:endParaRPr lang="en-US" altLang="ko-KR" sz="10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0,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   z = 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0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+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0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</a:t>
            </a: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(z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&lt;=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1.5) </a:t>
            </a:r>
          </a:p>
          <a:p>
            <a:pPr lvl="0">
              <a:lnSpc>
                <a:spcPct val="9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 y 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0</a:t>
            </a: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659773" y="5935059"/>
            <a:ext cx="1915085" cy="819543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 = 1.5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 1.5)    y = 0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  1.5)    y = 1 </a:t>
            </a:r>
            <a:endParaRPr lang="ko-KR" altLang="en-US" sz="1600"/>
          </a:p>
        </p:txBody>
      </p:sp>
      <p:cxnSp>
        <p:nvCxnSpPr>
          <p:cNvPr id="58" name="직선 연결선 57"/>
          <p:cNvCxnSpPr/>
          <p:nvPr/>
        </p:nvCxnSpPr>
        <p:spPr>
          <a:xfrm>
            <a:off x="1571625" y="3990371"/>
            <a:ext cx="8929718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간단한 신경망 예제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840200" y="1517314"/>
            <a:ext cx="2714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 </a:t>
            </a:r>
            <a:r>
              <a:rPr lang="ko-KR" altLang="en-US" sz="2400" dirty="0" err="1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게이트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85907" y="4030360"/>
            <a:ext cx="2714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NAND </a:t>
            </a:r>
            <a:r>
              <a:rPr lang="ko-KR" altLang="en-US" sz="2400" dirty="0" err="1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게이트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8" name="직선 연결선 57"/>
          <p:cNvCxnSpPr/>
          <p:nvPr/>
        </p:nvCxnSpPr>
        <p:spPr>
          <a:xfrm>
            <a:off x="1571625" y="3990371"/>
            <a:ext cx="8929718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grpSp>
        <p:nvGrpSpPr>
          <p:cNvPr id="31" name="그룹 64"/>
          <p:cNvGrpSpPr/>
          <p:nvPr/>
        </p:nvGrpSpPr>
        <p:grpSpPr>
          <a:xfrm>
            <a:off x="1785907" y="1996472"/>
            <a:ext cx="2000264" cy="1471680"/>
            <a:chOff x="5286380" y="1957320"/>
            <a:chExt cx="2000264" cy="1471680"/>
          </a:xfrm>
        </p:grpSpPr>
        <p:sp>
          <p:nvSpPr>
            <p:cNvPr id="32" name="타원 31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8731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35" name="직선 화살표 연결선 34"/>
            <p:cNvCxnSpPr/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36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39057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37" name="Text Box 61"/>
            <p:cNvSpPr txBox="1">
              <a:spLocks noChangeArrowheads="1"/>
            </p:cNvSpPr>
            <p:nvPr/>
          </p:nvSpPr>
          <p:spPr>
            <a:xfrm>
              <a:off x="6000760" y="1957320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</p:txBody>
        </p:sp>
        <p:sp>
          <p:nvSpPr>
            <p:cNvPr id="38" name="타원 37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9" name="Text Box 61"/>
            <p:cNvSpPr txBox="1">
              <a:spLocks noChangeArrowheads="1"/>
            </p:cNvSpPr>
            <p:nvPr/>
          </p:nvSpPr>
          <p:spPr>
            <a:xfrm>
              <a:off x="6000760" y="2600262"/>
              <a:ext cx="857256" cy="77439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60" name="직선 화살표 연결선 59"/>
            <p:cNvCxnSpPr/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836341"/>
              </p:ext>
            </p:extLst>
          </p:nvPr>
        </p:nvGraphicFramePr>
        <p:xfrm>
          <a:off x="5417755" y="1831541"/>
          <a:ext cx="178595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0006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51486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latin typeface="Times New Roman"/>
                          <a:cs typeface="Times New Roman"/>
                        </a:rPr>
                        <a:t>z</a:t>
                      </a:r>
                      <a:endParaRPr lang="ko-KR" altLang="en-US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OR</a:t>
                      </a: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7786731" y="1543130"/>
            <a:ext cx="2714612" cy="24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z 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 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y = (z)</a:t>
            </a:r>
          </a:p>
          <a:p>
            <a:pPr lvl="0">
              <a:lnSpc>
                <a:spcPct val="80000"/>
              </a:lnSpc>
              <a:defRPr/>
            </a:pPr>
            <a:endParaRPr lang="en-US" altLang="ko-KR" sz="1600" dirty="0">
              <a:solidFill>
                <a:srgbClr val="000000"/>
              </a:solidFill>
              <a:latin typeface="Times New Roman"/>
            </a:endParaRP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0,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0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   z = 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0  +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0 = 0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 0.5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) 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 y = 0</a:t>
            </a:r>
          </a:p>
          <a:p>
            <a:pPr lvl="0">
              <a:lnSpc>
                <a:spcPct val="80000"/>
              </a:lnSpc>
              <a:defRPr/>
            </a:pP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1,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0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   z = 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 +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0 = 1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(z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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0.5) 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 y 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</a:t>
            </a: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104436" y="3131248"/>
            <a:ext cx="1886579" cy="830997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 = 0.5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 0.5)    y = 0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  0.5)    y = 1 </a:t>
            </a:r>
            <a:endParaRPr lang="ko-KR" altLang="en-US" sz="1600"/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104061"/>
              </p:ext>
            </p:extLst>
          </p:nvPr>
        </p:nvGraphicFramePr>
        <p:xfrm>
          <a:off x="5073581" y="4518304"/>
          <a:ext cx="20002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143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51486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z</a:t>
                      </a:r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/>
                        <a:t>NAND</a:t>
                      </a:r>
                      <a:endParaRPr lang="ko-KR" altLang="en-US" sz="14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-2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-2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-4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6" name="그룹 64"/>
          <p:cNvGrpSpPr/>
          <p:nvPr/>
        </p:nvGrpSpPr>
        <p:grpSpPr>
          <a:xfrm>
            <a:off x="1787433" y="4446796"/>
            <a:ext cx="2000264" cy="1471680"/>
            <a:chOff x="5286380" y="1957320"/>
            <a:chExt cx="2000264" cy="1471680"/>
          </a:xfrm>
        </p:grpSpPr>
        <p:sp>
          <p:nvSpPr>
            <p:cNvPr id="67" name="타원 66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8" name="타원 67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9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92108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70" name="직선 화살표 연결선 69"/>
            <p:cNvCxnSpPr/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71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72" name="Text Box 61"/>
            <p:cNvSpPr txBox="1">
              <a:spLocks noChangeArrowheads="1"/>
            </p:cNvSpPr>
            <p:nvPr/>
          </p:nvSpPr>
          <p:spPr>
            <a:xfrm>
              <a:off x="6000760" y="1957320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-2</a:t>
              </a:r>
            </a:p>
          </p:txBody>
        </p:sp>
        <p:sp>
          <p:nvSpPr>
            <p:cNvPr id="73" name="타원 72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74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387397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75" name="Text Box 61"/>
            <p:cNvSpPr txBox="1">
              <a:spLocks noChangeArrowheads="1"/>
            </p:cNvSpPr>
            <p:nvPr/>
          </p:nvSpPr>
          <p:spPr>
            <a:xfrm>
              <a:off x="6000760" y="2600262"/>
              <a:ext cx="857256" cy="769666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-2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sp>
        <p:nvSpPr>
          <p:cNvPr id="77" name="직사각형 76"/>
          <p:cNvSpPr/>
          <p:nvPr/>
        </p:nvSpPr>
        <p:spPr>
          <a:xfrm>
            <a:off x="2607006" y="5944735"/>
            <a:ext cx="1838885" cy="819543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 = -3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 -3)    y = 0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  -3)    y = 1 </a:t>
            </a:r>
            <a:endParaRPr lang="ko-KR" altLang="en-US" sz="1600"/>
          </a:p>
        </p:txBody>
      </p:sp>
      <p:sp>
        <p:nvSpPr>
          <p:cNvPr id="78" name="TextBox 77"/>
          <p:cNvSpPr txBox="1"/>
          <p:nvPr/>
        </p:nvSpPr>
        <p:spPr>
          <a:xfrm>
            <a:off x="7788225" y="4217017"/>
            <a:ext cx="2714612" cy="24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z 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y = (z)</a:t>
            </a:r>
          </a:p>
          <a:p>
            <a:pPr lvl="0">
              <a:lnSpc>
                <a:spcPct val="80000"/>
              </a:lnSpc>
              <a:defRPr/>
            </a:pP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1,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0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   z = -2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 +  -2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0 = -2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  -3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) 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 y = 1</a:t>
            </a:r>
          </a:p>
          <a:p>
            <a:pPr lvl="0">
              <a:lnSpc>
                <a:spcPct val="80000"/>
              </a:lnSpc>
              <a:defRPr/>
            </a:pPr>
            <a:endParaRPr lang="en-US" altLang="ko-KR" sz="1600" dirty="0">
              <a:solidFill>
                <a:srgbClr val="000000"/>
              </a:solidFill>
              <a:latin typeface="Times New Roman"/>
              <a:cs typeface="Times New Roman"/>
              <a:sym typeface="Symbol"/>
            </a:endParaRP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1,  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= 1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   z = -2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 +  -2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= -4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 -3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) </a:t>
            </a:r>
          </a:p>
          <a:p>
            <a:pPr lvl="0">
              <a:lnSpc>
                <a:spcPct val="80000"/>
              </a:lnSpc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    y = 0</a:t>
            </a:r>
          </a:p>
        </p:txBody>
      </p:sp>
    </p:spTree>
    <p:extLst>
      <p:ext uri="{BB962C8B-B14F-4D97-AF65-F5344CB8AC3E}">
        <p14:creationId xmlns:p14="http://schemas.microsoft.com/office/powerpoint/2010/main" val="208680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신경망을 이용한 데이터 분류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pSp>
        <p:nvGrpSpPr>
          <p:cNvPr id="93" name="그룹 92"/>
          <p:cNvGrpSpPr/>
          <p:nvPr/>
        </p:nvGrpSpPr>
        <p:grpSpPr>
          <a:xfrm>
            <a:off x="1973552" y="2594394"/>
            <a:ext cx="3357602" cy="2779794"/>
            <a:chOff x="571472" y="2071678"/>
            <a:chExt cx="3357602" cy="2779794"/>
          </a:xfrm>
        </p:grpSpPr>
        <p:grpSp>
          <p:nvGrpSpPr>
            <p:cNvPr id="94" name="그룹 91"/>
            <p:cNvGrpSpPr/>
            <p:nvPr/>
          </p:nvGrpSpPr>
          <p:grpSpPr>
            <a:xfrm>
              <a:off x="571472" y="2285992"/>
              <a:ext cx="3357602" cy="2565479"/>
              <a:chOff x="7000883" y="4130950"/>
              <a:chExt cx="2212962" cy="1711036"/>
            </a:xfrm>
          </p:grpSpPr>
          <p:cxnSp>
            <p:nvCxnSpPr>
              <p:cNvPr id="109" name="직선 화살표 연결선 108"/>
              <p:cNvCxnSpPr/>
              <p:nvPr/>
            </p:nvCxnSpPr>
            <p:spPr>
              <a:xfrm>
                <a:off x="7286644" y="5572140"/>
                <a:ext cx="164307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cxnSp>
            <p:nvCxnSpPr>
              <p:cNvPr id="110" name="직선 화살표 연결선 109"/>
              <p:cNvCxnSpPr/>
              <p:nvPr/>
            </p:nvCxnSpPr>
            <p:spPr>
              <a:xfrm rot="16200000" flipV="1">
                <a:off x="6644662" y="4928239"/>
                <a:ext cx="1571636" cy="19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sp>
            <p:nvSpPr>
              <p:cNvPr id="111" name="Text Box 61"/>
              <p:cNvSpPr txBox="1">
                <a:spLocks noChangeArrowheads="1"/>
              </p:cNvSpPr>
              <p:nvPr/>
            </p:nvSpPr>
            <p:spPr>
              <a:xfrm>
                <a:off x="7000883" y="4130950"/>
                <a:ext cx="430544" cy="26415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Text Box 61"/>
              <p:cNvSpPr txBox="1">
                <a:spLocks noChangeArrowheads="1"/>
              </p:cNvSpPr>
              <p:nvPr/>
            </p:nvSpPr>
            <p:spPr>
              <a:xfrm>
                <a:off x="8783299" y="5599856"/>
                <a:ext cx="430545" cy="24213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  <p:sp>
          <p:nvSpPr>
            <p:cNvPr id="95" name="타원 94"/>
            <p:cNvSpPr/>
            <p:nvPr/>
          </p:nvSpPr>
          <p:spPr>
            <a:xfrm>
              <a:off x="1785917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6" name="타원 95"/>
            <p:cNvSpPr/>
            <p:nvPr/>
          </p:nvSpPr>
          <p:spPr>
            <a:xfrm>
              <a:off x="2285983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7" name="타원 96"/>
            <p:cNvSpPr/>
            <p:nvPr/>
          </p:nvSpPr>
          <p:spPr>
            <a:xfrm>
              <a:off x="2357421" y="285749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8" name="타원 97"/>
            <p:cNvSpPr/>
            <p:nvPr/>
          </p:nvSpPr>
          <p:spPr>
            <a:xfrm>
              <a:off x="1643041" y="3071810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9" name="타원 98"/>
            <p:cNvSpPr/>
            <p:nvPr/>
          </p:nvSpPr>
          <p:spPr>
            <a:xfrm>
              <a:off x="1357289" y="392906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0" name="이등변 삼각형 99"/>
            <p:cNvSpPr/>
            <p:nvPr/>
          </p:nvSpPr>
          <p:spPr>
            <a:xfrm>
              <a:off x="3071801" y="300037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1" name="이등변 삼각형 100"/>
            <p:cNvSpPr/>
            <p:nvPr/>
          </p:nvSpPr>
          <p:spPr>
            <a:xfrm>
              <a:off x="3286115" y="321468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2" name="이등변 삼각형 101"/>
            <p:cNvSpPr/>
            <p:nvPr/>
          </p:nvSpPr>
          <p:spPr>
            <a:xfrm>
              <a:off x="3438515" y="34290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3" name="이등변 삼각형 102"/>
            <p:cNvSpPr/>
            <p:nvPr/>
          </p:nvSpPr>
          <p:spPr>
            <a:xfrm>
              <a:off x="2786049" y="35814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4" name="이등변 삼각형 103"/>
            <p:cNvSpPr/>
            <p:nvPr/>
          </p:nvSpPr>
          <p:spPr>
            <a:xfrm>
              <a:off x="2938449" y="40005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5" name="이등변 삼각형 104"/>
            <p:cNvSpPr/>
            <p:nvPr/>
          </p:nvSpPr>
          <p:spPr>
            <a:xfrm>
              <a:off x="2500297" y="41529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6" name="이등변 삼각형 105"/>
            <p:cNvSpPr/>
            <p:nvPr/>
          </p:nvSpPr>
          <p:spPr>
            <a:xfrm>
              <a:off x="3143239" y="235743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7" name="이등변 삼각형 106"/>
            <p:cNvSpPr/>
            <p:nvPr/>
          </p:nvSpPr>
          <p:spPr>
            <a:xfrm>
              <a:off x="3295639" y="264318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cxnSp>
          <p:nvCxnSpPr>
            <p:cNvPr id="108" name="직선 연결선 107"/>
            <p:cNvCxnSpPr/>
            <p:nvPr/>
          </p:nvCxnSpPr>
          <p:spPr>
            <a:xfrm rot="5400000">
              <a:off x="857226" y="2214556"/>
              <a:ext cx="2643207" cy="235745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grpSp>
        <p:nvGrpSpPr>
          <p:cNvPr id="113" name="그룹 112"/>
          <p:cNvGrpSpPr/>
          <p:nvPr/>
        </p:nvGrpSpPr>
        <p:grpSpPr>
          <a:xfrm>
            <a:off x="6188394" y="3308774"/>
            <a:ext cx="3714776" cy="1428760"/>
            <a:chOff x="5072066" y="2786058"/>
            <a:chExt cx="3714776" cy="1428760"/>
          </a:xfrm>
        </p:grpSpPr>
        <p:grpSp>
          <p:nvGrpSpPr>
            <p:cNvPr id="114" name="그룹 113"/>
            <p:cNvGrpSpPr/>
            <p:nvPr/>
          </p:nvGrpSpPr>
          <p:grpSpPr>
            <a:xfrm>
              <a:off x="5072066" y="2786058"/>
              <a:ext cx="2000264" cy="1428760"/>
              <a:chOff x="5072066" y="2786058"/>
              <a:chExt cx="2000264" cy="1428760"/>
            </a:xfrm>
          </p:grpSpPr>
          <p:sp>
            <p:nvSpPr>
              <p:cNvPr id="123" name="타원 122"/>
              <p:cNvSpPr/>
              <p:nvPr/>
            </p:nvSpPr>
            <p:spPr>
              <a:xfrm>
                <a:off x="5072066" y="2841212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24" name="타원 123"/>
              <p:cNvSpPr/>
              <p:nvPr/>
            </p:nvSpPr>
            <p:spPr>
              <a:xfrm>
                <a:off x="6572264" y="3384198"/>
                <a:ext cx="475869" cy="444912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25" name="Text Box 61"/>
              <p:cNvSpPr txBox="1">
                <a:spLocks noChangeArrowheads="1"/>
              </p:cNvSpPr>
              <p:nvPr/>
            </p:nvSpPr>
            <p:spPr>
              <a:xfrm>
                <a:off x="5141586" y="2858705"/>
                <a:ext cx="430546" cy="394849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126" name="직선 화살표 연결선 125"/>
              <p:cNvCxnSpPr/>
              <p:nvPr/>
            </p:nvCxnSpPr>
            <p:spPr>
              <a:xfrm>
                <a:off x="5547935" y="3063668"/>
                <a:ext cx="1094018" cy="38568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127" name="Text Box 61"/>
              <p:cNvSpPr txBox="1">
                <a:spLocks noChangeArrowheads="1"/>
              </p:cNvSpPr>
              <p:nvPr/>
            </p:nvSpPr>
            <p:spPr>
              <a:xfrm>
                <a:off x="6641784" y="3384198"/>
                <a:ext cx="430546" cy="39323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  <a:sym typeface="Symbol"/>
                  </a:rPr>
                  <a:t>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28" name="Text Box 61"/>
              <p:cNvSpPr txBox="1">
                <a:spLocks noChangeArrowheads="1"/>
              </p:cNvSpPr>
              <p:nvPr/>
            </p:nvSpPr>
            <p:spPr>
              <a:xfrm>
                <a:off x="5786446" y="2786058"/>
                <a:ext cx="857256" cy="36691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29" name="타원 128"/>
              <p:cNvSpPr/>
              <p:nvPr/>
            </p:nvSpPr>
            <p:spPr>
              <a:xfrm>
                <a:off x="5072066" y="3769906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30" name="Text Box 61"/>
              <p:cNvSpPr txBox="1">
                <a:spLocks noChangeArrowheads="1"/>
              </p:cNvSpPr>
              <p:nvPr/>
            </p:nvSpPr>
            <p:spPr>
              <a:xfrm>
                <a:off x="5143504" y="3743270"/>
                <a:ext cx="430546" cy="396109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31" name="Text Box 61"/>
              <p:cNvSpPr txBox="1">
                <a:spLocks noChangeArrowheads="1"/>
              </p:cNvSpPr>
              <p:nvPr/>
            </p:nvSpPr>
            <p:spPr>
              <a:xfrm>
                <a:off x="5786446" y="3416858"/>
                <a:ext cx="857256" cy="36362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132" name="직선 화살표 연결선 131"/>
              <p:cNvCxnSpPr/>
              <p:nvPr/>
            </p:nvCxnSpPr>
            <p:spPr>
              <a:xfrm flipV="1">
                <a:off x="5547935" y="3763954"/>
                <a:ext cx="1094018" cy="22840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</p:grpSp>
        <p:cxnSp>
          <p:nvCxnSpPr>
            <p:cNvPr id="115" name="직선 화살표 연결선 114"/>
            <p:cNvCxnSpPr/>
            <p:nvPr/>
          </p:nvCxnSpPr>
          <p:spPr>
            <a:xfrm>
              <a:off x="7048133" y="3606654"/>
              <a:ext cx="452825" cy="9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grpSp>
          <p:nvGrpSpPr>
            <p:cNvPr id="116" name="그룹 115"/>
            <p:cNvGrpSpPr/>
            <p:nvPr/>
          </p:nvGrpSpPr>
          <p:grpSpPr>
            <a:xfrm>
              <a:off x="7500958" y="3357562"/>
              <a:ext cx="500066" cy="500066"/>
              <a:chOff x="7500958" y="3357562"/>
              <a:chExt cx="672900" cy="500066"/>
            </a:xfrm>
          </p:grpSpPr>
          <p:sp>
            <p:nvSpPr>
              <p:cNvPr id="121" name="직사각형 120"/>
              <p:cNvSpPr/>
              <p:nvPr/>
            </p:nvSpPr>
            <p:spPr>
              <a:xfrm>
                <a:off x="7500958" y="3357562"/>
                <a:ext cx="672900" cy="5000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122" name="꺾인 연결선 121"/>
              <p:cNvCxnSpPr/>
              <p:nvPr/>
            </p:nvCxnSpPr>
            <p:spPr>
              <a:xfrm rot="10800000" flipV="1">
                <a:off x="7626234" y="3487480"/>
                <a:ext cx="428628" cy="285752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117" name="타원 116"/>
            <p:cNvSpPr/>
            <p:nvPr/>
          </p:nvSpPr>
          <p:spPr>
            <a:xfrm>
              <a:off x="8286776" y="3357562"/>
              <a:ext cx="500066" cy="5000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r>
                <a:rPr kumimoji="1" lang="en-US" altLang="ko-KR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rPr>
                <a:t>  </a:t>
              </a: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8" name="Text Box 61"/>
            <p:cNvSpPr txBox="1">
              <a:spLocks noChangeArrowheads="1"/>
            </p:cNvSpPr>
            <p:nvPr/>
          </p:nvSpPr>
          <p:spPr>
            <a:xfrm>
              <a:off x="8286776" y="3386080"/>
              <a:ext cx="500066" cy="39554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  <a:sym typeface="Symbol"/>
                </a:rPr>
                <a:t>  y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119" name="직선 화살표 연결선 118"/>
            <p:cNvCxnSpPr/>
            <p:nvPr/>
          </p:nvCxnSpPr>
          <p:spPr>
            <a:xfrm>
              <a:off x="8001024" y="3607595"/>
              <a:ext cx="285752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120" name="Text Box 61"/>
            <p:cNvSpPr txBox="1">
              <a:spLocks noChangeArrowheads="1"/>
            </p:cNvSpPr>
            <p:nvPr/>
          </p:nvSpPr>
          <p:spPr>
            <a:xfrm>
              <a:off x="7072330" y="3071810"/>
              <a:ext cx="857256" cy="36691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8260096" y="5023286"/>
            <a:ext cx="1357322" cy="784830"/>
            <a:chOff x="6572264" y="4857760"/>
            <a:chExt cx="1357322" cy="784830"/>
          </a:xfrm>
        </p:grpSpPr>
        <p:sp>
          <p:nvSpPr>
            <p:cNvPr id="134" name="Text Box 61"/>
            <p:cNvSpPr txBox="1">
              <a:spLocks noChangeArrowheads="1"/>
            </p:cNvSpPr>
            <p:nvPr/>
          </p:nvSpPr>
          <p:spPr>
            <a:xfrm>
              <a:off x="6572264" y="4857760"/>
              <a:ext cx="1357322" cy="776476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  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  <a:sym typeface="Symbol"/>
                </a:rPr>
                <a:t>  0  y =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  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  <a:sym typeface="Symbol"/>
                </a:rPr>
                <a:t>  0  y = </a:t>
              </a: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35" name="타원 134"/>
            <p:cNvSpPr/>
            <p:nvPr/>
          </p:nvSpPr>
          <p:spPr>
            <a:xfrm>
              <a:off x="7715272" y="500063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6" name="이등변 삼각형 135"/>
            <p:cNvSpPr/>
            <p:nvPr/>
          </p:nvSpPr>
          <p:spPr>
            <a:xfrm>
              <a:off x="7715272" y="535782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37" name="아래쪽 화살표 136"/>
          <p:cNvSpPr/>
          <p:nvPr/>
        </p:nvSpPr>
        <p:spPr>
          <a:xfrm>
            <a:off x="8831600" y="4523220"/>
            <a:ext cx="142876" cy="2857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CC99"/>
          </a:solidFill>
          <a:ln w="9525" cap="flat" cmpd="sng" algn="ctr">
            <a:solidFill>
              <a:srgbClr val="00CC99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3830940" y="2041526"/>
            <a:ext cx="2071702" cy="367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baseline="-2500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baseline="-2500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baseline="-2500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baseline="-25000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>
                <a:solidFill>
                  <a:srgbClr val="000000"/>
                </a:solidFill>
                <a:latin typeface="Times New Roman"/>
              </a:rPr>
              <a:t>  = 0</a:t>
            </a:r>
            <a:endParaRPr lang="en-US" altLang="ko-KR">
              <a:solidFill>
                <a:srgbClr val="000000"/>
              </a:solidFill>
              <a:latin typeface="Times New Roman"/>
              <a:sym typeface="Symbol"/>
            </a:endParaRPr>
          </a:p>
        </p:txBody>
      </p:sp>
      <p:sp>
        <p:nvSpPr>
          <p:cNvPr id="139" name="이등변 삼각형 138"/>
          <p:cNvSpPr/>
          <p:nvPr/>
        </p:nvSpPr>
        <p:spPr>
          <a:xfrm>
            <a:off x="3616626" y="4094592"/>
            <a:ext cx="142876" cy="142876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217586" y="5551323"/>
            <a:ext cx="4188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  값 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,</a:t>
            </a: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가 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 때 원점을 지남 </a:t>
            </a:r>
            <a:endParaRPr lang="en-US" altLang="ko-KR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신경망을 이용한 데이터 분류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92" name="그룹 40"/>
          <p:cNvGrpSpPr/>
          <p:nvPr/>
        </p:nvGrpSpPr>
        <p:grpSpPr>
          <a:xfrm>
            <a:off x="3753786" y="2275039"/>
            <a:ext cx="4090060" cy="3393866"/>
            <a:chOff x="571472" y="2071678"/>
            <a:chExt cx="3357602" cy="2786084"/>
          </a:xfrm>
        </p:grpSpPr>
        <p:grpSp>
          <p:nvGrpSpPr>
            <p:cNvPr id="93" name="그룹 91"/>
            <p:cNvGrpSpPr/>
            <p:nvPr/>
          </p:nvGrpSpPr>
          <p:grpSpPr>
            <a:xfrm>
              <a:off x="571472" y="2285993"/>
              <a:ext cx="3357602" cy="2571769"/>
              <a:chOff x="7000883" y="4130951"/>
              <a:chExt cx="2212962" cy="1715231"/>
            </a:xfrm>
          </p:grpSpPr>
          <p:cxnSp>
            <p:nvCxnSpPr>
              <p:cNvPr id="108" name="직선 화살표 연결선 107"/>
              <p:cNvCxnSpPr/>
              <p:nvPr/>
            </p:nvCxnSpPr>
            <p:spPr>
              <a:xfrm>
                <a:off x="7286644" y="5572140"/>
                <a:ext cx="164307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cxnSp>
            <p:nvCxnSpPr>
              <p:cNvPr id="109" name="직선 화살표 연결선 108"/>
              <p:cNvCxnSpPr/>
              <p:nvPr/>
            </p:nvCxnSpPr>
            <p:spPr>
              <a:xfrm rot="16200000" flipV="1">
                <a:off x="6644662" y="4928239"/>
                <a:ext cx="1571636" cy="19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sp>
            <p:nvSpPr>
              <p:cNvPr id="110" name="Text Box 61"/>
              <p:cNvSpPr txBox="1">
                <a:spLocks noChangeArrowheads="1"/>
              </p:cNvSpPr>
              <p:nvPr/>
            </p:nvSpPr>
            <p:spPr>
              <a:xfrm>
                <a:off x="7000883" y="4130951"/>
                <a:ext cx="430544" cy="25919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1" name="Text Box 61"/>
              <p:cNvSpPr txBox="1">
                <a:spLocks noChangeArrowheads="1"/>
              </p:cNvSpPr>
              <p:nvPr/>
            </p:nvSpPr>
            <p:spPr>
              <a:xfrm>
                <a:off x="8783299" y="5599857"/>
                <a:ext cx="430545" cy="24632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  <p:sp>
          <p:nvSpPr>
            <p:cNvPr id="94" name="타원 93"/>
            <p:cNvSpPr/>
            <p:nvPr/>
          </p:nvSpPr>
          <p:spPr>
            <a:xfrm>
              <a:off x="1785917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5" name="타원 94"/>
            <p:cNvSpPr/>
            <p:nvPr/>
          </p:nvSpPr>
          <p:spPr>
            <a:xfrm>
              <a:off x="2285983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6" name="타원 95"/>
            <p:cNvSpPr/>
            <p:nvPr/>
          </p:nvSpPr>
          <p:spPr>
            <a:xfrm>
              <a:off x="2357421" y="285749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7" name="타원 96"/>
            <p:cNvSpPr/>
            <p:nvPr/>
          </p:nvSpPr>
          <p:spPr>
            <a:xfrm>
              <a:off x="1643041" y="3071810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8" name="타원 97"/>
            <p:cNvSpPr/>
            <p:nvPr/>
          </p:nvSpPr>
          <p:spPr>
            <a:xfrm>
              <a:off x="1714480" y="407194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9" name="이등변 삼각형 98"/>
            <p:cNvSpPr/>
            <p:nvPr/>
          </p:nvSpPr>
          <p:spPr>
            <a:xfrm>
              <a:off x="3071801" y="300037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0" name="이등변 삼각형 99"/>
            <p:cNvSpPr/>
            <p:nvPr/>
          </p:nvSpPr>
          <p:spPr>
            <a:xfrm>
              <a:off x="3286115" y="321468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1" name="이등변 삼각형 100"/>
            <p:cNvSpPr/>
            <p:nvPr/>
          </p:nvSpPr>
          <p:spPr>
            <a:xfrm>
              <a:off x="3438515" y="34290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2" name="이등변 삼각형 101"/>
            <p:cNvSpPr/>
            <p:nvPr/>
          </p:nvSpPr>
          <p:spPr>
            <a:xfrm>
              <a:off x="2786049" y="35814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3" name="이등변 삼각형 102"/>
            <p:cNvSpPr/>
            <p:nvPr/>
          </p:nvSpPr>
          <p:spPr>
            <a:xfrm>
              <a:off x="2938449" y="40005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4" name="이등변 삼각형 103"/>
            <p:cNvSpPr/>
            <p:nvPr/>
          </p:nvSpPr>
          <p:spPr>
            <a:xfrm>
              <a:off x="2500297" y="41529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5" name="이등변 삼각형 104"/>
            <p:cNvSpPr/>
            <p:nvPr/>
          </p:nvSpPr>
          <p:spPr>
            <a:xfrm>
              <a:off x="3143239" y="235743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6" name="이등변 삼각형 105"/>
            <p:cNvSpPr/>
            <p:nvPr/>
          </p:nvSpPr>
          <p:spPr>
            <a:xfrm>
              <a:off x="3295639" y="264318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cxnSp>
          <p:nvCxnSpPr>
            <p:cNvPr id="107" name="직선 연결선 106"/>
            <p:cNvCxnSpPr/>
            <p:nvPr/>
          </p:nvCxnSpPr>
          <p:spPr>
            <a:xfrm rot="5400000">
              <a:off x="857226" y="2214556"/>
              <a:ext cx="2643207" cy="235745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sp>
        <p:nvSpPr>
          <p:cNvPr id="112" name="이등변 삼각형 111"/>
          <p:cNvSpPr/>
          <p:nvPr/>
        </p:nvSpPr>
        <p:spPr>
          <a:xfrm>
            <a:off x="5941692" y="4398259"/>
            <a:ext cx="142876" cy="142876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13" name="타원 112"/>
          <p:cNvSpPr/>
          <p:nvPr/>
        </p:nvSpPr>
        <p:spPr>
          <a:xfrm>
            <a:off x="4995465" y="4547622"/>
            <a:ext cx="500066" cy="57150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2782624" y="5336134"/>
            <a:ext cx="3455338" cy="58467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동그라미와 세모를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에러없이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분류할 수 있는 원점을 지나는 직선은 존재하지 않음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5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바이어스가 있는 신경망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52" name="그룹 40"/>
          <p:cNvGrpSpPr/>
          <p:nvPr/>
        </p:nvGrpSpPr>
        <p:grpSpPr>
          <a:xfrm>
            <a:off x="2299781" y="2427606"/>
            <a:ext cx="3357602" cy="3143272"/>
            <a:chOff x="571472" y="2000240"/>
            <a:chExt cx="3357602" cy="3143272"/>
          </a:xfrm>
        </p:grpSpPr>
        <p:grpSp>
          <p:nvGrpSpPr>
            <p:cNvPr id="53" name="그룹 91"/>
            <p:cNvGrpSpPr/>
            <p:nvPr/>
          </p:nvGrpSpPr>
          <p:grpSpPr>
            <a:xfrm>
              <a:off x="571472" y="2285992"/>
              <a:ext cx="3357602" cy="2571769"/>
              <a:chOff x="7000883" y="4130950"/>
              <a:chExt cx="2212962" cy="1715231"/>
            </a:xfrm>
          </p:grpSpPr>
          <p:cxnSp>
            <p:nvCxnSpPr>
              <p:cNvPr id="70" name="직선 화살표 연결선 69"/>
              <p:cNvCxnSpPr/>
              <p:nvPr/>
            </p:nvCxnSpPr>
            <p:spPr>
              <a:xfrm>
                <a:off x="7286644" y="5572140"/>
                <a:ext cx="164307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cxnSp>
            <p:nvCxnSpPr>
              <p:cNvPr id="71" name="직선 화살표 연결선 70"/>
              <p:cNvCxnSpPr/>
              <p:nvPr/>
            </p:nvCxnSpPr>
            <p:spPr>
              <a:xfrm rot="16200000" flipV="1">
                <a:off x="6644662" y="4928239"/>
                <a:ext cx="1571636" cy="19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sp>
            <p:nvSpPr>
              <p:cNvPr id="72" name="Text Box 61"/>
              <p:cNvSpPr txBox="1">
                <a:spLocks noChangeArrowheads="1"/>
              </p:cNvSpPr>
              <p:nvPr/>
            </p:nvSpPr>
            <p:spPr>
              <a:xfrm>
                <a:off x="7000883" y="4130950"/>
                <a:ext cx="430544" cy="26415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73" name="Text Box 61"/>
              <p:cNvSpPr txBox="1">
                <a:spLocks noChangeArrowheads="1"/>
              </p:cNvSpPr>
              <p:nvPr/>
            </p:nvSpPr>
            <p:spPr>
              <a:xfrm>
                <a:off x="8783299" y="5599856"/>
                <a:ext cx="430545" cy="24632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  <p:sp>
          <p:nvSpPr>
            <p:cNvPr id="54" name="타원 53"/>
            <p:cNvSpPr/>
            <p:nvPr/>
          </p:nvSpPr>
          <p:spPr>
            <a:xfrm>
              <a:off x="1785917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5" name="타원 54"/>
            <p:cNvSpPr/>
            <p:nvPr/>
          </p:nvSpPr>
          <p:spPr>
            <a:xfrm>
              <a:off x="2285983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2357421" y="285749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1643041" y="3071810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8" name="타원 57"/>
            <p:cNvSpPr/>
            <p:nvPr/>
          </p:nvSpPr>
          <p:spPr>
            <a:xfrm>
              <a:off x="2143107" y="3643314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9" name="타원 58"/>
            <p:cNvSpPr/>
            <p:nvPr/>
          </p:nvSpPr>
          <p:spPr>
            <a:xfrm>
              <a:off x="1785917" y="3795714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>
            <a:xfrm>
              <a:off x="1357289" y="392906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1" name="이등변 삼각형 60"/>
            <p:cNvSpPr/>
            <p:nvPr/>
          </p:nvSpPr>
          <p:spPr>
            <a:xfrm>
              <a:off x="3071801" y="300037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2" name="이등변 삼각형 61"/>
            <p:cNvSpPr/>
            <p:nvPr/>
          </p:nvSpPr>
          <p:spPr>
            <a:xfrm>
              <a:off x="3286115" y="321468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3" name="이등변 삼각형 62"/>
            <p:cNvSpPr/>
            <p:nvPr/>
          </p:nvSpPr>
          <p:spPr>
            <a:xfrm>
              <a:off x="3438515" y="34290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4" name="이등변 삼각형 63"/>
            <p:cNvSpPr/>
            <p:nvPr/>
          </p:nvSpPr>
          <p:spPr>
            <a:xfrm>
              <a:off x="2786049" y="35814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5" name="이등변 삼각형 64"/>
            <p:cNvSpPr/>
            <p:nvPr/>
          </p:nvSpPr>
          <p:spPr>
            <a:xfrm>
              <a:off x="2938449" y="40005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6" name="이등변 삼각형 65"/>
            <p:cNvSpPr/>
            <p:nvPr/>
          </p:nvSpPr>
          <p:spPr>
            <a:xfrm>
              <a:off x="2500297" y="41529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7" name="이등변 삼각형 66"/>
            <p:cNvSpPr/>
            <p:nvPr/>
          </p:nvSpPr>
          <p:spPr>
            <a:xfrm>
              <a:off x="3143239" y="235743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8" name="이등변 삼각형 67"/>
            <p:cNvSpPr/>
            <p:nvPr/>
          </p:nvSpPr>
          <p:spPr>
            <a:xfrm>
              <a:off x="3295639" y="264318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cxnSp>
          <p:nvCxnSpPr>
            <p:cNvPr id="69" name="직선 연결선 68"/>
            <p:cNvCxnSpPr/>
            <p:nvPr/>
          </p:nvCxnSpPr>
          <p:spPr>
            <a:xfrm rot="5400000">
              <a:off x="964380" y="2964653"/>
              <a:ext cx="3143272" cy="12144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grpSp>
        <p:nvGrpSpPr>
          <p:cNvPr id="74" name="그룹 114"/>
          <p:cNvGrpSpPr/>
          <p:nvPr/>
        </p:nvGrpSpPr>
        <p:grpSpPr>
          <a:xfrm>
            <a:off x="6514639" y="3141986"/>
            <a:ext cx="3714776" cy="1583778"/>
            <a:chOff x="5072066" y="2714620"/>
            <a:chExt cx="3714776" cy="1583778"/>
          </a:xfrm>
        </p:grpSpPr>
        <p:grpSp>
          <p:nvGrpSpPr>
            <p:cNvPr id="75" name="그룹 60"/>
            <p:cNvGrpSpPr/>
            <p:nvPr/>
          </p:nvGrpSpPr>
          <p:grpSpPr>
            <a:xfrm>
              <a:off x="5072066" y="2714620"/>
              <a:ext cx="2000264" cy="1114490"/>
              <a:chOff x="5072066" y="2714620"/>
              <a:chExt cx="2000264" cy="1114490"/>
            </a:xfrm>
          </p:grpSpPr>
          <p:sp>
            <p:nvSpPr>
              <p:cNvPr id="85" name="타원 84"/>
              <p:cNvSpPr/>
              <p:nvPr/>
            </p:nvSpPr>
            <p:spPr>
              <a:xfrm>
                <a:off x="5072066" y="2714620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6" name="타원 85"/>
              <p:cNvSpPr/>
              <p:nvPr/>
            </p:nvSpPr>
            <p:spPr>
              <a:xfrm>
                <a:off x="6572264" y="3384198"/>
                <a:ext cx="475869" cy="444912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7" name="Text Box 61"/>
              <p:cNvSpPr txBox="1">
                <a:spLocks noChangeArrowheads="1"/>
              </p:cNvSpPr>
              <p:nvPr/>
            </p:nvSpPr>
            <p:spPr>
              <a:xfrm>
                <a:off x="5141586" y="2714620"/>
                <a:ext cx="430546" cy="396059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88" name="직선 화살표 연결선 87"/>
              <p:cNvCxnSpPr/>
              <p:nvPr/>
            </p:nvCxnSpPr>
            <p:spPr>
              <a:xfrm>
                <a:off x="5547935" y="2937076"/>
                <a:ext cx="1094018" cy="51227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89" name="Text Box 61"/>
              <p:cNvSpPr txBox="1">
                <a:spLocks noChangeArrowheads="1"/>
              </p:cNvSpPr>
              <p:nvPr/>
            </p:nvSpPr>
            <p:spPr>
              <a:xfrm>
                <a:off x="6641784" y="3384198"/>
                <a:ext cx="430546" cy="39323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  <a:sym typeface="Symbol"/>
                  </a:rPr>
                  <a:t>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90" name="Text Box 61"/>
              <p:cNvSpPr txBox="1">
                <a:spLocks noChangeArrowheads="1"/>
              </p:cNvSpPr>
              <p:nvPr/>
            </p:nvSpPr>
            <p:spPr>
              <a:xfrm>
                <a:off x="5786446" y="2786058"/>
                <a:ext cx="857256" cy="36691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91" name="타원 90"/>
              <p:cNvSpPr/>
              <p:nvPr/>
            </p:nvSpPr>
            <p:spPr>
              <a:xfrm>
                <a:off x="5072066" y="3357562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2" name="Text Box 61"/>
              <p:cNvSpPr txBox="1">
                <a:spLocks noChangeArrowheads="1"/>
              </p:cNvSpPr>
              <p:nvPr/>
            </p:nvSpPr>
            <p:spPr>
              <a:xfrm>
                <a:off x="5143504" y="3386080"/>
                <a:ext cx="430546" cy="39554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41" name="Text Box 61"/>
              <p:cNvSpPr txBox="1">
                <a:spLocks noChangeArrowheads="1"/>
              </p:cNvSpPr>
              <p:nvPr/>
            </p:nvSpPr>
            <p:spPr>
              <a:xfrm>
                <a:off x="5786446" y="3214686"/>
                <a:ext cx="857256" cy="36691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142" name="직선 화살표 연결선 141"/>
              <p:cNvCxnSpPr/>
              <p:nvPr/>
            </p:nvCxnSpPr>
            <p:spPr>
              <a:xfrm>
                <a:off x="5547935" y="3580018"/>
                <a:ext cx="1024329" cy="266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</p:grpSp>
        <p:sp>
          <p:nvSpPr>
            <p:cNvPr id="76" name="Text Box 61"/>
            <p:cNvSpPr txBox="1">
              <a:spLocks noChangeArrowheads="1"/>
            </p:cNvSpPr>
            <p:nvPr/>
          </p:nvSpPr>
          <p:spPr>
            <a:xfrm>
              <a:off x="7072330" y="3929066"/>
              <a:ext cx="857256" cy="366905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b</a:t>
              </a:r>
            </a:p>
          </p:txBody>
        </p:sp>
        <p:cxnSp>
          <p:nvCxnSpPr>
            <p:cNvPr id="77" name="직선 화살표 연결선 76"/>
            <p:cNvCxnSpPr/>
            <p:nvPr/>
          </p:nvCxnSpPr>
          <p:spPr>
            <a:xfrm>
              <a:off x="7048133" y="3606654"/>
              <a:ext cx="452825" cy="9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grpSp>
          <p:nvGrpSpPr>
            <p:cNvPr id="78" name="그룹 81"/>
            <p:cNvGrpSpPr/>
            <p:nvPr/>
          </p:nvGrpSpPr>
          <p:grpSpPr>
            <a:xfrm>
              <a:off x="7500958" y="3357562"/>
              <a:ext cx="500066" cy="500066"/>
              <a:chOff x="7500958" y="3357562"/>
              <a:chExt cx="672900" cy="500066"/>
            </a:xfrm>
          </p:grpSpPr>
          <p:sp>
            <p:nvSpPr>
              <p:cNvPr id="83" name="직사각형 82"/>
              <p:cNvSpPr/>
              <p:nvPr/>
            </p:nvSpPr>
            <p:spPr>
              <a:xfrm>
                <a:off x="7500958" y="3357562"/>
                <a:ext cx="672900" cy="5000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84" name="꺾인 연결선 83"/>
              <p:cNvCxnSpPr/>
              <p:nvPr/>
            </p:nvCxnSpPr>
            <p:spPr>
              <a:xfrm rot="10800000" flipV="1">
                <a:off x="7584049" y="3487480"/>
                <a:ext cx="428628" cy="285752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79" name="타원 78"/>
            <p:cNvSpPr/>
            <p:nvPr/>
          </p:nvSpPr>
          <p:spPr>
            <a:xfrm>
              <a:off x="8286776" y="3357562"/>
              <a:ext cx="500066" cy="5000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r>
                <a:rPr kumimoji="1" lang="en-US" altLang="ko-KR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rPr>
                <a:t>  </a:t>
              </a: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80" name="Text Box 61"/>
            <p:cNvSpPr txBox="1">
              <a:spLocks noChangeArrowheads="1"/>
            </p:cNvSpPr>
            <p:nvPr/>
          </p:nvSpPr>
          <p:spPr>
            <a:xfrm>
              <a:off x="8286776" y="3386080"/>
              <a:ext cx="500066" cy="39554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  <a:sym typeface="Symbol"/>
                </a:rPr>
                <a:t>  y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81" name="직선 화살표 연결선 80"/>
            <p:cNvCxnSpPr/>
            <p:nvPr/>
          </p:nvCxnSpPr>
          <p:spPr>
            <a:xfrm>
              <a:off x="8001024" y="3607595"/>
              <a:ext cx="285752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82" name="Text Box 61"/>
            <p:cNvSpPr txBox="1">
              <a:spLocks noChangeArrowheads="1"/>
            </p:cNvSpPr>
            <p:nvPr/>
          </p:nvSpPr>
          <p:spPr>
            <a:xfrm>
              <a:off x="7286644" y="3071810"/>
              <a:ext cx="857256" cy="36691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</a:t>
              </a:r>
            </a:p>
          </p:txBody>
        </p:sp>
      </p:grpSp>
      <p:grpSp>
        <p:nvGrpSpPr>
          <p:cNvPr id="143" name="그룹 118"/>
          <p:cNvGrpSpPr/>
          <p:nvPr/>
        </p:nvGrpSpPr>
        <p:grpSpPr>
          <a:xfrm>
            <a:off x="8586341" y="4927936"/>
            <a:ext cx="1357322" cy="784830"/>
            <a:chOff x="6572264" y="4857760"/>
            <a:chExt cx="1357322" cy="784830"/>
          </a:xfrm>
        </p:grpSpPr>
        <p:sp>
          <p:nvSpPr>
            <p:cNvPr id="144" name="Text Box 61"/>
            <p:cNvSpPr txBox="1">
              <a:spLocks noChangeArrowheads="1"/>
            </p:cNvSpPr>
            <p:nvPr/>
          </p:nvSpPr>
          <p:spPr>
            <a:xfrm>
              <a:off x="6572264" y="4857760"/>
              <a:ext cx="1357322" cy="776476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  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  <a:sym typeface="Symbol"/>
                </a:rPr>
                <a:t> 0  y =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  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  <a:sym typeface="Symbol"/>
                </a:rPr>
                <a:t>  0  y = </a:t>
              </a: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45" name="타원 144"/>
            <p:cNvSpPr/>
            <p:nvPr/>
          </p:nvSpPr>
          <p:spPr>
            <a:xfrm>
              <a:off x="7715272" y="500063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CC99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6" name="이등변 삼각형 145"/>
            <p:cNvSpPr/>
            <p:nvPr/>
          </p:nvSpPr>
          <p:spPr>
            <a:xfrm>
              <a:off x="7715272" y="535782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rgbClr val="00CC99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47" name="아래쪽 화살표 146"/>
          <p:cNvSpPr/>
          <p:nvPr/>
        </p:nvSpPr>
        <p:spPr>
          <a:xfrm>
            <a:off x="9157845" y="4427870"/>
            <a:ext cx="142876" cy="2857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CC99"/>
          </a:solidFill>
          <a:ln w="9525" cap="flat" cmpd="sng" algn="ctr">
            <a:solidFill>
              <a:srgbClr val="00CC99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4157185" y="1946176"/>
            <a:ext cx="2071702" cy="33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+ b  = 0</a:t>
            </a:r>
            <a:endParaRPr lang="en-US" altLang="ko-KR" sz="1600">
              <a:solidFill>
                <a:srgbClr val="000000"/>
              </a:solidFill>
              <a:latin typeface="Times New Roman"/>
              <a:sym typeface="Symbol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871152" y="5799570"/>
            <a:ext cx="6000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  값 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,</a:t>
            </a: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가 </a:t>
            </a:r>
            <a:r>
              <a:rPr lang="en-US" altLang="ko-KR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 때 원점을 지나지 않아도 됨</a:t>
            </a:r>
            <a:endParaRPr lang="en-US" altLang="ko-KR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50" name="직선 화살표 연결선 149"/>
          <p:cNvCxnSpPr/>
          <p:nvPr/>
        </p:nvCxnSpPr>
        <p:spPr>
          <a:xfrm rot="5400000" flipH="1" flipV="1">
            <a:off x="8514903" y="4213556"/>
            <a:ext cx="28575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28907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바이어스가 있는 신경망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93" name="그룹 40"/>
          <p:cNvGrpSpPr/>
          <p:nvPr/>
        </p:nvGrpSpPr>
        <p:grpSpPr>
          <a:xfrm>
            <a:off x="2019256" y="2932341"/>
            <a:ext cx="3357600" cy="3143272"/>
            <a:chOff x="571472" y="2000240"/>
            <a:chExt cx="3357600" cy="3143272"/>
          </a:xfrm>
        </p:grpSpPr>
        <p:grpSp>
          <p:nvGrpSpPr>
            <p:cNvPr id="94" name="그룹 91"/>
            <p:cNvGrpSpPr/>
            <p:nvPr/>
          </p:nvGrpSpPr>
          <p:grpSpPr>
            <a:xfrm>
              <a:off x="571472" y="2285990"/>
              <a:ext cx="3357600" cy="2571769"/>
              <a:chOff x="7000883" y="4130949"/>
              <a:chExt cx="2212961" cy="1715231"/>
            </a:xfrm>
          </p:grpSpPr>
          <p:cxnSp>
            <p:nvCxnSpPr>
              <p:cNvPr id="111" name="직선 화살표 연결선 110"/>
              <p:cNvCxnSpPr/>
              <p:nvPr/>
            </p:nvCxnSpPr>
            <p:spPr>
              <a:xfrm>
                <a:off x="7286644" y="5572140"/>
                <a:ext cx="164307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cxnSp>
            <p:nvCxnSpPr>
              <p:cNvPr id="112" name="직선 화살표 연결선 111"/>
              <p:cNvCxnSpPr/>
              <p:nvPr/>
            </p:nvCxnSpPr>
            <p:spPr>
              <a:xfrm rot="16200000" flipV="1">
                <a:off x="6644662" y="4928239"/>
                <a:ext cx="1571636" cy="19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arrow"/>
              </a:ln>
              <a:effectLst/>
            </p:spPr>
          </p:cxnSp>
          <p:sp>
            <p:nvSpPr>
              <p:cNvPr id="113" name="Text Box 61"/>
              <p:cNvSpPr txBox="1">
                <a:spLocks noChangeArrowheads="1"/>
              </p:cNvSpPr>
              <p:nvPr/>
            </p:nvSpPr>
            <p:spPr>
              <a:xfrm>
                <a:off x="7000883" y="4130949"/>
                <a:ext cx="430543" cy="26415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Text Box 61"/>
              <p:cNvSpPr txBox="1">
                <a:spLocks noChangeArrowheads="1"/>
              </p:cNvSpPr>
              <p:nvPr/>
            </p:nvSpPr>
            <p:spPr>
              <a:xfrm>
                <a:off x="8783299" y="5599855"/>
                <a:ext cx="430545" cy="24632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  <p:sp>
          <p:nvSpPr>
            <p:cNvPr id="95" name="타원 94"/>
            <p:cNvSpPr/>
            <p:nvPr/>
          </p:nvSpPr>
          <p:spPr>
            <a:xfrm>
              <a:off x="1785917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6" name="타원 95"/>
            <p:cNvSpPr/>
            <p:nvPr/>
          </p:nvSpPr>
          <p:spPr>
            <a:xfrm>
              <a:off x="2285983" y="2643182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7" name="타원 96"/>
            <p:cNvSpPr/>
            <p:nvPr/>
          </p:nvSpPr>
          <p:spPr>
            <a:xfrm>
              <a:off x="2357421" y="285749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8" name="타원 97"/>
            <p:cNvSpPr/>
            <p:nvPr/>
          </p:nvSpPr>
          <p:spPr>
            <a:xfrm>
              <a:off x="1643041" y="3071810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99" name="타원 98"/>
            <p:cNvSpPr/>
            <p:nvPr/>
          </p:nvSpPr>
          <p:spPr>
            <a:xfrm>
              <a:off x="2143107" y="3643314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0" name="타원 99"/>
            <p:cNvSpPr/>
            <p:nvPr/>
          </p:nvSpPr>
          <p:spPr>
            <a:xfrm>
              <a:off x="1785917" y="3795714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1" name="타원 100"/>
            <p:cNvSpPr/>
            <p:nvPr/>
          </p:nvSpPr>
          <p:spPr>
            <a:xfrm>
              <a:off x="1357289" y="392906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2" name="이등변 삼각형 101"/>
            <p:cNvSpPr/>
            <p:nvPr/>
          </p:nvSpPr>
          <p:spPr>
            <a:xfrm>
              <a:off x="3071801" y="300037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3" name="이등변 삼각형 102"/>
            <p:cNvSpPr/>
            <p:nvPr/>
          </p:nvSpPr>
          <p:spPr>
            <a:xfrm>
              <a:off x="3286115" y="321468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4" name="이등변 삼각형 103"/>
            <p:cNvSpPr/>
            <p:nvPr/>
          </p:nvSpPr>
          <p:spPr>
            <a:xfrm>
              <a:off x="3438515" y="34290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5" name="이등변 삼각형 104"/>
            <p:cNvSpPr/>
            <p:nvPr/>
          </p:nvSpPr>
          <p:spPr>
            <a:xfrm>
              <a:off x="2786049" y="358140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6" name="이등변 삼각형 105"/>
            <p:cNvSpPr/>
            <p:nvPr/>
          </p:nvSpPr>
          <p:spPr>
            <a:xfrm>
              <a:off x="2938449" y="40005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7" name="이등변 삼각형 106"/>
            <p:cNvSpPr/>
            <p:nvPr/>
          </p:nvSpPr>
          <p:spPr>
            <a:xfrm>
              <a:off x="2500297" y="415290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8" name="이등변 삼각형 107"/>
            <p:cNvSpPr/>
            <p:nvPr/>
          </p:nvSpPr>
          <p:spPr>
            <a:xfrm>
              <a:off x="3143239" y="235743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09" name="이등변 삼각형 108"/>
            <p:cNvSpPr/>
            <p:nvPr/>
          </p:nvSpPr>
          <p:spPr>
            <a:xfrm>
              <a:off x="3295639" y="264318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cxnSp>
          <p:nvCxnSpPr>
            <p:cNvPr id="110" name="직선 연결선 109"/>
            <p:cNvCxnSpPr/>
            <p:nvPr/>
          </p:nvCxnSpPr>
          <p:spPr>
            <a:xfrm rot="5400000">
              <a:off x="964380" y="2964653"/>
              <a:ext cx="3143272" cy="12144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grpSp>
        <p:nvGrpSpPr>
          <p:cNvPr id="115" name="그룹 114"/>
          <p:cNvGrpSpPr/>
          <p:nvPr/>
        </p:nvGrpSpPr>
        <p:grpSpPr>
          <a:xfrm>
            <a:off x="6193456" y="3646721"/>
            <a:ext cx="3714776" cy="1873672"/>
            <a:chOff x="5072066" y="2714620"/>
            <a:chExt cx="3714776" cy="1873672"/>
          </a:xfrm>
        </p:grpSpPr>
        <p:grpSp>
          <p:nvGrpSpPr>
            <p:cNvPr id="116" name="그룹 60"/>
            <p:cNvGrpSpPr/>
            <p:nvPr/>
          </p:nvGrpSpPr>
          <p:grpSpPr>
            <a:xfrm>
              <a:off x="5072066" y="2714620"/>
              <a:ext cx="2000264" cy="1873672"/>
              <a:chOff x="5072066" y="2714620"/>
              <a:chExt cx="2000264" cy="1873672"/>
            </a:xfrm>
          </p:grpSpPr>
          <p:sp>
            <p:nvSpPr>
              <p:cNvPr id="126" name="타원 125"/>
              <p:cNvSpPr/>
              <p:nvPr/>
            </p:nvSpPr>
            <p:spPr>
              <a:xfrm>
                <a:off x="5072066" y="2714620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27" name="타원 126"/>
              <p:cNvSpPr/>
              <p:nvPr/>
            </p:nvSpPr>
            <p:spPr>
              <a:xfrm>
                <a:off x="6572264" y="3384198"/>
                <a:ext cx="475869" cy="444912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28" name="Text Box 61"/>
              <p:cNvSpPr txBox="1">
                <a:spLocks noChangeArrowheads="1"/>
              </p:cNvSpPr>
              <p:nvPr/>
            </p:nvSpPr>
            <p:spPr>
              <a:xfrm>
                <a:off x="5141586" y="2714620"/>
                <a:ext cx="430546" cy="396059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129" name="직선 화살표 연결선 128"/>
              <p:cNvCxnSpPr/>
              <p:nvPr/>
            </p:nvCxnSpPr>
            <p:spPr>
              <a:xfrm>
                <a:off x="5547935" y="2937076"/>
                <a:ext cx="1094018" cy="51227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130" name="Text Box 61"/>
              <p:cNvSpPr txBox="1">
                <a:spLocks noChangeArrowheads="1"/>
              </p:cNvSpPr>
              <p:nvPr/>
            </p:nvSpPr>
            <p:spPr>
              <a:xfrm>
                <a:off x="6641784" y="3384198"/>
                <a:ext cx="430546" cy="39323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  <a:sym typeface="Symbol"/>
                  </a:rPr>
                  <a:t>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31" name="Text Box 61"/>
              <p:cNvSpPr txBox="1">
                <a:spLocks noChangeArrowheads="1"/>
              </p:cNvSpPr>
              <p:nvPr/>
            </p:nvSpPr>
            <p:spPr>
              <a:xfrm>
                <a:off x="5786446" y="2786058"/>
                <a:ext cx="857256" cy="36691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32" name="타원 131"/>
              <p:cNvSpPr/>
              <p:nvPr/>
            </p:nvSpPr>
            <p:spPr>
              <a:xfrm>
                <a:off x="5072066" y="3357562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33" name="Text Box 61"/>
              <p:cNvSpPr txBox="1">
                <a:spLocks noChangeArrowheads="1"/>
              </p:cNvSpPr>
              <p:nvPr/>
            </p:nvSpPr>
            <p:spPr>
              <a:xfrm>
                <a:off x="5143504" y="3386080"/>
                <a:ext cx="430546" cy="39554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34" name="Text Box 61"/>
              <p:cNvSpPr txBox="1">
                <a:spLocks noChangeArrowheads="1"/>
              </p:cNvSpPr>
              <p:nvPr/>
            </p:nvSpPr>
            <p:spPr>
              <a:xfrm>
                <a:off x="5786446" y="3214686"/>
                <a:ext cx="857256" cy="36691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dirty="0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 dirty="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135" name="직선 화살표 연결선 134"/>
              <p:cNvCxnSpPr/>
              <p:nvPr/>
            </p:nvCxnSpPr>
            <p:spPr>
              <a:xfrm>
                <a:off x="5547935" y="3580018"/>
                <a:ext cx="1024329" cy="266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136" name="타원 135"/>
              <p:cNvSpPr/>
              <p:nvPr/>
            </p:nvSpPr>
            <p:spPr>
              <a:xfrm>
                <a:off x="5096263" y="4143380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137" name="직선 화살표 연결선 136"/>
              <p:cNvCxnSpPr/>
              <p:nvPr/>
            </p:nvCxnSpPr>
            <p:spPr>
              <a:xfrm flipV="1">
                <a:off x="5572132" y="3763954"/>
                <a:ext cx="1069821" cy="60188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138" name="Text Box 61"/>
              <p:cNvSpPr txBox="1">
                <a:spLocks noChangeArrowheads="1"/>
              </p:cNvSpPr>
              <p:nvPr/>
            </p:nvSpPr>
            <p:spPr>
              <a:xfrm>
                <a:off x="5143504" y="4171898"/>
                <a:ext cx="430546" cy="307777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1400" dirty="0" smtClean="0">
                    <a:solidFill>
                      <a:srgbClr val="000000"/>
                    </a:solidFill>
                    <a:latin typeface="Times New Roman"/>
                  </a:rPr>
                  <a:t>x3</a:t>
                </a:r>
                <a:endParaRPr lang="en-US" altLang="ko-KR" sz="1400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  <p:sp>
          <p:nvSpPr>
            <p:cNvPr id="117" name="Text Box 61"/>
            <p:cNvSpPr txBox="1">
              <a:spLocks noChangeArrowheads="1"/>
            </p:cNvSpPr>
            <p:nvPr/>
          </p:nvSpPr>
          <p:spPr>
            <a:xfrm>
              <a:off x="5649840" y="3763940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 dirty="0">
                  <a:solidFill>
                    <a:srgbClr val="000000"/>
                  </a:solidFill>
                  <a:latin typeface="Times New Roman"/>
                </a:rPr>
                <a:t>3</a:t>
              </a:r>
              <a:r>
                <a:rPr lang="en-US" altLang="ko-KR" dirty="0">
                  <a:solidFill>
                    <a:srgbClr val="000000"/>
                  </a:solidFill>
                  <a:latin typeface="Times New Roman"/>
                </a:rPr>
                <a:t>(b)</a:t>
              </a:r>
            </a:p>
          </p:txBody>
        </p:sp>
        <p:cxnSp>
          <p:nvCxnSpPr>
            <p:cNvPr id="118" name="직선 화살표 연결선 117"/>
            <p:cNvCxnSpPr/>
            <p:nvPr/>
          </p:nvCxnSpPr>
          <p:spPr>
            <a:xfrm>
              <a:off x="7048133" y="3606654"/>
              <a:ext cx="452825" cy="9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grpSp>
          <p:nvGrpSpPr>
            <p:cNvPr id="119" name="그룹 81"/>
            <p:cNvGrpSpPr/>
            <p:nvPr/>
          </p:nvGrpSpPr>
          <p:grpSpPr>
            <a:xfrm>
              <a:off x="7500958" y="3357562"/>
              <a:ext cx="500066" cy="500066"/>
              <a:chOff x="7500958" y="3357562"/>
              <a:chExt cx="672900" cy="500066"/>
            </a:xfrm>
          </p:grpSpPr>
          <p:sp>
            <p:nvSpPr>
              <p:cNvPr id="124" name="직사각형 123"/>
              <p:cNvSpPr/>
              <p:nvPr/>
            </p:nvSpPr>
            <p:spPr>
              <a:xfrm>
                <a:off x="7500958" y="3357562"/>
                <a:ext cx="672900" cy="5000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125" name="꺾인 연결선 124"/>
              <p:cNvCxnSpPr/>
              <p:nvPr/>
            </p:nvCxnSpPr>
            <p:spPr>
              <a:xfrm rot="10800000" flipV="1">
                <a:off x="7639898" y="3487480"/>
                <a:ext cx="428628" cy="285752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120" name="타원 119"/>
            <p:cNvSpPr/>
            <p:nvPr/>
          </p:nvSpPr>
          <p:spPr>
            <a:xfrm>
              <a:off x="8286776" y="3357562"/>
              <a:ext cx="500066" cy="5000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r>
                <a:rPr kumimoji="1" lang="en-US" altLang="ko-KR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rPr>
                <a:t>  </a:t>
              </a: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1" name="Text Box 61"/>
            <p:cNvSpPr txBox="1">
              <a:spLocks noChangeArrowheads="1"/>
            </p:cNvSpPr>
            <p:nvPr/>
          </p:nvSpPr>
          <p:spPr>
            <a:xfrm>
              <a:off x="8286776" y="3386080"/>
              <a:ext cx="500066" cy="39554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  <a:sym typeface="Symbol"/>
                </a:rPr>
                <a:t>  y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122" name="직선 화살표 연결선 121"/>
            <p:cNvCxnSpPr/>
            <p:nvPr/>
          </p:nvCxnSpPr>
          <p:spPr>
            <a:xfrm>
              <a:off x="8001024" y="3607595"/>
              <a:ext cx="285752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123" name="Text Box 61"/>
            <p:cNvSpPr txBox="1">
              <a:spLocks noChangeArrowheads="1"/>
            </p:cNvSpPr>
            <p:nvPr/>
          </p:nvSpPr>
          <p:spPr>
            <a:xfrm>
              <a:off x="7072330" y="3071810"/>
              <a:ext cx="857256" cy="36691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</a:t>
              </a:r>
            </a:p>
          </p:txBody>
        </p:sp>
      </p:grpSp>
      <p:grpSp>
        <p:nvGrpSpPr>
          <p:cNvPr id="139" name="그룹 118"/>
          <p:cNvGrpSpPr/>
          <p:nvPr/>
        </p:nvGrpSpPr>
        <p:grpSpPr>
          <a:xfrm>
            <a:off x="8305816" y="5432671"/>
            <a:ext cx="1357322" cy="784830"/>
            <a:chOff x="6572264" y="4857760"/>
            <a:chExt cx="1357322" cy="784830"/>
          </a:xfrm>
        </p:grpSpPr>
        <p:sp>
          <p:nvSpPr>
            <p:cNvPr id="140" name="Text Box 61"/>
            <p:cNvSpPr txBox="1">
              <a:spLocks noChangeArrowheads="1"/>
            </p:cNvSpPr>
            <p:nvPr/>
          </p:nvSpPr>
          <p:spPr>
            <a:xfrm>
              <a:off x="6572264" y="4857760"/>
              <a:ext cx="1357322" cy="7764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  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  <a:sym typeface="Symbol"/>
                </a:rPr>
                <a:t> 0  y =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Z  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  <a:sym typeface="Symbol"/>
                </a:rPr>
                <a:t>  0  y = </a:t>
              </a: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51" name="타원 150"/>
            <p:cNvSpPr/>
            <p:nvPr/>
          </p:nvSpPr>
          <p:spPr>
            <a:xfrm>
              <a:off x="7715272" y="5000636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52" name="이등변 삼각형 151"/>
            <p:cNvSpPr/>
            <p:nvPr/>
          </p:nvSpPr>
          <p:spPr>
            <a:xfrm>
              <a:off x="7715272" y="535782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53" name="아래쪽 화살표 152"/>
          <p:cNvSpPr/>
          <p:nvPr/>
        </p:nvSpPr>
        <p:spPr>
          <a:xfrm>
            <a:off x="8868103" y="4932605"/>
            <a:ext cx="152093" cy="24350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highlight>
                <a:srgbClr val="000000"/>
              </a:highlight>
              <a:latin typeface="Times New Roman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자유형: 도형 121"/>
              <p:cNvSpPr/>
              <p:nvPr/>
            </p:nvSpPr>
            <p:spPr>
              <a:xfrm>
                <a:off x="3283496" y="2425682"/>
                <a:ext cx="5338852" cy="5428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lang="ar-AE" sz="1800" i="1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lang="ar-AE" sz="1800" i="1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∙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1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lang="ar-AE" sz="1800" i="1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lang="ar-AE" sz="1800" i="1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lang="ar-AE" altLang="ko-KR" sz="1800" i="1" smtClean="0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ko-KR" altLang="ar-AE" sz="1800" b="0" i="1" smtClean="0">
                              <a:latin typeface="Cambria Math" panose="02040503050406030204" pitchFamily="18" charset="0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sym typeface="Cambria Math"/>
                            </a:rPr>
                            <m:t>3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  <a:sym typeface="Cambria Math"/>
                        </a:rPr>
                        <m:t>∙</m:t>
                      </m:r>
                      <m:r>
                        <a:rPr lang="ar-AE" altLang="ko-KR" i="1">
                          <a:latin typeface="Cambria Math"/>
                          <a:sym typeface="Cambria Math"/>
                        </a:rPr>
                        <m:t>1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4" name="자유형: 도형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496" y="2425682"/>
                <a:ext cx="5338852" cy="5428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입력 신호와 가중치가 세 개인 신경망으로 표현 가능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4466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신경망에 대한 수학적 모델링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3555666" y="3248430"/>
            <a:ext cx="475869" cy="444912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383154" y="1621639"/>
            <a:ext cx="7850446" cy="4131328"/>
            <a:chOff x="565778" y="1000107"/>
            <a:chExt cx="7850446" cy="4131328"/>
          </a:xfrm>
        </p:grpSpPr>
        <p:grpSp>
          <p:nvGrpSpPr>
            <p:cNvPr id="12" name="그룹 11"/>
            <p:cNvGrpSpPr/>
            <p:nvPr/>
          </p:nvGrpSpPr>
          <p:grpSpPr>
            <a:xfrm>
              <a:off x="565778" y="1000107"/>
              <a:ext cx="7850446" cy="4131328"/>
              <a:chOff x="898869" y="785793"/>
              <a:chExt cx="8249618" cy="4643471"/>
            </a:xfrm>
          </p:grpSpPr>
          <p:sp>
            <p:nvSpPr>
              <p:cNvPr id="15" name="Text Box 61"/>
              <p:cNvSpPr txBox="1">
                <a:spLocks noChangeArrowheads="1"/>
              </p:cNvSpPr>
              <p:nvPr/>
            </p:nvSpPr>
            <p:spPr>
              <a:xfrm>
                <a:off x="2214545" y="785793"/>
                <a:ext cx="571504" cy="58808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800" dirty="0" err="1">
                    <a:solidFill>
                      <a:srgbClr val="FF0000"/>
                    </a:solidFill>
                    <a:latin typeface="Times New Roman"/>
                  </a:rPr>
                  <a:t>w</a:t>
                </a:r>
                <a:r>
                  <a:rPr lang="en-US" altLang="ko-KR" sz="2800" baseline="-25000" dirty="0" err="1">
                    <a:solidFill>
                      <a:srgbClr val="FF0000"/>
                    </a:solidFill>
                    <a:latin typeface="Times New Roman"/>
                  </a:rPr>
                  <a:t>i</a:t>
                </a:r>
                <a:endParaRPr lang="en-US" altLang="ko-KR" sz="2800" baseline="-25000" dirty="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16" name="Text Box 61"/>
              <p:cNvSpPr txBox="1">
                <a:spLocks noChangeArrowheads="1"/>
              </p:cNvSpPr>
              <p:nvPr/>
            </p:nvSpPr>
            <p:spPr>
              <a:xfrm>
                <a:off x="928660" y="785794"/>
                <a:ext cx="571504" cy="58808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800" dirty="0">
                    <a:solidFill>
                      <a:srgbClr val="FF0000"/>
                    </a:solidFill>
                    <a:latin typeface="Times New Roman"/>
                  </a:rPr>
                  <a:t>x</a:t>
                </a:r>
                <a:r>
                  <a:rPr lang="en-US" altLang="ko-KR" sz="2800" baseline="-25000" dirty="0">
                    <a:solidFill>
                      <a:srgbClr val="FF0000"/>
                    </a:solidFill>
                    <a:latin typeface="Times New Roman"/>
                  </a:rPr>
                  <a:t>i</a:t>
                </a:r>
              </a:p>
            </p:txBody>
          </p:sp>
          <p:grpSp>
            <p:nvGrpSpPr>
              <p:cNvPr id="17" name="그룹 16"/>
              <p:cNvGrpSpPr/>
              <p:nvPr/>
            </p:nvGrpSpPr>
            <p:grpSpPr>
              <a:xfrm>
                <a:off x="898869" y="1314377"/>
                <a:ext cx="8249618" cy="4114887"/>
                <a:chOff x="898869" y="1314377"/>
                <a:chExt cx="8249618" cy="4114887"/>
              </a:xfrm>
            </p:grpSpPr>
            <p:sp>
              <p:nvSpPr>
                <p:cNvPr id="18" name="타원 17"/>
                <p:cNvSpPr/>
                <p:nvPr/>
              </p:nvSpPr>
              <p:spPr>
                <a:xfrm>
                  <a:off x="2143108" y="1357298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>
                  <a:off x="2143108" y="2000240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6" name="타원 25"/>
                <p:cNvSpPr/>
                <p:nvPr/>
              </p:nvSpPr>
              <p:spPr>
                <a:xfrm>
                  <a:off x="2143108" y="3214686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2143108" y="4929198"/>
                  <a:ext cx="500066" cy="50006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2197131" y="3929065"/>
                  <a:ext cx="517481" cy="928693"/>
                </a:xfrm>
                <a:prstGeom prst="rect">
                  <a:avLst/>
                </a:prstGeom>
                <a:noFill/>
              </p:spPr>
              <p:txBody>
                <a:bodyPr vert="eaVert"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000"/>
                    <a:t>……</a:t>
                  </a:r>
                </a:p>
              </p:txBody>
            </p:sp>
            <p:sp>
              <p:nvSpPr>
                <p:cNvPr id="29" name="타원 28"/>
                <p:cNvSpPr/>
                <p:nvPr/>
              </p:nvSpPr>
              <p:spPr>
                <a:xfrm>
                  <a:off x="4429124" y="2857496"/>
                  <a:ext cx="714380" cy="642942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0" name="직사각형 29"/>
                <p:cNvSpPr/>
                <p:nvPr/>
              </p:nvSpPr>
              <p:spPr>
                <a:xfrm>
                  <a:off x="6378544" y="2872843"/>
                  <a:ext cx="857256" cy="64294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cxnSp>
              <p:nvCxnSpPr>
                <p:cNvPr id="31" name="직선 화살표 연결선 30"/>
                <p:cNvCxnSpPr/>
                <p:nvPr/>
              </p:nvCxnSpPr>
              <p:spPr>
                <a:xfrm>
                  <a:off x="2643174" y="1607331"/>
                  <a:ext cx="1857388" cy="1250165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2" name="직선 화살표 연결선 31"/>
                <p:cNvCxnSpPr/>
                <p:nvPr/>
              </p:nvCxnSpPr>
              <p:spPr>
                <a:xfrm>
                  <a:off x="2643174" y="2250273"/>
                  <a:ext cx="1785950" cy="750099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3" name="직선 화살표 연결선 32"/>
                <p:cNvCxnSpPr/>
                <p:nvPr/>
              </p:nvCxnSpPr>
              <p:spPr>
                <a:xfrm>
                  <a:off x="2643174" y="2821777"/>
                  <a:ext cx="1714512" cy="321471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4" name="직선 화살표 연결선 33"/>
                <p:cNvCxnSpPr/>
                <p:nvPr/>
              </p:nvCxnSpPr>
              <p:spPr>
                <a:xfrm flipV="1">
                  <a:off x="2643174" y="3286124"/>
                  <a:ext cx="1714512" cy="178595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5" name="직선 화살표 연결선 34"/>
                <p:cNvCxnSpPr/>
                <p:nvPr/>
              </p:nvCxnSpPr>
              <p:spPr>
                <a:xfrm flipV="1">
                  <a:off x="2631472" y="3523163"/>
                  <a:ext cx="1785950" cy="1678793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6" name="직선 화살표 연결선 35"/>
                <p:cNvCxnSpPr/>
                <p:nvPr/>
              </p:nvCxnSpPr>
              <p:spPr>
                <a:xfrm>
                  <a:off x="5415794" y="3178967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7" name="직선 화살표 연결선 36"/>
                <p:cNvCxnSpPr/>
                <p:nvPr/>
              </p:nvCxnSpPr>
              <p:spPr>
                <a:xfrm>
                  <a:off x="7381403" y="3143248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8" name="직선 화살표 연결선 37"/>
                <p:cNvCxnSpPr/>
                <p:nvPr/>
              </p:nvCxnSpPr>
              <p:spPr>
                <a:xfrm>
                  <a:off x="1285852" y="1570024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39" name="직선 화살표 연결선 38"/>
                <p:cNvCxnSpPr/>
                <p:nvPr/>
              </p:nvCxnSpPr>
              <p:spPr>
                <a:xfrm>
                  <a:off x="1285852" y="2214554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40" name="직선 화살표 연결선 39"/>
                <p:cNvCxnSpPr/>
                <p:nvPr/>
              </p:nvCxnSpPr>
              <p:spPr>
                <a:xfrm>
                  <a:off x="1285852" y="2786058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41" name="직선 화살표 연결선 40"/>
                <p:cNvCxnSpPr/>
                <p:nvPr/>
              </p:nvCxnSpPr>
              <p:spPr>
                <a:xfrm>
                  <a:off x="1285852" y="3429000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42" name="직선 화살표 연결선 41"/>
                <p:cNvCxnSpPr/>
                <p:nvPr/>
              </p:nvCxnSpPr>
              <p:spPr>
                <a:xfrm>
                  <a:off x="1285852" y="5143512"/>
                  <a:ext cx="85725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898869" y="3929065"/>
                  <a:ext cx="529858" cy="928693"/>
                </a:xfrm>
                <a:prstGeom prst="rect">
                  <a:avLst/>
                </a:prstGeom>
                <a:noFill/>
              </p:spPr>
              <p:txBody>
                <a:bodyPr vert="eaVert"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000"/>
                    <a:t>……</a:t>
                  </a:r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3197261" y="3500437"/>
                  <a:ext cx="517481" cy="928693"/>
                </a:xfrm>
                <a:prstGeom prst="rect">
                  <a:avLst/>
                </a:prstGeom>
                <a:noFill/>
              </p:spPr>
              <p:txBody>
                <a:bodyPr vert="eaVert"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000"/>
                    <a:t>……</a:t>
                  </a:r>
                </a:p>
              </p:txBody>
            </p:sp>
            <p:sp>
              <p:nvSpPr>
                <p:cNvPr id="45" name="Text Box 61"/>
                <p:cNvSpPr txBox="1">
                  <a:spLocks noChangeArrowheads="1"/>
                </p:cNvSpPr>
                <p:nvPr/>
              </p:nvSpPr>
              <p:spPr>
                <a:xfrm>
                  <a:off x="904850" y="1314377"/>
                  <a:ext cx="452438" cy="44352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6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1928801"/>
                  <a:ext cx="452438" cy="439324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7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2500305"/>
                  <a:ext cx="452438" cy="43522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8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3143248"/>
                  <a:ext cx="452438" cy="44533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49" name="Text Box 61"/>
                <p:cNvSpPr txBox="1">
                  <a:spLocks noChangeArrowheads="1"/>
                </p:cNvSpPr>
                <p:nvPr/>
              </p:nvSpPr>
              <p:spPr>
                <a:xfrm>
                  <a:off x="928660" y="4857760"/>
                  <a:ext cx="452438" cy="443748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n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0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1416593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1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2059536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2" name="Text Box 61"/>
                <p:cNvSpPr txBox="1">
                  <a:spLocks noChangeArrowheads="1"/>
                </p:cNvSpPr>
                <p:nvPr/>
              </p:nvSpPr>
              <p:spPr>
                <a:xfrm>
                  <a:off x="2181048" y="2552259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3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3273982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4" name="Text Box 61"/>
                <p:cNvSpPr txBox="1">
                  <a:spLocks noChangeArrowheads="1"/>
                </p:cNvSpPr>
                <p:nvPr/>
              </p:nvSpPr>
              <p:spPr>
                <a:xfrm>
                  <a:off x="2181049" y="4988495"/>
                  <a:ext cx="571504" cy="415116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w</a:t>
                  </a:r>
                  <a:r>
                    <a:rPr lang="en-US" altLang="ko-KR" baseline="-25000">
                      <a:solidFill>
                        <a:srgbClr val="000000"/>
                      </a:solidFill>
                      <a:latin typeface="Times New Roman"/>
                    </a:rPr>
                    <a:t>n</a:t>
                  </a:r>
                  <a:endParaRPr lang="en-US" altLang="ko-KR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5" name="Text Box 70"/>
                <p:cNvSpPr txBox="1">
                  <a:spLocks noChangeArrowheads="1"/>
                </p:cNvSpPr>
                <p:nvPr/>
              </p:nvSpPr>
              <p:spPr>
                <a:xfrm>
                  <a:off x="4571999" y="2928933"/>
                  <a:ext cx="357207" cy="1055764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800">
                      <a:solidFill>
                        <a:srgbClr val="000000"/>
                      </a:solidFill>
                      <a:latin typeface="Times New Roman"/>
                      <a:sym typeface="Symbol"/>
                    </a:rPr>
                    <a:t> </a:t>
                  </a:r>
                  <a:endParaRPr lang="en-US" altLang="ko-KR" sz="2800" baseline="-25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6" name="Text Box 61"/>
                <p:cNvSpPr txBox="1">
                  <a:spLocks noChangeArrowheads="1"/>
                </p:cNvSpPr>
                <p:nvPr/>
              </p:nvSpPr>
              <p:spPr>
                <a:xfrm>
                  <a:off x="8470839" y="2793139"/>
                  <a:ext cx="677648" cy="588081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800" dirty="0">
                      <a:solidFill>
                        <a:srgbClr val="FF0000"/>
                      </a:solidFill>
                      <a:latin typeface="Times New Roman"/>
                    </a:rPr>
                    <a:t>y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6427381" y="2872843"/>
                  <a:ext cx="785818" cy="5812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 sz="2800" dirty="0">
                      <a:solidFill>
                        <a:srgbClr val="000000"/>
                      </a:solidFill>
                      <a:latin typeface="Times New Roman"/>
                      <a:sym typeface="Symbol"/>
                    </a:rPr>
                    <a:t>(z)</a:t>
                  </a:r>
                  <a:endParaRPr lang="en-US" altLang="ko-KR" sz="2800" baseline="-25000" dirty="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8" name="Text Box 61"/>
                <p:cNvSpPr txBox="1">
                  <a:spLocks noChangeArrowheads="1"/>
                </p:cNvSpPr>
                <p:nvPr/>
              </p:nvSpPr>
              <p:spPr>
                <a:xfrm>
                  <a:off x="5743364" y="2552258"/>
                  <a:ext cx="571503" cy="575977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800" dirty="0">
                      <a:solidFill>
                        <a:srgbClr val="FF0000"/>
                      </a:solidFill>
                      <a:latin typeface="Times New Roman"/>
                    </a:rPr>
                    <a:t>z</a:t>
                  </a:r>
                </a:p>
              </p:txBody>
            </p:sp>
          </p:grpSp>
        </p:grpSp>
        <p:sp>
          <p:nvSpPr>
            <p:cNvPr id="13" name="Text Box 61"/>
            <p:cNvSpPr txBox="1">
              <a:spLocks noChangeArrowheads="1"/>
            </p:cNvSpPr>
            <p:nvPr/>
          </p:nvSpPr>
          <p:spPr>
            <a:xfrm>
              <a:off x="3516118" y="3584082"/>
              <a:ext cx="1714512" cy="3385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rgbClr val="000000"/>
                  </a:solidFill>
                  <a:latin typeface="Times New Roman"/>
                </a:rPr>
                <a:t>transfer function</a:t>
              </a:r>
            </a:p>
          </p:txBody>
        </p:sp>
        <p:sp>
          <p:nvSpPr>
            <p:cNvPr id="14" name="Text Box 61"/>
            <p:cNvSpPr txBox="1">
              <a:spLocks noChangeArrowheads="1"/>
            </p:cNvSpPr>
            <p:nvPr/>
          </p:nvSpPr>
          <p:spPr>
            <a:xfrm>
              <a:off x="5360132" y="3587976"/>
              <a:ext cx="2428892" cy="33855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rgbClr val="000000"/>
                  </a:solidFill>
                  <a:latin typeface="Times New Roman"/>
                </a:rPr>
                <a:t>activation function</a:t>
              </a:r>
            </a:p>
          </p:txBody>
        </p:sp>
      </p:grpSp>
      <p:sp>
        <p:nvSpPr>
          <p:cNvPr id="59" name="Text Box 61">
            <a:extLst>
              <a:ext uri="{FF2B5EF4-FFF2-40B4-BE49-F238E27FC236}">
                <a16:creationId xmlns="" xmlns:a16="http://schemas.microsoft.com/office/drawing/2014/main" id="{36647CAC-B34C-46AC-B89B-3C4A03C04FC1}"/>
              </a:ext>
            </a:extLst>
          </p:cNvPr>
          <p:cNvSpPr txBox="1">
            <a:spLocks noChangeArrowheads="1"/>
          </p:cNvSpPr>
          <p:nvPr/>
        </p:nvSpPr>
        <p:spPr>
          <a:xfrm>
            <a:off x="2176615" y="6017796"/>
            <a:ext cx="855008" cy="33855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sp>
        <p:nvSpPr>
          <p:cNvPr id="60" name="Text Box 61">
            <a:extLst>
              <a:ext uri="{FF2B5EF4-FFF2-40B4-BE49-F238E27FC236}">
                <a16:creationId xmlns="" xmlns:a16="http://schemas.microsoft.com/office/drawing/2014/main" id="{BEDC73C6-FEE5-4F29-BC9F-DFF669DF0B40}"/>
              </a:ext>
            </a:extLst>
          </p:cNvPr>
          <p:cNvSpPr txBox="1">
            <a:spLocks noChangeArrowheads="1"/>
          </p:cNvSpPr>
          <p:nvPr/>
        </p:nvSpPr>
        <p:spPr>
          <a:xfrm>
            <a:off x="3447714" y="6011699"/>
            <a:ext cx="855008" cy="33855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weight</a:t>
            </a:r>
          </a:p>
        </p:txBody>
      </p:sp>
      <p:sp>
        <p:nvSpPr>
          <p:cNvPr id="61" name="Text Box 61">
            <a:extLst>
              <a:ext uri="{FF2B5EF4-FFF2-40B4-BE49-F238E27FC236}">
                <a16:creationId xmlns="" xmlns:a16="http://schemas.microsoft.com/office/drawing/2014/main" id="{395C67E2-1AC0-43DB-A48F-6F78E7A6091C}"/>
              </a:ext>
            </a:extLst>
          </p:cNvPr>
          <p:cNvSpPr txBox="1">
            <a:spLocks noChangeArrowheads="1"/>
          </p:cNvSpPr>
          <p:nvPr/>
        </p:nvSpPr>
        <p:spPr>
          <a:xfrm>
            <a:off x="9306584" y="4216034"/>
            <a:ext cx="855008" cy="33855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output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="" xmlns:a16="http://schemas.microsoft.com/office/drawing/2014/main" id="{E1C49973-078A-46C4-A5B2-930C1C3B7FDA}"/>
              </a:ext>
            </a:extLst>
          </p:cNvPr>
          <p:cNvCxnSpPr/>
          <p:nvPr/>
        </p:nvCxnSpPr>
        <p:spPr>
          <a:xfrm rot="5400000" flipH="1" flipV="1">
            <a:off x="6629479" y="4263232"/>
            <a:ext cx="85725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63" name="Text Box 61">
            <a:extLst>
              <a:ext uri="{FF2B5EF4-FFF2-40B4-BE49-F238E27FC236}">
                <a16:creationId xmlns="" xmlns:a16="http://schemas.microsoft.com/office/drawing/2014/main" id="{024BCEFE-2E4C-4ACE-80E8-03973A8D6596}"/>
              </a:ext>
            </a:extLst>
          </p:cNvPr>
          <p:cNvSpPr txBox="1">
            <a:spLocks noChangeArrowheads="1"/>
          </p:cNvSpPr>
          <p:nvPr/>
        </p:nvSpPr>
        <p:spPr>
          <a:xfrm>
            <a:off x="6912519" y="4693863"/>
            <a:ext cx="430546" cy="40011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50000"/>
              </a:spcBef>
              <a:defRPr/>
            </a:pPr>
            <a:r>
              <a:rPr lang="en-US" altLang="ko-KR" sz="2000">
                <a:solidFill>
                  <a:srgbClr val="000000"/>
                </a:solidFill>
                <a:latin typeface="Times New Roman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="" xmlns:a16="http://schemas.microsoft.com/office/drawing/2014/main" id="{651D24CC-B6C8-4140-937E-81C558217970}"/>
                  </a:ext>
                </a:extLst>
              </p:cNvPr>
              <p:cNvSpPr txBox="1"/>
              <p:nvPr/>
            </p:nvSpPr>
            <p:spPr>
              <a:xfrm>
                <a:off x="7295812" y="5578486"/>
                <a:ext cx="2512413" cy="756233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ko-KR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ko-KR" dirty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w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b="0" i="0" baseline="-25000" dirty="0" smtClean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b="0" i="0" dirty="0" smtClean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baseline="-25000" dirty="0">
                                      <a:solidFill>
                                        <a:srgbClr val="000000"/>
                                      </a:solidFill>
                                      <a:latin typeface="Times New Roman" pitchFamily="18" charset="0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ko-KR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51D24CC-B6C8-4140-937E-81C558217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812" y="5578486"/>
                <a:ext cx="2512413" cy="756233"/>
              </a:xfrm>
              <a:prstGeom prst="rect">
                <a:avLst/>
              </a:prstGeom>
              <a:blipFill rotWithShape="0">
                <a:blip r:embed="rId2"/>
                <a:stretch>
                  <a:fillRect b="-56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직사각형 64"/>
          <p:cNvSpPr/>
          <p:nvPr/>
        </p:nvSpPr>
        <p:spPr>
          <a:xfrm>
            <a:off x="6498324" y="5093973"/>
            <a:ext cx="1117977" cy="365511"/>
          </a:xfrm>
          <a:prstGeom prst="rect">
            <a:avLst/>
          </a:prstGeom>
          <a:solidFill>
            <a:srgbClr val="37AADA"/>
          </a:solidFill>
          <a:ln w="2540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바이어스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예측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7377122" y="3111121"/>
            <a:ext cx="2214578" cy="2942983"/>
            <a:chOff x="6786578" y="3929066"/>
            <a:chExt cx="2214578" cy="2942983"/>
          </a:xfrm>
        </p:grpSpPr>
        <p:sp>
          <p:nvSpPr>
            <p:cNvPr id="14" name="TextBox 13"/>
            <p:cNvSpPr txBox="1"/>
            <p:nvPr/>
          </p:nvSpPr>
          <p:spPr>
            <a:xfrm>
              <a:off x="7072330" y="6143644"/>
              <a:ext cx="1643074" cy="7169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solidFill>
                    <a:srgbClr val="FF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FF0000"/>
                  </a:solidFill>
                  <a:latin typeface="Times New Roman"/>
                </a:rPr>
                <a:t>1</a:t>
              </a:r>
              <a:r>
                <a:rPr lang="en-US" altLang="ko-KR" sz="1600">
                  <a:solidFill>
                    <a:srgbClr val="FF0000"/>
                  </a:solidFill>
                  <a:latin typeface="Times New Roman"/>
                </a:rPr>
                <a:t>x</a:t>
              </a:r>
              <a:r>
                <a:rPr lang="en-US" altLang="ko-KR" sz="1600" baseline="-25000">
                  <a:solidFill>
                    <a:srgbClr val="FF0000"/>
                  </a:solidFill>
                  <a:latin typeface="Times New Roman"/>
                </a:rPr>
                <a:t>1 </a:t>
              </a:r>
              <a:r>
                <a:rPr lang="en-US" altLang="ko-KR" sz="1600">
                  <a:solidFill>
                    <a:srgbClr val="FF0000"/>
                  </a:solidFill>
                  <a:latin typeface="Times New Roman"/>
                  <a:sym typeface="Symbol"/>
                </a:rPr>
                <a:t>+ </a:t>
              </a:r>
              <a:r>
                <a:rPr lang="en-US" altLang="ko-KR" sz="1600">
                  <a:solidFill>
                    <a:srgbClr val="FF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FF0000"/>
                  </a:solidFill>
                  <a:latin typeface="Times New Roman"/>
                </a:rPr>
                <a:t>2</a:t>
              </a:r>
              <a:r>
                <a:rPr lang="en-US" altLang="ko-KR" sz="1600">
                  <a:solidFill>
                    <a:srgbClr val="FF0000"/>
                  </a:solidFill>
                  <a:latin typeface="Times New Roman"/>
                </a:rPr>
                <a:t>x</a:t>
              </a:r>
              <a:r>
                <a:rPr lang="en-US" altLang="ko-KR" sz="1600" baseline="-25000">
                  <a:solidFill>
                    <a:srgbClr val="FF0000"/>
                  </a:solidFill>
                  <a:latin typeface="Times New Roman"/>
                </a:rPr>
                <a:t>2</a:t>
              </a:r>
              <a:r>
                <a:rPr lang="en-US" altLang="ko-KR" sz="1400" b="1">
                  <a:solidFill>
                    <a:srgbClr val="FF0000"/>
                  </a:solidFill>
                  <a:latin typeface="+mn-ea"/>
                </a:rPr>
                <a:t>= 1.5</a:t>
              </a:r>
            </a:p>
            <a:p>
              <a:pPr lvl="0">
                <a:defRPr/>
              </a:pPr>
              <a:r>
                <a:rPr lang="en-US" altLang="ko-KR" sz="1600" b="1">
                  <a:solidFill>
                    <a:srgbClr val="FF0000"/>
                  </a:solidFill>
                  <a:latin typeface="+mn-ea"/>
                </a:rPr>
                <a:t>x</a:t>
              </a:r>
              <a:r>
                <a:rPr lang="en-US" altLang="ko-KR" sz="1600" b="1" baseline="-25000">
                  <a:solidFill>
                    <a:srgbClr val="FF0000"/>
                  </a:solidFill>
                  <a:latin typeface="+mn-ea"/>
                </a:rPr>
                <a:t>1  +</a:t>
              </a:r>
              <a:r>
                <a:rPr lang="en-US" altLang="ko-KR" sz="1600" b="1">
                  <a:solidFill>
                    <a:srgbClr val="FF0000"/>
                  </a:solidFill>
                  <a:latin typeface="+mn-ea"/>
                  <a:sym typeface="Symbol"/>
                </a:rPr>
                <a:t> </a:t>
              </a:r>
              <a:r>
                <a:rPr lang="en-US" altLang="ko-KR" sz="1600" b="1">
                  <a:solidFill>
                    <a:srgbClr val="FF0000"/>
                  </a:solidFill>
                  <a:latin typeface="+mn-ea"/>
                </a:rPr>
                <a:t>x</a:t>
              </a:r>
              <a:r>
                <a:rPr lang="en-US" altLang="ko-KR" sz="1600" b="1" baseline="-25000">
                  <a:solidFill>
                    <a:srgbClr val="FF0000"/>
                  </a:solidFill>
                  <a:latin typeface="+mn-ea"/>
                </a:rPr>
                <a:t>2 -</a:t>
              </a:r>
              <a:r>
                <a:rPr lang="en-US" altLang="ko-KR" sz="1400" b="1">
                  <a:solidFill>
                    <a:srgbClr val="FF0000"/>
                  </a:solidFill>
                  <a:latin typeface="+mn-ea"/>
                  <a:sym typeface="Symbol"/>
                </a:rPr>
                <a:t> 1.5 = 0</a:t>
              </a:r>
            </a:p>
            <a:p>
              <a:pPr lvl="0">
                <a:defRPr/>
              </a:pPr>
              <a:endParaRPr lang="en-US" altLang="ko-KR" sz="1400" b="1" baseline="-2500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5" name="그룹 51"/>
            <p:cNvGrpSpPr/>
            <p:nvPr/>
          </p:nvGrpSpPr>
          <p:grpSpPr>
            <a:xfrm>
              <a:off x="6786578" y="3929066"/>
              <a:ext cx="2214578" cy="2141931"/>
              <a:chOff x="6786578" y="4071942"/>
              <a:chExt cx="2214578" cy="2141931"/>
            </a:xfrm>
          </p:grpSpPr>
          <p:grpSp>
            <p:nvGrpSpPr>
              <p:cNvPr id="17" name="그룹 91"/>
              <p:cNvGrpSpPr/>
              <p:nvPr/>
            </p:nvGrpSpPr>
            <p:grpSpPr>
              <a:xfrm>
                <a:off x="6786578" y="4214818"/>
                <a:ext cx="2071702" cy="1999055"/>
                <a:chOff x="7000892" y="4000504"/>
                <a:chExt cx="2071702" cy="1999055"/>
              </a:xfrm>
            </p:grpSpPr>
            <p:cxnSp>
              <p:nvCxnSpPr>
                <p:cNvPr id="22" name="직선 화살표 연결선 21"/>
                <p:cNvCxnSpPr/>
                <p:nvPr/>
              </p:nvCxnSpPr>
              <p:spPr>
                <a:xfrm>
                  <a:off x="7286644" y="5572140"/>
                  <a:ext cx="1643074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arrow"/>
                </a:ln>
                <a:effectLst/>
              </p:spPr>
            </p:cxnSp>
            <p:cxnSp>
              <p:nvCxnSpPr>
                <p:cNvPr id="23" name="직선 화살표 연결선 22"/>
                <p:cNvCxnSpPr/>
                <p:nvPr/>
              </p:nvCxnSpPr>
              <p:spPr>
                <a:xfrm rot="16200000" flipV="1">
                  <a:off x="6644662" y="4928239"/>
                  <a:ext cx="1571636" cy="191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arrow"/>
                </a:ln>
                <a:effectLst/>
              </p:spPr>
            </p:cxnSp>
            <p:sp>
              <p:nvSpPr>
                <p:cNvPr id="25" name="Text Box 61"/>
                <p:cNvSpPr txBox="1">
                  <a:spLocks noChangeArrowheads="1"/>
                </p:cNvSpPr>
                <p:nvPr/>
              </p:nvSpPr>
              <p:spPr>
                <a:xfrm>
                  <a:off x="7999106" y="5643578"/>
                  <a:ext cx="430546" cy="393114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26" name="Text Box 61"/>
                <p:cNvSpPr txBox="1">
                  <a:spLocks noChangeArrowheads="1"/>
                </p:cNvSpPr>
                <p:nvPr/>
              </p:nvSpPr>
              <p:spPr>
                <a:xfrm>
                  <a:off x="7000892" y="4529088"/>
                  <a:ext cx="430546" cy="40011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27" name="Text Box 61"/>
                <p:cNvSpPr txBox="1">
                  <a:spLocks noChangeArrowheads="1"/>
                </p:cNvSpPr>
                <p:nvPr/>
              </p:nvSpPr>
              <p:spPr>
                <a:xfrm>
                  <a:off x="7070412" y="4000504"/>
                  <a:ext cx="430546" cy="359788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</a:p>
              </p:txBody>
            </p:sp>
            <p:sp>
              <p:nvSpPr>
                <p:cNvPr id="28" name="Text Box 61"/>
                <p:cNvSpPr txBox="1">
                  <a:spLocks noChangeArrowheads="1"/>
                </p:cNvSpPr>
                <p:nvPr/>
              </p:nvSpPr>
              <p:spPr>
                <a:xfrm>
                  <a:off x="7141850" y="5572140"/>
                  <a:ext cx="430546" cy="359777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0</a:t>
                  </a:r>
                </a:p>
              </p:txBody>
            </p:sp>
            <p:sp>
              <p:nvSpPr>
                <p:cNvPr id="29" name="Text Box 61"/>
                <p:cNvSpPr txBox="1">
                  <a:spLocks noChangeArrowheads="1"/>
                </p:cNvSpPr>
                <p:nvPr/>
              </p:nvSpPr>
              <p:spPr>
                <a:xfrm>
                  <a:off x="8642048" y="5572140"/>
                  <a:ext cx="430546" cy="359777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</a:p>
              </p:txBody>
            </p:sp>
          </p:grpSp>
          <p:sp>
            <p:nvSpPr>
              <p:cNvPr id="18" name="Text Box 61"/>
              <p:cNvSpPr txBox="1">
                <a:spLocks noChangeArrowheads="1"/>
              </p:cNvSpPr>
              <p:nvPr/>
            </p:nvSpPr>
            <p:spPr>
              <a:xfrm>
                <a:off x="7141850" y="5559998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70C0"/>
                    </a:solidFill>
                    <a:latin typeface="Times New Roman"/>
                  </a:rPr>
                  <a:t>0</a:t>
                </a:r>
              </a:p>
            </p:txBody>
          </p:sp>
          <p:sp>
            <p:nvSpPr>
              <p:cNvPr id="19" name="Text Box 61"/>
              <p:cNvSpPr txBox="1">
                <a:spLocks noChangeArrowheads="1"/>
              </p:cNvSpPr>
              <p:nvPr/>
            </p:nvSpPr>
            <p:spPr>
              <a:xfrm>
                <a:off x="8427734" y="5572140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70C0"/>
                    </a:solidFill>
                    <a:latin typeface="Times New Roman"/>
                  </a:rPr>
                  <a:t>0</a:t>
                </a:r>
              </a:p>
            </p:txBody>
          </p:sp>
          <p:sp>
            <p:nvSpPr>
              <p:cNvPr id="20" name="Text Box 61"/>
              <p:cNvSpPr txBox="1">
                <a:spLocks noChangeArrowheads="1"/>
              </p:cNvSpPr>
              <p:nvPr/>
            </p:nvSpPr>
            <p:spPr>
              <a:xfrm>
                <a:off x="8356296" y="4274114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B050"/>
                    </a:solidFill>
                    <a:latin typeface="Times New Roman"/>
                  </a:rPr>
                  <a:t>1</a:t>
                </a: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 rot="16200000" flipH="1">
                <a:off x="7429536" y="4071958"/>
                <a:ext cx="1571636" cy="15716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16" name="Text Box 61"/>
            <p:cNvSpPr txBox="1">
              <a:spLocks noChangeArrowheads="1"/>
            </p:cNvSpPr>
            <p:nvPr/>
          </p:nvSpPr>
          <p:spPr>
            <a:xfrm>
              <a:off x="7141850" y="4131238"/>
              <a:ext cx="43054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0070C0"/>
                  </a:solidFill>
                  <a:latin typeface="Times New Roman"/>
                </a:rPr>
                <a:t>0</a:t>
              </a:r>
            </a:p>
          </p:txBody>
        </p:sp>
      </p:grpSp>
      <p:grpSp>
        <p:nvGrpSpPr>
          <p:cNvPr id="30" name="그룹 64"/>
          <p:cNvGrpSpPr/>
          <p:nvPr/>
        </p:nvGrpSpPr>
        <p:grpSpPr>
          <a:xfrm>
            <a:off x="2733652" y="2910832"/>
            <a:ext cx="2000264" cy="1471680"/>
            <a:chOff x="5286380" y="1957320"/>
            <a:chExt cx="2000264" cy="1471680"/>
          </a:xfrm>
        </p:grpSpPr>
        <p:sp>
          <p:nvSpPr>
            <p:cNvPr id="31" name="타원 30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2" name="타원 31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3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8730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34" name="직선 화살표 연결선 33"/>
            <p:cNvCxnSpPr/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35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39056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36" name="Text Box 61"/>
            <p:cNvSpPr txBox="1">
              <a:spLocks noChangeArrowheads="1"/>
            </p:cNvSpPr>
            <p:nvPr/>
          </p:nvSpPr>
          <p:spPr>
            <a:xfrm>
              <a:off x="6000760" y="1957320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</p:txBody>
        </p:sp>
        <p:sp>
          <p:nvSpPr>
            <p:cNvPr id="37" name="타원 36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>
            <a:xfrm>
              <a:off x="6000760" y="2600262"/>
              <a:ext cx="857256" cy="774385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40" name="직선 화살표 연결선 39"/>
            <p:cNvCxnSpPr/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sp>
        <p:nvSpPr>
          <p:cNvPr id="42" name="오른쪽 화살표 41"/>
          <p:cNvSpPr/>
          <p:nvPr/>
        </p:nvSpPr>
        <p:spPr>
          <a:xfrm>
            <a:off x="5734048" y="3839526"/>
            <a:ext cx="500066" cy="42862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733652" y="5151669"/>
            <a:ext cx="1882163" cy="830997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 = 1.5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 1.5)    y = 0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  1.5)    y = 1 </a:t>
            </a:r>
            <a:endParaRPr lang="ko-KR" altLang="en-US" sz="16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신경망으로 구현한 논리 소자를 직선의 방정식으로 해석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677236" y="2332285"/>
            <a:ext cx="2714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AND </a:t>
            </a:r>
            <a:r>
              <a:rPr lang="ko-KR" altLang="en-US" sz="2400" dirty="0" err="1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게이트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575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예측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45" name="그룹 64"/>
          <p:cNvGrpSpPr/>
          <p:nvPr/>
        </p:nvGrpSpPr>
        <p:grpSpPr>
          <a:xfrm>
            <a:off x="2748674" y="2978411"/>
            <a:ext cx="2000264" cy="1471680"/>
            <a:chOff x="5286380" y="1957320"/>
            <a:chExt cx="2000264" cy="1471680"/>
          </a:xfrm>
        </p:grpSpPr>
        <p:sp>
          <p:nvSpPr>
            <p:cNvPr id="46" name="타원 45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7" name="타원 46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8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8730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49" name="직선 화살표 연결선 48"/>
            <p:cNvCxnSpPr>
              <a:stCxn id="48" idx="3"/>
              <a:endCxn id="47" idx="1"/>
            </p:cNvCxnSpPr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50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39056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>
            <a:xfrm>
              <a:off x="6000760" y="1957320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</p:txBody>
        </p:sp>
        <p:sp>
          <p:nvSpPr>
            <p:cNvPr id="52" name="타원 51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3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>
            <a:xfrm>
              <a:off x="6000760" y="2600262"/>
              <a:ext cx="857256" cy="774385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1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55" name="직선 화살표 연결선 54"/>
            <p:cNvCxnSpPr>
              <a:stCxn id="52" idx="6"/>
              <a:endCxn id="47" idx="3"/>
            </p:cNvCxnSpPr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grpSp>
        <p:nvGrpSpPr>
          <p:cNvPr id="56" name="그룹 55"/>
          <p:cNvGrpSpPr/>
          <p:nvPr/>
        </p:nvGrpSpPr>
        <p:grpSpPr>
          <a:xfrm>
            <a:off x="7392144" y="3321576"/>
            <a:ext cx="2071702" cy="2738551"/>
            <a:chOff x="6786578" y="4071942"/>
            <a:chExt cx="2071702" cy="2738551"/>
          </a:xfrm>
        </p:grpSpPr>
        <p:sp>
          <p:nvSpPr>
            <p:cNvPr id="57" name="TextBox 56"/>
            <p:cNvSpPr txBox="1"/>
            <p:nvPr/>
          </p:nvSpPr>
          <p:spPr>
            <a:xfrm>
              <a:off x="7072330" y="6143644"/>
              <a:ext cx="1785950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w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1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x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1 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  <a:sym typeface="Symbol"/>
                </a:rPr>
                <a:t>+ 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w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2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x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2 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 = 0.5</a:t>
              </a:r>
            </a:p>
            <a:p>
              <a:pPr lvl="0">
                <a:defRPr/>
              </a:pP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x</a:t>
              </a:r>
              <a:r>
                <a:rPr lang="en-US" altLang="ko-KR" sz="1400" b="1" baseline="-25000" dirty="0">
                  <a:solidFill>
                    <a:srgbClr val="FF0000"/>
                  </a:solidFill>
                  <a:latin typeface="+mn-ea"/>
                </a:rPr>
                <a:t>1 +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  <a:sym typeface="Symbol"/>
                </a:rPr>
                <a:t> 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x</a:t>
              </a:r>
              <a:r>
                <a:rPr lang="en-US" altLang="ko-KR" sz="1400" b="1" baseline="-25000" dirty="0">
                  <a:solidFill>
                    <a:srgbClr val="FF0000"/>
                  </a:solidFill>
                  <a:latin typeface="+mn-ea"/>
                </a:rPr>
                <a:t>2 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  <a:sym typeface="Symbol"/>
                </a:rPr>
                <a:t> - 0.5 = 0</a:t>
              </a:r>
            </a:p>
            <a:p>
              <a:pPr lvl="0">
                <a:defRPr/>
              </a:pPr>
              <a:endParaRPr lang="en-US" altLang="ko-KR" sz="1400" b="1" baseline="-250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58" name="그룹 51"/>
            <p:cNvGrpSpPr/>
            <p:nvPr/>
          </p:nvGrpSpPr>
          <p:grpSpPr>
            <a:xfrm>
              <a:off x="6786578" y="4071942"/>
              <a:ext cx="2071702" cy="1999055"/>
              <a:chOff x="6786578" y="4214818"/>
              <a:chExt cx="2071702" cy="1999055"/>
            </a:xfrm>
          </p:grpSpPr>
          <p:grpSp>
            <p:nvGrpSpPr>
              <p:cNvPr id="60" name="그룹 91"/>
              <p:cNvGrpSpPr/>
              <p:nvPr/>
            </p:nvGrpSpPr>
            <p:grpSpPr>
              <a:xfrm>
                <a:off x="6786578" y="4214818"/>
                <a:ext cx="2071702" cy="1999055"/>
                <a:chOff x="7000892" y="4000504"/>
                <a:chExt cx="2071702" cy="1999055"/>
              </a:xfrm>
            </p:grpSpPr>
            <p:cxnSp>
              <p:nvCxnSpPr>
                <p:cNvPr id="65" name="직선 화살표 연결선 64"/>
                <p:cNvCxnSpPr/>
                <p:nvPr/>
              </p:nvCxnSpPr>
              <p:spPr>
                <a:xfrm>
                  <a:off x="7286644" y="5572140"/>
                  <a:ext cx="1643074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arrow"/>
                </a:ln>
                <a:effectLst/>
              </p:spPr>
            </p:cxnSp>
            <p:cxnSp>
              <p:nvCxnSpPr>
                <p:cNvPr id="66" name="직선 화살표 연결선 65"/>
                <p:cNvCxnSpPr/>
                <p:nvPr/>
              </p:nvCxnSpPr>
              <p:spPr>
                <a:xfrm rot="16200000" flipV="1">
                  <a:off x="6644662" y="4928239"/>
                  <a:ext cx="1571636" cy="191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arrow"/>
                </a:ln>
                <a:effectLst/>
              </p:spPr>
            </p:cxnSp>
            <p:sp>
              <p:nvSpPr>
                <p:cNvPr id="67" name="Text Box 61"/>
                <p:cNvSpPr txBox="1">
                  <a:spLocks noChangeArrowheads="1"/>
                </p:cNvSpPr>
                <p:nvPr/>
              </p:nvSpPr>
              <p:spPr>
                <a:xfrm>
                  <a:off x="7999106" y="5643578"/>
                  <a:ext cx="430546" cy="393114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68" name="Text Box 61"/>
                <p:cNvSpPr txBox="1">
                  <a:spLocks noChangeArrowheads="1"/>
                </p:cNvSpPr>
                <p:nvPr/>
              </p:nvSpPr>
              <p:spPr>
                <a:xfrm>
                  <a:off x="7000892" y="4529088"/>
                  <a:ext cx="430546" cy="40011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69" name="Text Box 61"/>
                <p:cNvSpPr txBox="1">
                  <a:spLocks noChangeArrowheads="1"/>
                </p:cNvSpPr>
                <p:nvPr/>
              </p:nvSpPr>
              <p:spPr>
                <a:xfrm>
                  <a:off x="7070412" y="4000504"/>
                  <a:ext cx="430546" cy="359788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</a:p>
              </p:txBody>
            </p:sp>
            <p:sp>
              <p:nvSpPr>
                <p:cNvPr id="70" name="Text Box 61"/>
                <p:cNvSpPr txBox="1">
                  <a:spLocks noChangeArrowheads="1"/>
                </p:cNvSpPr>
                <p:nvPr/>
              </p:nvSpPr>
              <p:spPr>
                <a:xfrm>
                  <a:off x="7141850" y="5572140"/>
                  <a:ext cx="430546" cy="359777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0</a:t>
                  </a:r>
                </a:p>
              </p:txBody>
            </p:sp>
            <p:sp>
              <p:nvSpPr>
                <p:cNvPr id="71" name="Text Box 61"/>
                <p:cNvSpPr txBox="1">
                  <a:spLocks noChangeArrowheads="1"/>
                </p:cNvSpPr>
                <p:nvPr/>
              </p:nvSpPr>
              <p:spPr>
                <a:xfrm>
                  <a:off x="8642048" y="5572140"/>
                  <a:ext cx="430546" cy="359777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</a:p>
              </p:txBody>
            </p:sp>
          </p:grpSp>
          <p:sp>
            <p:nvSpPr>
              <p:cNvPr id="61" name="Text Box 61"/>
              <p:cNvSpPr txBox="1">
                <a:spLocks noChangeArrowheads="1"/>
              </p:cNvSpPr>
              <p:nvPr/>
            </p:nvSpPr>
            <p:spPr>
              <a:xfrm>
                <a:off x="7141850" y="5559998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70C0"/>
                    </a:solidFill>
                    <a:latin typeface="Times New Roman"/>
                  </a:rPr>
                  <a:t>0</a:t>
                </a:r>
              </a:p>
            </p:txBody>
          </p:sp>
          <p:sp>
            <p:nvSpPr>
              <p:cNvPr id="62" name="Text Box 61"/>
              <p:cNvSpPr txBox="1">
                <a:spLocks noChangeArrowheads="1"/>
              </p:cNvSpPr>
              <p:nvPr/>
            </p:nvSpPr>
            <p:spPr>
              <a:xfrm>
                <a:off x="8427734" y="5572140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B050"/>
                    </a:solidFill>
                    <a:latin typeface="Times New Roman"/>
                  </a:rPr>
                  <a:t>1</a:t>
                </a:r>
              </a:p>
            </p:txBody>
          </p:sp>
          <p:sp>
            <p:nvSpPr>
              <p:cNvPr id="63" name="Text Box 61"/>
              <p:cNvSpPr txBox="1">
                <a:spLocks noChangeArrowheads="1"/>
              </p:cNvSpPr>
              <p:nvPr/>
            </p:nvSpPr>
            <p:spPr>
              <a:xfrm>
                <a:off x="8356296" y="4274114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B050"/>
                    </a:solidFill>
                    <a:latin typeface="Times New Roman"/>
                  </a:rPr>
                  <a:t>1</a:t>
                </a:r>
              </a:p>
            </p:txBody>
          </p:sp>
          <p:cxnSp>
            <p:nvCxnSpPr>
              <p:cNvPr id="64" name="직선 연결선 63"/>
              <p:cNvCxnSpPr/>
              <p:nvPr/>
            </p:nvCxnSpPr>
            <p:spPr>
              <a:xfrm rot="16200000" flipH="1">
                <a:off x="6786594" y="4606568"/>
                <a:ext cx="1571636" cy="15716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59" name="Text Box 61"/>
            <p:cNvSpPr txBox="1">
              <a:spLocks noChangeArrowheads="1"/>
            </p:cNvSpPr>
            <p:nvPr/>
          </p:nvSpPr>
          <p:spPr>
            <a:xfrm>
              <a:off x="7141850" y="4131238"/>
              <a:ext cx="43054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00B050"/>
                  </a:solidFill>
                  <a:latin typeface="Times New Roman"/>
                </a:rPr>
                <a:t>1</a:t>
              </a: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2677236" y="2393245"/>
            <a:ext cx="2714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 </a:t>
            </a:r>
            <a:r>
              <a:rPr lang="ko-KR" altLang="en-US" sz="2400" dirty="0" err="1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게이트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3" name="오른쪽 화살표 72"/>
          <p:cNvSpPr/>
          <p:nvPr/>
        </p:nvSpPr>
        <p:spPr>
          <a:xfrm>
            <a:off x="5749070" y="3836807"/>
            <a:ext cx="500066" cy="42862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748674" y="5219248"/>
            <a:ext cx="1882163" cy="830997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 = 0.5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 0.5)    y = 0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  0.5)    y = 1 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663255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예측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34" name="그룹 64"/>
          <p:cNvGrpSpPr/>
          <p:nvPr/>
        </p:nvGrpSpPr>
        <p:grpSpPr>
          <a:xfrm>
            <a:off x="2747254" y="2955132"/>
            <a:ext cx="2000264" cy="1471680"/>
            <a:chOff x="5286380" y="1957320"/>
            <a:chExt cx="2000264" cy="1471680"/>
          </a:xfrm>
        </p:grpSpPr>
        <p:sp>
          <p:nvSpPr>
            <p:cNvPr id="35" name="타원 34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7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9421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38" name="직선 화살표 연결선 37"/>
            <p:cNvCxnSpPr>
              <a:stCxn id="37" idx="3"/>
              <a:endCxn id="36" idx="1"/>
            </p:cNvCxnSpPr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39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387946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40" name="Text Box 61"/>
            <p:cNvSpPr txBox="1">
              <a:spLocks noChangeArrowheads="1"/>
            </p:cNvSpPr>
            <p:nvPr/>
          </p:nvSpPr>
          <p:spPr>
            <a:xfrm>
              <a:off x="6000760" y="1957320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-2</a:t>
              </a:r>
            </a:p>
          </p:txBody>
        </p:sp>
        <p:sp>
          <p:nvSpPr>
            <p:cNvPr id="41" name="타원 40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2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38949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3" name="Text Box 61"/>
            <p:cNvSpPr txBox="1">
              <a:spLocks noChangeArrowheads="1"/>
            </p:cNvSpPr>
            <p:nvPr/>
          </p:nvSpPr>
          <p:spPr>
            <a:xfrm>
              <a:off x="6000760" y="2600262"/>
              <a:ext cx="857256" cy="771768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>
                  <a:solidFill>
                    <a:srgbClr val="000000"/>
                  </a:solidFill>
                  <a:latin typeface="Times New Roman"/>
                </a:rPr>
                <a:t>= -2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44" name="직선 화살표 연결선 43"/>
            <p:cNvCxnSpPr>
              <a:stCxn id="41" idx="6"/>
              <a:endCxn id="36" idx="3"/>
            </p:cNvCxnSpPr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grpSp>
        <p:nvGrpSpPr>
          <p:cNvPr id="75" name="그룹 74"/>
          <p:cNvGrpSpPr/>
          <p:nvPr/>
        </p:nvGrpSpPr>
        <p:grpSpPr>
          <a:xfrm>
            <a:off x="7390724" y="3144033"/>
            <a:ext cx="2928958" cy="2737798"/>
            <a:chOff x="6786578" y="3929066"/>
            <a:chExt cx="2928958" cy="2737798"/>
          </a:xfrm>
        </p:grpSpPr>
        <p:sp>
          <p:nvSpPr>
            <p:cNvPr id="76" name="TextBox 75"/>
            <p:cNvSpPr txBox="1"/>
            <p:nvPr/>
          </p:nvSpPr>
          <p:spPr>
            <a:xfrm>
              <a:off x="7072330" y="6143644"/>
              <a:ext cx="26432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w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1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x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1 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  <a:sym typeface="Symbol"/>
                </a:rPr>
                <a:t>+ 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w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2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/>
                </a:rPr>
                <a:t>x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Times New Roman"/>
                </a:rPr>
                <a:t>2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 = -3</a:t>
              </a:r>
            </a:p>
            <a:p>
              <a:pPr lvl="0">
                <a:defRPr/>
              </a:pP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-2x</a:t>
              </a:r>
              <a:r>
                <a:rPr lang="en-US" altLang="ko-KR" sz="1400" b="1" baseline="-25000" dirty="0">
                  <a:solidFill>
                    <a:srgbClr val="FF0000"/>
                  </a:solidFill>
                  <a:latin typeface="+mn-ea"/>
                </a:rPr>
                <a:t>1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 - 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  <a:sym typeface="Symbol"/>
                </a:rPr>
                <a:t>2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x</a:t>
              </a:r>
              <a:r>
                <a:rPr lang="en-US" altLang="ko-KR" sz="1400" b="1" baseline="-25000" dirty="0">
                  <a:solidFill>
                    <a:srgbClr val="FF0000"/>
                  </a:solidFill>
                  <a:latin typeface="+mn-ea"/>
                </a:rPr>
                <a:t>2 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  <a:sym typeface="Symbol"/>
                </a:rPr>
                <a:t> + 3 = 0</a:t>
              </a:r>
              <a:endParaRPr lang="en-US" altLang="ko-KR" sz="1400" b="1" baseline="-250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77" name="그룹 51"/>
            <p:cNvGrpSpPr/>
            <p:nvPr/>
          </p:nvGrpSpPr>
          <p:grpSpPr>
            <a:xfrm>
              <a:off x="6786578" y="3929066"/>
              <a:ext cx="2214578" cy="2141931"/>
              <a:chOff x="6786578" y="4071942"/>
              <a:chExt cx="2214578" cy="2141931"/>
            </a:xfrm>
          </p:grpSpPr>
          <p:grpSp>
            <p:nvGrpSpPr>
              <p:cNvPr id="79" name="그룹 91"/>
              <p:cNvGrpSpPr/>
              <p:nvPr/>
            </p:nvGrpSpPr>
            <p:grpSpPr>
              <a:xfrm>
                <a:off x="6786578" y="4214818"/>
                <a:ext cx="2071702" cy="1999055"/>
                <a:chOff x="7000892" y="4000504"/>
                <a:chExt cx="2071702" cy="1999055"/>
              </a:xfrm>
            </p:grpSpPr>
            <p:cxnSp>
              <p:nvCxnSpPr>
                <p:cNvPr id="84" name="직선 화살표 연결선 83"/>
                <p:cNvCxnSpPr/>
                <p:nvPr/>
              </p:nvCxnSpPr>
              <p:spPr>
                <a:xfrm>
                  <a:off x="7286644" y="5572140"/>
                  <a:ext cx="1643074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arrow"/>
                </a:ln>
                <a:effectLst/>
              </p:spPr>
            </p:cxnSp>
            <p:cxnSp>
              <p:nvCxnSpPr>
                <p:cNvPr id="85" name="직선 화살표 연결선 84"/>
                <p:cNvCxnSpPr/>
                <p:nvPr/>
              </p:nvCxnSpPr>
              <p:spPr>
                <a:xfrm rot="16200000" flipV="1">
                  <a:off x="6644662" y="4928239"/>
                  <a:ext cx="1571636" cy="191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arrow"/>
                </a:ln>
                <a:effectLst/>
              </p:spPr>
            </p:cxnSp>
            <p:sp>
              <p:nvSpPr>
                <p:cNvPr id="86" name="Text Box 61"/>
                <p:cNvSpPr txBox="1">
                  <a:spLocks noChangeArrowheads="1"/>
                </p:cNvSpPr>
                <p:nvPr/>
              </p:nvSpPr>
              <p:spPr>
                <a:xfrm>
                  <a:off x="7999106" y="5643578"/>
                  <a:ext cx="430546" cy="392359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7" name="Text Box 61"/>
                <p:cNvSpPr txBox="1">
                  <a:spLocks noChangeArrowheads="1"/>
                </p:cNvSpPr>
                <p:nvPr/>
              </p:nvSpPr>
              <p:spPr>
                <a:xfrm>
                  <a:off x="7000892" y="4529088"/>
                  <a:ext cx="430546" cy="40011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Times New Roman"/>
                    </a:rPr>
                    <a:t>x</a:t>
                  </a:r>
                  <a:r>
                    <a:rPr lang="en-US" altLang="ko-KR" sz="2000" baseline="-25000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lang="en-US" altLang="ko-KR" sz="2000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8" name="Text Box 61"/>
                <p:cNvSpPr txBox="1">
                  <a:spLocks noChangeArrowheads="1"/>
                </p:cNvSpPr>
                <p:nvPr/>
              </p:nvSpPr>
              <p:spPr>
                <a:xfrm>
                  <a:off x="7070412" y="4000504"/>
                  <a:ext cx="430546" cy="359034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</a:p>
              </p:txBody>
            </p:sp>
            <p:sp>
              <p:nvSpPr>
                <p:cNvPr id="89" name="Text Box 61"/>
                <p:cNvSpPr txBox="1">
                  <a:spLocks noChangeArrowheads="1"/>
                </p:cNvSpPr>
                <p:nvPr/>
              </p:nvSpPr>
              <p:spPr>
                <a:xfrm>
                  <a:off x="7141850" y="5572140"/>
                  <a:ext cx="430546" cy="35902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0</a:t>
                  </a:r>
                </a:p>
              </p:txBody>
            </p:sp>
            <p:sp>
              <p:nvSpPr>
                <p:cNvPr id="90" name="Text Box 61"/>
                <p:cNvSpPr txBox="1">
                  <a:spLocks noChangeArrowheads="1"/>
                </p:cNvSpPr>
                <p:nvPr/>
              </p:nvSpPr>
              <p:spPr>
                <a:xfrm>
                  <a:off x="8642048" y="5572140"/>
                  <a:ext cx="430546" cy="35902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</a:p>
              </p:txBody>
            </p:sp>
          </p:grpSp>
          <p:sp>
            <p:nvSpPr>
              <p:cNvPr id="80" name="Text Box 61"/>
              <p:cNvSpPr txBox="1">
                <a:spLocks noChangeArrowheads="1"/>
              </p:cNvSpPr>
              <p:nvPr/>
            </p:nvSpPr>
            <p:spPr>
              <a:xfrm>
                <a:off x="7141850" y="5559998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70C0"/>
                    </a:solidFill>
                    <a:latin typeface="Times New Roman"/>
                  </a:rPr>
                  <a:t>1</a:t>
                </a:r>
              </a:p>
            </p:txBody>
          </p:sp>
          <p:sp>
            <p:nvSpPr>
              <p:cNvPr id="81" name="Text Box 61"/>
              <p:cNvSpPr txBox="1">
                <a:spLocks noChangeArrowheads="1"/>
              </p:cNvSpPr>
              <p:nvPr/>
            </p:nvSpPr>
            <p:spPr>
              <a:xfrm>
                <a:off x="8427734" y="5572140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70C0"/>
                    </a:solidFill>
                    <a:latin typeface="Times New Roman"/>
                  </a:rPr>
                  <a:t>1</a:t>
                </a:r>
              </a:p>
            </p:txBody>
          </p:sp>
          <p:sp>
            <p:nvSpPr>
              <p:cNvPr id="82" name="Text Box 61"/>
              <p:cNvSpPr txBox="1">
                <a:spLocks noChangeArrowheads="1"/>
              </p:cNvSpPr>
              <p:nvPr/>
            </p:nvSpPr>
            <p:spPr>
              <a:xfrm>
                <a:off x="8356296" y="4274114"/>
                <a:ext cx="430546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B050"/>
                    </a:solidFill>
                    <a:latin typeface="Times New Roman"/>
                  </a:rPr>
                  <a:t>0</a:t>
                </a:r>
              </a:p>
            </p:txBody>
          </p:sp>
          <p:cxnSp>
            <p:nvCxnSpPr>
              <p:cNvPr id="83" name="직선 연결선 82"/>
              <p:cNvCxnSpPr/>
              <p:nvPr/>
            </p:nvCxnSpPr>
            <p:spPr>
              <a:xfrm rot="16200000" flipH="1">
                <a:off x="7429536" y="4071958"/>
                <a:ext cx="1571636" cy="15716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78" name="Text Box 61"/>
            <p:cNvSpPr txBox="1">
              <a:spLocks noChangeArrowheads="1"/>
            </p:cNvSpPr>
            <p:nvPr/>
          </p:nvSpPr>
          <p:spPr>
            <a:xfrm>
              <a:off x="7141850" y="4131238"/>
              <a:ext cx="43054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0070C0"/>
                  </a:solidFill>
                  <a:latin typeface="Times New Roman"/>
                </a:rPr>
                <a:t>1</a:t>
              </a:r>
            </a:p>
          </p:txBody>
        </p:sp>
      </p:grpSp>
      <p:sp>
        <p:nvSpPr>
          <p:cNvPr id="92" name="오른쪽 화살표 91"/>
          <p:cNvSpPr/>
          <p:nvPr/>
        </p:nvSpPr>
        <p:spPr>
          <a:xfrm>
            <a:off x="5747650" y="3797966"/>
            <a:ext cx="500066" cy="42862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747254" y="5183827"/>
            <a:ext cx="1796438" cy="830997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 = -3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 -3)    y = 0</a:t>
            </a:r>
          </a:p>
          <a:p>
            <a:pPr lvl="0">
              <a:defRPr/>
            </a:pPr>
            <a:r>
              <a:rPr lang="en-US" altLang="ko-KR" sz="16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6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600">
                <a:solidFill>
                  <a:srgbClr val="000000"/>
                </a:solidFill>
                <a:latin typeface="Times New Roman"/>
                <a:sym typeface="Symbol"/>
              </a:rPr>
              <a:t>  -3)    y = 1 </a:t>
            </a:r>
            <a:endParaRPr lang="ko-KR" altLang="en-US" sz="1600"/>
          </a:p>
        </p:txBody>
      </p:sp>
      <p:sp>
        <p:nvSpPr>
          <p:cNvPr id="94" name="TextBox 93"/>
          <p:cNvSpPr txBox="1"/>
          <p:nvPr/>
        </p:nvSpPr>
        <p:spPr>
          <a:xfrm>
            <a:off x="2677236" y="2393245"/>
            <a:ext cx="2714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NAND </a:t>
            </a:r>
            <a:r>
              <a:rPr lang="ko-KR" altLang="en-US" sz="2400" dirty="0" err="1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게이트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7491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신경망의 결정경계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34773" y="6313838"/>
            <a:ext cx="199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정규 분포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87299" y="4143008"/>
            <a:ext cx="3419142" cy="2087544"/>
            <a:chOff x="4714876" y="3000372"/>
            <a:chExt cx="4133850" cy="2581275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714876" y="3000372"/>
              <a:ext cx="4133850" cy="2581275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p:cxnSp>
          <p:nvCxnSpPr>
            <p:cNvPr id="12" name="직선 연결선 11"/>
            <p:cNvCxnSpPr/>
            <p:nvPr/>
          </p:nvCxnSpPr>
          <p:spPr>
            <a:xfrm>
              <a:off x="5429256" y="3429000"/>
              <a:ext cx="2786082" cy="171451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5816" y="1887652"/>
            <a:ext cx="3244864" cy="2172070"/>
          </a:xfrm>
          <a:prstGeom prst="rect">
            <a:avLst/>
          </a:prstGeom>
        </p:spPr>
      </p:pic>
      <p:sp>
        <p:nvSpPr>
          <p:cNvPr id="14" name="TextBox 3"/>
          <p:cNvSpPr txBox="1"/>
          <p:nvPr/>
        </p:nvSpPr>
        <p:spPr>
          <a:xfrm>
            <a:off x="3418696" y="4236366"/>
            <a:ext cx="818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AND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814120" y="1847387"/>
            <a:ext cx="3213800" cy="2166388"/>
          </a:xfrm>
          <a:prstGeom prst="rect">
            <a:avLst/>
          </a:prstGeom>
        </p:spPr>
      </p:pic>
      <p:sp>
        <p:nvSpPr>
          <p:cNvPr id="17" name="TextBox 3"/>
          <p:cNvSpPr txBox="1"/>
          <p:nvPr/>
        </p:nvSpPr>
        <p:spPr>
          <a:xfrm>
            <a:off x="8171224" y="4162443"/>
            <a:ext cx="818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997568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활성화 함수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798728" y="2114690"/>
                <a:ext cx="2808312" cy="81483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728" y="2114690"/>
                <a:ext cx="2808312" cy="8148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4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06412" y="2868920"/>
            <a:ext cx="4643470" cy="3369878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cxnSp>
        <p:nvCxnSpPr>
          <p:cNvPr id="27" name="직선 연결선 26"/>
          <p:cNvCxnSpPr/>
          <p:nvPr/>
        </p:nvCxnSpPr>
        <p:spPr>
          <a:xfrm>
            <a:off x="1963074" y="5082358"/>
            <a:ext cx="1285884" cy="15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cxnSp>
        <p:nvCxnSpPr>
          <p:cNvPr id="28" name="직선 연결선 27"/>
          <p:cNvCxnSpPr/>
          <p:nvPr/>
        </p:nvCxnSpPr>
        <p:spPr>
          <a:xfrm rot="5400000" flipH="1" flipV="1">
            <a:off x="2784611" y="4618011"/>
            <a:ext cx="928694" cy="15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cxnSp>
        <p:nvCxnSpPr>
          <p:cNvPr id="29" name="직선 연결선 28"/>
          <p:cNvCxnSpPr/>
          <p:nvPr/>
        </p:nvCxnSpPr>
        <p:spPr>
          <a:xfrm>
            <a:off x="3248958" y="4153664"/>
            <a:ext cx="1214446" cy="15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30" name="오른쪽 화살표 29"/>
          <p:cNvSpPr/>
          <p:nvPr/>
        </p:nvSpPr>
        <p:spPr>
          <a:xfrm>
            <a:off x="4892032" y="4367978"/>
            <a:ext cx="500066" cy="42862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4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활성함수는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로지스틱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회귀에 사용한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시그모이드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함수를 사용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3763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퍼셉트론</a:t>
            </a:r>
            <a:r>
              <a:rPr lang="ko-KR" altLang="en-US" dirty="0" smtClean="0"/>
              <a:t> 학습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신경망에서 학습은 가중치와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역치를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학습하는 것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73569" y="3733086"/>
            <a:ext cx="2423861" cy="39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>
                <a:solidFill>
                  <a:srgbClr val="000000"/>
                </a:solidFill>
                <a:latin typeface="Times New Roman"/>
              </a:rPr>
              <a:t>AND</a:t>
            </a:r>
            <a:endParaRPr lang="ko-KR" altLang="en-US" sz="2400"/>
          </a:p>
        </p:txBody>
      </p:sp>
      <p:sp>
        <p:nvSpPr>
          <p:cNvPr id="32" name="TextBox 31"/>
          <p:cNvSpPr txBox="1"/>
          <p:nvPr/>
        </p:nvSpPr>
        <p:spPr>
          <a:xfrm>
            <a:off x="6364503" y="3703588"/>
            <a:ext cx="2423861" cy="40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>
                <a:solidFill>
                  <a:srgbClr val="000000"/>
                </a:solidFill>
                <a:latin typeface="Times New Roman"/>
              </a:rPr>
              <a:t>AND</a:t>
            </a:r>
            <a:endParaRPr lang="ko-KR" altLang="en-US" sz="2400"/>
          </a:p>
        </p:txBody>
      </p:sp>
      <p:sp>
        <p:nvSpPr>
          <p:cNvPr id="33" name="TextBox 32"/>
          <p:cNvSpPr txBox="1"/>
          <p:nvPr/>
        </p:nvSpPr>
        <p:spPr>
          <a:xfrm>
            <a:off x="2601141" y="6123512"/>
            <a:ext cx="2423861" cy="40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>
                <a:solidFill>
                  <a:srgbClr val="000000"/>
                </a:solidFill>
                <a:latin typeface="Times New Roman"/>
              </a:rPr>
              <a:t>NAND</a:t>
            </a:r>
            <a:endParaRPr lang="ko-KR" altLang="en-US" sz="2400"/>
          </a:p>
        </p:txBody>
      </p:sp>
      <p:sp>
        <p:nvSpPr>
          <p:cNvPr id="34" name="TextBox 33"/>
          <p:cNvSpPr txBox="1"/>
          <p:nvPr/>
        </p:nvSpPr>
        <p:spPr>
          <a:xfrm>
            <a:off x="6428289" y="6089224"/>
            <a:ext cx="2423861" cy="402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>
                <a:solidFill>
                  <a:srgbClr val="000000"/>
                </a:solidFill>
                <a:latin typeface="Times New Roman"/>
              </a:rPr>
              <a:t>NAND</a:t>
            </a:r>
            <a:endParaRPr lang="ko-KR" altLang="en-US" sz="2400"/>
          </a:p>
        </p:txBody>
      </p:sp>
      <p:cxnSp>
        <p:nvCxnSpPr>
          <p:cNvPr id="35" name="직선 연결선 34"/>
          <p:cNvCxnSpPr/>
          <p:nvPr/>
        </p:nvCxnSpPr>
        <p:spPr>
          <a:xfrm>
            <a:off x="1771954" y="4497098"/>
            <a:ext cx="8164526" cy="14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grpSp>
        <p:nvGrpSpPr>
          <p:cNvPr id="36" name="그룹 64"/>
          <p:cNvGrpSpPr/>
          <p:nvPr/>
        </p:nvGrpSpPr>
        <p:grpSpPr>
          <a:xfrm>
            <a:off x="2601141" y="2266013"/>
            <a:ext cx="1786003" cy="1314039"/>
            <a:chOff x="5286380" y="1957320"/>
            <a:chExt cx="2000264" cy="1471680"/>
          </a:xfrm>
        </p:grpSpPr>
        <p:sp>
          <p:nvSpPr>
            <p:cNvPr id="37" name="타원 36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8" name="타원 37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9207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40" name="직선 화살표 연결선 39"/>
            <p:cNvCxnSpPr>
              <a:stCxn id="39" idx="3"/>
              <a:endCxn id="38" idx="1"/>
            </p:cNvCxnSpPr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41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42" name="Text Box 61"/>
            <p:cNvSpPr txBox="1">
              <a:spLocks noChangeArrowheads="1"/>
            </p:cNvSpPr>
            <p:nvPr/>
          </p:nvSpPr>
          <p:spPr>
            <a:xfrm>
              <a:off x="5929322" y="1957320"/>
              <a:ext cx="1043820" cy="37916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= 1</a:t>
              </a:r>
            </a:p>
          </p:txBody>
        </p:sp>
        <p:sp>
          <p:nvSpPr>
            <p:cNvPr id="43" name="타원 42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4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38736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Text Box 61"/>
            <p:cNvSpPr txBox="1">
              <a:spLocks noChangeArrowheads="1"/>
            </p:cNvSpPr>
            <p:nvPr/>
          </p:nvSpPr>
          <p:spPr>
            <a:xfrm>
              <a:off x="5929322" y="2600262"/>
              <a:ext cx="1043820" cy="79280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= 1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 sz="16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46" name="직선 화살표 연결선 45"/>
            <p:cNvCxnSpPr>
              <a:stCxn id="43" idx="6"/>
              <a:endCxn id="38" idx="3"/>
            </p:cNvCxnSpPr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grpSp>
        <p:nvGrpSpPr>
          <p:cNvPr id="47" name="그룹 64"/>
          <p:cNvGrpSpPr/>
          <p:nvPr/>
        </p:nvGrpSpPr>
        <p:grpSpPr>
          <a:xfrm>
            <a:off x="6428289" y="2227690"/>
            <a:ext cx="1786003" cy="1314039"/>
            <a:chOff x="5286380" y="1957320"/>
            <a:chExt cx="2000264" cy="1471680"/>
          </a:xfrm>
        </p:grpSpPr>
        <p:sp>
          <p:nvSpPr>
            <p:cNvPr id="48" name="타원 47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0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87367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51" name="직선 화살표 연결선 50"/>
            <p:cNvCxnSpPr>
              <a:stCxn id="50" idx="3"/>
              <a:endCxn id="49" idx="1"/>
            </p:cNvCxnSpPr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52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53" name="Text Box 61"/>
            <p:cNvSpPr txBox="1">
              <a:spLocks noChangeArrowheads="1"/>
            </p:cNvSpPr>
            <p:nvPr/>
          </p:nvSpPr>
          <p:spPr>
            <a:xfrm>
              <a:off x="5940080" y="1957320"/>
              <a:ext cx="1043820" cy="37916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 dirty="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 dirty="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 sz="1600" dirty="0">
                  <a:solidFill>
                    <a:srgbClr val="000000"/>
                  </a:solidFill>
                  <a:latin typeface="Times New Roman"/>
                </a:rPr>
                <a:t>=0.5</a:t>
              </a:r>
            </a:p>
          </p:txBody>
        </p:sp>
        <p:sp>
          <p:nvSpPr>
            <p:cNvPr id="54" name="타원 53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5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6" name="Text Box 61"/>
            <p:cNvSpPr txBox="1">
              <a:spLocks noChangeArrowheads="1"/>
            </p:cNvSpPr>
            <p:nvPr/>
          </p:nvSpPr>
          <p:spPr>
            <a:xfrm>
              <a:off x="5940080" y="2600262"/>
              <a:ext cx="1317874" cy="79280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= 0.7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 sz="16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57" name="직선 화살표 연결선 56"/>
            <p:cNvCxnSpPr>
              <a:stCxn id="54" idx="6"/>
              <a:endCxn id="49" idx="3"/>
            </p:cNvCxnSpPr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grpSp>
        <p:nvGrpSpPr>
          <p:cNvPr id="58" name="그룹 64"/>
          <p:cNvGrpSpPr/>
          <p:nvPr/>
        </p:nvGrpSpPr>
        <p:grpSpPr>
          <a:xfrm>
            <a:off x="2549841" y="4583828"/>
            <a:ext cx="1786003" cy="1314039"/>
            <a:chOff x="5286380" y="1957320"/>
            <a:chExt cx="2000264" cy="1471680"/>
          </a:xfrm>
        </p:grpSpPr>
        <p:sp>
          <p:nvSpPr>
            <p:cNvPr id="59" name="타원 58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1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92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62" name="직선 화살표 연결선 61"/>
            <p:cNvCxnSpPr>
              <a:stCxn id="61" idx="3"/>
              <a:endCxn id="60" idx="1"/>
            </p:cNvCxnSpPr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63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64" name="Text Box 61"/>
            <p:cNvSpPr txBox="1">
              <a:spLocks noChangeArrowheads="1"/>
            </p:cNvSpPr>
            <p:nvPr/>
          </p:nvSpPr>
          <p:spPr>
            <a:xfrm>
              <a:off x="5929322" y="1957320"/>
              <a:ext cx="1043820" cy="37916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= -2</a:t>
              </a:r>
            </a:p>
          </p:txBody>
        </p:sp>
        <p:sp>
          <p:nvSpPr>
            <p:cNvPr id="65" name="타원 64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66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38739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67" name="Text Box 61"/>
            <p:cNvSpPr txBox="1">
              <a:spLocks noChangeArrowheads="1"/>
            </p:cNvSpPr>
            <p:nvPr/>
          </p:nvSpPr>
          <p:spPr>
            <a:xfrm>
              <a:off x="5929322" y="2600262"/>
              <a:ext cx="1043820" cy="79280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= -2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 sz="16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68" name="직선 화살표 연결선 67"/>
            <p:cNvCxnSpPr>
              <a:stCxn id="65" idx="6"/>
              <a:endCxn id="60" idx="3"/>
            </p:cNvCxnSpPr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grpSp>
        <p:nvGrpSpPr>
          <p:cNvPr id="69" name="그룹 64"/>
          <p:cNvGrpSpPr/>
          <p:nvPr/>
        </p:nvGrpSpPr>
        <p:grpSpPr>
          <a:xfrm>
            <a:off x="6428289" y="4558365"/>
            <a:ext cx="1786003" cy="1314039"/>
            <a:chOff x="5286380" y="1957320"/>
            <a:chExt cx="2000264" cy="1471680"/>
          </a:xfrm>
        </p:grpSpPr>
        <p:sp>
          <p:nvSpPr>
            <p:cNvPr id="70" name="타원 69"/>
            <p:cNvSpPr/>
            <p:nvPr/>
          </p:nvSpPr>
          <p:spPr>
            <a:xfrm>
              <a:off x="5286380" y="216975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71" name="타원 70"/>
            <p:cNvSpPr/>
            <p:nvPr/>
          </p:nvSpPr>
          <p:spPr>
            <a:xfrm>
              <a:off x="6786578" y="25554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72" name="Text Box 61"/>
            <p:cNvSpPr txBox="1">
              <a:spLocks noChangeArrowheads="1"/>
            </p:cNvSpPr>
            <p:nvPr/>
          </p:nvSpPr>
          <p:spPr>
            <a:xfrm>
              <a:off x="5355900" y="2187245"/>
              <a:ext cx="430546" cy="39205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>
              <a:off x="5786446" y="2365236"/>
              <a:ext cx="1069821" cy="255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74" name="Text Box 61"/>
            <p:cNvSpPr txBox="1">
              <a:spLocks noChangeArrowheads="1"/>
            </p:cNvSpPr>
            <p:nvPr/>
          </p:nvSpPr>
          <p:spPr>
            <a:xfrm>
              <a:off x="6856098" y="2555460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75" name="Text Box 61"/>
            <p:cNvSpPr txBox="1">
              <a:spLocks noChangeArrowheads="1"/>
            </p:cNvSpPr>
            <p:nvPr/>
          </p:nvSpPr>
          <p:spPr>
            <a:xfrm>
              <a:off x="5929322" y="1957320"/>
              <a:ext cx="1200761" cy="37916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Times New Roman"/>
                </a:rPr>
                <a:t>1</a:t>
              </a: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= -0.5</a:t>
              </a:r>
            </a:p>
          </p:txBody>
        </p:sp>
        <p:sp>
          <p:nvSpPr>
            <p:cNvPr id="76" name="타원 75"/>
            <p:cNvSpPr/>
            <p:nvPr/>
          </p:nvSpPr>
          <p:spPr>
            <a:xfrm>
              <a:off x="5357818" y="2984088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77" name="Text Box 61"/>
            <p:cNvSpPr txBox="1">
              <a:spLocks noChangeArrowheads="1"/>
            </p:cNvSpPr>
            <p:nvPr/>
          </p:nvSpPr>
          <p:spPr>
            <a:xfrm>
              <a:off x="5427338" y="3001581"/>
              <a:ext cx="430546" cy="38734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78" name="Text Box 61"/>
            <p:cNvSpPr txBox="1">
              <a:spLocks noChangeArrowheads="1"/>
            </p:cNvSpPr>
            <p:nvPr/>
          </p:nvSpPr>
          <p:spPr>
            <a:xfrm>
              <a:off x="5857884" y="2600262"/>
              <a:ext cx="1287747" cy="792809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w</a:t>
              </a:r>
              <a:r>
                <a:rPr lang="en-US" altLang="ko-KR" sz="16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lang="en-US" altLang="ko-KR" sz="1600">
                  <a:solidFill>
                    <a:srgbClr val="000000"/>
                  </a:solidFill>
                  <a:latin typeface="Times New Roman"/>
                </a:rPr>
                <a:t>= -0.5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 sz="16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79" name="직선 화살표 연결선 78"/>
            <p:cNvCxnSpPr/>
            <p:nvPr/>
          </p:nvCxnSpPr>
          <p:spPr>
            <a:xfrm flipV="1">
              <a:off x="5833687" y="2935216"/>
              <a:ext cx="1022580" cy="271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sp>
        <p:nvSpPr>
          <p:cNvPr id="80" name="직사각형 79"/>
          <p:cNvSpPr/>
          <p:nvPr/>
        </p:nvSpPr>
        <p:spPr>
          <a:xfrm>
            <a:off x="4289711" y="5921313"/>
            <a:ext cx="1603628" cy="73175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 = -3</a:t>
            </a:r>
          </a:p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 -3)    y = 0</a:t>
            </a:r>
          </a:p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  -3)    y = 1 </a:t>
            </a:r>
            <a:endParaRPr lang="ko-KR" altLang="en-US" sz="1400"/>
          </a:p>
        </p:txBody>
      </p:sp>
      <p:sp>
        <p:nvSpPr>
          <p:cNvPr id="81" name="직사각형 80"/>
          <p:cNvSpPr/>
          <p:nvPr/>
        </p:nvSpPr>
        <p:spPr>
          <a:xfrm>
            <a:off x="8116859" y="3605514"/>
            <a:ext cx="1680268" cy="7386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 = 1.1</a:t>
            </a:r>
          </a:p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 1.1)    y = 0</a:t>
            </a:r>
          </a:p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  1.1)    y = 1 </a:t>
            </a:r>
            <a:endParaRPr lang="ko-KR" altLang="en-US" sz="1400"/>
          </a:p>
        </p:txBody>
      </p:sp>
      <p:sp>
        <p:nvSpPr>
          <p:cNvPr id="82" name="직사각형 81"/>
          <p:cNvSpPr/>
          <p:nvPr/>
        </p:nvSpPr>
        <p:spPr>
          <a:xfrm>
            <a:off x="4289711" y="3605514"/>
            <a:ext cx="1680268" cy="7386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 = 1.5</a:t>
            </a:r>
          </a:p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 1.5)    y = 0</a:t>
            </a:r>
          </a:p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400">
                <a:solidFill>
                  <a:srgbClr val="000000"/>
                </a:solidFill>
                <a:latin typeface="Times New Roman"/>
                <a:sym typeface="Symbol"/>
              </a:rPr>
              <a:t>  1.5)    y = 1 </a:t>
            </a:r>
            <a:endParaRPr lang="ko-KR" altLang="en-US" sz="1400"/>
          </a:p>
        </p:txBody>
      </p:sp>
      <p:sp>
        <p:nvSpPr>
          <p:cNvPr id="83" name="직사각형 82"/>
          <p:cNvSpPr/>
          <p:nvPr/>
        </p:nvSpPr>
        <p:spPr>
          <a:xfrm>
            <a:off x="8116859" y="5921313"/>
            <a:ext cx="1739676" cy="73175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pPr>
              <a:buFont typeface="Symbol"/>
              <a:buChar char="Q"/>
              <a:defRPr/>
            </a:pPr>
            <a:r>
              <a:rPr lang="en-US" altLang="ko-KR" sz="1400" dirty="0">
                <a:solidFill>
                  <a:srgbClr val="000000"/>
                </a:solidFill>
                <a:latin typeface="Times New Roman"/>
                <a:sym typeface="Symbol"/>
              </a:rPr>
              <a:t> = -0.3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imes New Roman"/>
                <a:sym typeface="Symbol"/>
              </a:rPr>
              <a:t> -0.3)    y = 0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000000"/>
                </a:solidFill>
                <a:latin typeface="Times New Roman"/>
              </a:rPr>
              <a:t>if  (z</a:t>
            </a:r>
            <a:r>
              <a:rPr lang="en-US" altLang="ko-KR" sz="1400" baseline="-25000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altLang="ko-KR" sz="1400" dirty="0">
                <a:solidFill>
                  <a:srgbClr val="000000"/>
                </a:solidFill>
                <a:latin typeface="Times New Roman"/>
                <a:sym typeface="Symbol"/>
              </a:rPr>
              <a:t>  -0.3)    y = 1 </a:t>
            </a:r>
            <a:endParaRPr lang="ko-KR" altLang="en-US" sz="1400" dirty="0"/>
          </a:p>
        </p:txBody>
      </p:sp>
      <p:sp>
        <p:nvSpPr>
          <p:cNvPr id="84" name="직사각형 83"/>
          <p:cNvSpPr/>
          <p:nvPr/>
        </p:nvSpPr>
        <p:spPr>
          <a:xfrm>
            <a:off x="8483529" y="2991802"/>
            <a:ext cx="2075912" cy="47928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신경망 가중치의 정답이 여러 개 존재할 수 있음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6032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경사하강법을</a:t>
            </a:r>
            <a:r>
              <a:rPr lang="ko-KR" altLang="en-US" dirty="0" smtClean="0"/>
              <a:t> 이용한 </a:t>
            </a:r>
            <a:r>
              <a:rPr lang="ko-KR" altLang="en-US" dirty="0" err="1" smtClean="0"/>
              <a:t>퍼셉트론</a:t>
            </a:r>
            <a:r>
              <a:rPr lang="ko-KR" altLang="en-US" dirty="0" smtClean="0"/>
              <a:t> 학습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pSp>
        <p:nvGrpSpPr>
          <p:cNvPr id="25" name="그룹 24"/>
          <p:cNvGrpSpPr/>
          <p:nvPr/>
        </p:nvGrpSpPr>
        <p:grpSpPr>
          <a:xfrm>
            <a:off x="2705531" y="1878156"/>
            <a:ext cx="2044085" cy="2362756"/>
            <a:chOff x="495731" y="850220"/>
            <a:chExt cx="2044085" cy="2362756"/>
          </a:xfrm>
        </p:grpSpPr>
        <p:sp>
          <p:nvSpPr>
            <p:cNvPr id="26" name="타원 25"/>
            <p:cNvSpPr/>
            <p:nvPr/>
          </p:nvSpPr>
          <p:spPr>
            <a:xfrm>
              <a:off x="539552" y="85022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2039750" y="1268760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28" name="Text Box 61"/>
            <p:cNvSpPr txBox="1">
              <a:spLocks noChangeArrowheads="1"/>
            </p:cNvSpPr>
            <p:nvPr/>
          </p:nvSpPr>
          <p:spPr>
            <a:xfrm>
              <a:off x="609072" y="867713"/>
              <a:ext cx="430546" cy="396066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 dirty="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lang="en-US" altLang="ko-KR" sz="2000" dirty="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29" name="직선 화살표 연결선 28"/>
            <p:cNvCxnSpPr/>
            <p:nvPr/>
          </p:nvCxnSpPr>
          <p:spPr>
            <a:xfrm>
              <a:off x="1039618" y="1045704"/>
              <a:ext cx="1000132" cy="44551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30" name="Text Box 61"/>
            <p:cNvSpPr txBox="1">
              <a:spLocks noChangeArrowheads="1"/>
            </p:cNvSpPr>
            <p:nvPr/>
          </p:nvSpPr>
          <p:spPr>
            <a:xfrm>
              <a:off x="2109270" y="1268760"/>
              <a:ext cx="430546" cy="40011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2000" dirty="0">
                  <a:solidFill>
                    <a:srgbClr val="000000"/>
                  </a:solidFill>
                  <a:latin typeface="Times New Roman"/>
                </a:rPr>
                <a:t>y</a:t>
              </a:r>
              <a:endParaRPr lang="en-US" altLang="ko-KR" sz="2000" baseline="-25000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2" name="타원 51"/>
            <p:cNvSpPr/>
            <p:nvPr/>
          </p:nvSpPr>
          <p:spPr>
            <a:xfrm>
              <a:off x="539552" y="1495044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53" name="Text Box 61"/>
            <p:cNvSpPr txBox="1">
              <a:spLocks noChangeArrowheads="1"/>
            </p:cNvSpPr>
            <p:nvPr/>
          </p:nvSpPr>
          <p:spPr>
            <a:xfrm>
              <a:off x="609072" y="1495044"/>
              <a:ext cx="430546" cy="393193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p:cxnSp>
          <p:nvCxnSpPr>
            <p:cNvPr id="54" name="직선 화살표 연결선 53"/>
            <p:cNvCxnSpPr/>
            <p:nvPr/>
          </p:nvCxnSpPr>
          <p:spPr>
            <a:xfrm flipV="1">
              <a:off x="1015421" y="1491216"/>
              <a:ext cx="1024329" cy="2262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55" name="타원 54"/>
            <p:cNvSpPr/>
            <p:nvPr/>
          </p:nvSpPr>
          <p:spPr>
            <a:xfrm>
              <a:off x="495731" y="2768064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cxnSp>
          <p:nvCxnSpPr>
            <p:cNvPr id="56" name="직선 화살표 연결선 55"/>
            <p:cNvCxnSpPr/>
            <p:nvPr/>
          </p:nvCxnSpPr>
          <p:spPr>
            <a:xfrm flipV="1">
              <a:off x="971600" y="1491216"/>
              <a:ext cx="1068150" cy="14993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57" name="Text Box 61"/>
            <p:cNvSpPr txBox="1">
              <a:spLocks noChangeArrowheads="1"/>
            </p:cNvSpPr>
            <p:nvPr/>
          </p:nvSpPr>
          <p:spPr>
            <a:xfrm>
              <a:off x="531620" y="2804724"/>
              <a:ext cx="571504" cy="39263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Times New Roman"/>
                </a:rPr>
                <a:t>x</a:t>
              </a:r>
              <a:r>
                <a:rPr lang="en-US" altLang="ko-KR" sz="2000" baseline="-25000">
                  <a:solidFill>
                    <a:srgbClr val="000000"/>
                  </a:solidFill>
                  <a:latin typeface="Times New Roman"/>
                </a:rPr>
                <a:t>n</a:t>
              </a:r>
              <a:endParaRPr lang="en-US" altLang="ko-KR" sz="2000">
                <a:solidFill>
                  <a:srgbClr val="000000"/>
                </a:solidFill>
                <a:latin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633620" y="2012067"/>
                  <a:ext cx="193964" cy="98488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∙</m:t>
                        </m:r>
                      </m:oMath>
                    </m:oMathPara>
                  </a14:m>
                  <a:endParaRPr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∙</m:t>
                        </m:r>
                      </m:oMath>
                    </m:oMathPara>
                  </a14:m>
                  <a:endParaRPr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∙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:dsp="http://schemas.microsoft.com/office/drawing/2008/diagram" xmlns:dgm="http://schemas.openxmlformats.org/drawingml/2006/diagram" xmlns:c="http://schemas.openxmlformats.org/drawingml/2006/chart" xmlns="">
            <p:sp>
              <p:nvSpPr>
                <p:cNvPr id="52" name=""/>
                <p:cNvSpPr txBox="1"/>
                <p:nvPr/>
              </p:nvSpPr>
              <p:spPr>
                <a:xfrm>
                  <a:off x="633620" y="2012067"/>
                  <a:ext cx="193964" cy="98488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421515" y="1792640"/>
                <a:ext cx="2914650" cy="10763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</a:rPr>
                            <m:t>𝑦</m:t>
                          </m:r>
                        </m:e>
                        <m:sub/>
                      </m:sSub>
                      <m:r>
                        <a:rPr sz="1800" b="0" i="1">
                          <a:latin typeface="Cambria Math"/>
                        </a:rPr>
                        <m:t>=</m:t>
                      </m:r>
                      <m:r>
                        <a:rPr sz="1800" b="0" i="1">
                          <a:latin typeface="Cambria Math"/>
                        </a:rPr>
                        <m:t>𝜑</m:t>
                      </m:r>
                      <m:d>
                        <m:dPr>
                          <m:ctrlPr>
                            <a:rPr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1800" b="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sz="1800" b="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sz="1800" b="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sz="180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w</m:t>
                                  </m:r>
                                  <m:r>
                                    <m:rPr>
                                      <m:nor/>
                                    </m:rPr>
                                    <a:rPr sz="1800" b="0" i="0" baseline="-2500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sz="1800" b="0" i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sz="1800" b="0" i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</a:rPr>
                                    <m:t>xi</m:t>
                                  </m:r>
                                  <m:r>
                                    <a:rPr sz="1800" i="1"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𝑏</m:t>
                                      </m:r>
                                    </m:e>
                                    <m:sub/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515" y="1792640"/>
                <a:ext cx="2914650" cy="107632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413648" y="2867294"/>
                <a:ext cx="2657475" cy="10763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ea typeface="Cambria Math"/>
                          <a:sym typeface="Cambria Math"/>
                        </a:rPr>
                        <m:t>𝑐𝑜𝑠𝑡</m:t>
                      </m:r>
                      <m:r>
                        <a:rPr sz="18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800" b="0" i="1">
                              <a:latin typeface="Cambria Math"/>
                            </a:rPr>
                            <m:t>𝑘</m:t>
                          </m:r>
                          <m:r>
                            <a:rPr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sz="1800" b="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sz="18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sz="1800" b="0" i="1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sz="18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648" y="2867294"/>
                <a:ext cx="2657475" cy="107632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843109" y="3749703"/>
                <a:ext cx="2689448" cy="77886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109" y="3749703"/>
                <a:ext cx="2689448" cy="778868"/>
              </a:xfrm>
              <a:prstGeom prst="rect">
                <a:avLst/>
              </a:prstGeom>
              <a:blipFill rotWithShape="0">
                <a:blip r:embed="rId7"/>
                <a:stretch>
                  <a:fillRect b="-23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4823317" y="5565199"/>
                <a:ext cx="4610100" cy="117157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sz="2000" b="0" i="0">
                          <a:latin typeface="Cambria Math"/>
                        </a:rPr>
                        <m:t>+</m:t>
                      </m:r>
                      <m:r>
                        <a:rPr sz="2000" i="1">
                          <a:latin typeface="Cambria Math"/>
                          <a:ea typeface="Cambria Math"/>
                        </a:rPr>
                        <m:t>𝛼</m:t>
                      </m:r>
                      <m:nary>
                        <m:naryPr>
                          <m:chr m:val="∑"/>
                          <m:limLoc m:val="undOvr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000" b="0" i="1">
                              <a:latin typeface="Cambria Math"/>
                            </a:rPr>
                            <m:t>𝑘</m:t>
                          </m:r>
                          <m:r>
                            <a:rPr sz="2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sz="2000" b="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000" i="1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sz="20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sz="20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0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20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sz="2000" i="1">
                          <a:latin typeface="Cambria Math"/>
                          <a:sym typeface="Cambria Math"/>
                        </a:rPr>
                        <m:t> 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b="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317" y="5565199"/>
                <a:ext cx="4610100" cy="11715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4693568" y="4719145"/>
                <a:ext cx="3933825" cy="8477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sz="2000" b="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sz="2000" i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sz="2000" b="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sz="2000" i="0">
                          <a:latin typeface="Cambria Math"/>
                        </a:rPr>
                        <m:t>−</m:t>
                      </m:r>
                      <m:r>
                        <a:rPr sz="2000" i="1">
                          <a:latin typeface="Cambria Math"/>
                          <a:ea typeface="Cambria Math"/>
                        </a:rPr>
                        <m:t>𝛼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00" i="0">
                              <a:latin typeface="Cambria Math"/>
                            </a:rPr>
                            <m:t>𝜕</m:t>
                          </m:r>
                          <m:r>
                            <a:rPr sz="2000" b="0" i="0">
                              <a:latin typeface="Cambria Math"/>
                            </a:rPr>
                            <m:t> </m:t>
                          </m:r>
                          <m:r>
                            <a:rPr sz="2000" b="0" i="0">
                              <a:latin typeface="Cambria Math"/>
                              <a:sym typeface="Cambria Math"/>
                            </a:rPr>
                            <m:t>𝑐𝑜𝑠𝑡</m:t>
                          </m:r>
                        </m:num>
                        <m:den>
                          <m:r>
                            <a:rPr sz="2000" i="0">
                              <a:latin typeface="Cambria Math"/>
                            </a:rPr>
                            <m:t>𝜕</m:t>
                          </m:r>
                          <m:r>
                            <a:rPr sz="2000" b="0" i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sz="2000" b="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568" y="4719145"/>
                <a:ext cx="3933825" cy="84772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직사각형 63">
            <a:extLst>
              <a:ext uri="{FF2B5EF4-FFF2-40B4-BE49-F238E27FC236}">
                <a16:creationId xmlns="" xmlns:a16="http://schemas.microsoft.com/office/drawing/2014/main" id="{6D195A06-DCAF-46ED-88B7-6CD297A852B8}"/>
              </a:ext>
            </a:extLst>
          </p:cNvPr>
          <p:cNvSpPr/>
          <p:nvPr/>
        </p:nvSpPr>
        <p:spPr>
          <a:xfrm>
            <a:off x="3241333" y="179859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altLang="ko-KR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="" xmlns:a16="http://schemas.microsoft.com/office/drawing/2014/main" id="{F7543D36-4A85-4276-8E19-179EADC26403}"/>
              </a:ext>
            </a:extLst>
          </p:cNvPr>
          <p:cNvSpPr/>
          <p:nvPr/>
        </p:nvSpPr>
        <p:spPr>
          <a:xfrm>
            <a:off x="3109601" y="2331421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baseline="-25000" dirty="0">
                <a:solidFill>
                  <a:srgbClr val="000000"/>
                </a:solidFill>
                <a:latin typeface="Times New Roman"/>
              </a:rPr>
              <a:t>2</a:t>
            </a:r>
            <a:endParaRPr lang="en-US" altLang="ko-KR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="" xmlns:a16="http://schemas.microsoft.com/office/drawing/2014/main" id="{50FC71D1-F9B1-4E3C-A8CD-C630722898F5}"/>
              </a:ext>
            </a:extLst>
          </p:cNvPr>
          <p:cNvSpPr/>
          <p:nvPr/>
        </p:nvSpPr>
        <p:spPr>
          <a:xfrm>
            <a:off x="2991956" y="3520728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dirty="0" err="1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baseline="-25000" dirty="0" err="1">
                <a:solidFill>
                  <a:srgbClr val="000000"/>
                </a:solidFill>
                <a:latin typeface="Times New Roman"/>
              </a:rPr>
              <a:t>n</a:t>
            </a:r>
            <a:endParaRPr lang="en-US" altLang="ko-KR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2920964" y="4646057"/>
            <a:ext cx="1528921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단층 </a:t>
            </a:r>
            <a:r>
              <a:rPr lang="ko-KR" altLang="en-US" sz="2400" dirty="0" err="1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퍼셉트론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4702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퍼셉트론의</a:t>
            </a:r>
            <a:r>
              <a:rPr lang="ko-KR" altLang="en-US" dirty="0" smtClean="0"/>
              <a:t> 한계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선형 분리 가능한 문제만 학습 가능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4980494" y="4048096"/>
            <a:ext cx="2071702" cy="2719916"/>
            <a:chOff x="6786578" y="4071942"/>
            <a:chExt cx="2071702" cy="2719916"/>
          </a:xfrm>
        </p:grpSpPr>
        <p:sp>
          <p:nvSpPr>
            <p:cNvPr id="23" name="TextBox 22"/>
            <p:cNvSpPr txBox="1"/>
            <p:nvPr/>
          </p:nvSpPr>
          <p:spPr>
            <a:xfrm>
              <a:off x="7643834" y="6289156"/>
              <a:ext cx="500066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+mn-ea"/>
                  <a:sym typeface="Symbol"/>
                </a:rPr>
                <a:t>OR</a:t>
              </a:r>
            </a:p>
            <a:p>
              <a:endParaRPr lang="en-US" altLang="ko-KR" sz="1600" b="1" baseline="-25000" dirty="0">
                <a:latin typeface="+mn-ea"/>
              </a:endParaRPr>
            </a:p>
          </p:txBody>
        </p:sp>
        <p:grpSp>
          <p:nvGrpSpPr>
            <p:cNvPr id="24" name="그룹 51"/>
            <p:cNvGrpSpPr/>
            <p:nvPr/>
          </p:nvGrpSpPr>
          <p:grpSpPr>
            <a:xfrm>
              <a:off x="6786578" y="4071942"/>
              <a:ext cx="2071702" cy="1999055"/>
              <a:chOff x="6786578" y="4214818"/>
              <a:chExt cx="2071702" cy="1999055"/>
            </a:xfrm>
          </p:grpSpPr>
          <p:grpSp>
            <p:nvGrpSpPr>
              <p:cNvPr id="31" name="그룹 91"/>
              <p:cNvGrpSpPr/>
              <p:nvPr/>
            </p:nvGrpSpPr>
            <p:grpSpPr>
              <a:xfrm>
                <a:off x="6786578" y="4214818"/>
                <a:ext cx="2071702" cy="1999055"/>
                <a:chOff x="7000892" y="4000504"/>
                <a:chExt cx="2071702" cy="1999055"/>
              </a:xfrm>
            </p:grpSpPr>
            <p:cxnSp>
              <p:nvCxnSpPr>
                <p:cNvPr id="36" name="직선 화살표 연결선 35"/>
                <p:cNvCxnSpPr/>
                <p:nvPr/>
              </p:nvCxnSpPr>
              <p:spPr bwMode="auto">
                <a:xfrm>
                  <a:off x="7286644" y="5572140"/>
                  <a:ext cx="1643074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37" name="직선 화살표 연결선 36"/>
                <p:cNvCxnSpPr/>
                <p:nvPr/>
              </p:nvCxnSpPr>
              <p:spPr bwMode="auto">
                <a:xfrm rot="16200000" flipV="1">
                  <a:off x="6644662" y="4928239"/>
                  <a:ext cx="1571636" cy="191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38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999106" y="5643578"/>
                  <a:ext cx="430546" cy="3559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x</a:t>
                  </a:r>
                  <a:r>
                    <a:rPr lang="en-US" altLang="ko-KR" sz="2000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  <a:endPara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000892" y="4529088"/>
                  <a:ext cx="430546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x</a:t>
                  </a:r>
                  <a:r>
                    <a:rPr lang="en-US" altLang="ko-KR" sz="2000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  <a:endPara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070412" y="4000504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1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141850" y="5572140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42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8642048" y="5572140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32" name="Text Box 61"/>
              <p:cNvSpPr txBox="1">
                <a:spLocks noChangeArrowheads="1"/>
              </p:cNvSpPr>
              <p:nvPr/>
            </p:nvSpPr>
            <p:spPr bwMode="auto">
              <a:xfrm>
                <a:off x="7141850" y="5559998"/>
                <a:ext cx="43054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0070C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33" name="Text Box 61"/>
              <p:cNvSpPr txBox="1">
                <a:spLocks noChangeArrowheads="1"/>
              </p:cNvSpPr>
              <p:nvPr/>
            </p:nvSpPr>
            <p:spPr bwMode="auto">
              <a:xfrm>
                <a:off x="8427734" y="5572140"/>
                <a:ext cx="43054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0070C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4" name="Text Box 61"/>
              <p:cNvSpPr txBox="1">
                <a:spLocks noChangeArrowheads="1"/>
              </p:cNvSpPr>
              <p:nvPr/>
            </p:nvSpPr>
            <p:spPr bwMode="auto">
              <a:xfrm>
                <a:off x="8356296" y="4274114"/>
                <a:ext cx="43054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0070C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cxnSp>
            <p:nvCxnSpPr>
              <p:cNvPr id="35" name="직선 연결선 34"/>
              <p:cNvCxnSpPr/>
              <p:nvPr/>
            </p:nvCxnSpPr>
            <p:spPr bwMode="auto">
              <a:xfrm rot="16200000" flipH="1">
                <a:off x="6786594" y="4606568"/>
                <a:ext cx="1571636" cy="15716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Text Box 61"/>
            <p:cNvSpPr txBox="1">
              <a:spLocks noChangeArrowheads="1"/>
            </p:cNvSpPr>
            <p:nvPr/>
          </p:nvSpPr>
          <p:spPr bwMode="auto">
            <a:xfrm>
              <a:off x="7141850" y="4131238"/>
              <a:ext cx="43054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</a:pPr>
              <a:r>
                <a:rPr lang="en-US" altLang="ko-KR" b="1" dirty="0">
                  <a:solidFill>
                    <a:srgbClr val="0070C0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1584936" y="4050914"/>
            <a:ext cx="2500330" cy="2553132"/>
            <a:chOff x="6786578" y="3929066"/>
            <a:chExt cx="2500330" cy="2553132"/>
          </a:xfrm>
        </p:grpSpPr>
        <p:sp>
          <p:nvSpPr>
            <p:cNvPr id="44" name="TextBox 43"/>
            <p:cNvSpPr txBox="1"/>
            <p:nvPr/>
          </p:nvSpPr>
          <p:spPr>
            <a:xfrm>
              <a:off x="7643834" y="6143644"/>
              <a:ext cx="1643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baseline="-25000" dirty="0">
                  <a:latin typeface="+mn-ea"/>
                </a:rPr>
                <a:t>AND</a:t>
              </a:r>
            </a:p>
          </p:txBody>
        </p:sp>
        <p:grpSp>
          <p:nvGrpSpPr>
            <p:cNvPr id="45" name="그룹 51"/>
            <p:cNvGrpSpPr/>
            <p:nvPr/>
          </p:nvGrpSpPr>
          <p:grpSpPr>
            <a:xfrm>
              <a:off x="6786578" y="3929066"/>
              <a:ext cx="2214578" cy="2141931"/>
              <a:chOff x="6786578" y="4071942"/>
              <a:chExt cx="2214578" cy="2141931"/>
            </a:xfrm>
          </p:grpSpPr>
          <p:grpSp>
            <p:nvGrpSpPr>
              <p:cNvPr id="47" name="그룹 91"/>
              <p:cNvGrpSpPr/>
              <p:nvPr/>
            </p:nvGrpSpPr>
            <p:grpSpPr>
              <a:xfrm>
                <a:off x="6786578" y="4214818"/>
                <a:ext cx="2071702" cy="1999055"/>
                <a:chOff x="7000892" y="4000504"/>
                <a:chExt cx="2071702" cy="1999055"/>
              </a:xfrm>
            </p:grpSpPr>
            <p:cxnSp>
              <p:nvCxnSpPr>
                <p:cNvPr id="63" name="직선 화살표 연결선 62"/>
                <p:cNvCxnSpPr/>
                <p:nvPr/>
              </p:nvCxnSpPr>
              <p:spPr bwMode="auto">
                <a:xfrm>
                  <a:off x="7286644" y="5572140"/>
                  <a:ext cx="1643074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64" name="직선 화살표 연결선 63"/>
                <p:cNvCxnSpPr/>
                <p:nvPr/>
              </p:nvCxnSpPr>
              <p:spPr bwMode="auto">
                <a:xfrm rot="16200000" flipV="1">
                  <a:off x="6644662" y="4928239"/>
                  <a:ext cx="1571636" cy="191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6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999106" y="5643578"/>
                  <a:ext cx="430546" cy="3559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x</a:t>
                  </a:r>
                  <a:r>
                    <a:rPr lang="en-US" altLang="ko-KR" sz="2000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  <a:endPara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66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000892" y="4529088"/>
                  <a:ext cx="430546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x</a:t>
                  </a:r>
                  <a:r>
                    <a:rPr lang="en-US" altLang="ko-KR" sz="2000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  <a:endPara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67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070412" y="4000504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68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7141850" y="5572140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69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8642048" y="5572140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</a:p>
              </p:txBody>
            </p:sp>
          </p:grpSp>
          <p:sp>
            <p:nvSpPr>
              <p:cNvPr id="48" name="Text Box 61"/>
              <p:cNvSpPr txBox="1">
                <a:spLocks noChangeArrowheads="1"/>
              </p:cNvSpPr>
              <p:nvPr/>
            </p:nvSpPr>
            <p:spPr bwMode="auto">
              <a:xfrm>
                <a:off x="7141850" y="5559998"/>
                <a:ext cx="43054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0070C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49" name="Text Box 61"/>
              <p:cNvSpPr txBox="1">
                <a:spLocks noChangeArrowheads="1"/>
              </p:cNvSpPr>
              <p:nvPr/>
            </p:nvSpPr>
            <p:spPr bwMode="auto">
              <a:xfrm>
                <a:off x="8427734" y="5572140"/>
                <a:ext cx="43054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0070C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50" name="Text Box 61"/>
              <p:cNvSpPr txBox="1">
                <a:spLocks noChangeArrowheads="1"/>
              </p:cNvSpPr>
              <p:nvPr/>
            </p:nvSpPr>
            <p:spPr bwMode="auto">
              <a:xfrm>
                <a:off x="8356296" y="4274114"/>
                <a:ext cx="43054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0070C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cxnSp>
            <p:nvCxnSpPr>
              <p:cNvPr id="51" name="직선 연결선 50"/>
              <p:cNvCxnSpPr/>
              <p:nvPr/>
            </p:nvCxnSpPr>
            <p:spPr bwMode="auto">
              <a:xfrm rot="16200000" flipH="1">
                <a:off x="7429536" y="4071958"/>
                <a:ext cx="1571636" cy="157160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7141850" y="4131238"/>
              <a:ext cx="43054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</a:pPr>
              <a:r>
                <a:rPr lang="en-US" altLang="ko-KR" b="1" dirty="0">
                  <a:solidFill>
                    <a:srgbClr val="0070C0"/>
                  </a:solidFill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1394819" y="2603518"/>
            <a:ext cx="2833323" cy="1259248"/>
            <a:chOff x="1310049" y="1928802"/>
            <a:chExt cx="2833323" cy="1259248"/>
          </a:xfrm>
        </p:grpSpPr>
        <p:grpSp>
          <p:nvGrpSpPr>
            <p:cNvPr id="71" name="그룹 70"/>
            <p:cNvGrpSpPr/>
            <p:nvPr/>
          </p:nvGrpSpPr>
          <p:grpSpPr>
            <a:xfrm>
              <a:off x="1310049" y="1928802"/>
              <a:ext cx="2047505" cy="1259248"/>
              <a:chOff x="1310049" y="1928802"/>
              <a:chExt cx="2047505" cy="1259248"/>
            </a:xfrm>
          </p:grpSpPr>
          <p:grpSp>
            <p:nvGrpSpPr>
              <p:cNvPr id="77" name="그룹 76"/>
              <p:cNvGrpSpPr/>
              <p:nvPr/>
            </p:nvGrpSpPr>
            <p:grpSpPr>
              <a:xfrm>
                <a:off x="1310049" y="1928802"/>
                <a:ext cx="1904629" cy="1259248"/>
                <a:chOff x="309917" y="3498556"/>
                <a:chExt cx="1904629" cy="1259248"/>
              </a:xfrm>
            </p:grpSpPr>
            <p:grpSp>
              <p:nvGrpSpPr>
                <p:cNvPr id="79" name="그룹 64"/>
                <p:cNvGrpSpPr/>
                <p:nvPr/>
              </p:nvGrpSpPr>
              <p:grpSpPr>
                <a:xfrm>
                  <a:off x="309917" y="3498556"/>
                  <a:ext cx="547307" cy="1259248"/>
                  <a:chOff x="5310577" y="2169752"/>
                  <a:chExt cx="547307" cy="1259248"/>
                </a:xfrm>
              </p:grpSpPr>
              <p:sp>
                <p:nvSpPr>
                  <p:cNvPr id="81" name="타원 80"/>
                  <p:cNvSpPr/>
                  <p:nvPr/>
                </p:nvSpPr>
                <p:spPr bwMode="auto">
                  <a:xfrm>
                    <a:off x="5310577" y="2169752"/>
                    <a:ext cx="475869" cy="444912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82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55900" y="2187245"/>
                    <a:ext cx="430546" cy="35598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latinLnBrk="1" hangingPunct="1">
                      <a:spcBef>
                        <a:spcPct val="50000"/>
                      </a:spcBef>
                    </a:pPr>
                    <a:r>
                      <a:rPr lang="en-US" altLang="ko-KR" sz="2000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x</a:t>
                    </a:r>
                    <a:r>
                      <a:rPr lang="en-US" altLang="ko-KR" sz="2000" baseline="-25000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1</a:t>
                    </a:r>
                    <a:endPara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83" name="타원 82"/>
                  <p:cNvSpPr/>
                  <p:nvPr/>
                </p:nvSpPr>
                <p:spPr bwMode="auto">
                  <a:xfrm>
                    <a:off x="5382015" y="2984088"/>
                    <a:ext cx="475869" cy="444912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84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427338" y="3001581"/>
                    <a:ext cx="430546" cy="4001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latinLnBrk="1" hangingPunct="1">
                      <a:spcBef>
                        <a:spcPct val="50000"/>
                      </a:spcBef>
                    </a:pPr>
                    <a:r>
                      <a:rPr lang="en-US" altLang="ko-KR" sz="2000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x</a:t>
                    </a:r>
                    <a:r>
                      <a:rPr lang="en-US" altLang="ko-KR" sz="2000" baseline="-25000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2</a:t>
                    </a:r>
                    <a:endPara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80" name="순서도: 지연 79"/>
                <p:cNvSpPr/>
                <p:nvPr/>
              </p:nvSpPr>
              <p:spPr bwMode="auto">
                <a:xfrm>
                  <a:off x="1500166" y="3857628"/>
                  <a:ext cx="714380" cy="428628"/>
                </a:xfrm>
                <a:prstGeom prst="flowChartDelay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78" name="Text Box 61"/>
              <p:cNvSpPr txBox="1">
                <a:spLocks noChangeArrowheads="1"/>
              </p:cNvSpPr>
              <p:nvPr/>
            </p:nvSpPr>
            <p:spPr bwMode="auto">
              <a:xfrm>
                <a:off x="2498380" y="2287201"/>
                <a:ext cx="85917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rPr>
                  <a:t>AND</a:t>
                </a:r>
              </a:p>
            </p:txBody>
          </p:sp>
        </p:grpSp>
        <p:cxnSp>
          <p:nvCxnSpPr>
            <p:cNvPr id="72" name="직선 화살표 연결선 71"/>
            <p:cNvCxnSpPr>
              <a:stCxn id="82" idx="3"/>
            </p:cNvCxnSpPr>
            <p:nvPr/>
          </p:nvCxnSpPr>
          <p:spPr bwMode="auto">
            <a:xfrm>
              <a:off x="1785918" y="2124286"/>
              <a:ext cx="714380" cy="2331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직선 화살표 연결선 72"/>
            <p:cNvCxnSpPr>
              <a:stCxn id="84" idx="3"/>
            </p:cNvCxnSpPr>
            <p:nvPr/>
          </p:nvCxnSpPr>
          <p:spPr bwMode="auto">
            <a:xfrm flipV="1">
              <a:off x="1857356" y="2643182"/>
              <a:ext cx="642942" cy="3175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직선 화살표 연결선 73"/>
            <p:cNvCxnSpPr>
              <a:stCxn id="80" idx="3"/>
              <a:endCxn id="75" idx="2"/>
            </p:cNvCxnSpPr>
            <p:nvPr/>
          </p:nvCxnSpPr>
          <p:spPr bwMode="auto">
            <a:xfrm>
              <a:off x="3214678" y="2502188"/>
              <a:ext cx="428628" cy="62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75" name="타원 74"/>
            <p:cNvSpPr/>
            <p:nvPr/>
          </p:nvSpPr>
          <p:spPr bwMode="auto">
            <a:xfrm>
              <a:off x="3643306" y="2285992"/>
              <a:ext cx="475869" cy="4449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6" name="Text Box 61"/>
            <p:cNvSpPr txBox="1">
              <a:spLocks noChangeArrowheads="1"/>
            </p:cNvSpPr>
            <p:nvPr/>
          </p:nvSpPr>
          <p:spPr bwMode="auto">
            <a:xfrm>
              <a:off x="3712826" y="2287201"/>
              <a:ext cx="43054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</a:pPr>
              <a:r>
                <a:rPr lang="en-US" altLang="ko-KR" sz="2000" dirty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4884788" y="2598997"/>
            <a:ext cx="2833323" cy="1259248"/>
            <a:chOff x="1105259" y="2669818"/>
            <a:chExt cx="2833323" cy="1259248"/>
          </a:xfrm>
        </p:grpSpPr>
        <p:grpSp>
          <p:nvGrpSpPr>
            <p:cNvPr id="86" name="그룹 85"/>
            <p:cNvGrpSpPr/>
            <p:nvPr/>
          </p:nvGrpSpPr>
          <p:grpSpPr>
            <a:xfrm>
              <a:off x="1105259" y="2669818"/>
              <a:ext cx="2833323" cy="1259248"/>
              <a:chOff x="1310049" y="1928802"/>
              <a:chExt cx="2833323" cy="1259248"/>
            </a:xfrm>
          </p:grpSpPr>
          <p:grpSp>
            <p:nvGrpSpPr>
              <p:cNvPr id="89" name="그룹 64"/>
              <p:cNvGrpSpPr/>
              <p:nvPr/>
            </p:nvGrpSpPr>
            <p:grpSpPr>
              <a:xfrm>
                <a:off x="1310049" y="1928802"/>
                <a:ext cx="547307" cy="1259248"/>
                <a:chOff x="5310577" y="2169752"/>
                <a:chExt cx="547307" cy="1259248"/>
              </a:xfrm>
            </p:grpSpPr>
            <p:sp>
              <p:nvSpPr>
                <p:cNvPr id="95" name="타원 94"/>
                <p:cNvSpPr/>
                <p:nvPr/>
              </p:nvSpPr>
              <p:spPr bwMode="auto">
                <a:xfrm>
                  <a:off x="5310577" y="2169752"/>
                  <a:ext cx="475869" cy="44491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96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5355900" y="2187245"/>
                  <a:ext cx="430546" cy="3559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x</a:t>
                  </a:r>
                  <a:r>
                    <a:rPr lang="en-US" altLang="ko-KR" sz="2000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  <a:endPara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97" name="타원 96"/>
                <p:cNvSpPr/>
                <p:nvPr/>
              </p:nvSpPr>
              <p:spPr bwMode="auto">
                <a:xfrm>
                  <a:off x="5382015" y="2984088"/>
                  <a:ext cx="475869" cy="44491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98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5427338" y="3001581"/>
                  <a:ext cx="430546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</a:pPr>
                  <a:r>
                    <a:rPr lang="en-US" altLang="ko-KR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x</a:t>
                  </a:r>
                  <a:r>
                    <a:rPr lang="en-US" altLang="ko-KR" sz="2000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  <a:endPara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</p:grpSp>
          <p:cxnSp>
            <p:nvCxnSpPr>
              <p:cNvPr id="90" name="직선 화살표 연결선 89"/>
              <p:cNvCxnSpPr>
                <a:stCxn id="96" idx="3"/>
              </p:cNvCxnSpPr>
              <p:nvPr/>
            </p:nvCxnSpPr>
            <p:spPr bwMode="auto">
              <a:xfrm>
                <a:off x="1785918" y="2124286"/>
                <a:ext cx="714380" cy="23314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1" name="직선 화살표 연결선 90"/>
              <p:cNvCxnSpPr>
                <a:stCxn id="98" idx="3"/>
              </p:cNvCxnSpPr>
              <p:nvPr/>
            </p:nvCxnSpPr>
            <p:spPr bwMode="auto">
              <a:xfrm flipV="1">
                <a:off x="1857356" y="2643182"/>
                <a:ext cx="642942" cy="317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2" name="직선 화살표 연결선 91"/>
              <p:cNvCxnSpPr>
                <a:endCxn id="93" idx="2"/>
              </p:cNvCxnSpPr>
              <p:nvPr/>
            </p:nvCxnSpPr>
            <p:spPr bwMode="auto">
              <a:xfrm>
                <a:off x="3214678" y="2502188"/>
                <a:ext cx="428628" cy="626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93" name="타원 92"/>
              <p:cNvSpPr/>
              <p:nvPr/>
            </p:nvSpPr>
            <p:spPr bwMode="auto">
              <a:xfrm>
                <a:off x="3643306" y="2285992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4" name="Text Box 61"/>
              <p:cNvSpPr txBox="1">
                <a:spLocks noChangeArrowheads="1"/>
              </p:cNvSpPr>
              <p:nvPr/>
            </p:nvSpPr>
            <p:spPr bwMode="auto">
              <a:xfrm>
                <a:off x="3712826" y="2287201"/>
                <a:ext cx="43054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rPr>
                  <a:t>y</a:t>
                </a:r>
              </a:p>
            </p:txBody>
          </p:sp>
        </p:grpSp>
        <p:sp>
          <p:nvSpPr>
            <p:cNvPr id="87" name="달 86"/>
            <p:cNvSpPr/>
            <p:nvPr/>
          </p:nvSpPr>
          <p:spPr bwMode="auto">
            <a:xfrm rot="10800000">
              <a:off x="2176829" y="3000372"/>
              <a:ext cx="857256" cy="500066"/>
            </a:xfrm>
            <a:prstGeom prst="moon">
              <a:avLst>
                <a:gd name="adj" fmla="val 72505"/>
              </a:avLst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88" name="Text Box 61"/>
            <p:cNvSpPr txBox="1">
              <a:spLocks noChangeArrowheads="1"/>
            </p:cNvSpPr>
            <p:nvPr/>
          </p:nvSpPr>
          <p:spPr bwMode="auto">
            <a:xfrm>
              <a:off x="2357422" y="3028890"/>
              <a:ext cx="85917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</a:pPr>
              <a:r>
                <a:rPr lang="en-US" altLang="ko-KR" sz="2000" dirty="0">
                  <a:solidFill>
                    <a:srgbClr val="000000"/>
                  </a:solidFill>
                  <a:latin typeface="Times New Roman" pitchFamily="18" charset="0"/>
                </a:rPr>
                <a:t>OR</a:t>
              </a:r>
            </a:p>
          </p:txBody>
        </p:sp>
      </p:grpSp>
      <p:graphicFrame>
        <p:nvGraphicFramePr>
          <p:cNvPr id="114" name="표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25838"/>
              </p:ext>
            </p:extLst>
          </p:nvPr>
        </p:nvGraphicFramePr>
        <p:xfrm>
          <a:off x="8576290" y="1600817"/>
          <a:ext cx="164307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3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531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/>
                        <a:t>XOR</a:t>
                      </a:r>
                      <a:endParaRPr lang="ko-KR" altLang="en-US" sz="14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8374758" y="4044412"/>
            <a:ext cx="2500330" cy="2410256"/>
            <a:chOff x="8374758" y="4044412"/>
            <a:chExt cx="2500330" cy="2410256"/>
          </a:xfrm>
        </p:grpSpPr>
        <p:grpSp>
          <p:nvGrpSpPr>
            <p:cNvPr id="99" name="그룹 98"/>
            <p:cNvGrpSpPr/>
            <p:nvPr/>
          </p:nvGrpSpPr>
          <p:grpSpPr>
            <a:xfrm>
              <a:off x="8374758" y="4044412"/>
              <a:ext cx="2500330" cy="2410256"/>
              <a:chOff x="6786578" y="4071942"/>
              <a:chExt cx="2500330" cy="2410256"/>
            </a:xfrm>
          </p:grpSpPr>
          <p:sp>
            <p:nvSpPr>
              <p:cNvPr id="100" name="TextBox 99"/>
              <p:cNvSpPr txBox="1"/>
              <p:nvPr/>
            </p:nvSpPr>
            <p:spPr>
              <a:xfrm>
                <a:off x="7643834" y="6143644"/>
                <a:ext cx="16430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2400" b="1" baseline="-25000">
                    <a:latin typeface="+mn-ea"/>
                  </a:rPr>
                  <a:t>XOR</a:t>
                </a:r>
              </a:p>
            </p:txBody>
          </p:sp>
          <p:grpSp>
            <p:nvGrpSpPr>
              <p:cNvPr id="101" name="그룹 51"/>
              <p:cNvGrpSpPr/>
              <p:nvPr/>
            </p:nvGrpSpPr>
            <p:grpSpPr>
              <a:xfrm>
                <a:off x="6786578" y="4071942"/>
                <a:ext cx="2071702" cy="1999055"/>
                <a:chOff x="6786578" y="4214818"/>
                <a:chExt cx="2071702" cy="1999055"/>
              </a:xfrm>
            </p:grpSpPr>
            <p:grpSp>
              <p:nvGrpSpPr>
                <p:cNvPr id="103" name="그룹 91"/>
                <p:cNvGrpSpPr/>
                <p:nvPr/>
              </p:nvGrpSpPr>
              <p:grpSpPr>
                <a:xfrm>
                  <a:off x="6786578" y="4214818"/>
                  <a:ext cx="2071702" cy="1999055"/>
                  <a:chOff x="7000892" y="4000504"/>
                  <a:chExt cx="2071702" cy="1999055"/>
                </a:xfrm>
              </p:grpSpPr>
              <p:cxnSp>
                <p:nvCxnSpPr>
                  <p:cNvPr id="107" name="직선 화살표 연결선 106"/>
                  <p:cNvCxnSpPr/>
                  <p:nvPr/>
                </p:nvCxnSpPr>
                <p:spPr>
                  <a:xfrm>
                    <a:off x="7286644" y="5572140"/>
                    <a:ext cx="1643074" cy="1588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type="arrow"/>
                  </a:ln>
                  <a:effectLst/>
                </p:spPr>
              </p:cxnSp>
              <p:cxnSp>
                <p:nvCxnSpPr>
                  <p:cNvPr id="108" name="직선 화살표 연결선 107"/>
                  <p:cNvCxnSpPr/>
                  <p:nvPr/>
                </p:nvCxnSpPr>
                <p:spPr>
                  <a:xfrm rot="16200000" flipV="1">
                    <a:off x="6644662" y="4928239"/>
                    <a:ext cx="1571636" cy="1918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/>
                    <a:headEnd w="med" len="med"/>
                    <a:tailEnd type="arrow"/>
                  </a:ln>
                  <a:effectLst/>
                </p:spPr>
              </p:cxnSp>
              <p:sp>
                <p:nvSpPr>
                  <p:cNvPr id="109" name="Text Box 61"/>
                  <p:cNvSpPr txBox="1">
                    <a:spLocks noChangeArrowheads="1"/>
                  </p:cNvSpPr>
                  <p:nvPr/>
                </p:nvSpPr>
                <p:spPr>
                  <a:xfrm>
                    <a:off x="7999106" y="5643578"/>
                    <a:ext cx="430546" cy="393791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latin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ko-KR" sz="2000">
                        <a:solidFill>
                          <a:srgbClr val="000000"/>
                        </a:solidFill>
                        <a:latin typeface="Times New Roman"/>
                      </a:rPr>
                      <a:t>x</a:t>
                    </a:r>
                    <a:r>
                      <a:rPr lang="en-US" altLang="ko-KR" sz="2000" baseline="-25000">
                        <a:solidFill>
                          <a:srgbClr val="000000"/>
                        </a:solidFill>
                        <a:latin typeface="Times New Roman"/>
                      </a:rPr>
                      <a:t>1</a:t>
                    </a:r>
                    <a:endParaRPr lang="en-US" altLang="ko-KR" sz="2000">
                      <a:solidFill>
                        <a:srgbClr val="000000"/>
                      </a:solidFill>
                      <a:latin typeface="Times New Roman"/>
                    </a:endParaRPr>
                  </a:p>
                </p:txBody>
              </p:sp>
              <p:sp>
                <p:nvSpPr>
                  <p:cNvPr id="110" name="Text Box 61"/>
                  <p:cNvSpPr txBox="1">
                    <a:spLocks noChangeArrowheads="1"/>
                  </p:cNvSpPr>
                  <p:nvPr/>
                </p:nvSpPr>
                <p:spPr>
                  <a:xfrm>
                    <a:off x="7000892" y="4529088"/>
                    <a:ext cx="430546" cy="400110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latin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ko-KR" sz="2000">
                        <a:solidFill>
                          <a:srgbClr val="000000"/>
                        </a:solidFill>
                        <a:latin typeface="Times New Roman"/>
                      </a:rPr>
                      <a:t>x</a:t>
                    </a:r>
                    <a:r>
                      <a:rPr lang="en-US" altLang="ko-KR" sz="2000" baseline="-25000">
                        <a:solidFill>
                          <a:srgbClr val="000000"/>
                        </a:solidFill>
                        <a:latin typeface="Times New Roman"/>
                      </a:rPr>
                      <a:t>2</a:t>
                    </a:r>
                    <a:endParaRPr lang="en-US" altLang="ko-KR" sz="2000">
                      <a:solidFill>
                        <a:srgbClr val="000000"/>
                      </a:solidFill>
                      <a:latin typeface="Times New Roman"/>
                    </a:endParaRPr>
                  </a:p>
                </p:txBody>
              </p:sp>
              <p:sp>
                <p:nvSpPr>
                  <p:cNvPr id="111" name="Text Box 61"/>
                  <p:cNvSpPr txBox="1">
                    <a:spLocks noChangeArrowheads="1"/>
                  </p:cNvSpPr>
                  <p:nvPr/>
                </p:nvSpPr>
                <p:spPr>
                  <a:xfrm>
                    <a:off x="7070412" y="4000504"/>
                    <a:ext cx="430546" cy="369332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latin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ko-KR">
                        <a:solidFill>
                          <a:srgbClr val="000000"/>
                        </a:solidFill>
                        <a:latin typeface="Times New Roman"/>
                      </a:rPr>
                      <a:t>1</a:t>
                    </a:r>
                  </a:p>
                </p:txBody>
              </p:sp>
              <p:sp>
                <p:nvSpPr>
                  <p:cNvPr id="112" name="Text Box 61"/>
                  <p:cNvSpPr txBox="1">
                    <a:spLocks noChangeArrowheads="1"/>
                  </p:cNvSpPr>
                  <p:nvPr/>
                </p:nvSpPr>
                <p:spPr>
                  <a:xfrm>
                    <a:off x="7141850" y="5572140"/>
                    <a:ext cx="430546" cy="369332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latin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ko-KR">
                        <a:solidFill>
                          <a:srgbClr val="000000"/>
                        </a:solidFill>
                        <a:latin typeface="Times New Roman"/>
                      </a:rPr>
                      <a:t>0</a:t>
                    </a:r>
                  </a:p>
                </p:txBody>
              </p:sp>
              <p:sp>
                <p:nvSpPr>
                  <p:cNvPr id="113" name="Text Box 61"/>
                  <p:cNvSpPr txBox="1">
                    <a:spLocks noChangeArrowheads="1"/>
                  </p:cNvSpPr>
                  <p:nvPr/>
                </p:nvSpPr>
                <p:spPr>
                  <a:xfrm>
                    <a:off x="8642048" y="5572140"/>
                    <a:ext cx="430546" cy="369332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latin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ko-KR">
                        <a:solidFill>
                          <a:srgbClr val="000000"/>
                        </a:solidFill>
                        <a:latin typeface="Times New Roman"/>
                      </a:rPr>
                      <a:t>1</a:t>
                    </a:r>
                  </a:p>
                </p:txBody>
              </p:sp>
            </p:grpSp>
            <p:sp>
              <p:nvSpPr>
                <p:cNvPr id="104" name="Text Box 61"/>
                <p:cNvSpPr txBox="1">
                  <a:spLocks noChangeArrowheads="1"/>
                </p:cNvSpPr>
                <p:nvPr/>
              </p:nvSpPr>
              <p:spPr>
                <a:xfrm>
                  <a:off x="7141850" y="5553504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b="1">
                      <a:solidFill>
                        <a:srgbClr val="0070C0"/>
                      </a:solidFill>
                      <a:latin typeface="Times New Roman"/>
                    </a:rPr>
                    <a:t>1</a:t>
                  </a:r>
                </a:p>
              </p:txBody>
            </p:sp>
            <p:sp>
              <p:nvSpPr>
                <p:cNvPr id="105" name="Text Box 61"/>
                <p:cNvSpPr txBox="1">
                  <a:spLocks noChangeArrowheads="1"/>
                </p:cNvSpPr>
                <p:nvPr/>
              </p:nvSpPr>
              <p:spPr>
                <a:xfrm>
                  <a:off x="8427734" y="5572140"/>
                  <a:ext cx="430546" cy="369332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b="1">
                      <a:solidFill>
                        <a:srgbClr val="00B050"/>
                      </a:solidFill>
                      <a:latin typeface="Times New Roman"/>
                    </a:rPr>
                    <a:t>0</a:t>
                  </a:r>
                </a:p>
              </p:txBody>
            </p:sp>
            <p:sp>
              <p:nvSpPr>
                <p:cNvPr id="106" name="Text Box 61"/>
                <p:cNvSpPr txBox="1">
                  <a:spLocks noChangeArrowheads="1"/>
                </p:cNvSpPr>
                <p:nvPr/>
              </p:nvSpPr>
              <p:spPr>
                <a:xfrm>
                  <a:off x="8356296" y="4274114"/>
                  <a:ext cx="430546" cy="358319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b="1">
                      <a:solidFill>
                        <a:srgbClr val="0070C0"/>
                      </a:solidFill>
                      <a:latin typeface="Times New Roman"/>
                    </a:rPr>
                    <a:t>1</a:t>
                  </a:r>
                </a:p>
              </p:txBody>
            </p:sp>
          </p:grpSp>
          <p:sp>
            <p:nvSpPr>
              <p:cNvPr id="102" name="Text Box 61"/>
              <p:cNvSpPr txBox="1">
                <a:spLocks noChangeArrowheads="1"/>
              </p:cNvSpPr>
              <p:nvPr/>
            </p:nvSpPr>
            <p:spPr>
              <a:xfrm>
                <a:off x="7141850" y="4131238"/>
                <a:ext cx="430546" cy="358319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00B050"/>
                    </a:solidFill>
                    <a:latin typeface="Times New Roman"/>
                  </a:rPr>
                  <a:t>0</a:t>
                </a:r>
              </a:p>
            </p:txBody>
          </p:sp>
        </p:grpSp>
        <p:cxnSp>
          <p:nvCxnSpPr>
            <p:cNvPr id="115" name="직선 연결선 114"/>
            <p:cNvCxnSpPr/>
            <p:nvPr/>
          </p:nvCxnSpPr>
          <p:spPr>
            <a:xfrm rot="16200000" flipH="1">
              <a:off x="8517618" y="4454420"/>
              <a:ext cx="1571636" cy="157160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116" name="직선 연결선 115"/>
            <p:cNvCxnSpPr/>
            <p:nvPr/>
          </p:nvCxnSpPr>
          <p:spPr>
            <a:xfrm rot="16200000" flipH="1">
              <a:off x="8946246" y="4097230"/>
              <a:ext cx="1571636" cy="157160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sp>
        <p:nvSpPr>
          <p:cNvPr id="117" name="직사각형 116"/>
          <p:cNvSpPr/>
          <p:nvPr/>
        </p:nvSpPr>
        <p:spPr>
          <a:xfrm>
            <a:off x="9485207" y="3550385"/>
            <a:ext cx="2113894" cy="48805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XOR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 경우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퍼셉트론으로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학습 불가능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24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분류기를 이용한 문제 해결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3511190" y="2355251"/>
            <a:ext cx="5237676" cy="4366224"/>
            <a:chOff x="3078664" y="1714464"/>
            <a:chExt cx="6170132" cy="5143536"/>
          </a:xfrm>
        </p:grpSpPr>
        <p:grpSp>
          <p:nvGrpSpPr>
            <p:cNvPr id="30" name="그룹 63">
              <a:extLst>
                <a:ext uri="{FF2B5EF4-FFF2-40B4-BE49-F238E27FC236}">
                  <a16:creationId xmlns="" xmlns:a16="http://schemas.microsoft.com/office/drawing/2014/main" id="{09E5B074-E44D-4719-927C-CD61A4400F1B}"/>
                </a:ext>
              </a:extLst>
            </p:cNvPr>
            <p:cNvGrpSpPr/>
            <p:nvPr/>
          </p:nvGrpSpPr>
          <p:grpSpPr>
            <a:xfrm>
              <a:off x="5105393" y="3857604"/>
              <a:ext cx="3735295" cy="3000396"/>
              <a:chOff x="5143505" y="3286124"/>
              <a:chExt cx="3735295" cy="3000396"/>
            </a:xfrm>
          </p:grpSpPr>
          <p:grpSp>
            <p:nvGrpSpPr>
              <p:cNvPr id="34" name="그룹 32">
                <a:extLst>
                  <a:ext uri="{FF2B5EF4-FFF2-40B4-BE49-F238E27FC236}">
                    <a16:creationId xmlns="" xmlns:a16="http://schemas.microsoft.com/office/drawing/2014/main" id="{31851EA2-E35B-46AA-9F34-23426A7B177B}"/>
                  </a:ext>
                </a:extLst>
              </p:cNvPr>
              <p:cNvGrpSpPr/>
              <p:nvPr/>
            </p:nvGrpSpPr>
            <p:grpSpPr>
              <a:xfrm>
                <a:off x="5286380" y="3429000"/>
                <a:ext cx="1785950" cy="2643206"/>
                <a:chOff x="5286380" y="3429000"/>
                <a:chExt cx="1785950" cy="2643206"/>
              </a:xfrm>
            </p:grpSpPr>
            <p:sp>
              <p:nvSpPr>
                <p:cNvPr id="52" name="직사각형 51">
                  <a:extLst>
                    <a:ext uri="{FF2B5EF4-FFF2-40B4-BE49-F238E27FC236}">
                      <a16:creationId xmlns="" xmlns:a16="http://schemas.microsoft.com/office/drawing/2014/main" id="{50FECDAD-6A25-47DD-A420-85AD56565F8A}"/>
                    </a:ext>
                  </a:extLst>
                </p:cNvPr>
                <p:cNvSpPr/>
                <p:nvPr/>
              </p:nvSpPr>
              <p:spPr bwMode="auto">
                <a:xfrm>
                  <a:off x="5286380" y="3429000"/>
                  <a:ext cx="1785950" cy="264320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grpSp>
              <p:nvGrpSpPr>
                <p:cNvPr id="53" name="그룹 12">
                  <a:extLst>
                    <a:ext uri="{FF2B5EF4-FFF2-40B4-BE49-F238E27FC236}">
                      <a16:creationId xmlns="" xmlns:a16="http://schemas.microsoft.com/office/drawing/2014/main" id="{7FE20328-FF86-4CD3-81FB-1D74C8E5EC67}"/>
                    </a:ext>
                  </a:extLst>
                </p:cNvPr>
                <p:cNvGrpSpPr/>
                <p:nvPr/>
              </p:nvGrpSpPr>
              <p:grpSpPr>
                <a:xfrm>
                  <a:off x="5286380" y="3429000"/>
                  <a:ext cx="1428760" cy="2643206"/>
                  <a:chOff x="6715140" y="3429000"/>
                  <a:chExt cx="1428760" cy="1428760"/>
                </a:xfrm>
              </p:grpSpPr>
              <p:sp>
                <p:nvSpPr>
                  <p:cNvPr id="61" name="직사각형 60">
                    <a:extLst>
                      <a:ext uri="{FF2B5EF4-FFF2-40B4-BE49-F238E27FC236}">
                        <a16:creationId xmlns="" xmlns:a16="http://schemas.microsoft.com/office/drawing/2014/main" id="{8E70BC3A-7CF3-4687-AAE8-31A230CD6B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40" y="3429000"/>
                    <a:ext cx="1428760" cy="1428760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62" name="직사각형 61">
                    <a:extLst>
                      <a:ext uri="{FF2B5EF4-FFF2-40B4-BE49-F238E27FC236}">
                        <a16:creationId xmlns="" xmlns:a16="http://schemas.microsoft.com/office/drawing/2014/main" id="{631298E6-C08F-448F-9AA5-DA695774EB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40" y="3429000"/>
                    <a:ext cx="357190" cy="1428760"/>
                  </a:xfrm>
                  <a:prstGeom prst="rect">
                    <a:avLst/>
                  </a:prstGeom>
                  <a:solidFill>
                    <a:srgbClr val="0000FF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</p:grpSp>
            <p:grpSp>
              <p:nvGrpSpPr>
                <p:cNvPr id="54" name="그룹 25">
                  <a:extLst>
                    <a:ext uri="{FF2B5EF4-FFF2-40B4-BE49-F238E27FC236}">
                      <a16:creationId xmlns="" xmlns:a16="http://schemas.microsoft.com/office/drawing/2014/main" id="{BD350A1A-1932-4369-AC34-F271E598CE8E}"/>
                    </a:ext>
                  </a:extLst>
                </p:cNvPr>
                <p:cNvGrpSpPr/>
                <p:nvPr/>
              </p:nvGrpSpPr>
              <p:grpSpPr>
                <a:xfrm>
                  <a:off x="5643570" y="3429000"/>
                  <a:ext cx="1428760" cy="2643206"/>
                  <a:chOff x="6715140" y="3429000"/>
                  <a:chExt cx="1428760" cy="1428760"/>
                </a:xfrm>
              </p:grpSpPr>
              <p:sp>
                <p:nvSpPr>
                  <p:cNvPr id="59" name="직사각형 58">
                    <a:extLst>
                      <a:ext uri="{FF2B5EF4-FFF2-40B4-BE49-F238E27FC236}">
                        <a16:creationId xmlns="" xmlns:a16="http://schemas.microsoft.com/office/drawing/2014/main" id="{6F3FCEE3-EE66-4068-9162-83EBA5A0F4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40" y="3429000"/>
                    <a:ext cx="1428760" cy="1428760"/>
                  </a:xfrm>
                  <a:prstGeom prst="rect">
                    <a:avLst/>
                  </a:prstGeom>
                  <a:solidFill>
                    <a:srgbClr val="66FF66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60" name="직사각형 59">
                    <a:extLst>
                      <a:ext uri="{FF2B5EF4-FFF2-40B4-BE49-F238E27FC236}">
                        <a16:creationId xmlns="" xmlns:a16="http://schemas.microsoft.com/office/drawing/2014/main" id="{82414620-0D79-44F5-9AFD-B608C1EDCF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86710" y="3429000"/>
                    <a:ext cx="357190" cy="142876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</p:grpSp>
            <p:grpSp>
              <p:nvGrpSpPr>
                <p:cNvPr id="55" name="그룹 28">
                  <a:extLst>
                    <a:ext uri="{FF2B5EF4-FFF2-40B4-BE49-F238E27FC236}">
                      <a16:creationId xmlns="" xmlns:a16="http://schemas.microsoft.com/office/drawing/2014/main" id="{51D213FB-0C57-4C64-BF26-5DF9BBCB9EA5}"/>
                    </a:ext>
                  </a:extLst>
                </p:cNvPr>
                <p:cNvGrpSpPr/>
                <p:nvPr/>
              </p:nvGrpSpPr>
              <p:grpSpPr>
                <a:xfrm>
                  <a:off x="5643570" y="3429000"/>
                  <a:ext cx="1071570" cy="1428760"/>
                  <a:chOff x="5429256" y="5143512"/>
                  <a:chExt cx="1428760" cy="1428760"/>
                </a:xfrm>
              </p:grpSpPr>
              <p:sp>
                <p:nvSpPr>
                  <p:cNvPr id="57" name="직사각형 56">
                    <a:extLst>
                      <a:ext uri="{FF2B5EF4-FFF2-40B4-BE49-F238E27FC236}">
                        <a16:creationId xmlns="" xmlns:a16="http://schemas.microsoft.com/office/drawing/2014/main" id="{391DE27A-77C1-43CA-9AE4-95574FCC88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29256" y="5143512"/>
                    <a:ext cx="1428760" cy="142876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58" name="직사각형 57">
                    <a:extLst>
                      <a:ext uri="{FF2B5EF4-FFF2-40B4-BE49-F238E27FC236}">
                        <a16:creationId xmlns="" xmlns:a16="http://schemas.microsoft.com/office/drawing/2014/main" id="{7C3EDF7F-8C65-4C69-BCBD-66B6E2BE8D14}"/>
                      </a:ext>
                    </a:extLst>
                  </p:cNvPr>
                  <p:cNvSpPr/>
                  <p:nvPr/>
                </p:nvSpPr>
                <p:spPr bwMode="auto">
                  <a:xfrm rot="5400000">
                    <a:off x="5893603" y="4679165"/>
                    <a:ext cx="500066" cy="1428760"/>
                  </a:xfrm>
                  <a:prstGeom prst="rect">
                    <a:avLst/>
                  </a:prstGeom>
                  <a:solidFill>
                    <a:srgbClr val="0000FF"/>
                  </a:solidFill>
                  <a:ln w="9525" cap="flat" cmpd="sng" algn="ctr">
                    <a:noFill/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</p:grpSp>
            <p:sp>
              <p:nvSpPr>
                <p:cNvPr id="56" name="직사각형 55">
                  <a:extLst>
                    <a:ext uri="{FF2B5EF4-FFF2-40B4-BE49-F238E27FC236}">
                      <a16:creationId xmlns="" xmlns:a16="http://schemas.microsoft.com/office/drawing/2014/main" id="{11F4BD00-7717-49AC-A11A-8EC3B3A78342}"/>
                    </a:ext>
                  </a:extLst>
                </p:cNvPr>
                <p:cNvSpPr/>
                <p:nvPr/>
              </p:nvSpPr>
              <p:spPr bwMode="auto">
                <a:xfrm>
                  <a:off x="5643570" y="4857760"/>
                  <a:ext cx="1071570" cy="1214446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47B26760-458F-41BF-B862-02417E3F16C2}"/>
                  </a:ext>
                </a:extLst>
              </p:cNvPr>
              <p:cNvSpPr txBox="1"/>
              <p:nvPr/>
            </p:nvSpPr>
            <p:spPr>
              <a:xfrm>
                <a:off x="6357950" y="3500438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4687918E-41A7-40E0-B193-78CD9DF2BB74}"/>
                  </a:ext>
                </a:extLst>
              </p:cNvPr>
              <p:cNvSpPr txBox="1"/>
              <p:nvPr/>
            </p:nvSpPr>
            <p:spPr>
              <a:xfrm>
                <a:off x="6072198" y="3357562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="" xmlns:a16="http://schemas.microsoft.com/office/drawing/2014/main" id="{BE525E5F-61A5-42A3-B552-9433CF652D9C}"/>
                  </a:ext>
                </a:extLst>
              </p:cNvPr>
              <p:cNvSpPr txBox="1"/>
              <p:nvPr/>
            </p:nvSpPr>
            <p:spPr>
              <a:xfrm>
                <a:off x="5786446" y="3600394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FA3E1688-BDF4-475F-9B9C-00ABC3A29B92}"/>
                  </a:ext>
                </a:extLst>
              </p:cNvPr>
              <p:cNvSpPr txBox="1"/>
              <p:nvPr/>
            </p:nvSpPr>
            <p:spPr>
              <a:xfrm>
                <a:off x="5286380" y="3814708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E039979B-4AE3-4293-8DCB-5B43EA523F4D}"/>
                  </a:ext>
                </a:extLst>
              </p:cNvPr>
              <p:cNvSpPr txBox="1"/>
              <p:nvPr/>
            </p:nvSpPr>
            <p:spPr>
              <a:xfrm>
                <a:off x="5429256" y="5600658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AE99A9B6-69BC-4112-AC93-A8B10791506C}"/>
                  </a:ext>
                </a:extLst>
              </p:cNvPr>
              <p:cNvSpPr txBox="1"/>
              <p:nvPr/>
            </p:nvSpPr>
            <p:spPr>
              <a:xfrm>
                <a:off x="5214942" y="4600526"/>
                <a:ext cx="2857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bg1"/>
                    </a:solidFill>
                  </a:rPr>
                  <a:t>+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="" xmlns:a16="http://schemas.microsoft.com/office/drawing/2014/main" id="{722F199F-2B7D-41CD-AF5D-939C36BAF39B}"/>
                  </a:ext>
                </a:extLst>
              </p:cNvPr>
              <p:cNvSpPr txBox="1"/>
              <p:nvPr/>
            </p:nvSpPr>
            <p:spPr>
              <a:xfrm>
                <a:off x="6783660" y="3429000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290A5F9D-D4AF-433D-9723-A90A50461503}"/>
                  </a:ext>
                </a:extLst>
              </p:cNvPr>
              <p:cNvSpPr txBox="1"/>
              <p:nvPr/>
            </p:nvSpPr>
            <p:spPr>
              <a:xfrm>
                <a:off x="8593048" y="3538839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="" xmlns:a16="http://schemas.microsoft.com/office/drawing/2014/main" id="{E7C632CA-19F3-4642-94E8-EABF050334DF}"/>
                  </a:ext>
                </a:extLst>
              </p:cNvPr>
              <p:cNvSpPr txBox="1"/>
              <p:nvPr/>
            </p:nvSpPr>
            <p:spPr>
              <a:xfrm>
                <a:off x="6786578" y="3714752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="" xmlns:a16="http://schemas.microsoft.com/office/drawing/2014/main" id="{168FDA00-4C46-4774-A7FD-340B7559B751}"/>
                  </a:ext>
                </a:extLst>
              </p:cNvPr>
              <p:cNvSpPr txBox="1"/>
              <p:nvPr/>
            </p:nvSpPr>
            <p:spPr>
              <a:xfrm>
                <a:off x="6643702" y="4967599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="" xmlns:a16="http://schemas.microsoft.com/office/drawing/2014/main" id="{F4E0EAAE-E5B0-4268-B94D-FE1A937F64C2}"/>
                  </a:ext>
                </a:extLst>
              </p:cNvPr>
              <p:cNvSpPr txBox="1"/>
              <p:nvPr/>
            </p:nvSpPr>
            <p:spPr>
              <a:xfrm>
                <a:off x="5715008" y="5181913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15C6361E-ED62-4036-9CE4-41B7FE576188}"/>
                  </a:ext>
                </a:extLst>
              </p:cNvPr>
              <p:cNvSpPr txBox="1"/>
              <p:nvPr/>
            </p:nvSpPr>
            <p:spPr>
              <a:xfrm>
                <a:off x="5786446" y="3857628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="" xmlns:a16="http://schemas.microsoft.com/office/drawing/2014/main" id="{3F1D81BA-0A0E-48FB-AF47-E0DFF0F7EAFA}"/>
                  </a:ext>
                </a:extLst>
              </p:cNvPr>
              <p:cNvSpPr txBox="1"/>
              <p:nvPr/>
            </p:nvSpPr>
            <p:spPr>
              <a:xfrm>
                <a:off x="6286512" y="4181781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="" xmlns:a16="http://schemas.microsoft.com/office/drawing/2014/main" id="{8F330C55-680A-4DA3-ADA8-AD4831B1CD79}"/>
                  </a:ext>
                </a:extLst>
              </p:cNvPr>
              <p:cNvSpPr txBox="1"/>
              <p:nvPr/>
            </p:nvSpPr>
            <p:spPr>
              <a:xfrm>
                <a:off x="6286512" y="4500570"/>
                <a:ext cx="285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bg1"/>
                    </a:solidFill>
                  </a:rPr>
                  <a:t>-</a:t>
                </a:r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9" name="직선 연결선 48">
                <a:extLst>
                  <a:ext uri="{FF2B5EF4-FFF2-40B4-BE49-F238E27FC236}">
                    <a16:creationId xmlns="" xmlns:a16="http://schemas.microsoft.com/office/drawing/2014/main" id="{F93D9A67-A437-4FA0-A7C5-98A88C39C9C7}"/>
                  </a:ext>
                </a:extLst>
              </p:cNvPr>
              <p:cNvCxnSpPr/>
              <p:nvPr/>
            </p:nvCxnSpPr>
            <p:spPr bwMode="auto">
              <a:xfrm rot="5400000">
                <a:off x="4144166" y="4785528"/>
                <a:ext cx="3000396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직선 연결선 49">
                <a:extLst>
                  <a:ext uri="{FF2B5EF4-FFF2-40B4-BE49-F238E27FC236}">
                    <a16:creationId xmlns="" xmlns:a16="http://schemas.microsoft.com/office/drawing/2014/main" id="{3681F7BE-EAE9-4F58-95E8-38267976B9F4}"/>
                  </a:ext>
                </a:extLst>
              </p:cNvPr>
              <p:cNvCxnSpPr/>
              <p:nvPr/>
            </p:nvCxnSpPr>
            <p:spPr bwMode="auto">
              <a:xfrm rot="5400000">
                <a:off x="5214147" y="4785528"/>
                <a:ext cx="3000396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직선 연결선 50">
                <a:extLst>
                  <a:ext uri="{FF2B5EF4-FFF2-40B4-BE49-F238E27FC236}">
                    <a16:creationId xmlns="" xmlns:a16="http://schemas.microsoft.com/office/drawing/2014/main" id="{4117F1BB-6F19-42D5-9659-F605FD2F0E28}"/>
                  </a:ext>
                </a:extLst>
              </p:cNvPr>
              <p:cNvCxnSpPr/>
              <p:nvPr/>
            </p:nvCxnSpPr>
            <p:spPr bwMode="auto">
              <a:xfrm rot="10800000">
                <a:off x="5143505" y="3929066"/>
                <a:ext cx="2071702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63" name="직선 연결선 62">
              <a:extLst>
                <a:ext uri="{FF2B5EF4-FFF2-40B4-BE49-F238E27FC236}">
                  <a16:creationId xmlns="" xmlns:a16="http://schemas.microsoft.com/office/drawing/2014/main" id="{0ADAC53F-C8EC-4BE9-9D87-13A4C2664C46}"/>
                </a:ext>
              </a:extLst>
            </p:cNvPr>
            <p:cNvCxnSpPr/>
            <p:nvPr/>
          </p:nvCxnSpPr>
          <p:spPr bwMode="auto">
            <a:xfrm rot="5400000">
              <a:off x="4676764" y="3786166"/>
              <a:ext cx="2714644" cy="27146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64" name="그룹 62">
              <a:extLst>
                <a:ext uri="{FF2B5EF4-FFF2-40B4-BE49-F238E27FC236}">
                  <a16:creationId xmlns="" xmlns:a16="http://schemas.microsoft.com/office/drawing/2014/main" id="{8DDFBDF8-881A-4EDF-AD78-E071FF6892F3}"/>
                </a:ext>
              </a:extLst>
            </p:cNvPr>
            <p:cNvGrpSpPr/>
            <p:nvPr/>
          </p:nvGrpSpPr>
          <p:grpSpPr>
            <a:xfrm>
              <a:off x="3105128" y="1714464"/>
              <a:ext cx="6143668" cy="1857388"/>
              <a:chOff x="500034" y="1285860"/>
              <a:chExt cx="6143668" cy="1857388"/>
            </a:xfrm>
          </p:grpSpPr>
          <p:grpSp>
            <p:nvGrpSpPr>
              <p:cNvPr id="65" name="그룹 13">
                <a:extLst>
                  <a:ext uri="{FF2B5EF4-FFF2-40B4-BE49-F238E27FC236}">
                    <a16:creationId xmlns="" xmlns:a16="http://schemas.microsoft.com/office/drawing/2014/main" id="{1176ABBA-E6C1-4500-AFE2-E129E1B0EA6B}"/>
                  </a:ext>
                </a:extLst>
              </p:cNvPr>
              <p:cNvGrpSpPr/>
              <p:nvPr/>
            </p:nvGrpSpPr>
            <p:grpSpPr>
              <a:xfrm>
                <a:off x="2643174" y="1500174"/>
                <a:ext cx="1428760" cy="1428760"/>
                <a:chOff x="6715140" y="3429000"/>
                <a:chExt cx="1428760" cy="1428760"/>
              </a:xfrm>
            </p:grpSpPr>
            <p:sp>
              <p:nvSpPr>
                <p:cNvPr id="77" name="직사각형 76">
                  <a:extLst>
                    <a:ext uri="{FF2B5EF4-FFF2-40B4-BE49-F238E27FC236}">
                      <a16:creationId xmlns="" xmlns:a16="http://schemas.microsoft.com/office/drawing/2014/main" id="{73A6CD43-A470-4171-9809-0948E3B6A777}"/>
                    </a:ext>
                  </a:extLst>
                </p:cNvPr>
                <p:cNvSpPr/>
                <p:nvPr/>
              </p:nvSpPr>
              <p:spPr bwMode="auto">
                <a:xfrm>
                  <a:off x="6715140" y="3429000"/>
                  <a:ext cx="1428760" cy="1428760"/>
                </a:xfrm>
                <a:prstGeom prst="rect">
                  <a:avLst/>
                </a:prstGeom>
                <a:solidFill>
                  <a:srgbClr val="0000FF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="" xmlns:a16="http://schemas.microsoft.com/office/drawing/2014/main" id="{54EE754A-39B8-49E7-9C63-A2EB07AE5261}"/>
                    </a:ext>
                  </a:extLst>
                </p:cNvPr>
                <p:cNvSpPr/>
                <p:nvPr/>
              </p:nvSpPr>
              <p:spPr bwMode="auto">
                <a:xfrm>
                  <a:off x="7786710" y="3429000"/>
                  <a:ext cx="357190" cy="142876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grpSp>
            <p:nvGrpSpPr>
              <p:cNvPr id="66" name="그룹 18">
                <a:extLst>
                  <a:ext uri="{FF2B5EF4-FFF2-40B4-BE49-F238E27FC236}">
                    <a16:creationId xmlns="" xmlns:a16="http://schemas.microsoft.com/office/drawing/2014/main" id="{3ACDE57B-240A-41B7-8A7E-415D07D5715D}"/>
                  </a:ext>
                </a:extLst>
              </p:cNvPr>
              <p:cNvGrpSpPr/>
              <p:nvPr/>
            </p:nvGrpSpPr>
            <p:grpSpPr>
              <a:xfrm>
                <a:off x="5000628" y="1500174"/>
                <a:ext cx="1428760" cy="1428760"/>
                <a:chOff x="5429256" y="5143512"/>
                <a:chExt cx="1428760" cy="1428760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="" xmlns:a16="http://schemas.microsoft.com/office/drawing/2014/main" id="{6F18906F-62F1-4BA6-8465-A1ED7FEE688E}"/>
                    </a:ext>
                  </a:extLst>
                </p:cNvPr>
                <p:cNvSpPr/>
                <p:nvPr/>
              </p:nvSpPr>
              <p:spPr bwMode="auto">
                <a:xfrm>
                  <a:off x="5429256" y="5143512"/>
                  <a:ext cx="1428760" cy="142876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76" name="직사각형 75">
                  <a:extLst>
                    <a:ext uri="{FF2B5EF4-FFF2-40B4-BE49-F238E27FC236}">
                      <a16:creationId xmlns="" xmlns:a16="http://schemas.microsoft.com/office/drawing/2014/main" id="{ACA8327E-D47E-4313-B9F3-44CD8B9357B7}"/>
                    </a:ext>
                  </a:extLst>
                </p:cNvPr>
                <p:cNvSpPr/>
                <p:nvPr/>
              </p:nvSpPr>
              <p:spPr bwMode="auto">
                <a:xfrm rot="5400000">
                  <a:off x="5893603" y="4679165"/>
                  <a:ext cx="500066" cy="1428760"/>
                </a:xfrm>
                <a:prstGeom prst="rect">
                  <a:avLst/>
                </a:prstGeom>
                <a:solidFill>
                  <a:srgbClr val="0000FF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grpSp>
            <p:nvGrpSpPr>
              <p:cNvPr id="67" name="그룹 22">
                <a:extLst>
                  <a:ext uri="{FF2B5EF4-FFF2-40B4-BE49-F238E27FC236}">
                    <a16:creationId xmlns="" xmlns:a16="http://schemas.microsoft.com/office/drawing/2014/main" id="{CD547A6D-8A2D-4F68-B032-97D232FEE7CE}"/>
                  </a:ext>
                </a:extLst>
              </p:cNvPr>
              <p:cNvGrpSpPr/>
              <p:nvPr/>
            </p:nvGrpSpPr>
            <p:grpSpPr>
              <a:xfrm>
                <a:off x="500034" y="1500174"/>
                <a:ext cx="1487088" cy="1428760"/>
                <a:chOff x="6715140" y="3429000"/>
                <a:chExt cx="1487088" cy="1428760"/>
              </a:xfrm>
            </p:grpSpPr>
            <p:sp>
              <p:nvSpPr>
                <p:cNvPr id="73" name="직사각형 72">
                  <a:extLst>
                    <a:ext uri="{FF2B5EF4-FFF2-40B4-BE49-F238E27FC236}">
                      <a16:creationId xmlns="" xmlns:a16="http://schemas.microsoft.com/office/drawing/2014/main" id="{1E7FF591-0B92-484A-9DB8-E0C5972C2F96}"/>
                    </a:ext>
                  </a:extLst>
                </p:cNvPr>
                <p:cNvSpPr/>
                <p:nvPr/>
              </p:nvSpPr>
              <p:spPr bwMode="auto">
                <a:xfrm>
                  <a:off x="6773468" y="3429000"/>
                  <a:ext cx="1428760" cy="142876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74" name="직사각형 73">
                  <a:extLst>
                    <a:ext uri="{FF2B5EF4-FFF2-40B4-BE49-F238E27FC236}">
                      <a16:creationId xmlns="" xmlns:a16="http://schemas.microsoft.com/office/drawing/2014/main" id="{4D1BA1B8-105D-4FA6-A5B4-AFE54B8CF888}"/>
                    </a:ext>
                  </a:extLst>
                </p:cNvPr>
                <p:cNvSpPr/>
                <p:nvPr/>
              </p:nvSpPr>
              <p:spPr bwMode="auto">
                <a:xfrm>
                  <a:off x="6715140" y="3429000"/>
                  <a:ext cx="357190" cy="1428760"/>
                </a:xfrm>
                <a:prstGeom prst="rect">
                  <a:avLst/>
                </a:prstGeom>
                <a:solidFill>
                  <a:srgbClr val="0000FF"/>
                </a:solidFill>
                <a:ln w="9525" cap="flat" cmpd="sng" algn="ctr">
                  <a:solidFill>
                    <a:schemeClr val="accent2">
                      <a:lumMod val="75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p:cxnSp>
            <p:nvCxnSpPr>
              <p:cNvPr id="68" name="직선 연결선 67">
                <a:extLst>
                  <a:ext uri="{FF2B5EF4-FFF2-40B4-BE49-F238E27FC236}">
                    <a16:creationId xmlns="" xmlns:a16="http://schemas.microsoft.com/office/drawing/2014/main" id="{C5405E04-116B-4CF8-8C28-BDC5A4C4E910}"/>
                  </a:ext>
                </a:extLst>
              </p:cNvPr>
              <p:cNvCxnSpPr/>
              <p:nvPr/>
            </p:nvCxnSpPr>
            <p:spPr bwMode="auto">
              <a:xfrm rot="5400000">
                <a:off x="-71470" y="2213760"/>
                <a:ext cx="1857388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직선 연결선 68">
                <a:extLst>
                  <a:ext uri="{FF2B5EF4-FFF2-40B4-BE49-F238E27FC236}">
                    <a16:creationId xmlns="" xmlns:a16="http://schemas.microsoft.com/office/drawing/2014/main" id="{FF1D4766-74A4-4FC4-AD8A-D81B4A7816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2786844" y="2213760"/>
                <a:ext cx="1857388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직선 연결선 69">
                <a:extLst>
                  <a:ext uri="{FF2B5EF4-FFF2-40B4-BE49-F238E27FC236}">
                    <a16:creationId xmlns="" xmlns:a16="http://schemas.microsoft.com/office/drawing/2014/main" id="{3F386DD9-CA7A-478D-8DC7-CF4CD6101BA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0800000" flipV="1">
                <a:off x="4786314" y="2000240"/>
                <a:ext cx="1857388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1" name="TextBox 70">
                <a:extLst>
                  <a:ext uri="{FF2B5EF4-FFF2-40B4-BE49-F238E27FC236}">
                    <a16:creationId xmlns="" xmlns:a16="http://schemas.microsoft.com/office/drawing/2014/main" id="{FE9F0F43-3265-4E8E-9A15-C630C476B4CB}"/>
                  </a:ext>
                </a:extLst>
              </p:cNvPr>
              <p:cNvSpPr txBox="1"/>
              <p:nvPr/>
            </p:nvSpPr>
            <p:spPr>
              <a:xfrm>
                <a:off x="2143108" y="1895765"/>
                <a:ext cx="64294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/>
                  <a:t>+</a:t>
                </a:r>
                <a:endParaRPr lang="ko-KR" altLang="en-US" sz="2400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7AD9DED6-89B4-4719-B81B-E4B348291373}"/>
                  </a:ext>
                </a:extLst>
              </p:cNvPr>
              <p:cNvSpPr txBox="1"/>
              <p:nvPr/>
            </p:nvSpPr>
            <p:spPr>
              <a:xfrm>
                <a:off x="4357686" y="1895765"/>
                <a:ext cx="64294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/>
                  <a:t>+</a:t>
                </a:r>
                <a:endParaRPr lang="ko-KR" altLang="en-US" sz="2400" dirty="0"/>
              </a:p>
            </p:txBody>
          </p:sp>
        </p:grpSp>
        <p:sp>
          <p:nvSpPr>
            <p:cNvPr id="79" name="직사각형 78">
              <a:extLst>
                <a:ext uri="{FF2B5EF4-FFF2-40B4-BE49-F238E27FC236}">
                  <a16:creationId xmlns="" xmlns:a16="http://schemas.microsoft.com/office/drawing/2014/main" id="{51E8F146-07E2-493A-9272-BA7DED876247}"/>
                </a:ext>
              </a:extLst>
            </p:cNvPr>
            <p:cNvSpPr/>
            <p:nvPr/>
          </p:nvSpPr>
          <p:spPr>
            <a:xfrm flipH="1">
              <a:off x="3078664" y="2480160"/>
              <a:ext cx="3695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+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="" xmlns:a16="http://schemas.microsoft.com/office/drawing/2014/main" id="{B328874C-95F5-41D4-9BD9-1B117D8F69BF}"/>
                </a:ext>
              </a:extLst>
            </p:cNvPr>
            <p:cNvSpPr/>
            <p:nvPr/>
          </p:nvSpPr>
          <p:spPr>
            <a:xfrm flipH="1">
              <a:off x="3805360" y="2460607"/>
              <a:ext cx="3548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-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="" xmlns:a16="http://schemas.microsoft.com/office/drawing/2014/main" id="{6AE21042-050C-4380-BCF2-DBF6989D8E6C}"/>
                </a:ext>
              </a:extLst>
            </p:cNvPr>
            <p:cNvSpPr/>
            <p:nvPr/>
          </p:nvSpPr>
          <p:spPr>
            <a:xfrm flipH="1">
              <a:off x="5624417" y="2336719"/>
              <a:ext cx="3695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+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="" xmlns:a16="http://schemas.microsoft.com/office/drawing/2014/main" id="{95B82D8D-A9E7-4476-B570-6EB65CEDD5DD}"/>
                </a:ext>
              </a:extLst>
            </p:cNvPr>
            <p:cNvSpPr/>
            <p:nvPr/>
          </p:nvSpPr>
          <p:spPr>
            <a:xfrm flipH="1">
              <a:off x="6351113" y="2317166"/>
              <a:ext cx="3548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-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="" xmlns:a16="http://schemas.microsoft.com/office/drawing/2014/main" id="{13829520-98A9-4EC3-A047-9B2FD7BAFC83}"/>
                </a:ext>
              </a:extLst>
            </p:cNvPr>
            <p:cNvSpPr/>
            <p:nvPr/>
          </p:nvSpPr>
          <p:spPr>
            <a:xfrm flipH="1">
              <a:off x="8167292" y="2003921"/>
              <a:ext cx="3695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+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="" xmlns:a16="http://schemas.microsoft.com/office/drawing/2014/main" id="{147C734D-EE07-411E-91EC-C787A82E4BA4}"/>
                </a:ext>
              </a:extLst>
            </p:cNvPr>
            <p:cNvSpPr/>
            <p:nvPr/>
          </p:nvSpPr>
          <p:spPr>
            <a:xfrm flipH="1">
              <a:off x="8214136" y="2673525"/>
              <a:ext cx="3548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-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 분류기 조합으로 계단 형태의 공간 분리 가능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5189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 분류기를 이용한 문제 해결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비선형 분포를 선형의 </a:t>
            </a:r>
            <a:r>
              <a:rPr lang="ko-KR" altLang="en-US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계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층형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구조로 분류할 수 있음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7442844" y="2593517"/>
            <a:ext cx="2672706" cy="3485016"/>
            <a:chOff x="6143636" y="1515620"/>
            <a:chExt cx="2672706" cy="3485016"/>
          </a:xfrm>
        </p:grpSpPr>
        <p:grpSp>
          <p:nvGrpSpPr>
            <p:cNvPr id="87" name="그룹 86"/>
            <p:cNvGrpSpPr/>
            <p:nvPr/>
          </p:nvGrpSpPr>
          <p:grpSpPr>
            <a:xfrm>
              <a:off x="6286512" y="1515620"/>
              <a:ext cx="2357454" cy="3056382"/>
              <a:chOff x="6286512" y="1518290"/>
              <a:chExt cx="2143140" cy="2910842"/>
            </a:xfrm>
          </p:grpSpPr>
          <p:cxnSp>
            <p:nvCxnSpPr>
              <p:cNvPr id="95" name="직선 연결선 94"/>
              <p:cNvCxnSpPr/>
              <p:nvPr/>
            </p:nvCxnSpPr>
            <p:spPr>
              <a:xfrm rot="10800000" flipV="1">
                <a:off x="6286512" y="2000240"/>
                <a:ext cx="795342" cy="6429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sp>
            <p:nvSpPr>
              <p:cNvPr id="96" name="타원 95"/>
              <p:cNvSpPr/>
              <p:nvPr/>
            </p:nvSpPr>
            <p:spPr>
              <a:xfrm>
                <a:off x="6618253" y="1518290"/>
                <a:ext cx="1104041" cy="411618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7" name="타원 96"/>
              <p:cNvSpPr/>
              <p:nvPr/>
            </p:nvSpPr>
            <p:spPr>
              <a:xfrm>
                <a:off x="7419995" y="2643182"/>
                <a:ext cx="928695" cy="428628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98" name="직선 연결선 97"/>
              <p:cNvCxnSpPr>
                <a:cxnSpLocks/>
                <a:endCxn id="90" idx="0"/>
              </p:cNvCxnSpPr>
              <p:nvPr/>
            </p:nvCxnSpPr>
            <p:spPr>
              <a:xfrm flipH="1">
                <a:off x="7617857" y="3081334"/>
                <a:ext cx="311732" cy="45176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99" name="직선 연결선 98"/>
              <p:cNvCxnSpPr/>
              <p:nvPr/>
            </p:nvCxnSpPr>
            <p:spPr>
              <a:xfrm rot="10800000" flipH="1" flipV="1">
                <a:off x="7920062" y="3071810"/>
                <a:ext cx="509590" cy="4905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sp>
            <p:nvSpPr>
              <p:cNvPr id="100" name="타원 99"/>
              <p:cNvSpPr/>
              <p:nvPr/>
            </p:nvSpPr>
            <p:spPr>
              <a:xfrm>
                <a:off x="7062805" y="3500438"/>
                <a:ext cx="1104041" cy="428628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101" name="직선 연결선 100"/>
              <p:cNvCxnSpPr/>
              <p:nvPr/>
            </p:nvCxnSpPr>
            <p:spPr>
              <a:xfrm rot="10800000" flipV="1">
                <a:off x="6981844" y="3938590"/>
                <a:ext cx="509590" cy="4905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102" name="직선 연결선 101"/>
              <p:cNvCxnSpPr/>
              <p:nvPr/>
            </p:nvCxnSpPr>
            <p:spPr>
              <a:xfrm rot="10800000" flipH="1" flipV="1">
                <a:off x="7481910" y="3938590"/>
                <a:ext cx="509590" cy="4905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103" name="직선 연결선 102"/>
              <p:cNvCxnSpPr/>
              <p:nvPr/>
            </p:nvCxnSpPr>
            <p:spPr>
              <a:xfrm rot="10800000" flipH="1" flipV="1">
                <a:off x="7072330" y="2000240"/>
                <a:ext cx="795342" cy="6429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88" name="TextBox 87"/>
            <p:cNvSpPr txBox="1"/>
            <p:nvPr/>
          </p:nvSpPr>
          <p:spPr>
            <a:xfrm>
              <a:off x="6643702" y="1571612"/>
              <a:ext cx="12144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dirty="0"/>
                <a:t>f1 &lt; 0.45</a:t>
              </a:r>
              <a:endParaRPr lang="ko-KR" altLang="en-US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611926" y="2714620"/>
              <a:ext cx="11749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/>
                <a:t>f2 &lt; 1.5</a:t>
              </a:r>
              <a:endParaRPr lang="ko-KR" alt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143768" y="3631172"/>
              <a:ext cx="12144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/>
                <a:t>f1 &lt; 0.52</a:t>
              </a:r>
              <a:endParaRPr lang="ko-KR" altLang="en-US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143636" y="2714620"/>
              <a:ext cx="310506" cy="3693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70C0"/>
                  </a:solidFill>
                </a:rPr>
                <a:t>1</a:t>
              </a:r>
              <a:endParaRPr lang="ko-KR" altLang="en-US">
                <a:solidFill>
                  <a:srgbClr val="0070C0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858016" y="4631304"/>
              <a:ext cx="310501" cy="3693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70C0"/>
                  </a:solidFill>
                </a:rPr>
                <a:t>1</a:t>
              </a:r>
              <a:endParaRPr lang="ko-KR" altLang="en-US">
                <a:solidFill>
                  <a:srgbClr val="0070C0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501090" y="3714752"/>
              <a:ext cx="315252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2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072462" y="4631304"/>
              <a:ext cx="315255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2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2084995" y="2351615"/>
            <a:ext cx="4714907" cy="4369860"/>
            <a:chOff x="142845" y="1785926"/>
            <a:chExt cx="4714907" cy="4369860"/>
          </a:xfrm>
        </p:grpSpPr>
        <p:grpSp>
          <p:nvGrpSpPr>
            <p:cNvPr id="105" name="그룹 104"/>
            <p:cNvGrpSpPr/>
            <p:nvPr/>
          </p:nvGrpSpPr>
          <p:grpSpPr>
            <a:xfrm>
              <a:off x="428596" y="1785926"/>
              <a:ext cx="4429156" cy="4000528"/>
              <a:chOff x="428596" y="869374"/>
              <a:chExt cx="4429156" cy="4000528"/>
            </a:xfrm>
          </p:grpSpPr>
          <p:sp>
            <p:nvSpPr>
              <p:cNvPr id="157" name="직사각형 156"/>
              <p:cNvSpPr/>
              <p:nvPr/>
            </p:nvSpPr>
            <p:spPr>
              <a:xfrm>
                <a:off x="928662" y="1012250"/>
                <a:ext cx="3643338" cy="3416882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785786" y="4488428"/>
                <a:ext cx="31053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0</a:t>
                </a:r>
                <a:endParaRPr lang="ko-KR" altLang="en-US"/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1428728" y="4488428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0.2</a:t>
                </a:r>
                <a:endParaRPr lang="ko-KR" altLang="en-US"/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2143108" y="4500570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0.4</a:t>
                </a:r>
                <a:endParaRPr lang="ko-KR" altLang="en-US"/>
              </a:p>
            </p:txBody>
          </p:sp>
          <p:sp>
            <p:nvSpPr>
              <p:cNvPr id="161" name="TextBox 160"/>
              <p:cNvSpPr txBox="1"/>
              <p:nvPr/>
            </p:nvSpPr>
            <p:spPr>
              <a:xfrm>
                <a:off x="2857488" y="4500570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0.6</a:t>
                </a:r>
                <a:endParaRPr lang="ko-KR" altLang="en-US"/>
              </a:p>
            </p:txBody>
          </p:sp>
          <p:sp>
            <p:nvSpPr>
              <p:cNvPr id="162" name="TextBox 161"/>
              <p:cNvSpPr txBox="1"/>
              <p:nvPr/>
            </p:nvSpPr>
            <p:spPr>
              <a:xfrm>
                <a:off x="3571868" y="4500570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0.8</a:t>
                </a:r>
                <a:endParaRPr lang="ko-KR" altLang="en-US"/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4214810" y="4488428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   1</a:t>
                </a:r>
                <a:endParaRPr lang="ko-KR" altLang="en-US"/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428596" y="4286256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  1</a:t>
                </a:r>
                <a:endParaRPr lang="ko-KR" altLang="en-US"/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>
                <a:off x="428596" y="3786190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1.2</a:t>
                </a:r>
                <a:endParaRPr lang="ko-KR" altLang="en-US"/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428596" y="3012514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1.4</a:t>
                </a:r>
                <a:endParaRPr lang="ko-KR" altLang="en-US"/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428596" y="2298134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1.6</a:t>
                </a:r>
                <a:endParaRPr lang="ko-KR" altLang="en-US"/>
              </a:p>
            </p:txBody>
          </p:sp>
          <p:sp>
            <p:nvSpPr>
              <p:cNvPr id="168" name="TextBox 167"/>
              <p:cNvSpPr txBox="1"/>
              <p:nvPr/>
            </p:nvSpPr>
            <p:spPr>
              <a:xfrm>
                <a:off x="428596" y="1583754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1.8</a:t>
                </a:r>
                <a:endParaRPr lang="ko-KR" altLang="en-US"/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500034" y="869374"/>
                <a:ext cx="6429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/>
                  <a:t> 2</a:t>
                </a:r>
                <a:endParaRPr lang="ko-KR" altLang="en-US"/>
              </a:p>
            </p:txBody>
          </p:sp>
        </p:grpSp>
        <p:cxnSp>
          <p:nvCxnSpPr>
            <p:cNvPr id="106" name="직선 연결선 105"/>
            <p:cNvCxnSpPr/>
            <p:nvPr/>
          </p:nvCxnSpPr>
          <p:spPr>
            <a:xfrm rot="5400000" flipH="1" flipV="1">
              <a:off x="1643042" y="2857496"/>
              <a:ext cx="1857388" cy="158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107" name="직선 연결선 106"/>
            <p:cNvCxnSpPr/>
            <p:nvPr/>
          </p:nvCxnSpPr>
          <p:spPr>
            <a:xfrm>
              <a:off x="2928926" y="3786190"/>
              <a:ext cx="1643074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/>
              <a:headEnd w="med" len="med"/>
              <a:tailEnd w="med" len="med"/>
            </a:ln>
            <a:effectLst/>
          </p:spPr>
        </p:cxnSp>
        <p:cxnSp>
          <p:nvCxnSpPr>
            <p:cNvPr id="108" name="직선 연결선 107"/>
            <p:cNvCxnSpPr/>
            <p:nvPr/>
          </p:nvCxnSpPr>
          <p:spPr>
            <a:xfrm rot="5400000" flipH="1" flipV="1">
              <a:off x="2143108" y="4572008"/>
              <a:ext cx="1571636" cy="158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109" name="직선 연결선 108"/>
            <p:cNvCxnSpPr/>
            <p:nvPr/>
          </p:nvCxnSpPr>
          <p:spPr>
            <a:xfrm rot="10800000">
              <a:off x="2571736" y="3786190"/>
              <a:ext cx="357190" cy="158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110" name="직선 연결선 109"/>
            <p:cNvCxnSpPr/>
            <p:nvPr/>
          </p:nvCxnSpPr>
          <p:spPr>
            <a:xfrm rot="5400000">
              <a:off x="1786712" y="4572008"/>
              <a:ext cx="1570842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/>
              <a:headEnd w="med" len="med"/>
              <a:tailEnd w="med" len="med"/>
            </a:ln>
            <a:effectLst/>
          </p:spPr>
        </p:cxnSp>
        <p:sp>
          <p:nvSpPr>
            <p:cNvPr id="111" name="타원 110"/>
            <p:cNvSpPr/>
            <p:nvPr/>
          </p:nvSpPr>
          <p:spPr>
            <a:xfrm>
              <a:off x="1142976" y="3357562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2" name="타원 111"/>
            <p:cNvSpPr/>
            <p:nvPr/>
          </p:nvSpPr>
          <p:spPr>
            <a:xfrm>
              <a:off x="1295376" y="3643314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2285984" y="2214554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4" name="타원 113"/>
            <p:cNvSpPr/>
            <p:nvPr/>
          </p:nvSpPr>
          <p:spPr>
            <a:xfrm>
              <a:off x="2143108" y="2928934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5" name="타원 114"/>
            <p:cNvSpPr/>
            <p:nvPr/>
          </p:nvSpPr>
          <p:spPr>
            <a:xfrm>
              <a:off x="2714612" y="3869770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6" name="타원 115"/>
            <p:cNvSpPr/>
            <p:nvPr/>
          </p:nvSpPr>
          <p:spPr>
            <a:xfrm>
              <a:off x="2714612" y="4214818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786050" y="5000636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8" name="타원 117"/>
            <p:cNvSpPr/>
            <p:nvPr/>
          </p:nvSpPr>
          <p:spPr>
            <a:xfrm>
              <a:off x="2571736" y="5153036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19" name="타원 118"/>
            <p:cNvSpPr/>
            <p:nvPr/>
          </p:nvSpPr>
          <p:spPr>
            <a:xfrm>
              <a:off x="2000232" y="4714884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152632" y="4867284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1" name="타원 120"/>
            <p:cNvSpPr/>
            <p:nvPr/>
          </p:nvSpPr>
          <p:spPr>
            <a:xfrm>
              <a:off x="2000232" y="5019684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2" name="타원 121"/>
            <p:cNvSpPr/>
            <p:nvPr/>
          </p:nvSpPr>
          <p:spPr>
            <a:xfrm>
              <a:off x="1000100" y="5161326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3" name="타원 122"/>
            <p:cNvSpPr/>
            <p:nvPr/>
          </p:nvSpPr>
          <p:spPr>
            <a:xfrm>
              <a:off x="1214414" y="4572008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4" name="타원 123"/>
            <p:cNvSpPr/>
            <p:nvPr/>
          </p:nvSpPr>
          <p:spPr>
            <a:xfrm>
              <a:off x="1428728" y="4429132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5" name="타원 124"/>
            <p:cNvSpPr/>
            <p:nvPr/>
          </p:nvSpPr>
          <p:spPr>
            <a:xfrm>
              <a:off x="1581128" y="4643446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6" name="타원 125"/>
            <p:cNvSpPr/>
            <p:nvPr/>
          </p:nvSpPr>
          <p:spPr>
            <a:xfrm>
              <a:off x="1581128" y="4357694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7" name="타원 126"/>
            <p:cNvSpPr/>
            <p:nvPr/>
          </p:nvSpPr>
          <p:spPr>
            <a:xfrm>
              <a:off x="1928794" y="4143380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8" name="타원 127"/>
            <p:cNvSpPr/>
            <p:nvPr/>
          </p:nvSpPr>
          <p:spPr>
            <a:xfrm>
              <a:off x="1714480" y="3357562"/>
              <a:ext cx="142876" cy="142876"/>
            </a:xfrm>
            <a:prstGeom prst="ellipse">
              <a:avLst/>
            </a:prstGeom>
            <a:solidFill>
              <a:srgbClr val="0070C0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29" name="이등변 삼각형 128"/>
            <p:cNvSpPr/>
            <p:nvPr/>
          </p:nvSpPr>
          <p:spPr>
            <a:xfrm>
              <a:off x="2571736" y="192880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0" name="이등변 삼각형 129"/>
            <p:cNvSpPr/>
            <p:nvPr/>
          </p:nvSpPr>
          <p:spPr>
            <a:xfrm>
              <a:off x="2571736" y="3584018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1" name="이등변 삼각형 130"/>
            <p:cNvSpPr/>
            <p:nvPr/>
          </p:nvSpPr>
          <p:spPr>
            <a:xfrm>
              <a:off x="2928926" y="392906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2" name="이등변 삼각형 131"/>
            <p:cNvSpPr/>
            <p:nvPr/>
          </p:nvSpPr>
          <p:spPr>
            <a:xfrm>
              <a:off x="2571736" y="2786058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3" name="이등변 삼각형 132"/>
            <p:cNvSpPr/>
            <p:nvPr/>
          </p:nvSpPr>
          <p:spPr>
            <a:xfrm>
              <a:off x="2714612" y="2938458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4" name="이등변 삼각형 133"/>
            <p:cNvSpPr/>
            <p:nvPr/>
          </p:nvSpPr>
          <p:spPr>
            <a:xfrm>
              <a:off x="2571736" y="257174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5" name="이등변 삼각형 134"/>
            <p:cNvSpPr/>
            <p:nvPr/>
          </p:nvSpPr>
          <p:spPr>
            <a:xfrm>
              <a:off x="3143240" y="2786058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6" name="이등변 삼각형 135"/>
            <p:cNvSpPr/>
            <p:nvPr/>
          </p:nvSpPr>
          <p:spPr>
            <a:xfrm>
              <a:off x="3295640" y="294921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7" name="이등변 삼각형 136"/>
            <p:cNvSpPr/>
            <p:nvPr/>
          </p:nvSpPr>
          <p:spPr>
            <a:xfrm>
              <a:off x="3295640" y="2938458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8" name="이등변 삼각형 137"/>
            <p:cNvSpPr/>
            <p:nvPr/>
          </p:nvSpPr>
          <p:spPr>
            <a:xfrm>
              <a:off x="3448040" y="3090858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39" name="이등변 삼각형 138"/>
            <p:cNvSpPr/>
            <p:nvPr/>
          </p:nvSpPr>
          <p:spPr>
            <a:xfrm>
              <a:off x="3286116" y="3243258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0" name="이등변 삼각형 139"/>
            <p:cNvSpPr/>
            <p:nvPr/>
          </p:nvSpPr>
          <p:spPr>
            <a:xfrm>
              <a:off x="3406242" y="214311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1" name="이등변 삼각형 140"/>
            <p:cNvSpPr/>
            <p:nvPr/>
          </p:nvSpPr>
          <p:spPr>
            <a:xfrm>
              <a:off x="3558642" y="2357430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2" name="이등변 삼각형 141"/>
            <p:cNvSpPr/>
            <p:nvPr/>
          </p:nvSpPr>
          <p:spPr>
            <a:xfrm>
              <a:off x="4000496" y="257174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3" name="이등변 삼각형 142"/>
            <p:cNvSpPr/>
            <p:nvPr/>
          </p:nvSpPr>
          <p:spPr>
            <a:xfrm>
              <a:off x="3558642" y="335756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4" name="이등변 삼각형 143"/>
            <p:cNvSpPr/>
            <p:nvPr/>
          </p:nvSpPr>
          <p:spPr>
            <a:xfrm>
              <a:off x="4143372" y="357187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5" name="이등변 삼각형 144"/>
            <p:cNvSpPr/>
            <p:nvPr/>
          </p:nvSpPr>
          <p:spPr>
            <a:xfrm>
              <a:off x="3714744" y="371475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6" name="이등변 삼각형 145"/>
            <p:cNvSpPr/>
            <p:nvPr/>
          </p:nvSpPr>
          <p:spPr>
            <a:xfrm>
              <a:off x="3643306" y="392906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7" name="이등변 삼각형 146"/>
            <p:cNvSpPr/>
            <p:nvPr/>
          </p:nvSpPr>
          <p:spPr>
            <a:xfrm>
              <a:off x="3795706" y="4714884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8" name="이등변 삼각형 147"/>
            <p:cNvSpPr/>
            <p:nvPr/>
          </p:nvSpPr>
          <p:spPr>
            <a:xfrm>
              <a:off x="3428992" y="4071942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49" name="이등변 삼각형 148"/>
            <p:cNvSpPr/>
            <p:nvPr/>
          </p:nvSpPr>
          <p:spPr>
            <a:xfrm>
              <a:off x="3581392" y="428625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50" name="이등변 삼각형 149"/>
            <p:cNvSpPr/>
            <p:nvPr/>
          </p:nvSpPr>
          <p:spPr>
            <a:xfrm>
              <a:off x="3733792" y="4438656"/>
              <a:ext cx="142876" cy="142876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143108" y="5786454"/>
              <a:ext cx="21431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/>
                <a:t>feature1(f1)</a:t>
              </a:r>
              <a:endParaRPr lang="ko-KR" altLang="en-US"/>
            </a:p>
          </p:txBody>
        </p:sp>
        <p:sp>
          <p:nvSpPr>
            <p:cNvPr id="152" name="TextBox 151"/>
            <p:cNvSpPr txBox="1"/>
            <p:nvPr/>
          </p:nvSpPr>
          <p:spPr>
            <a:xfrm rot="16200000">
              <a:off x="-744059" y="3172896"/>
              <a:ext cx="21431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/>
                <a:t>feature2(f2)</a:t>
              </a:r>
              <a:endParaRPr lang="ko-KR" altLang="en-US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428728" y="3455259"/>
              <a:ext cx="285752" cy="8174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0070C0"/>
                  </a:solidFill>
                </a:rPr>
                <a:t>1</a:t>
              </a:r>
              <a:endParaRPr lang="ko-KR" altLang="en-US" sz="4800" b="1">
                <a:solidFill>
                  <a:srgbClr val="0070C0"/>
                </a:solidFill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2500298" y="4169639"/>
              <a:ext cx="285752" cy="8174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0070C0"/>
                  </a:solidFill>
                </a:rPr>
                <a:t>1</a:t>
              </a:r>
              <a:endParaRPr lang="ko-KR" altLang="en-US" sz="4800" b="1">
                <a:solidFill>
                  <a:srgbClr val="0070C0"/>
                </a:solidFill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286116" y="2383689"/>
              <a:ext cx="534359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00B050"/>
                  </a:solidFill>
                </a:rPr>
                <a:t>2</a:t>
              </a:r>
              <a:endParaRPr lang="ko-KR" altLang="en-US" sz="4800" b="1">
                <a:solidFill>
                  <a:srgbClr val="00B050"/>
                </a:solidFill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643306" y="4026763"/>
              <a:ext cx="285752" cy="817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4800" b="1">
                  <a:solidFill>
                    <a:srgbClr val="00B050"/>
                  </a:solidFill>
                </a:rPr>
                <a:t>2</a:t>
              </a:r>
              <a:endParaRPr lang="ko-KR" altLang="en-US" sz="4800" b="1">
                <a:solidFill>
                  <a:srgbClr val="00B050"/>
                </a:solidFill>
              </a:endParaRPr>
            </a:p>
          </p:txBody>
        </p:sp>
      </p:grpSp>
      <p:cxnSp>
        <p:nvCxnSpPr>
          <p:cNvPr id="170" name="직선 연결선 169"/>
          <p:cNvCxnSpPr/>
          <p:nvPr/>
        </p:nvCxnSpPr>
        <p:spPr>
          <a:xfrm>
            <a:off x="3192282" y="2351615"/>
            <a:ext cx="2750364" cy="401266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171" name="타원 170"/>
          <p:cNvSpPr/>
          <p:nvPr/>
        </p:nvSpPr>
        <p:spPr>
          <a:xfrm>
            <a:off x="4371010" y="4578335"/>
            <a:ext cx="142876" cy="142876"/>
          </a:xfrm>
          <a:prstGeom prst="ellipse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72" name="타원 171"/>
          <p:cNvSpPr/>
          <p:nvPr/>
        </p:nvSpPr>
        <p:spPr>
          <a:xfrm>
            <a:off x="4156696" y="4149707"/>
            <a:ext cx="142876" cy="142876"/>
          </a:xfrm>
          <a:prstGeom prst="ellipse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194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다층 분류기를 이용한 </a:t>
            </a:r>
            <a:r>
              <a:rPr lang="en-US" altLang="ko-KR" dirty="0" smtClean="0"/>
              <a:t>XOR </a:t>
            </a:r>
            <a:r>
              <a:rPr lang="ko-KR" altLang="en-US" dirty="0" smtClean="0"/>
              <a:t>문제 </a:t>
            </a:r>
            <a:r>
              <a:rPr lang="ko-KR" altLang="en-US" dirty="0"/>
              <a:t>해결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pSp>
        <p:nvGrpSpPr>
          <p:cNvPr id="10" name="그룹 80"/>
          <p:cNvGrpSpPr/>
          <p:nvPr/>
        </p:nvGrpSpPr>
        <p:grpSpPr>
          <a:xfrm>
            <a:off x="2252634" y="3003226"/>
            <a:ext cx="4286280" cy="1714512"/>
            <a:chOff x="357158" y="1142984"/>
            <a:chExt cx="3929090" cy="1497846"/>
          </a:xfrm>
        </p:grpSpPr>
        <p:grpSp>
          <p:nvGrpSpPr>
            <p:cNvPr id="11" name="그룹 74"/>
            <p:cNvGrpSpPr/>
            <p:nvPr/>
          </p:nvGrpSpPr>
          <p:grpSpPr>
            <a:xfrm>
              <a:off x="357158" y="1481538"/>
              <a:ext cx="3929090" cy="1159292"/>
              <a:chOff x="928662" y="3857628"/>
              <a:chExt cx="3929090" cy="1159292"/>
            </a:xfrm>
          </p:grpSpPr>
          <p:sp>
            <p:nvSpPr>
              <p:cNvPr id="14" name="타원 13"/>
              <p:cNvSpPr/>
              <p:nvPr/>
            </p:nvSpPr>
            <p:spPr bwMode="auto">
              <a:xfrm>
                <a:off x="928662" y="3857628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5" name="Text Box 61"/>
              <p:cNvSpPr txBox="1">
                <a:spLocks noChangeArrowheads="1"/>
              </p:cNvSpPr>
              <p:nvPr/>
            </p:nvSpPr>
            <p:spPr bwMode="auto">
              <a:xfrm>
                <a:off x="973985" y="3875121"/>
                <a:ext cx="430546" cy="3559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rPr>
                  <a:t>x</a:t>
                </a:r>
                <a:r>
                  <a:rPr lang="en-US" altLang="ko-KR" sz="2000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ko-KR" sz="2000" dirty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타원 15"/>
              <p:cNvSpPr/>
              <p:nvPr/>
            </p:nvSpPr>
            <p:spPr bwMode="auto">
              <a:xfrm>
                <a:off x="975903" y="4572008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7" name="Text Box 61"/>
              <p:cNvSpPr txBox="1">
                <a:spLocks noChangeArrowheads="1"/>
              </p:cNvSpPr>
              <p:nvPr/>
            </p:nvSpPr>
            <p:spPr bwMode="auto">
              <a:xfrm>
                <a:off x="1021226" y="4572008"/>
                <a:ext cx="43054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rPr>
                  <a:t>x</a:t>
                </a:r>
                <a:r>
                  <a:rPr lang="en-US" altLang="ko-KR" sz="2000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ko-KR" sz="2000" dirty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18" name="직선 화살표 연결선 17"/>
              <p:cNvCxnSpPr>
                <a:stCxn id="22" idx="3"/>
                <a:endCxn id="19" idx="2"/>
              </p:cNvCxnSpPr>
              <p:nvPr/>
            </p:nvCxnSpPr>
            <p:spPr bwMode="auto">
              <a:xfrm>
                <a:off x="3929058" y="4429132"/>
                <a:ext cx="428628" cy="814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9" name="타원 18"/>
              <p:cNvSpPr/>
              <p:nvPr/>
            </p:nvSpPr>
            <p:spPr bwMode="auto">
              <a:xfrm>
                <a:off x="4357686" y="4214818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0" name="Text Box 61"/>
              <p:cNvSpPr txBox="1">
                <a:spLocks noChangeArrowheads="1"/>
              </p:cNvSpPr>
              <p:nvPr/>
            </p:nvSpPr>
            <p:spPr bwMode="auto">
              <a:xfrm>
                <a:off x="4427206" y="4216027"/>
                <a:ext cx="430546" cy="3495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Times New Roman" pitchFamily="18" charset="0"/>
                  </a:rPr>
                  <a:t> y</a:t>
                </a: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>
                <a:off x="3214678" y="4214818"/>
                <a:ext cx="714380" cy="4286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 bwMode="auto">
              <a:xfrm>
                <a:off x="2118911" y="3857628"/>
                <a:ext cx="714380" cy="4286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 bwMode="auto">
              <a:xfrm>
                <a:off x="2143108" y="4572008"/>
                <a:ext cx="714380" cy="4286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Text Box 61"/>
              <p:cNvSpPr txBox="1">
                <a:spLocks noChangeArrowheads="1"/>
              </p:cNvSpPr>
              <p:nvPr/>
            </p:nvSpPr>
            <p:spPr bwMode="auto">
              <a:xfrm>
                <a:off x="2107389" y="3893536"/>
                <a:ext cx="78581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Times New Roman" pitchFamily="18" charset="0"/>
                  </a:rPr>
                  <a:t>NAND</a:t>
                </a:r>
              </a:p>
            </p:txBody>
          </p:sp>
          <p:sp>
            <p:nvSpPr>
              <p:cNvPr id="31" name="Text Box 61"/>
              <p:cNvSpPr txBox="1">
                <a:spLocks noChangeArrowheads="1"/>
              </p:cNvSpPr>
              <p:nvPr/>
            </p:nvSpPr>
            <p:spPr bwMode="auto">
              <a:xfrm>
                <a:off x="3286116" y="4267997"/>
                <a:ext cx="78581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Times New Roman" pitchFamily="18" charset="0"/>
                  </a:rPr>
                  <a:t>AND</a:t>
                </a:r>
              </a:p>
            </p:txBody>
          </p:sp>
          <p:sp>
            <p:nvSpPr>
              <p:cNvPr id="32" name="Text Box 61"/>
              <p:cNvSpPr txBox="1">
                <a:spLocks noChangeArrowheads="1"/>
              </p:cNvSpPr>
              <p:nvPr/>
            </p:nvSpPr>
            <p:spPr bwMode="auto">
              <a:xfrm>
                <a:off x="2285984" y="4615955"/>
                <a:ext cx="78581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Times New Roman" pitchFamily="18" charset="0"/>
                  </a:rPr>
                  <a:t>OR</a:t>
                </a:r>
              </a:p>
            </p:txBody>
          </p:sp>
          <p:cxnSp>
            <p:nvCxnSpPr>
              <p:cNvPr id="33" name="직선 화살표 연결선 32"/>
              <p:cNvCxnSpPr>
                <a:stCxn id="14" idx="6"/>
                <a:endCxn id="28" idx="1"/>
              </p:cNvCxnSpPr>
              <p:nvPr/>
            </p:nvCxnSpPr>
            <p:spPr bwMode="auto">
              <a:xfrm flipV="1">
                <a:off x="1404531" y="4071942"/>
                <a:ext cx="714380" cy="814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4" name="직선 화살표 연결선 33"/>
              <p:cNvCxnSpPr>
                <a:stCxn id="16" idx="6"/>
                <a:endCxn id="29" idx="1"/>
              </p:cNvCxnSpPr>
              <p:nvPr/>
            </p:nvCxnSpPr>
            <p:spPr bwMode="auto">
              <a:xfrm flipV="1">
                <a:off x="1451772" y="4786322"/>
                <a:ext cx="691336" cy="814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5" name="직선 화살표 연결선 34"/>
              <p:cNvCxnSpPr>
                <a:stCxn id="17" idx="3"/>
              </p:cNvCxnSpPr>
              <p:nvPr/>
            </p:nvCxnSpPr>
            <p:spPr bwMode="auto">
              <a:xfrm flipV="1">
                <a:off x="1451772" y="4143380"/>
                <a:ext cx="619898" cy="62868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6" name="직선 화살표 연결선 35"/>
              <p:cNvCxnSpPr>
                <a:stCxn id="14" idx="6"/>
              </p:cNvCxnSpPr>
              <p:nvPr/>
            </p:nvCxnSpPr>
            <p:spPr bwMode="auto">
              <a:xfrm>
                <a:off x="1404531" y="4080084"/>
                <a:ext cx="667139" cy="6348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7" name="직선 화살표 연결선 36"/>
              <p:cNvCxnSpPr>
                <a:stCxn id="28" idx="3"/>
                <a:endCxn id="22" idx="1"/>
              </p:cNvCxnSpPr>
              <p:nvPr/>
            </p:nvCxnSpPr>
            <p:spPr bwMode="auto">
              <a:xfrm>
                <a:off x="2833291" y="4071942"/>
                <a:ext cx="381387" cy="35719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8" name="직선 화살표 연결선 37"/>
              <p:cNvCxnSpPr>
                <a:stCxn id="29" idx="3"/>
                <a:endCxn id="22" idx="1"/>
              </p:cNvCxnSpPr>
              <p:nvPr/>
            </p:nvCxnSpPr>
            <p:spPr bwMode="auto">
              <a:xfrm flipV="1">
                <a:off x="2857488" y="4429132"/>
                <a:ext cx="357190" cy="35719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12" name="Text Box 61"/>
            <p:cNvSpPr txBox="1">
              <a:spLocks noChangeArrowheads="1"/>
            </p:cNvSpPr>
            <p:nvPr/>
          </p:nvSpPr>
          <p:spPr bwMode="auto">
            <a:xfrm>
              <a:off x="1714480" y="1142984"/>
              <a:ext cx="430546" cy="295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</a:pPr>
              <a:r>
                <a:rPr lang="en-US" altLang="ko-KR" sz="1600" dirty="0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r>
                <a:rPr lang="en-US" altLang="ko-KR" sz="1600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ko-KR" sz="16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" name="Text Box 61"/>
            <p:cNvSpPr txBox="1">
              <a:spLocks noChangeArrowheads="1"/>
            </p:cNvSpPr>
            <p:nvPr/>
          </p:nvSpPr>
          <p:spPr bwMode="auto">
            <a:xfrm>
              <a:off x="1760187" y="1891907"/>
              <a:ext cx="430546" cy="295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spcBef>
                  <a:spcPct val="50000"/>
                </a:spcBef>
              </a:pPr>
              <a:r>
                <a:rPr lang="en-US" altLang="ko-KR" sz="1600" dirty="0">
                  <a:solidFill>
                    <a:srgbClr val="000000"/>
                  </a:solidFill>
                  <a:latin typeface="Times New Roman" pitchFamily="18" charset="0"/>
                </a:rPr>
                <a:t>h</a:t>
              </a:r>
              <a:r>
                <a:rPr lang="en-US" altLang="ko-KR" sz="16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ko-KR" sz="16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711322"/>
              </p:ext>
            </p:extLst>
          </p:nvPr>
        </p:nvGraphicFramePr>
        <p:xfrm>
          <a:off x="7110416" y="3146102"/>
          <a:ext cx="2714646" cy="1857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72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672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672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167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1672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3103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714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x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x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h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</a:t>
                      </a:r>
                      <a:endParaRPr lang="en-US" altLang="ko-KR" sz="180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h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2</a:t>
                      </a:r>
                      <a:endParaRPr lang="en-US" altLang="ko-KR" sz="1800" dirty="0">
                        <a:solidFill>
                          <a:srgbClr val="000000"/>
                        </a:solidFill>
                        <a:latin typeface="Times New Roman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XOR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선형 분류기를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여러 개 사용하거나 계층적으로 두어 문제 해결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6503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 신경망</a:t>
            </a:r>
            <a:r>
              <a:rPr lang="en-US" altLang="ko-KR" dirty="0" smtClean="0"/>
              <a:t>(Multi-Layer Perceptron)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다층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퍼셉트론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입력층과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출력층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중간에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추가한 것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다층 </a:t>
            </a: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신경망을 사용해 복잡한 비선형 문제 해결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2339008" y="3479508"/>
            <a:ext cx="3214710" cy="1928826"/>
            <a:chOff x="571472" y="1928802"/>
            <a:chExt cx="3071834" cy="1624438"/>
          </a:xfrm>
        </p:grpSpPr>
        <p:sp>
          <p:nvSpPr>
            <p:cNvPr id="29" name="타원 28"/>
            <p:cNvSpPr/>
            <p:nvPr/>
          </p:nvSpPr>
          <p:spPr bwMode="auto">
            <a:xfrm>
              <a:off x="785786" y="1928802"/>
              <a:ext cx="428628" cy="42862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0" name="타원 29"/>
            <p:cNvSpPr/>
            <p:nvPr/>
          </p:nvSpPr>
          <p:spPr bwMode="auto">
            <a:xfrm>
              <a:off x="785786" y="2714620"/>
              <a:ext cx="428628" cy="42862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1" name="타원 30"/>
            <p:cNvSpPr/>
            <p:nvPr/>
          </p:nvSpPr>
          <p:spPr bwMode="auto">
            <a:xfrm>
              <a:off x="1785918" y="1928802"/>
              <a:ext cx="428628" cy="42862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2" name="타원 31"/>
            <p:cNvSpPr/>
            <p:nvPr/>
          </p:nvSpPr>
          <p:spPr bwMode="auto">
            <a:xfrm>
              <a:off x="1785918" y="2714620"/>
              <a:ext cx="428628" cy="42862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3" name="타원 32"/>
            <p:cNvSpPr/>
            <p:nvPr/>
          </p:nvSpPr>
          <p:spPr bwMode="auto">
            <a:xfrm>
              <a:off x="2643174" y="2285992"/>
              <a:ext cx="428628" cy="42862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34" name="직선 화살표 연결선 33"/>
            <p:cNvCxnSpPr>
              <a:stCxn id="29" idx="6"/>
              <a:endCxn id="31" idx="2"/>
            </p:cNvCxnSpPr>
            <p:nvPr/>
          </p:nvCxnSpPr>
          <p:spPr bwMode="auto">
            <a:xfrm>
              <a:off x="1214414" y="2143116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직선 화살표 연결선 34"/>
            <p:cNvCxnSpPr>
              <a:stCxn id="30" idx="6"/>
              <a:endCxn id="31" idx="2"/>
            </p:cNvCxnSpPr>
            <p:nvPr/>
          </p:nvCxnSpPr>
          <p:spPr bwMode="auto">
            <a:xfrm flipV="1">
              <a:off x="1214414" y="2143116"/>
              <a:ext cx="571504" cy="7858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6" name="직선 화살표 연결선 35"/>
            <p:cNvCxnSpPr>
              <a:stCxn id="30" idx="6"/>
              <a:endCxn id="32" idx="2"/>
            </p:cNvCxnSpPr>
            <p:nvPr/>
          </p:nvCxnSpPr>
          <p:spPr bwMode="auto">
            <a:xfrm>
              <a:off x="1214414" y="2928934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7" name="직선 화살표 연결선 36"/>
            <p:cNvCxnSpPr>
              <a:stCxn id="29" idx="6"/>
              <a:endCxn id="32" idx="2"/>
            </p:cNvCxnSpPr>
            <p:nvPr/>
          </p:nvCxnSpPr>
          <p:spPr bwMode="auto">
            <a:xfrm>
              <a:off x="1214414" y="2143116"/>
              <a:ext cx="571504" cy="7858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직선 화살표 연결선 37"/>
            <p:cNvCxnSpPr>
              <a:stCxn id="31" idx="6"/>
              <a:endCxn id="33" idx="2"/>
            </p:cNvCxnSpPr>
            <p:nvPr/>
          </p:nvCxnSpPr>
          <p:spPr bwMode="auto">
            <a:xfrm>
              <a:off x="2214546" y="2143116"/>
              <a:ext cx="428628" cy="3571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9" name="직선 화살표 연결선 38"/>
            <p:cNvCxnSpPr>
              <a:stCxn id="32" idx="6"/>
              <a:endCxn id="33" idx="2"/>
            </p:cNvCxnSpPr>
            <p:nvPr/>
          </p:nvCxnSpPr>
          <p:spPr bwMode="auto">
            <a:xfrm flipV="1">
              <a:off x="2214546" y="2500306"/>
              <a:ext cx="428628" cy="4286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40" name="TextBox 39"/>
            <p:cNvSpPr txBox="1"/>
            <p:nvPr/>
          </p:nvSpPr>
          <p:spPr>
            <a:xfrm>
              <a:off x="571472" y="3214686"/>
              <a:ext cx="1071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baseline="-25000" dirty="0" err="1">
                  <a:latin typeface="+mn-ea"/>
                </a:rPr>
                <a:t>입력층</a:t>
              </a:r>
              <a:endParaRPr lang="en-US" altLang="ko-KR" sz="2400" b="1" baseline="-25000" dirty="0"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571604" y="3214686"/>
              <a:ext cx="1071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baseline="-25000" dirty="0" err="1">
                  <a:latin typeface="+mn-ea"/>
                </a:rPr>
                <a:t>은닉층</a:t>
              </a:r>
              <a:endParaRPr lang="en-US" altLang="ko-KR" sz="2400" b="1" baseline="-25000" dirty="0">
                <a:latin typeface="+mn-ea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571736" y="3214686"/>
              <a:ext cx="1071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baseline="-25000" dirty="0" err="1">
                  <a:latin typeface="+mn-ea"/>
                </a:rPr>
                <a:t>츨력층</a:t>
              </a:r>
              <a:endParaRPr lang="en-US" altLang="ko-KR" sz="2400" b="1" baseline="-25000" dirty="0">
                <a:latin typeface="+mn-ea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7120513" y="3327943"/>
            <a:ext cx="2214581" cy="2071703"/>
            <a:chOff x="5772620" y="2249190"/>
            <a:chExt cx="2428896" cy="2322819"/>
          </a:xfrm>
        </p:grpSpPr>
        <p:sp>
          <p:nvSpPr>
            <p:cNvPr id="44" name="타원 43"/>
            <p:cNvSpPr/>
            <p:nvPr/>
          </p:nvSpPr>
          <p:spPr bwMode="auto">
            <a:xfrm>
              <a:off x="7429520" y="285749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 bwMode="auto">
            <a:xfrm>
              <a:off x="7581920" y="300989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6" name="타원 45"/>
            <p:cNvSpPr/>
            <p:nvPr/>
          </p:nvSpPr>
          <p:spPr bwMode="auto">
            <a:xfrm>
              <a:off x="7643834" y="2786058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7" name="타원 46"/>
            <p:cNvSpPr/>
            <p:nvPr/>
          </p:nvSpPr>
          <p:spPr bwMode="auto">
            <a:xfrm>
              <a:off x="7215206" y="2938458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8" name="타원 47"/>
            <p:cNvSpPr/>
            <p:nvPr/>
          </p:nvSpPr>
          <p:spPr bwMode="auto">
            <a:xfrm>
              <a:off x="7215206" y="2643182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9" name="타원 48"/>
            <p:cNvSpPr/>
            <p:nvPr/>
          </p:nvSpPr>
          <p:spPr bwMode="auto">
            <a:xfrm>
              <a:off x="7367606" y="307181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0" name="타원 49"/>
            <p:cNvSpPr/>
            <p:nvPr/>
          </p:nvSpPr>
          <p:spPr bwMode="auto">
            <a:xfrm>
              <a:off x="6643702" y="322421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1" name="타원 50"/>
            <p:cNvSpPr/>
            <p:nvPr/>
          </p:nvSpPr>
          <p:spPr bwMode="auto">
            <a:xfrm>
              <a:off x="6796102" y="342900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2" name="타원 51"/>
            <p:cNvSpPr/>
            <p:nvPr/>
          </p:nvSpPr>
          <p:spPr bwMode="auto">
            <a:xfrm>
              <a:off x="6858016" y="364331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3" name="타원 52"/>
            <p:cNvSpPr/>
            <p:nvPr/>
          </p:nvSpPr>
          <p:spPr bwMode="auto">
            <a:xfrm>
              <a:off x="6715140" y="357187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4" name="타원 53"/>
            <p:cNvSpPr/>
            <p:nvPr/>
          </p:nvSpPr>
          <p:spPr bwMode="auto">
            <a:xfrm>
              <a:off x="6572264" y="372427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5" name="타원 54"/>
            <p:cNvSpPr/>
            <p:nvPr/>
          </p:nvSpPr>
          <p:spPr bwMode="auto">
            <a:xfrm>
              <a:off x="6286512" y="328612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6" name="이등변 삼각형 55"/>
            <p:cNvSpPr/>
            <p:nvPr/>
          </p:nvSpPr>
          <p:spPr bwMode="auto">
            <a:xfrm>
              <a:off x="6500826" y="2571744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7" name="이등변 삼각형 56"/>
            <p:cNvSpPr/>
            <p:nvPr/>
          </p:nvSpPr>
          <p:spPr bwMode="auto">
            <a:xfrm>
              <a:off x="6653226" y="2724144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8" name="이등변 삼각형 57"/>
            <p:cNvSpPr/>
            <p:nvPr/>
          </p:nvSpPr>
          <p:spPr bwMode="auto">
            <a:xfrm>
              <a:off x="6805626" y="2714620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9" name="이등변 삼각형 58"/>
            <p:cNvSpPr/>
            <p:nvPr/>
          </p:nvSpPr>
          <p:spPr bwMode="auto">
            <a:xfrm>
              <a:off x="6805626" y="2500306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0" name="이등변 삼각형 59"/>
            <p:cNvSpPr/>
            <p:nvPr/>
          </p:nvSpPr>
          <p:spPr bwMode="auto">
            <a:xfrm>
              <a:off x="6786578" y="2285992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1" name="이등변 삼각형 60"/>
            <p:cNvSpPr/>
            <p:nvPr/>
          </p:nvSpPr>
          <p:spPr bwMode="auto">
            <a:xfrm>
              <a:off x="6572264" y="2357430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2" name="이등변 삼각형 61"/>
            <p:cNvSpPr/>
            <p:nvPr/>
          </p:nvSpPr>
          <p:spPr bwMode="auto">
            <a:xfrm>
              <a:off x="6643702" y="2500306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3" name="이등변 삼각형 62"/>
            <p:cNvSpPr/>
            <p:nvPr/>
          </p:nvSpPr>
          <p:spPr bwMode="auto">
            <a:xfrm>
              <a:off x="7429520" y="3776666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4" name="이등변 삼각형 63"/>
            <p:cNvSpPr/>
            <p:nvPr/>
          </p:nvSpPr>
          <p:spPr bwMode="auto">
            <a:xfrm>
              <a:off x="7581920" y="3929066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5" name="이등변 삼각형 64"/>
            <p:cNvSpPr/>
            <p:nvPr/>
          </p:nvSpPr>
          <p:spPr bwMode="auto">
            <a:xfrm>
              <a:off x="7734320" y="3919542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6" name="이등변 삼각형 65"/>
            <p:cNvSpPr/>
            <p:nvPr/>
          </p:nvSpPr>
          <p:spPr bwMode="auto">
            <a:xfrm>
              <a:off x="7734320" y="3705228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7" name="이등변 삼각형 66"/>
            <p:cNvSpPr/>
            <p:nvPr/>
          </p:nvSpPr>
          <p:spPr bwMode="auto">
            <a:xfrm>
              <a:off x="7715272" y="3490914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8" name="이등변 삼각형 67"/>
            <p:cNvSpPr/>
            <p:nvPr/>
          </p:nvSpPr>
          <p:spPr bwMode="auto">
            <a:xfrm>
              <a:off x="7500958" y="3562352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9" name="이등변 삼각형 68"/>
            <p:cNvSpPr/>
            <p:nvPr/>
          </p:nvSpPr>
          <p:spPr bwMode="auto">
            <a:xfrm>
              <a:off x="7572396" y="3705228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0" name="이등변 삼각형 69"/>
            <p:cNvSpPr/>
            <p:nvPr/>
          </p:nvSpPr>
          <p:spPr bwMode="auto">
            <a:xfrm>
              <a:off x="7358082" y="3500438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71" name="이등변 삼각형 70"/>
            <p:cNvSpPr/>
            <p:nvPr/>
          </p:nvSpPr>
          <p:spPr bwMode="auto">
            <a:xfrm>
              <a:off x="7286644" y="3714752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72" name="직선 연결선 71"/>
            <p:cNvCxnSpPr/>
            <p:nvPr/>
          </p:nvCxnSpPr>
          <p:spPr bwMode="auto">
            <a:xfrm flipV="1">
              <a:off x="5772620" y="2249190"/>
              <a:ext cx="2115487" cy="136165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직선 연결선 72"/>
            <p:cNvCxnSpPr/>
            <p:nvPr/>
          </p:nvCxnSpPr>
          <p:spPr bwMode="auto">
            <a:xfrm flipV="1">
              <a:off x="5929324" y="2970068"/>
              <a:ext cx="2272192" cy="160194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74" name="화살표: 오른쪽 3">
            <a:extLst>
              <a:ext uri="{FF2B5EF4-FFF2-40B4-BE49-F238E27FC236}">
                <a16:creationId xmlns="" xmlns:a16="http://schemas.microsoft.com/office/drawing/2014/main" id="{93EA1D0B-690A-4A9A-9783-C34EF44B2FFA}"/>
              </a:ext>
            </a:extLst>
          </p:cNvPr>
          <p:cNvSpPr/>
          <p:nvPr/>
        </p:nvSpPr>
        <p:spPr>
          <a:xfrm>
            <a:off x="5979216" y="4125346"/>
            <a:ext cx="355511" cy="254860"/>
          </a:xfrm>
          <a:prstGeom prst="rightArrow">
            <a:avLst/>
          </a:prstGeom>
          <a:ln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887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딥러닝</a:t>
            </a:r>
            <a:r>
              <a:rPr lang="en-US" altLang="ko-KR" dirty="0"/>
              <a:t>(Deep Learning)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782441" y="1504019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딥러닝을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사용한 다층 신경망은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수가 기존 신경망보다 훨씬 많음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101277" y="2027239"/>
            <a:ext cx="7804058" cy="4598989"/>
            <a:chOff x="1782441" y="2027239"/>
            <a:chExt cx="8795647" cy="5183340"/>
          </a:xfrm>
        </p:grpSpPr>
        <p:pic>
          <p:nvPicPr>
            <p:cNvPr id="41" name="Picture 2"/>
            <p:cNvPicPr>
              <a:picLocks noChangeAspect="1" noChangeArrowheads="1"/>
            </p:cNvPicPr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782441" y="2027239"/>
              <a:ext cx="8795647" cy="414340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p:sp>
          <p:nvSpPr>
            <p:cNvPr id="42" name="오른쪽 화살표 41"/>
            <p:cNvSpPr/>
            <p:nvPr/>
          </p:nvSpPr>
          <p:spPr>
            <a:xfrm>
              <a:off x="3782705" y="6170643"/>
              <a:ext cx="5929354" cy="285752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headEnd w="med" len="med"/>
              <a:tailEnd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497217" y="6456395"/>
              <a:ext cx="3214710" cy="293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/>
                <a:t>은닉층이 깊어짐</a:t>
              </a:r>
              <a:r>
                <a:rPr lang="en-US" altLang="ko-KR" sz="1400"/>
                <a:t>(deep)</a:t>
              </a:r>
              <a:endParaRPr lang="ko-KR" altLang="en-US" sz="1400"/>
            </a:p>
          </p:txBody>
        </p:sp>
        <p:sp>
          <p:nvSpPr>
            <p:cNvPr id="46" name="아래쪽 화살표 45"/>
            <p:cNvSpPr/>
            <p:nvPr/>
          </p:nvSpPr>
          <p:spPr>
            <a:xfrm>
              <a:off x="2996887" y="2455867"/>
              <a:ext cx="285752" cy="3714776"/>
            </a:xfrm>
            <a:prstGeom prst="downArrow">
              <a:avLst>
                <a:gd name="adj1" fmla="val 50000"/>
                <a:gd name="adj2" fmla="val 50000"/>
              </a:avLst>
            </a:prstGeom>
            <a:ln>
              <a:headEnd w="med" len="med"/>
              <a:tailEnd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068193" y="2732728"/>
              <a:ext cx="1071570" cy="5897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 dirty="0"/>
                <a:t>특징이 </a:t>
              </a:r>
            </a:p>
            <a:p>
              <a:pPr lvl="0">
                <a:defRPr/>
              </a:pPr>
              <a:r>
                <a:rPr lang="ko-KR" altLang="en-US" sz="1400" dirty="0"/>
                <a:t>많아짐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2505625" y="6760344"/>
              <a:ext cx="8072463" cy="4502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sz="1200" i="1" dirty="0"/>
                <a:t>Image from: https://cdn.edureka.co/blog/wp-content/uploads/2017/05/Deep-Neural-Network-What-is-Deep-Learning-Edureka.png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5208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딥러닝</a:t>
            </a:r>
            <a:r>
              <a:rPr lang="en-US" altLang="ko-KR" dirty="0" smtClean="0"/>
              <a:t>(Deep Learning)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알고리즘이 사용하는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개수와 인식 오류를 나타낸 그래프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깊어질수록 학습시키기 매우 어려워짐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38" name="Picture 3"/>
          <p:cNvPicPr>
            <a:picLocks noChangeAspect="1" noChangeArrowheads="1"/>
          </p:cNvPicPr>
          <p:nvPr/>
        </p:nvPicPr>
        <p:blipFill rotWithShape="1">
          <a:blip r:embed="rId4"/>
          <a:srcRect t="8211"/>
          <a:stretch/>
        </p:blipFill>
        <p:spPr>
          <a:xfrm>
            <a:off x="2671476" y="2791710"/>
            <a:ext cx="6243100" cy="3547131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39" name="직사각형 38"/>
          <p:cNvSpPr/>
          <p:nvPr/>
        </p:nvSpPr>
        <p:spPr>
          <a:xfrm>
            <a:off x="3914082" y="6412251"/>
            <a:ext cx="5122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https://medium.com/@Lidinwise/the-revolution-of-depth-facf174924f5</a:t>
            </a:r>
            <a:endParaRPr lang="en-US" altLang="ko-KR" sz="1200" dirty="0">
              <a:latin typeface="맑은 고딕"/>
              <a:ea typeface="맑은 고딕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2524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논리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게이트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평균 인식률 측정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바이어스에 대한 이해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정규 분포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비선형 분포 학습의 한계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3006</TotalTime>
  <Words>1570</Words>
  <Application>Microsoft Office PowerPoint</Application>
  <PresentationFormat>와이드스크린</PresentationFormat>
  <Paragraphs>656</Paragraphs>
  <Slides>28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9" baseType="lpstr">
      <vt:lpstr>나눔바른고딕</vt:lpstr>
      <vt:lpstr>Symbol</vt:lpstr>
      <vt:lpstr>Cambria Math</vt:lpstr>
      <vt:lpstr>Impact</vt:lpstr>
      <vt:lpstr>나눔스퀘어 Bold</vt:lpstr>
      <vt:lpstr>휴먼모음T</vt:lpstr>
      <vt:lpstr>Times New Roman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신경망 구조</vt:lpstr>
      <vt:lpstr>신경망에서의 정보 처리 과정</vt:lpstr>
      <vt:lpstr>신경망에 대한 수학적 모델링</vt:lpstr>
      <vt:lpstr>신경망에 대한 수학적 모델링</vt:lpstr>
      <vt:lpstr>간단한 신경망 예제</vt:lpstr>
      <vt:lpstr>간단한 신경망 예제</vt:lpstr>
      <vt:lpstr>신경망을 이용한 데이터 분류</vt:lpstr>
      <vt:lpstr>신경망을 이용한 데이터 분류</vt:lpstr>
      <vt:lpstr>바이어스가 있는 신경망</vt:lpstr>
      <vt:lpstr>바이어스가 있는 신경망</vt:lpstr>
      <vt:lpstr>신경망에 대한 수학적 모델링</vt:lpstr>
      <vt:lpstr>신경망 예측</vt:lpstr>
      <vt:lpstr>신경망 예측</vt:lpstr>
      <vt:lpstr>신경망 예측</vt:lpstr>
      <vt:lpstr>신경망의 결정경계</vt:lpstr>
      <vt:lpstr>활성화 함수</vt:lpstr>
      <vt:lpstr>퍼셉트론 학습</vt:lpstr>
      <vt:lpstr>경사하강법을 이용한 퍼셉트론 학습</vt:lpstr>
      <vt:lpstr>퍼셉트론의 한계</vt:lpstr>
      <vt:lpstr>다중 분류기를 이용한 문제 해결</vt:lpstr>
      <vt:lpstr>다층 분류기를 이용한 문제 해결</vt:lpstr>
      <vt:lpstr>다층 분류기를 이용한 XOR 문제 해결</vt:lpstr>
      <vt:lpstr>다층 신경망(Multi-Layer Perceptron)</vt:lpstr>
      <vt:lpstr>딥러닝(Deep Learning)</vt:lpstr>
      <vt:lpstr>딥러닝(Deep Learning)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736</cp:revision>
  <dcterms:created xsi:type="dcterms:W3CDTF">2019-01-19T08:23:23Z</dcterms:created>
  <dcterms:modified xsi:type="dcterms:W3CDTF">2020-03-10T06:49:35Z</dcterms:modified>
</cp:coreProperties>
</file>