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28"/>
  </p:notesMasterIdLst>
  <p:handoutMasterIdLst>
    <p:handoutMasterId r:id="rId29"/>
  </p:handoutMasterIdLst>
  <p:sldIdLst>
    <p:sldId id="314" r:id="rId2"/>
    <p:sldId id="261" r:id="rId3"/>
    <p:sldId id="354" r:id="rId4"/>
    <p:sldId id="355" r:id="rId5"/>
    <p:sldId id="356" r:id="rId6"/>
    <p:sldId id="357" r:id="rId7"/>
    <p:sldId id="409" r:id="rId8"/>
    <p:sldId id="410" r:id="rId9"/>
    <p:sldId id="398" r:id="rId10"/>
    <p:sldId id="411" r:id="rId11"/>
    <p:sldId id="412" r:id="rId12"/>
    <p:sldId id="401" r:id="rId13"/>
    <p:sldId id="413" r:id="rId14"/>
    <p:sldId id="402" r:id="rId15"/>
    <p:sldId id="403" r:id="rId16"/>
    <p:sldId id="400" r:id="rId17"/>
    <p:sldId id="405" r:id="rId18"/>
    <p:sldId id="406" r:id="rId19"/>
    <p:sldId id="407" r:id="rId20"/>
    <p:sldId id="414" r:id="rId21"/>
    <p:sldId id="408" r:id="rId22"/>
    <p:sldId id="415" r:id="rId23"/>
    <p:sldId id="416" r:id="rId24"/>
    <p:sldId id="417" r:id="rId25"/>
    <p:sldId id="418" r:id="rId26"/>
    <p:sldId id="404" r:id="rId27"/>
  </p:sldIdLst>
  <p:sldSz cx="12192000" cy="6858000"/>
  <p:notesSz cx="6858000" cy="9144000"/>
  <p:embeddedFontLst>
    <p:embeddedFont>
      <p:font typeface="나눔바른고딕" panose="020B0603020101020101" pitchFamily="50" charset="-127"/>
      <p:regular r:id="rId30"/>
      <p:bold r:id="rId31"/>
    </p:embeddedFont>
    <p:embeddedFont>
      <p:font typeface="Cambria Math" panose="02040503050406030204" pitchFamily="18" charset="0"/>
      <p:regular r:id="rId32"/>
    </p:embeddedFont>
    <p:embeddedFont>
      <p:font typeface="나눔스퀘어 ExtraBold" panose="020B0600000101010101" pitchFamily="50" charset="-127"/>
      <p:bold r:id="rId33"/>
    </p:embeddedFont>
    <p:embeddedFont>
      <p:font typeface="Impact" panose="020B0806030902050204" pitchFamily="34" charset="0"/>
      <p:regular r:id="rId34"/>
    </p:embeddedFont>
    <p:embeddedFont>
      <p:font typeface="나눔스퀘어 Bold" panose="020B0600000101010101" pitchFamily="50" charset="-127"/>
      <p:bold r:id="rId35"/>
    </p:embeddedFont>
    <p:embeddedFont>
      <p:font typeface="휴먼모음T" panose="02030504000101010101" pitchFamily="18" charset="-127"/>
      <p:regular r:id="rId36"/>
    </p:embeddedFont>
    <p:embeddedFont>
      <p:font typeface="스웨거 TTF" panose="020B0600000101010101" pitchFamily="50" charset="-127"/>
      <p:regular r:id="rId37"/>
    </p:embeddedFont>
    <p:embeddedFont>
      <p:font typeface="Cambria" panose="02040503050406030204" pitchFamily="18" charset="0"/>
      <p:regular r:id="rId38"/>
      <p:bold r:id="rId39"/>
      <p:italic r:id="rId40"/>
      <p:boldItalic r:id="rId41"/>
    </p:embeddedFont>
    <p:embeddedFont>
      <p:font typeface="맑은 고딕" panose="020B0503020000020004" pitchFamily="50" charset="-127"/>
      <p:regular r:id="rId42"/>
      <p:bold r:id="rId4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F95"/>
    <a:srgbClr val="CC0099"/>
    <a:srgbClr val="37AADA"/>
    <a:srgbClr val="95D5E1"/>
    <a:srgbClr val="99CCFF"/>
    <a:srgbClr val="66CCFF"/>
    <a:srgbClr val="3399FF"/>
    <a:srgbClr val="36AAD9"/>
    <a:srgbClr val="5AA8CF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72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540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40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453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470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471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818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12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008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008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2858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075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127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3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6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="" xmlns:a16="http://schemas.microsoft.com/office/drawing/2014/main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="" xmlns:a16="http://schemas.microsoft.com/office/drawing/2014/main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1.png"/><Relationship Id="rId5" Type="http://schemas.openxmlformats.org/officeDocument/2006/relationships/image" Target="../media/image5.png"/><Relationship Id="rId4" Type="http://schemas.openxmlformats.org/officeDocument/2006/relationships/image" Target="../media/image4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6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0750" y="2852777"/>
            <a:ext cx="107668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6. </a:t>
            </a:r>
            <a:r>
              <a:rPr lang="ko-KR" altLang="en-US" sz="6600" b="1" spc="-300" dirty="0" err="1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로지스틱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회귀를 이용한 </a:t>
            </a:r>
            <a:r>
              <a:rPr lang="ko-KR" altLang="en-US" sz="6600" b="1" spc="-300" dirty="0" err="1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스팸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검출 모델 만들기</a:t>
            </a: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/>
          <p:cNvGrpSpPr/>
          <p:nvPr/>
        </p:nvGrpSpPr>
        <p:grpSpPr>
          <a:xfrm>
            <a:off x="1986130" y="1082980"/>
            <a:ext cx="8345735" cy="539110"/>
            <a:chOff x="1986130" y="1509700"/>
            <a:chExt cx="8345735" cy="539110"/>
          </a:xfrm>
        </p:grpSpPr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9" y="1518179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이진 분류 사례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150970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9906000" y="1509700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986130" y="2155376"/>
            <a:ext cx="8345735" cy="542649"/>
            <a:chOff x="1986130" y="2630163"/>
            <a:chExt cx="8345735" cy="542649"/>
          </a:xfrm>
        </p:grpSpPr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2649592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로지스틱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회귀에 대한 이해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263016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6" name="그룹 15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8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9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9906001" y="2646054"/>
              <a:ext cx="3369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6</a:t>
              </a:r>
              <a:endParaRPr lang="ko-KR" altLang="en-US" sz="28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986130" y="3231311"/>
            <a:ext cx="8345735" cy="553652"/>
            <a:chOff x="1986130" y="3736085"/>
            <a:chExt cx="8345735" cy="553652"/>
          </a:xfrm>
        </p:grpSpPr>
        <p:sp>
          <p:nvSpPr>
            <p:cNvPr id="6" name="TextBox 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3736085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시그모이드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함수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375062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1" name="그룹 2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9753716" y="373608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12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986130" y="4318249"/>
            <a:ext cx="8345735" cy="553652"/>
            <a:chOff x="1986130" y="4856549"/>
            <a:chExt cx="8345735" cy="553652"/>
          </a:xfrm>
        </p:grpSpPr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로지스틱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회귀를 위한 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cost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함수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8" name="그룹 27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0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1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9753714" y="4856635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14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986130" y="5405189"/>
            <a:ext cx="8345735" cy="553652"/>
            <a:chOff x="1986130" y="4856549"/>
            <a:chExt cx="8345735" cy="553652"/>
          </a:xfrm>
        </p:grpSpPr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TensorFlow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를 이용한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로지스틱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회귀 구현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9" name="그룹 38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1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2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9753716" y="485663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26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신용도에 따른 대출 승인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8" name="오른쪽 화살표 7"/>
          <p:cNvSpPr/>
          <p:nvPr/>
        </p:nvSpPr>
        <p:spPr bwMode="auto">
          <a:xfrm rot="20181559">
            <a:off x="7756156" y="3580442"/>
            <a:ext cx="792088" cy="504056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굴림" pitchFamily="50" charset="-127"/>
            </a:endParaRPr>
          </a:p>
        </p:txBody>
      </p:sp>
      <p:sp>
        <p:nvSpPr>
          <p:cNvPr id="12" name="오른쪽 화살표 11"/>
          <p:cNvSpPr/>
          <p:nvPr/>
        </p:nvSpPr>
        <p:spPr bwMode="auto">
          <a:xfrm rot="1227939">
            <a:off x="7779348" y="4337193"/>
            <a:ext cx="792088" cy="504056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굴림" pitchFamily="50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5007888" y="2484936"/>
            <a:ext cx="2147584" cy="413049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0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MODEL</a:t>
            </a:r>
            <a:endParaRPr kumimoji="1" lang="ko-KR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5433608" y="2998025"/>
            <a:ext cx="1296144" cy="1224136"/>
          </a:xfrm>
          <a:prstGeom prst="rect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663,688,693,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699,683,655,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704,745,702</a:t>
            </a:r>
            <a:endParaRPr kumimoji="1" lang="ko-KR" altLang="en-US" sz="16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5469018" y="5072320"/>
            <a:ext cx="1296144" cy="1224136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655,692,681,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699,698,703</a:t>
            </a:r>
            <a:endParaRPr kumimoji="1" lang="ko-KR" altLang="en-US" sz="1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67601" y="3472969"/>
            <a:ext cx="1662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0000F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승인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67601" y="4581095"/>
            <a:ext cx="2031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거부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5630274" y="4669086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/>
              <a:t>거부사례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5554967" y="2595652"/>
            <a:ext cx="8386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승인사례</a:t>
            </a:r>
          </a:p>
        </p:txBody>
      </p:sp>
      <p:cxnSp>
        <p:nvCxnSpPr>
          <p:cNvPr id="22" name="직선 화살표 연결선 21"/>
          <p:cNvCxnSpPr/>
          <p:nvPr/>
        </p:nvCxnSpPr>
        <p:spPr bwMode="auto">
          <a:xfrm>
            <a:off x="4507822" y="4165896"/>
            <a:ext cx="42862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5E28CF18-BE5F-4F15-91DE-459151DF6302}"/>
              </a:ext>
            </a:extLst>
          </p:cNvPr>
          <p:cNvSpPr txBox="1"/>
          <p:nvPr/>
        </p:nvSpPr>
        <p:spPr>
          <a:xfrm>
            <a:off x="3443491" y="3935063"/>
            <a:ext cx="1185567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655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="" xmlns:a16="http://schemas.microsoft.com/office/drawing/2014/main" id="{D4949A85-64B8-4AC6-9C0D-6B39B8CBEC27}"/>
              </a:ext>
            </a:extLst>
          </p:cNvPr>
          <p:cNvCxnSpPr/>
          <p:nvPr/>
        </p:nvCxnSpPr>
        <p:spPr bwMode="auto">
          <a:xfrm>
            <a:off x="7155472" y="4180108"/>
            <a:ext cx="428628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78B964A5-1A38-43ED-944B-D44C031036FD}"/>
              </a:ext>
            </a:extLst>
          </p:cNvPr>
          <p:cNvSpPr/>
          <p:nvPr/>
        </p:nvSpPr>
        <p:spPr>
          <a:xfrm>
            <a:off x="3375616" y="3591231"/>
            <a:ext cx="8386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대출신청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641082"/>
            <a:ext cx="914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신용도에 따른 대출 승인 여부 분류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2716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당뇨병 진단 예측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3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93953" y="2118916"/>
            <a:ext cx="722947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직사각형 30"/>
          <p:cNvSpPr/>
          <p:nvPr/>
        </p:nvSpPr>
        <p:spPr bwMode="auto">
          <a:xfrm>
            <a:off x="2151109" y="2476106"/>
            <a:ext cx="7858148" cy="3571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굴림" pitchFamily="50" charset="-127"/>
            </a:endParaRPr>
          </a:p>
        </p:txBody>
      </p:sp>
      <p:sp>
        <p:nvSpPr>
          <p:cNvPr id="57" name="직사각형 56"/>
          <p:cNvSpPr/>
          <p:nvPr/>
        </p:nvSpPr>
        <p:spPr bwMode="auto">
          <a:xfrm>
            <a:off x="2151109" y="3047610"/>
            <a:ext cx="7858148" cy="3571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굴림" pitchFamily="50" charset="-127"/>
            </a:endParaRPr>
          </a:p>
        </p:txBody>
      </p:sp>
      <p:sp>
        <p:nvSpPr>
          <p:cNvPr id="58" name="직사각형 57"/>
          <p:cNvSpPr/>
          <p:nvPr/>
        </p:nvSpPr>
        <p:spPr bwMode="auto">
          <a:xfrm>
            <a:off x="2151109" y="3761990"/>
            <a:ext cx="7858148" cy="35719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굴림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="" xmlns:a16="http://schemas.microsoft.com/office/drawing/2014/main" id="{B8B34DAA-A10F-4CC3-8B42-40E1BACA28A6}"/>
              </a:ext>
            </a:extLst>
          </p:cNvPr>
          <p:cNvSpPr/>
          <p:nvPr/>
        </p:nvSpPr>
        <p:spPr>
          <a:xfrm>
            <a:off x="2078455" y="4535235"/>
            <a:ext cx="80084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Pregnancies -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임신횟수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Glucose –</a:t>
            </a:r>
            <a:r>
              <a:rPr lang="ko-KR" altLang="en-US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글루코스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내성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BloodPressure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– </a:t>
            </a:r>
            <a:r>
              <a:rPr lang="ko-KR" altLang="en-US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확장기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혈압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SkinThickness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– </a:t>
            </a:r>
            <a:r>
              <a:rPr lang="ko-KR" altLang="en-US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상완심두근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피부 두께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Insulin –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혈액내 인슐린 수치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BMI – BMI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지수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DiabetesPedigreeFunction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–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당뇨병 가족력</a:t>
            </a:r>
            <a:endParaRPr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Age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나이</a:t>
            </a:r>
            <a:endParaRPr lang="en-US" altLang="ko-KR" sz="1600" b="0" i="0" dirty="0"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641082"/>
            <a:ext cx="914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4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당뇨병 관련 수치를 측정을 통한 발병 가능성 검증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3222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SPAM </a:t>
            </a:r>
            <a:r>
              <a:rPr lang="ko-KR" altLang="en-US" dirty="0" err="1" smtClean="0"/>
              <a:t>필터링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aphicFrame>
        <p:nvGraphicFramePr>
          <p:cNvPr id="49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501055"/>
              </p:ext>
            </p:extLst>
          </p:nvPr>
        </p:nvGraphicFramePr>
        <p:xfrm>
          <a:off x="2052172" y="2500188"/>
          <a:ext cx="2858556" cy="3478277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67014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8639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0201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1620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SPAM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PAM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620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Free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8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620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Cash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8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620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Can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9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620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Won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7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620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Never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10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1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620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Chance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9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620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Sorry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0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8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620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Need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2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9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1620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Click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10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0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6207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Can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3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/>
                        <a:t>8</a:t>
                      </a:r>
                      <a:endParaRPr lang="ko-KR" altLang="en-US" sz="1200"/>
                    </a:p>
                  </a:txBody>
                  <a:tcPr marL="66141" marR="66141" marT="33070" marB="33070" anchor="ctr"/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50" name="그룹 21"/>
          <p:cNvGrpSpPr/>
          <p:nvPr/>
        </p:nvGrpSpPr>
        <p:grpSpPr>
          <a:xfrm>
            <a:off x="5497052" y="2490573"/>
            <a:ext cx="4948032" cy="4077867"/>
            <a:chOff x="3790172" y="1680246"/>
            <a:chExt cx="4948032" cy="4077867"/>
          </a:xfrm>
        </p:grpSpPr>
        <p:sp>
          <p:nvSpPr>
            <p:cNvPr id="51" name="TextBox 12"/>
            <p:cNvSpPr txBox="1"/>
            <p:nvPr/>
          </p:nvSpPr>
          <p:spPr>
            <a:xfrm>
              <a:off x="3790172" y="1680246"/>
              <a:ext cx="1105067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dirty="0"/>
                <a:t>SPAM</a:t>
              </a:r>
              <a:endParaRPr lang="ko-KR" altLang="en-US" dirty="0"/>
            </a:p>
          </p:txBody>
        </p:sp>
        <p:sp>
          <p:nvSpPr>
            <p:cNvPr id="56" name="TextBox 14"/>
            <p:cNvSpPr txBox="1"/>
            <p:nvPr/>
          </p:nvSpPr>
          <p:spPr>
            <a:xfrm>
              <a:off x="7452320" y="1733496"/>
              <a:ext cx="128588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lvl="0" algn="ctr">
                <a:defRPr/>
              </a:pPr>
              <a:r>
                <a:rPr lang="en-US" altLang="ko-KR" dirty="0"/>
                <a:t>H</a:t>
              </a:r>
              <a:r>
                <a:rPr lang="en-US" altLang="ko-KR" dirty="0" smtClean="0"/>
                <a:t>AM</a:t>
              </a:r>
              <a:endParaRPr lang="ko-KR" altLang="en-US" dirty="0"/>
            </a:p>
          </p:txBody>
        </p:sp>
        <p:sp>
          <p:nvSpPr>
            <p:cNvPr id="57" name="모서리가 둥근 직사각형 3"/>
            <p:cNvSpPr/>
            <p:nvPr/>
          </p:nvSpPr>
          <p:spPr>
            <a:xfrm>
              <a:off x="4443939" y="2512530"/>
              <a:ext cx="3410848" cy="2287479"/>
            </a:xfrm>
            <a:prstGeom prst="roundRect">
              <a:avLst>
                <a:gd name="adj" fmla="val 16667"/>
              </a:avLst>
            </a:prstGeom>
            <a:noFill/>
            <a:ln w="57150" cap="flat" cmpd="sng" algn="ctr">
              <a:solidFill>
                <a:srgbClr val="0070C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grpSp>
          <p:nvGrpSpPr>
            <p:cNvPr id="58" name="그룹 15"/>
            <p:cNvGrpSpPr/>
            <p:nvPr/>
          </p:nvGrpSpPr>
          <p:grpSpPr>
            <a:xfrm>
              <a:off x="4872571" y="3310470"/>
              <a:ext cx="984883" cy="914400"/>
              <a:chOff x="5424882" y="2771745"/>
              <a:chExt cx="984883" cy="914400"/>
            </a:xfrm>
          </p:grpSpPr>
          <p:sp>
            <p:nvSpPr>
              <p:cNvPr id="70" name="타원 6"/>
              <p:cNvSpPr/>
              <p:nvPr/>
            </p:nvSpPr>
            <p:spPr>
              <a:xfrm>
                <a:off x="5424882" y="2771745"/>
                <a:ext cx="914400" cy="914400"/>
              </a:xfrm>
              <a:prstGeom prst="ellips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71" name="TextBox 7"/>
              <p:cNvSpPr txBox="1"/>
              <p:nvPr/>
            </p:nvSpPr>
            <p:spPr>
              <a:xfrm>
                <a:off x="5447550" y="3028890"/>
                <a:ext cx="96221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2000" b="1">
                    <a:latin typeface="맑은 고딕"/>
                    <a:ea typeface="맑은 고딕"/>
                    <a:cs typeface="+mj-cs"/>
                  </a:rPr>
                  <a:t>SPAM</a:t>
                </a:r>
                <a:endParaRPr lang="ko-KR" altLang="en-US" sz="2000" b="1">
                  <a:latin typeface="맑은 고딕"/>
                  <a:ea typeface="맑은 고딕"/>
                  <a:cs typeface="+mj-cs"/>
                </a:endParaRPr>
              </a:p>
            </p:txBody>
          </p:sp>
          <p:cxnSp>
            <p:nvCxnSpPr>
              <p:cNvPr id="72" name="직선 연결선 10"/>
              <p:cNvCxnSpPr/>
              <p:nvPr/>
            </p:nvCxnSpPr>
            <p:spPr>
              <a:xfrm flipH="1">
                <a:off x="5558793" y="2905656"/>
                <a:ext cx="646578" cy="646578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</p:grpSp>
        <p:grpSp>
          <p:nvGrpSpPr>
            <p:cNvPr id="59" name="그룹 31"/>
            <p:cNvGrpSpPr/>
            <p:nvPr/>
          </p:nvGrpSpPr>
          <p:grpSpPr>
            <a:xfrm>
              <a:off x="6509078" y="3310470"/>
              <a:ext cx="914400" cy="914400"/>
              <a:chOff x="5424882" y="3812491"/>
              <a:chExt cx="914400" cy="914400"/>
            </a:xfrm>
          </p:grpSpPr>
          <p:sp>
            <p:nvSpPr>
              <p:cNvPr id="67" name="타원 22"/>
              <p:cNvSpPr/>
              <p:nvPr/>
            </p:nvSpPr>
            <p:spPr>
              <a:xfrm>
                <a:off x="5424882" y="3812491"/>
                <a:ext cx="914400" cy="914400"/>
              </a:xfrm>
              <a:prstGeom prst="ellipse">
                <a:avLst/>
              </a:prstGeom>
              <a:solidFill>
                <a:srgbClr val="00B050"/>
              </a:solidFill>
              <a:ln w="28575" cap="flat" cmpd="sng" algn="ctr">
                <a:solidFill>
                  <a:srgbClr val="00B050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cxnSp>
            <p:nvCxnSpPr>
              <p:cNvPr id="68" name="직선 연결선 20"/>
              <p:cNvCxnSpPr/>
              <p:nvPr/>
            </p:nvCxnSpPr>
            <p:spPr>
              <a:xfrm>
                <a:off x="5726052" y="4291985"/>
                <a:ext cx="156030" cy="180020"/>
              </a:xfrm>
              <a:prstGeom prst="line">
                <a:avLst/>
              </a:prstGeom>
              <a:solidFill>
                <a:schemeClr val="accent1"/>
              </a:solidFill>
              <a:ln w="76200" cap="flat" cmpd="sng" algn="ctr">
                <a:solidFill>
                  <a:srgbClr val="FFFFFF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cxnSp>
            <p:nvCxnSpPr>
              <p:cNvPr id="69" name="직선 연결선 23"/>
              <p:cNvCxnSpPr/>
              <p:nvPr/>
            </p:nvCxnSpPr>
            <p:spPr>
              <a:xfrm flipV="1">
                <a:off x="5849608" y="4122239"/>
                <a:ext cx="216024" cy="360040"/>
              </a:xfrm>
              <a:prstGeom prst="line">
                <a:avLst/>
              </a:prstGeom>
              <a:solidFill>
                <a:schemeClr val="accent1"/>
              </a:solidFill>
              <a:ln w="76200" cap="flat" cmpd="sng" algn="ctr">
                <a:solidFill>
                  <a:srgbClr val="FFFFFF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</p:grpSp>
        <p:cxnSp>
          <p:nvCxnSpPr>
            <p:cNvPr id="60" name="직선 화살표 연결선 8"/>
            <p:cNvCxnSpPr/>
            <p:nvPr/>
          </p:nvCxnSpPr>
          <p:spPr>
            <a:xfrm>
              <a:off x="4556497" y="2128055"/>
              <a:ext cx="449985" cy="1316326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olid"/>
              <a:miter/>
              <a:headEnd w="med" len="med"/>
              <a:tailEnd type="arrow"/>
            </a:ln>
            <a:effectLst/>
          </p:spPr>
        </p:cxnSp>
        <p:cxnSp>
          <p:nvCxnSpPr>
            <p:cNvPr id="61" name="직선 화살표 연결선 33"/>
            <p:cNvCxnSpPr/>
            <p:nvPr/>
          </p:nvCxnSpPr>
          <p:spPr>
            <a:xfrm flipH="1">
              <a:off x="7289567" y="2128055"/>
              <a:ext cx="565220" cy="1316326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B050"/>
              </a:solidFill>
              <a:prstDash val="solid"/>
              <a:miter/>
              <a:headEnd w="med" len="med"/>
              <a:tailEnd type="arrow"/>
            </a:ln>
            <a:effectLst/>
          </p:spPr>
        </p:cxnSp>
        <p:cxnSp>
          <p:nvCxnSpPr>
            <p:cNvPr id="62" name="직선 화살표 연결선 38"/>
            <p:cNvCxnSpPr/>
            <p:nvPr/>
          </p:nvCxnSpPr>
          <p:spPr>
            <a:xfrm>
              <a:off x="6998014" y="4355291"/>
              <a:ext cx="0" cy="81284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B050"/>
              </a:solidFill>
              <a:prstDash val="solid"/>
              <a:miter/>
              <a:headEnd w="med" len="med"/>
              <a:tailEnd type="arrow"/>
            </a:ln>
            <a:effectLst/>
          </p:spPr>
        </p:cxnSp>
        <p:grpSp>
          <p:nvGrpSpPr>
            <p:cNvPr id="63" name="그룹 41"/>
            <p:cNvGrpSpPr/>
            <p:nvPr/>
          </p:nvGrpSpPr>
          <p:grpSpPr>
            <a:xfrm>
              <a:off x="6544391" y="5238310"/>
              <a:ext cx="1490352" cy="519803"/>
              <a:chOff x="7406171" y="3553387"/>
              <a:chExt cx="1490352" cy="519803"/>
            </a:xfrm>
          </p:grpSpPr>
          <p:sp>
            <p:nvSpPr>
              <p:cNvPr id="65" name="TextBox 39"/>
              <p:cNvSpPr txBox="1"/>
              <p:nvPr/>
            </p:nvSpPr>
            <p:spPr>
              <a:xfrm>
                <a:off x="7406171" y="3647740"/>
                <a:ext cx="14903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2000" b="1" dirty="0">
                    <a:latin typeface="맑은 고딕"/>
                    <a:ea typeface="맑은 고딕"/>
                    <a:cs typeface="+mj-cs"/>
                  </a:rPr>
                  <a:t>INBOX</a:t>
                </a:r>
                <a:endParaRPr lang="ko-KR" altLang="en-US" sz="2000" b="1" dirty="0"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66" name="직사각형 40"/>
              <p:cNvSpPr/>
              <p:nvPr/>
            </p:nvSpPr>
            <p:spPr>
              <a:xfrm>
                <a:off x="7406171" y="3553387"/>
                <a:ext cx="981072" cy="519803"/>
              </a:xfrm>
              <a:prstGeom prst="rect">
                <a:avLst/>
              </a:prstGeom>
              <a:noFill/>
              <a:ln w="38100" cap="flat" cmpd="sng" algn="ctr">
                <a:solidFill>
                  <a:srgbClr val="00B050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</p:grpSp>
        <p:sp>
          <p:nvSpPr>
            <p:cNvPr id="64" name="직사각형 11"/>
            <p:cNvSpPr/>
            <p:nvPr/>
          </p:nvSpPr>
          <p:spPr>
            <a:xfrm>
              <a:off x="5365013" y="2654089"/>
              <a:ext cx="1555852" cy="44915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맑은 고딕"/>
                  <a:ea typeface="맑은 고딕"/>
                  <a:cs typeface="+mj-cs"/>
                </a:rPr>
                <a:t>Mail Filter</a:t>
              </a:r>
              <a:endParaRPr lang="ko-KR" altLang="en-US">
                <a:latin typeface="맑은 고딕"/>
                <a:ea typeface="맑은 고딕"/>
                <a:cs typeface="+mj-cs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641082"/>
            <a:ext cx="914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특정 단어의 출현 빈도로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스팸메일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여부 구분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853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진 분류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6093" y="2890886"/>
            <a:ext cx="5519788" cy="3648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직선 연결선 9"/>
          <p:cNvCxnSpPr/>
          <p:nvPr/>
        </p:nvCxnSpPr>
        <p:spPr bwMode="auto">
          <a:xfrm>
            <a:off x="4422468" y="2964668"/>
            <a:ext cx="3857652" cy="35004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Logistic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회귀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전체 데이터를 두 개의 데이터로 나눌 수 있는 최적의 직선을 찾는 학습 알고리즘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83943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직선을 이용한 이항 분포 모델링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1975255" y="2712720"/>
            <a:ext cx="5823146" cy="3200400"/>
            <a:chOff x="2377557" y="3433563"/>
            <a:chExt cx="5768453" cy="3170341"/>
          </a:xfrm>
        </p:grpSpPr>
        <p:grpSp>
          <p:nvGrpSpPr>
            <p:cNvPr id="8" name="그룹 7"/>
            <p:cNvGrpSpPr/>
            <p:nvPr/>
          </p:nvGrpSpPr>
          <p:grpSpPr>
            <a:xfrm>
              <a:off x="4542190" y="3570268"/>
              <a:ext cx="3166607" cy="2786082"/>
              <a:chOff x="323528" y="2071678"/>
              <a:chExt cx="3166607" cy="2786082"/>
            </a:xfrm>
          </p:grpSpPr>
          <p:sp>
            <p:nvSpPr>
              <p:cNvPr id="11" name="타원 10"/>
              <p:cNvSpPr/>
              <p:nvPr/>
            </p:nvSpPr>
            <p:spPr>
              <a:xfrm>
                <a:off x="2359809" y="2346542"/>
                <a:ext cx="288032" cy="28803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  <a:headEnd w="med" len="med"/>
                <a:tailEnd w="med" len="med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13" name="타원 12"/>
              <p:cNvSpPr/>
              <p:nvPr/>
            </p:nvSpPr>
            <p:spPr>
              <a:xfrm>
                <a:off x="2780022" y="2344546"/>
                <a:ext cx="288032" cy="288032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14" name="타원 13"/>
              <p:cNvSpPr/>
              <p:nvPr/>
            </p:nvSpPr>
            <p:spPr>
              <a:xfrm>
                <a:off x="3202103" y="2344546"/>
                <a:ext cx="288032" cy="288032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15" name="타원 14"/>
              <p:cNvSpPr/>
              <p:nvPr/>
            </p:nvSpPr>
            <p:spPr>
              <a:xfrm>
                <a:off x="1953340" y="4293600"/>
                <a:ext cx="288032" cy="288032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noFill/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16" name="타원 15"/>
              <p:cNvSpPr/>
              <p:nvPr/>
            </p:nvSpPr>
            <p:spPr>
              <a:xfrm>
                <a:off x="1534478" y="4293096"/>
                <a:ext cx="288032" cy="288032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noFill/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17" name="타원 16"/>
              <p:cNvSpPr/>
              <p:nvPr/>
            </p:nvSpPr>
            <p:spPr>
              <a:xfrm>
                <a:off x="1212704" y="4286256"/>
                <a:ext cx="288032" cy="288032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  <a:headEnd w="med" len="med"/>
                <a:tailEnd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323528" y="2344546"/>
                <a:ext cx="432048" cy="387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2000">
                    <a:latin typeface="맑은 고딕"/>
                    <a:ea typeface="맑은 고딕"/>
                    <a:cs typeface="+mj-cs"/>
                  </a:rPr>
                  <a:t>1</a:t>
                </a:r>
                <a:endParaRPr lang="ko-KR" altLang="en-US" sz="2000"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23528" y="4174736"/>
                <a:ext cx="43204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2000">
                    <a:latin typeface="맑은 고딕"/>
                    <a:ea typeface="맑은 고딕"/>
                    <a:cs typeface="+mj-cs"/>
                  </a:rPr>
                  <a:t>0</a:t>
                </a:r>
                <a:endParaRPr lang="ko-KR" altLang="en-US" sz="2000">
                  <a:latin typeface="맑은 고딕"/>
                  <a:ea typeface="맑은 고딕"/>
                  <a:cs typeface="+mj-cs"/>
                </a:endParaRPr>
              </a:p>
            </p:txBody>
          </p:sp>
          <p:cxnSp>
            <p:nvCxnSpPr>
              <p:cNvPr id="20" name="직선 연결선 19"/>
              <p:cNvCxnSpPr/>
              <p:nvPr/>
            </p:nvCxnSpPr>
            <p:spPr>
              <a:xfrm rot="5400000" flipH="1" flipV="1">
                <a:off x="926952" y="2571744"/>
                <a:ext cx="2786082" cy="178595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</p:grpSp>
        <p:sp>
          <p:nvSpPr>
            <p:cNvPr id="21" name="TextBox 20"/>
            <p:cNvSpPr txBox="1"/>
            <p:nvPr/>
          </p:nvSpPr>
          <p:spPr>
            <a:xfrm>
              <a:off x="4431234" y="4751677"/>
              <a:ext cx="714380" cy="4502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b="1"/>
                <a:t>0.5</a:t>
              </a:r>
              <a:endParaRPr lang="ko-KR" altLang="en-US" b="1"/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5074176" y="4999028"/>
              <a:ext cx="3071834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cxnSp>
          <p:nvCxnSpPr>
            <p:cNvPr id="23" name="직선 연결선 22"/>
            <p:cNvCxnSpPr/>
            <p:nvPr/>
          </p:nvCxnSpPr>
          <p:spPr>
            <a:xfrm flipH="1">
              <a:off x="6502540" y="3433563"/>
              <a:ext cx="398" cy="317034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sp>
          <p:nvSpPr>
            <p:cNvPr id="24" name="TextBox 23">
              <a:extLst>
                <a:ext uri="{FF2B5EF4-FFF2-40B4-BE49-F238E27FC236}">
                  <a16:creationId xmlns="" xmlns:a16="http://schemas.microsoft.com/office/drawing/2014/main" id="{E1DC8FB3-8858-4B04-855E-8763BC583E63}"/>
                </a:ext>
              </a:extLst>
            </p:cNvPr>
            <p:cNvSpPr txBox="1"/>
            <p:nvPr/>
          </p:nvSpPr>
          <p:spPr>
            <a:xfrm>
              <a:off x="2377557" y="4903861"/>
              <a:ext cx="2053676" cy="45194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sz="18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판단 기준 값</a:t>
              </a:r>
            </a:p>
          </p:txBody>
        </p:sp>
      </p:grpSp>
      <p:sp>
        <p:nvSpPr>
          <p:cNvPr id="25" name="직사각형 24"/>
          <p:cNvSpPr/>
          <p:nvPr/>
        </p:nvSpPr>
        <p:spPr>
          <a:xfrm>
            <a:off x="8251488" y="3971864"/>
            <a:ext cx="2758890" cy="64232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선형회귀를 이용해 이진분류 문제를 풀 수 있는 것처럼 보임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6729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직선을 이용한 이항 분포 모델링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7911333" y="4356993"/>
            <a:ext cx="2760842" cy="56315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이전 결과에 비해서 기울기 값 감소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상관관계 작아짐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grpSp>
        <p:nvGrpSpPr>
          <p:cNvPr id="26" name="그룹 18"/>
          <p:cNvGrpSpPr/>
          <p:nvPr/>
        </p:nvGrpSpPr>
        <p:grpSpPr>
          <a:xfrm>
            <a:off x="3616630" y="3042752"/>
            <a:ext cx="3166607" cy="2237086"/>
            <a:chOff x="323528" y="2344546"/>
            <a:chExt cx="3166607" cy="2237086"/>
          </a:xfrm>
          <a:noFill/>
        </p:grpSpPr>
        <p:sp>
          <p:nvSpPr>
            <p:cNvPr id="27" name="타원 26"/>
            <p:cNvSpPr/>
            <p:nvPr/>
          </p:nvSpPr>
          <p:spPr>
            <a:xfrm>
              <a:off x="2359809" y="2346542"/>
              <a:ext cx="288032" cy="288032"/>
            </a:xfrm>
            <a:prstGeom prst="ellipse">
              <a:avLst/>
            </a:prstGeom>
            <a:solidFill>
              <a:srgbClr val="FF0000"/>
            </a:solidFill>
            <a:ln>
              <a:noFill/>
              <a:headEnd w="med" len="med"/>
              <a:tailEnd w="med" len="med"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28" name="타원 27"/>
            <p:cNvSpPr/>
            <p:nvPr/>
          </p:nvSpPr>
          <p:spPr>
            <a:xfrm>
              <a:off x="2780022" y="2344546"/>
              <a:ext cx="288032" cy="288032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29" name="타원 28"/>
            <p:cNvSpPr/>
            <p:nvPr/>
          </p:nvSpPr>
          <p:spPr>
            <a:xfrm>
              <a:off x="3202103" y="2344546"/>
              <a:ext cx="288032" cy="288032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30" name="타원 29"/>
            <p:cNvSpPr/>
            <p:nvPr/>
          </p:nvSpPr>
          <p:spPr>
            <a:xfrm>
              <a:off x="1953340" y="4293600"/>
              <a:ext cx="288032" cy="288032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31" name="타원 30"/>
            <p:cNvSpPr/>
            <p:nvPr/>
          </p:nvSpPr>
          <p:spPr>
            <a:xfrm>
              <a:off x="1534478" y="4293096"/>
              <a:ext cx="288032" cy="288032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32" name="타원 31"/>
            <p:cNvSpPr/>
            <p:nvPr/>
          </p:nvSpPr>
          <p:spPr>
            <a:xfrm>
              <a:off x="1212704" y="4286256"/>
              <a:ext cx="288032" cy="288032"/>
            </a:xfrm>
            <a:prstGeom prst="ellipse">
              <a:avLst/>
            </a:prstGeom>
            <a:solidFill>
              <a:srgbClr val="0000FF"/>
            </a:solidFill>
            <a:ln>
              <a:noFill/>
              <a:headEnd w="med" len="med"/>
              <a:tailEnd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23528" y="2344546"/>
              <a:ext cx="432048" cy="387224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000">
                  <a:latin typeface="맑은 고딕"/>
                  <a:ea typeface="맑은 고딕"/>
                  <a:cs typeface="+mj-cs"/>
                </a:rPr>
                <a:t>1</a:t>
              </a:r>
              <a:endParaRPr lang="ko-KR" altLang="en-US" sz="20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23528" y="4174736"/>
              <a:ext cx="432048" cy="400110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2000">
                  <a:latin typeface="맑은 고딕"/>
                  <a:ea typeface="맑은 고딕"/>
                  <a:cs typeface="+mj-cs"/>
                </a:rPr>
                <a:t>0</a:t>
              </a:r>
              <a:endParaRPr lang="ko-KR" altLang="en-US" sz="2000">
                <a:latin typeface="맑은 고딕"/>
                <a:ea typeface="맑은 고딕"/>
                <a:cs typeface="+mj-cs"/>
              </a:endParaRPr>
            </a:p>
          </p:txBody>
        </p:sp>
      </p:grpSp>
      <p:sp>
        <p:nvSpPr>
          <p:cNvPr id="35" name="타원 34"/>
          <p:cNvSpPr/>
          <p:nvPr/>
        </p:nvSpPr>
        <p:spPr>
          <a:xfrm>
            <a:off x="9720780" y="2912760"/>
            <a:ext cx="288032" cy="288032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 flipV="1">
            <a:off x="3934302" y="2912760"/>
            <a:ext cx="6215106" cy="250033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  <p:cxnSp>
        <p:nvCxnSpPr>
          <p:cNvPr id="37" name="직선 연결선 36"/>
          <p:cNvCxnSpPr/>
          <p:nvPr/>
        </p:nvCxnSpPr>
        <p:spPr>
          <a:xfrm>
            <a:off x="4148616" y="4770148"/>
            <a:ext cx="3071834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3434236" y="4555834"/>
            <a:ext cx="714380" cy="445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/>
              <a:t>0.1</a:t>
            </a:r>
            <a:endParaRPr lang="ko-KR" altLang="en-US" b="1"/>
          </a:p>
        </p:txBody>
      </p:sp>
      <p:cxnSp>
        <p:nvCxnSpPr>
          <p:cNvPr id="39" name="직선 연결선 38"/>
          <p:cNvCxnSpPr/>
          <p:nvPr/>
        </p:nvCxnSpPr>
        <p:spPr>
          <a:xfrm rot="5400000">
            <a:off x="3327079" y="4234363"/>
            <a:ext cx="4500594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6AC61899-E250-412A-A82C-AF06589DCD51}"/>
              </a:ext>
            </a:extLst>
          </p:cNvPr>
          <p:cNvSpPr txBox="1"/>
          <p:nvPr/>
        </p:nvSpPr>
        <p:spPr>
          <a:xfrm>
            <a:off x="1712041" y="4621429"/>
            <a:ext cx="1641426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판단 기준 값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1487879" y="3974860"/>
            <a:ext cx="2253944" cy="50282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기준값이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매번 달라져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정확한 정의가 어려워짐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29496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출력 값 제한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cxnSp>
        <p:nvCxnSpPr>
          <p:cNvPr id="8" name="직선 연결선 7"/>
          <p:cNvCxnSpPr/>
          <p:nvPr/>
        </p:nvCxnSpPr>
        <p:spPr>
          <a:xfrm flipV="1">
            <a:off x="2426442" y="3073799"/>
            <a:ext cx="2088232" cy="18376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/>
        </p:nvGrpSpPr>
        <p:grpSpPr>
          <a:xfrm>
            <a:off x="1922386" y="2713759"/>
            <a:ext cx="3312368" cy="2592288"/>
            <a:chOff x="251520" y="2420888"/>
            <a:chExt cx="3312368" cy="25922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51520" y="4551511"/>
                  <a:ext cx="864096" cy="461665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dirty="0" smtClean="0"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6" name=""/>
                <p:cNvSpPr txBox="1"/>
                <p:nvPr/>
              </p:nvSpPr>
              <p:spPr>
                <a:xfrm>
                  <a:off x="251520" y="4551511"/>
                  <a:ext cx="864096" cy="461665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2699792" y="2420888"/>
                  <a:ext cx="864096" cy="461665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dirty="0" smtClean="0"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7" name=""/>
                <p:cNvSpPr txBox="1"/>
                <p:nvPr/>
              </p:nvSpPr>
              <p:spPr>
                <a:xfrm>
                  <a:off x="2699792" y="2420888"/>
                  <a:ext cx="864096" cy="46166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</p:sp>
          </mc:Fallback>
        </mc:AlternateContent>
      </p:grpSp>
      <p:sp>
        <p:nvSpPr>
          <p:cNvPr id="14" name="화살표: 오른쪽 10"/>
          <p:cNvSpPr/>
          <p:nvPr/>
        </p:nvSpPr>
        <p:spPr>
          <a:xfrm>
            <a:off x="5595934" y="4022422"/>
            <a:ext cx="648072" cy="324142"/>
          </a:xfrm>
          <a:prstGeom prst="rightArrow">
            <a:avLst>
              <a:gd name="adj1" fmla="val 50000"/>
              <a:gd name="adj2" fmla="val 50000"/>
            </a:avLst>
          </a:prstGeom>
          <a:ln>
            <a:headEnd w="med" len="med"/>
            <a:tailEnd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6600056" y="3739520"/>
            <a:ext cx="3196221" cy="920135"/>
            <a:chOff x="5096946" y="3333613"/>
            <a:chExt cx="3196221" cy="920135"/>
          </a:xfrm>
        </p:grpSpPr>
        <p:grpSp>
          <p:nvGrpSpPr>
            <p:cNvPr id="17" name="그룹 16"/>
            <p:cNvGrpSpPr/>
            <p:nvPr/>
          </p:nvGrpSpPr>
          <p:grpSpPr>
            <a:xfrm>
              <a:off x="5508104" y="3333613"/>
              <a:ext cx="2785063" cy="720080"/>
              <a:chOff x="5580112" y="3140968"/>
              <a:chExt cx="2785063" cy="720080"/>
            </a:xfrm>
          </p:grpSpPr>
          <p:cxnSp>
            <p:nvCxnSpPr>
              <p:cNvPr id="19" name="직선 연결선 18"/>
              <p:cNvCxnSpPr/>
              <p:nvPr/>
            </p:nvCxnSpPr>
            <p:spPr>
              <a:xfrm>
                <a:off x="5580112" y="3861048"/>
                <a:ext cx="1080120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cxnSp>
            <p:nvCxnSpPr>
              <p:cNvPr id="20" name="직선 연결선 19"/>
              <p:cNvCxnSpPr/>
              <p:nvPr/>
            </p:nvCxnSpPr>
            <p:spPr>
              <a:xfrm>
                <a:off x="7308304" y="3140968"/>
                <a:ext cx="1056871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cxnSp>
            <p:nvCxnSpPr>
              <p:cNvPr id="21" name="직선 연결선 20"/>
              <p:cNvCxnSpPr/>
              <p:nvPr/>
            </p:nvCxnSpPr>
            <p:spPr>
              <a:xfrm flipV="1">
                <a:off x="6660232" y="3140968"/>
                <a:ext cx="648072" cy="72008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5096946" y="3853638"/>
                  <a:ext cx="411158" cy="400110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000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26" name=""/>
                <p:cNvSpPr txBox="1"/>
                <p:nvPr/>
              </p:nvSpPr>
              <p:spPr>
                <a:xfrm>
                  <a:off x="5096946" y="3853638"/>
                  <a:ext cx="411158" cy="40011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</p:sp>
          </mc:Fallback>
        </mc:AlternateContent>
      </p:grpSp>
      <p:sp>
        <p:nvSpPr>
          <p:cNvPr id="22" name="TextBox 21"/>
          <p:cNvSpPr txBox="1"/>
          <p:nvPr/>
        </p:nvSpPr>
        <p:spPr>
          <a:xfrm>
            <a:off x="4599792" y="5364945"/>
            <a:ext cx="5500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y=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wx+b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    if   y &gt; T,  y = T </a:t>
            </a:r>
          </a:p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if  y  &lt; 0,   y = 0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43328" y="3474520"/>
            <a:ext cx="428628" cy="448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T</a:t>
            </a:r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6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음수 값이 나오지 않게 하여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0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부터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T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범위로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출력값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제한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456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확률 함수로 변환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최대값을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 제한</a:t>
            </a: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→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출력값을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확률로 표시할 수 있어 해석과 분석에 매우 유용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919659" y="2718508"/>
            <a:ext cx="8420737" cy="3297517"/>
            <a:chOff x="1922386" y="2980683"/>
            <a:chExt cx="8420737" cy="3297517"/>
          </a:xfrm>
        </p:grpSpPr>
        <p:cxnSp>
          <p:nvCxnSpPr>
            <p:cNvPr id="38" name="직선 연결선 37"/>
            <p:cNvCxnSpPr/>
            <p:nvPr/>
          </p:nvCxnSpPr>
          <p:spPr>
            <a:xfrm flipV="1">
              <a:off x="2426442" y="3340723"/>
              <a:ext cx="2088232" cy="183764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그룹 7"/>
            <p:cNvGrpSpPr/>
            <p:nvPr/>
          </p:nvGrpSpPr>
          <p:grpSpPr>
            <a:xfrm>
              <a:off x="1922386" y="2980683"/>
              <a:ext cx="3312368" cy="2592288"/>
              <a:chOff x="251520" y="2420888"/>
              <a:chExt cx="3312368" cy="259228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251520" y="4551511"/>
                    <a:ext cx="864096" cy="461665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b="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dirty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6" name=""/>
                  <p:cNvSpPr txBox="1"/>
                  <p:nvPr/>
                </p:nvSpPr>
                <p:spPr>
                  <a:xfrm>
                    <a:off x="251520" y="4551511"/>
                    <a:ext cx="864096" cy="461665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2699792" y="2420888"/>
                    <a:ext cx="864096" cy="461665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dirty="0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7" name=""/>
                  <p:cNvSpPr txBox="1"/>
                  <p:nvPr/>
                </p:nvSpPr>
                <p:spPr>
                  <a:xfrm>
                    <a:off x="2699792" y="2420888"/>
                    <a:ext cx="864096" cy="461665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</p:sp>
            </mc:Fallback>
          </mc:AlternateContent>
        </p:grpSp>
        <p:grpSp>
          <p:nvGrpSpPr>
            <p:cNvPr id="42" name="그룹 27"/>
            <p:cNvGrpSpPr/>
            <p:nvPr/>
          </p:nvGrpSpPr>
          <p:grpSpPr>
            <a:xfrm>
              <a:off x="6746922" y="3683496"/>
              <a:ext cx="3596201" cy="1152098"/>
              <a:chOff x="5096946" y="3101650"/>
              <a:chExt cx="3596201" cy="1152098"/>
            </a:xfrm>
          </p:grpSpPr>
          <p:grpSp>
            <p:nvGrpSpPr>
              <p:cNvPr id="43" name="그룹 23"/>
              <p:cNvGrpSpPr/>
              <p:nvPr/>
            </p:nvGrpSpPr>
            <p:grpSpPr>
              <a:xfrm>
                <a:off x="5508104" y="3333613"/>
                <a:ext cx="2785063" cy="720080"/>
                <a:chOff x="5580112" y="3140968"/>
                <a:chExt cx="2785063" cy="720080"/>
              </a:xfrm>
            </p:grpSpPr>
            <p:cxnSp>
              <p:nvCxnSpPr>
                <p:cNvPr id="46" name="직선 연결선 45"/>
                <p:cNvCxnSpPr/>
                <p:nvPr/>
              </p:nvCxnSpPr>
              <p:spPr>
                <a:xfrm>
                  <a:off x="5580112" y="3861048"/>
                  <a:ext cx="1080120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  <p:cxnSp>
              <p:nvCxnSpPr>
                <p:cNvPr id="47" name="직선 연결선 46"/>
                <p:cNvCxnSpPr/>
                <p:nvPr/>
              </p:nvCxnSpPr>
              <p:spPr>
                <a:xfrm>
                  <a:off x="7308304" y="3140968"/>
                  <a:ext cx="1056871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  <p:cxnSp>
              <p:nvCxnSpPr>
                <p:cNvPr id="48" name="직선 연결선 47"/>
                <p:cNvCxnSpPr/>
                <p:nvPr/>
              </p:nvCxnSpPr>
              <p:spPr>
                <a:xfrm flipV="1">
                  <a:off x="6660232" y="3140968"/>
                  <a:ext cx="648072" cy="72008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/>
                  <p:cNvSpPr txBox="1"/>
                  <p:nvPr/>
                </p:nvSpPr>
                <p:spPr>
                  <a:xfrm>
                    <a:off x="5096946" y="3853638"/>
                    <a:ext cx="411158" cy="400110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2000" b="0" i="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dirty="0"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26" name=""/>
                  <p:cNvSpPr txBox="1"/>
                  <p:nvPr/>
                </p:nvSpPr>
                <p:spPr>
                  <a:xfrm>
                    <a:off x="5096946" y="3853638"/>
                    <a:ext cx="411158" cy="400110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8281989" y="3101650"/>
                    <a:ext cx="411158" cy="400110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1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27" name=""/>
                  <p:cNvSpPr txBox="1"/>
                  <p:nvPr/>
                </p:nvSpPr>
                <p:spPr>
                  <a:xfrm>
                    <a:off x="8281989" y="3101650"/>
                    <a:ext cx="411158" cy="400110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</p:sp>
            </mc:Fallback>
          </mc:AlternateContent>
        </p:grpSp>
        <p:sp>
          <p:nvSpPr>
            <p:cNvPr id="49" name="TextBox 48"/>
            <p:cNvSpPr txBox="1"/>
            <p:nvPr/>
          </p:nvSpPr>
          <p:spPr>
            <a:xfrm>
              <a:off x="4599792" y="5631869"/>
              <a:ext cx="550072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y=</a:t>
              </a:r>
              <a:r>
                <a:rPr lang="en-US" altLang="ko-KR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wx+b</a:t>
              </a:r>
              <a:r>
                <a:rPr lang="en-US" altLang="ko-KR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    if   y &gt; 1,  y = 1 </a:t>
              </a:r>
            </a:p>
            <a:p>
              <a:pPr lvl="0">
                <a:defRPr/>
              </a:pPr>
              <a:r>
                <a:rPr lang="en-US" altLang="ko-KR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               if  y  &lt; 0, y = 0</a:t>
              </a:r>
              <a:endPara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0" name="화살표: 오른쪽 15">
              <a:extLst>
                <a:ext uri="{FF2B5EF4-FFF2-40B4-BE49-F238E27FC236}">
                  <a16:creationId xmlns="" xmlns:a16="http://schemas.microsoft.com/office/drawing/2014/main" id="{AA4B4C6A-D1AC-4050-B8C4-6469B11BC6FB}"/>
                </a:ext>
              </a:extLst>
            </p:cNvPr>
            <p:cNvSpPr/>
            <p:nvPr/>
          </p:nvSpPr>
          <p:spPr>
            <a:xfrm>
              <a:off x="5958034" y="3797065"/>
              <a:ext cx="648072" cy="324142"/>
            </a:xfrm>
            <a:prstGeom prst="rightArrow">
              <a:avLst>
                <a:gd name="adj1" fmla="val 50000"/>
                <a:gd name="adj2" fmla="val 50000"/>
              </a:avLst>
            </a:prstGeom>
            <a:ln>
              <a:headEnd w="med" len="med"/>
              <a:tailEnd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81279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확률 함수로 변환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곡선 형태가 되면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미분값이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변하지 않고 부드럽게 증감되어 안정적인 학습 가능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716991" y="3073815"/>
            <a:ext cx="8754971" cy="1728961"/>
            <a:chOff x="395478" y="2414750"/>
            <a:chExt cx="8754971" cy="1728961"/>
          </a:xfrm>
        </p:grpSpPr>
        <p:grpSp>
          <p:nvGrpSpPr>
            <p:cNvPr id="19" name="그룹 27"/>
            <p:cNvGrpSpPr/>
            <p:nvPr/>
          </p:nvGrpSpPr>
          <p:grpSpPr>
            <a:xfrm>
              <a:off x="395478" y="2991613"/>
              <a:ext cx="3596201" cy="1152098"/>
              <a:chOff x="5096946" y="3101650"/>
              <a:chExt cx="3596201" cy="1152098"/>
            </a:xfrm>
          </p:grpSpPr>
          <p:grpSp>
            <p:nvGrpSpPr>
              <p:cNvPr id="20" name="그룹 23"/>
              <p:cNvGrpSpPr/>
              <p:nvPr/>
            </p:nvGrpSpPr>
            <p:grpSpPr>
              <a:xfrm>
                <a:off x="5508104" y="3333613"/>
                <a:ext cx="2785063" cy="720080"/>
                <a:chOff x="5580112" y="3140968"/>
                <a:chExt cx="2785063" cy="720080"/>
              </a:xfrm>
            </p:grpSpPr>
            <p:cxnSp>
              <p:nvCxnSpPr>
                <p:cNvPr id="23" name="직선 연결선 22"/>
                <p:cNvCxnSpPr/>
                <p:nvPr/>
              </p:nvCxnSpPr>
              <p:spPr>
                <a:xfrm>
                  <a:off x="5580112" y="3861048"/>
                  <a:ext cx="1080120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  <p:cxnSp>
              <p:nvCxnSpPr>
                <p:cNvPr id="25" name="직선 연결선 24"/>
                <p:cNvCxnSpPr/>
                <p:nvPr/>
              </p:nvCxnSpPr>
              <p:spPr>
                <a:xfrm>
                  <a:off x="7308304" y="3140968"/>
                  <a:ext cx="1056871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  <p:cxnSp>
              <p:nvCxnSpPr>
                <p:cNvPr id="26" name="직선 연결선 25"/>
                <p:cNvCxnSpPr/>
                <p:nvPr/>
              </p:nvCxnSpPr>
              <p:spPr>
                <a:xfrm flipV="1">
                  <a:off x="6660232" y="3140968"/>
                  <a:ext cx="648072" cy="720080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5096946" y="3853638"/>
                    <a:ext cx="411158" cy="400110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2000" b="0" i="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26" name=""/>
                  <p:cNvSpPr txBox="1"/>
                  <p:nvPr/>
                </p:nvSpPr>
                <p:spPr>
                  <a:xfrm>
                    <a:off x="5096946" y="3853638"/>
                    <a:ext cx="411158" cy="400110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8281989" y="3101650"/>
                    <a:ext cx="411158" cy="400110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1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27" name=""/>
                  <p:cNvSpPr txBox="1"/>
                  <p:nvPr/>
                </p:nvSpPr>
                <p:spPr>
                  <a:xfrm>
                    <a:off x="8281989" y="3101650"/>
                    <a:ext cx="411158" cy="400110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5"/>
                <p:cNvSpPr txBox="1"/>
                <p:nvPr/>
              </p:nvSpPr>
              <p:spPr>
                <a:xfrm>
                  <a:off x="5282907" y="3742832"/>
                  <a:ext cx="411158" cy="400110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000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7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2907" y="3742832"/>
                  <a:ext cx="411158" cy="40011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6"/>
                <p:cNvSpPr txBox="1"/>
                <p:nvPr/>
              </p:nvSpPr>
              <p:spPr>
                <a:xfrm>
                  <a:off x="3580521" y="2991613"/>
                  <a:ext cx="411158" cy="400110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1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8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521" y="2991613"/>
                  <a:ext cx="411158" cy="40011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6"/>
                <p:cNvSpPr txBox="1"/>
                <p:nvPr/>
              </p:nvSpPr>
              <p:spPr>
                <a:xfrm>
                  <a:off x="8739291" y="2414750"/>
                  <a:ext cx="411158" cy="400110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1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9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9291" y="2414750"/>
                  <a:ext cx="411158" cy="40011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자유형: 도형 5">
              <a:extLst>
                <a:ext uri="{FF2B5EF4-FFF2-40B4-BE49-F238E27FC236}">
                  <a16:creationId xmlns="" xmlns:a16="http://schemas.microsoft.com/office/drawing/2014/main" id="{8DD1F67D-C88A-4760-A7E4-EDD7CD6DCCB4}"/>
                </a:ext>
              </a:extLst>
            </p:cNvPr>
            <p:cNvSpPr/>
            <p:nvPr/>
          </p:nvSpPr>
          <p:spPr>
            <a:xfrm>
              <a:off x="5736720" y="2618843"/>
              <a:ext cx="3011802" cy="1390661"/>
            </a:xfrm>
            <a:custGeom>
              <a:avLst/>
              <a:gdLst>
                <a:gd name="connsiteX0" fmla="*/ 0 w 3011802"/>
                <a:gd name="connsiteY0" fmla="*/ 1322099 h 1390661"/>
                <a:gd name="connsiteX1" fmla="*/ 980501 w 3011802"/>
                <a:gd name="connsiteY1" fmla="*/ 1267015 h 1390661"/>
                <a:gd name="connsiteX2" fmla="*/ 2038120 w 3011802"/>
                <a:gd name="connsiteY2" fmla="*/ 187362 h 1390661"/>
                <a:gd name="connsiteX3" fmla="*/ 2919470 w 3011802"/>
                <a:gd name="connsiteY3" fmla="*/ 11092 h 1390661"/>
                <a:gd name="connsiteX4" fmla="*/ 2941504 w 3011802"/>
                <a:gd name="connsiteY4" fmla="*/ 33126 h 1390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1802" h="1390661">
                  <a:moveTo>
                    <a:pt x="0" y="1322099"/>
                  </a:moveTo>
                  <a:cubicBezTo>
                    <a:pt x="320407" y="1389118"/>
                    <a:pt x="640814" y="1456138"/>
                    <a:pt x="980501" y="1267015"/>
                  </a:cubicBezTo>
                  <a:cubicBezTo>
                    <a:pt x="1320188" y="1077892"/>
                    <a:pt x="1714959" y="396682"/>
                    <a:pt x="2038120" y="187362"/>
                  </a:cubicBezTo>
                  <a:cubicBezTo>
                    <a:pt x="2361282" y="-21959"/>
                    <a:pt x="2768906" y="36798"/>
                    <a:pt x="2919470" y="11092"/>
                  </a:cubicBezTo>
                  <a:cubicBezTo>
                    <a:pt x="3070034" y="-14614"/>
                    <a:pt x="3005769" y="9256"/>
                    <a:pt x="2941504" y="33126"/>
                  </a:cubicBezTo>
                </a:path>
              </a:pathLst>
            </a:custGeom>
            <a:noFill/>
            <a:ln w="2857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화살표: 오른쪽 14">
              <a:extLst>
                <a:ext uri="{FF2B5EF4-FFF2-40B4-BE49-F238E27FC236}">
                  <a16:creationId xmlns="" xmlns:a16="http://schemas.microsoft.com/office/drawing/2014/main" id="{5F05F86A-6EFF-446B-80A5-95F991999D52}"/>
                </a:ext>
              </a:extLst>
            </p:cNvPr>
            <p:cNvSpPr/>
            <p:nvPr/>
          </p:nvSpPr>
          <p:spPr>
            <a:xfrm>
              <a:off x="4487203" y="3114410"/>
              <a:ext cx="648072" cy="324142"/>
            </a:xfrm>
            <a:prstGeom prst="rightArrow">
              <a:avLst>
                <a:gd name="adj1" fmla="val 50000"/>
                <a:gd name="adj2" fmla="val 50000"/>
              </a:avLst>
            </a:prstGeom>
            <a:ln>
              <a:headEnd w="med" len="med"/>
              <a:tailEnd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37639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시그모이드</a:t>
            </a:r>
            <a:r>
              <a:rPr lang="ko-KR" altLang="en-US" dirty="0" smtClean="0"/>
              <a:t> 함수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50280" y="3443206"/>
            <a:ext cx="4498700" cy="3264815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자유형: 도형 5">
                <a:extLst>
                  <a:ext uri="{FF2B5EF4-FFF2-40B4-BE49-F238E27FC236}">
                    <a16:creationId xmlns="" xmlns:a16="http://schemas.microsoft.com/office/drawing/2014/main" id="{5040EF7D-43D9-42FC-95B0-49AC220A8176}"/>
                  </a:ext>
                </a:extLst>
              </p:cNvPr>
              <p:cNvSpPr/>
              <p:nvPr/>
            </p:nvSpPr>
            <p:spPr>
              <a:xfrm>
                <a:off x="1935480" y="3628907"/>
                <a:ext cx="3564783" cy="13681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200">
                          <a:latin typeface="Cambria Math"/>
                          <a:sym typeface="Cambria Math"/>
                        </a:rPr>
                        <m:t>𝑠𝑖𝑔𝑚𝑜𝑖𝑑</m:t>
                      </m:r>
                      <m:r>
                        <a:rPr sz="22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200">
                          <a:latin typeface="Cambria Math"/>
                          <a:sym typeface="Cambria Math"/>
                        </a:rPr>
                        <m:t>𝑥</m:t>
                      </m:r>
                      <m:r>
                        <a:rPr sz="2200">
                          <a:latin typeface="Cambria Math"/>
                          <a:sym typeface="Cambria Math"/>
                        </a:rPr>
                        <m:t>)=</m:t>
                      </m:r>
                      <m:f>
                        <m:fPr>
                          <m:ctrlPr>
                            <a:rPr sz="22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2200" i="1">
                              <a:latin typeface="Cambria Math"/>
                              <a:sym typeface="Cambria Math"/>
                            </a:rPr>
                            <m:t>1</m:t>
                          </m:r>
                        </m:num>
                        <m:den>
                          <m:r>
                            <a:rPr sz="2200" i="1">
                              <a:latin typeface="Cambria Math"/>
                              <a:sym typeface="Cambria Math"/>
                            </a:rPr>
                            <m:t>1−</m:t>
                          </m:r>
                          <m:sSup>
                            <m:sSupPr>
                              <m:ctrlPr>
                                <a:rPr sz="22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2200" i="1">
                                  <a:latin typeface="Cambria Math"/>
                                  <a:sym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2200" i="1">
                                  <a:latin typeface="Cambria Math"/>
                                  <a:sym typeface="Cambria Math"/>
                                </a:rPr>
                                <m:t>−</m:t>
                              </m:r>
                              <m:r>
                                <a:rPr sz="2200" i="1">
                                  <a:latin typeface="Cambria Math"/>
                                  <a:sym typeface="Cambria Math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자유형: 도형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040EF7D-43D9-42FC-95B0-49AC220A81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480" y="3628907"/>
                <a:ext cx="3564783" cy="13681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4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s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자 모양을 갖는 함수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중심축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0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을 중심으로 좌측은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0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으로 수렴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우측은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 수렴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</a:p>
          <a:p>
            <a:pPr marL="265113" indent="-250825">
              <a:spcAft>
                <a:spcPts val="1800"/>
              </a:spcAft>
              <a:buSzPct val="80000"/>
              <a:buBlip>
                <a:blip r:embed="rId4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시그모이드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함수는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출력값을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0~1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사이로 제한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확률값으로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해석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모든 지점에서 미분이 가능해 출력변환함수로 유용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60325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시그모이드</a:t>
            </a:r>
            <a:r>
              <a:rPr lang="ko-KR" altLang="en-US" dirty="0" smtClean="0"/>
              <a:t> 미분함수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무한대로 갈수록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0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으로 수렴 → 가운데를 중심으로 대칭인 곡선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자유형: 도형 1027"/>
              <p:cNvSpPr/>
              <p:nvPr/>
            </p:nvSpPr>
            <p:spPr>
              <a:xfrm>
                <a:off x="1932113" y="2431760"/>
                <a:ext cx="2808312" cy="13681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/>
                          <a:sym typeface="Cambria Math"/>
                        </a:rPr>
                        <m:t>𝑠𝑖𝑔𝑚𝑜𝑖𝑑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𝑥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)=</m:t>
                      </m:r>
                      <m:f>
                        <m:fPr>
                          <m:ctrlPr>
                            <a:rPr sz="20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1</m:t>
                          </m:r>
                        </m:num>
                        <m:den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1−</m:t>
                          </m:r>
                          <m:sSup>
                            <m:sSupPr>
                              <m:ctrlPr>
                                <a:rPr sz="20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−</m:t>
                              </m:r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자유형: 도형 10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113" y="2431760"/>
                <a:ext cx="2808312" cy="13681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자유형: 도형 1028"/>
              <p:cNvSpPr/>
              <p:nvPr/>
            </p:nvSpPr>
            <p:spPr>
              <a:xfrm>
                <a:off x="5141463" y="2447412"/>
                <a:ext cx="5575624" cy="8686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sz="20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𝑑</m:t>
                          </m:r>
                        </m:num>
                        <m:den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𝑑𝑥</m:t>
                          </m:r>
                        </m:den>
                      </m:f>
                      <m:r>
                        <a:rPr sz="2000" i="1">
                          <a:latin typeface="Cambria Math"/>
                          <a:sym typeface="Cambria Math"/>
                        </a:rPr>
                        <m:t>𝑠𝑖𝑔𝑚𝑜𝑖𝑑</m:t>
                      </m:r>
                      <m:r>
                        <a:rPr sz="20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000" i="1">
                          <a:latin typeface="Cambria Math"/>
                          <a:sym typeface="Cambria Math"/>
                        </a:rPr>
                        <m:t>𝑥</m:t>
                      </m:r>
                      <m:r>
                        <a:rPr sz="2000" i="1">
                          <a:latin typeface="Cambria Math"/>
                          <a:sym typeface="Cambria Math"/>
                        </a:rPr>
                        <m:t>)=</m:t>
                      </m:r>
                      <m:r>
                        <a:rPr sz="2000" i="1">
                          <a:latin typeface="Cambria Math"/>
                          <a:sym typeface="Cambria Math"/>
                        </a:rPr>
                        <m:t>𝑠𝑖𝑔𝑚𝑜𝑖𝑑</m:t>
                      </m:r>
                      <m:r>
                        <a:rPr sz="20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000" i="1">
                          <a:latin typeface="Cambria Math"/>
                          <a:sym typeface="Cambria Math"/>
                        </a:rPr>
                        <m:t>𝑥</m:t>
                      </m:r>
                      <m:r>
                        <a:rPr sz="2000" i="1">
                          <a:latin typeface="Cambria Math"/>
                          <a:sym typeface="Cambria Math"/>
                        </a:rPr>
                        <m:t>)(1−</m:t>
                      </m:r>
                      <m:r>
                        <a:rPr sz="2000" i="1">
                          <a:latin typeface="Cambria Math"/>
                          <a:sym typeface="Cambria Math"/>
                        </a:rPr>
                        <m:t>𝑠𝑖𝑔𝑚𝑜𝑖𝑑</m:t>
                      </m:r>
                      <m:r>
                        <a:rPr sz="20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000" i="1">
                          <a:latin typeface="Cambria Math"/>
                          <a:sym typeface="Cambria Math"/>
                        </a:rPr>
                        <m:t>𝑥</m:t>
                      </m:r>
                      <m:r>
                        <a:rPr sz="2000" i="1">
                          <a:latin typeface="Cambria Math"/>
                          <a:sym typeface="Cambria Math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" name="자유형: 도형 10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463" y="2447412"/>
                <a:ext cx="5575624" cy="8686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그룹 2"/>
          <p:cNvGrpSpPr/>
          <p:nvPr/>
        </p:nvGrpSpPr>
        <p:grpSpPr>
          <a:xfrm>
            <a:off x="5928360" y="3182189"/>
            <a:ext cx="4580082" cy="3402126"/>
            <a:chOff x="5082276" y="2878142"/>
            <a:chExt cx="5357850" cy="3979858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5082276" y="2878142"/>
              <a:ext cx="5357850" cy="3979858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직사각형 13">
                  <a:extLst>
                    <a:ext uri="{FF2B5EF4-FFF2-40B4-BE49-F238E27FC236}">
                      <a16:creationId xmlns="" xmlns:a16="http://schemas.microsoft.com/office/drawing/2014/main" id="{ACF4728E-1FE3-4A14-81B3-2689CE30C1B0}"/>
                    </a:ext>
                  </a:extLst>
                </p:cNvPr>
                <p:cNvSpPr/>
                <p:nvPr/>
              </p:nvSpPr>
              <p:spPr>
                <a:xfrm>
                  <a:off x="8739578" y="5485292"/>
                  <a:ext cx="1377365" cy="5013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ar-AE" altLang="ko-KR" sz="1400" i="1">
                                <a:latin typeface="Cambria Math" panose="02040503050406030204" pitchFamily="18" charset="0"/>
                                <a:sym typeface="Cambria Math"/>
                              </a:rPr>
                            </m:ctrlPr>
                          </m:fPr>
                          <m:num>
                            <m:r>
                              <a:rPr lang="ko-KR" altLang="ar-AE" sz="1400" i="1">
                                <a:latin typeface="Cambria Math"/>
                                <a:sym typeface="Cambria Math"/>
                              </a:rPr>
                              <m:t>𝑑</m:t>
                            </m:r>
                          </m:num>
                          <m:den>
                            <m:r>
                              <a:rPr lang="ko-KR" altLang="ar-AE" sz="1400" i="1">
                                <a:latin typeface="Cambria Math"/>
                                <a:sym typeface="Cambria Math"/>
                              </a:rPr>
                              <m:t>𝑑𝑥</m:t>
                            </m:r>
                          </m:den>
                        </m:f>
                        <m:r>
                          <a:rPr lang="ko-KR" altLang="ar-AE" sz="1400" i="1">
                            <a:latin typeface="Cambria Math"/>
                            <a:sym typeface="Cambria Math"/>
                          </a:rPr>
                          <m:t>𝑠𝑖𝑔𝑚𝑜𝑖𝑑</m:t>
                        </m:r>
                        <m:r>
                          <a:rPr lang="ar-AE" altLang="ko-KR" sz="1400" i="1">
                            <a:latin typeface="Cambria Math"/>
                            <a:sym typeface="Cambria Math"/>
                          </a:rPr>
                          <m:t>(</m:t>
                        </m:r>
                        <m:r>
                          <a:rPr lang="ko-KR" altLang="ar-AE" sz="1400" i="1">
                            <a:latin typeface="Cambria Math"/>
                            <a:sym typeface="Cambria Math"/>
                          </a:rPr>
                          <m:t>𝑥</m:t>
                        </m:r>
                        <m:r>
                          <a:rPr lang="ar-AE" altLang="ko-KR" sz="1400" i="1">
                            <a:latin typeface="Cambria Math"/>
                            <a:sym typeface="Cambria Math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ACF4728E-1FE3-4A14-81B3-2689CE30C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39578" y="5485292"/>
                  <a:ext cx="1377365" cy="501356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r="-10825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직사각형 14">
                  <a:extLst>
                    <a:ext uri="{FF2B5EF4-FFF2-40B4-BE49-F238E27FC236}">
                      <a16:creationId xmlns="" xmlns:a16="http://schemas.microsoft.com/office/drawing/2014/main" id="{A55C8829-8EEB-4CA9-B9A3-CED9371EF871}"/>
                    </a:ext>
                  </a:extLst>
                </p:cNvPr>
                <p:cNvSpPr/>
                <p:nvPr/>
              </p:nvSpPr>
              <p:spPr>
                <a:xfrm>
                  <a:off x="7142543" y="3762482"/>
                  <a:ext cx="1141595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400">
                            <a:latin typeface="Cambria Math"/>
                            <a:sym typeface="Cambria Math"/>
                          </a:rPr>
                          <m:t>𝑠𝑖𝑔𝑚𝑜𝑖𝑑</m:t>
                        </m:r>
                        <m:r>
                          <a:rPr lang="en-US" altLang="ko-KR" sz="1400">
                            <a:latin typeface="Cambria Math"/>
                            <a:sym typeface="Cambria Math"/>
                          </a:rPr>
                          <m:t>(</m:t>
                        </m:r>
                        <m:r>
                          <a:rPr lang="ko-KR" altLang="en-US" sz="1400">
                            <a:latin typeface="Cambria Math"/>
                            <a:sym typeface="Cambria Math"/>
                          </a:rPr>
                          <m:t>𝑥</m:t>
                        </m:r>
                        <m:r>
                          <a:rPr lang="en-US" altLang="ko-KR" sz="1400">
                            <a:latin typeface="Cambria Math"/>
                            <a:sym typeface="Cambria Math"/>
                          </a:rPr>
                          <m:t>)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A55C8829-8EEB-4CA9-B9A3-CED9371EF8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2543" y="3762482"/>
                  <a:ext cx="1141595" cy="307777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r="-10625" b="-302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05189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로지스틱</a:t>
            </a:r>
            <a:r>
              <a:rPr lang="ko-KR" altLang="en-US" dirty="0" smtClean="0"/>
              <a:t> 회귀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312568" y="2009148"/>
                <a:ext cx="3495675" cy="132397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400" i="1">
                          <a:latin typeface="Cambria Math"/>
                        </a:rPr>
                        <m:t>𝑦</m:t>
                      </m:r>
                      <m:r>
                        <a:rPr sz="2400" i="0">
                          <a:latin typeface="Cambria Math"/>
                        </a:rPr>
                        <m:t>=</m:t>
                      </m:r>
                      <m:r>
                        <a:rPr sz="24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4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sz="2400" i="1">
                          <a:latin typeface="Cambria Math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4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2400" b="0" i="1"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400" b="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2400" b="0" i="1">
                                  <a:latin typeface="Cambria Math"/>
                                </a:rPr>
                                <m:t>−(</m:t>
                              </m:r>
                              <m:r>
                                <a:rPr sz="2400" b="0" i="1">
                                  <a:latin typeface="Cambria Math"/>
                                </a:rPr>
                                <m:t>𝑤𝑥</m:t>
                              </m:r>
                              <m:r>
                                <a:rPr sz="2400" b="0" i="1">
                                  <a:latin typeface="Cambria Math"/>
                                </a:rPr>
                                <m:t>+</m:t>
                              </m:r>
                              <m:r>
                                <a:rPr sz="2400" b="0" i="1">
                                  <a:latin typeface="Cambria Math"/>
                                </a:rPr>
                                <m:t>𝑏</m:t>
                              </m:r>
                              <m:r>
                                <a:rPr sz="2400" b="0" i="1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568" y="2009148"/>
                <a:ext cx="3495675" cy="132397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그룹 7"/>
          <p:cNvGrpSpPr/>
          <p:nvPr/>
        </p:nvGrpSpPr>
        <p:grpSpPr>
          <a:xfrm>
            <a:off x="4312568" y="3614661"/>
            <a:ext cx="3957680" cy="3106814"/>
            <a:chOff x="214282" y="2143116"/>
            <a:chExt cx="3957680" cy="3106814"/>
          </a:xfrm>
        </p:grpSpPr>
        <p:grpSp>
          <p:nvGrpSpPr>
            <p:cNvPr id="9" name="그룹 8"/>
            <p:cNvGrpSpPr/>
            <p:nvPr/>
          </p:nvGrpSpPr>
          <p:grpSpPr>
            <a:xfrm>
              <a:off x="714348" y="2307019"/>
              <a:ext cx="3457614" cy="2942911"/>
              <a:chOff x="4937210" y="2145291"/>
              <a:chExt cx="3457614" cy="2942911"/>
            </a:xfrm>
          </p:grpSpPr>
          <p:pic>
            <p:nvPicPr>
              <p:cNvPr id="16" name="Picture 2"/>
              <p:cNvPicPr>
                <a:picLocks noChangeAspect="1" noChangeArrowheads="1"/>
              </p:cNvPicPr>
              <p:nvPr/>
            </p:nvPicPr>
            <p:blipFill rotWithShape="1">
              <a:blip r:embed="rId3"/>
              <a:srcRect l="12410" t="9490" r="5410" b="8530"/>
              <a:stretch>
                <a:fillRect/>
              </a:stretch>
            </p:blipFill>
            <p:spPr>
              <a:xfrm>
                <a:off x="4937210" y="2145291"/>
                <a:ext cx="3457614" cy="2609520"/>
              </a:xfrm>
              <a:prstGeom prst="rect">
                <a:avLst/>
              </a:prstGeom>
              <a:noFill/>
              <a:ln w="9525">
                <a:noFill/>
                <a:miter/>
              </a:ln>
              <a:effectLst/>
            </p:spPr>
          </p:pic>
          <p:cxnSp>
            <p:nvCxnSpPr>
              <p:cNvPr id="17" name="직선 연결선 16"/>
              <p:cNvCxnSpPr/>
              <p:nvPr/>
            </p:nvCxnSpPr>
            <p:spPr>
              <a:xfrm>
                <a:off x="6666017" y="2145291"/>
                <a:ext cx="0" cy="260952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sp>
            <p:nvSpPr>
              <p:cNvPr id="18" name="TextBox 17"/>
              <p:cNvSpPr txBox="1"/>
              <p:nvPr/>
            </p:nvSpPr>
            <p:spPr>
              <a:xfrm>
                <a:off x="6516216" y="4718870"/>
                <a:ext cx="4802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80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j-cs"/>
                  </a:rPr>
                  <a:t>0</a:t>
                </a:r>
                <a:endParaRPr lang="ko-KR" altLang="en-US" sz="180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714348" y="2357430"/>
              <a:ext cx="12144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8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rPr>
                <a:t>확률값</a:t>
              </a:r>
              <a:endPara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4282" y="4786322"/>
              <a:ext cx="5000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0</a:t>
              </a:r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85720" y="2143116"/>
              <a:ext cx="5000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</a:t>
              </a:r>
              <a:endPara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500298" y="3713042"/>
              <a:ext cx="100013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20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negative</a:t>
              </a:r>
              <a:endPara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793288" y="3122472"/>
              <a:ext cx="100013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20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positive</a:t>
              </a:r>
              <a:endParaRPr lang="ko-KR" altLang="en-US" sz="120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cxnSp>
        <p:nvCxnSpPr>
          <p:cNvPr id="19" name="직선 연결선 18"/>
          <p:cNvCxnSpPr/>
          <p:nvPr/>
        </p:nvCxnSpPr>
        <p:spPr>
          <a:xfrm>
            <a:off x="5098386" y="4970273"/>
            <a:ext cx="2643206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EB59B0FD-0412-4B25-AF6A-23BBDF16B523}"/>
              </a:ext>
            </a:extLst>
          </p:cNvPr>
          <p:cNvSpPr txBox="1"/>
          <p:nvPr/>
        </p:nvSpPr>
        <p:spPr>
          <a:xfrm>
            <a:off x="3352800" y="4785607"/>
            <a:ext cx="1835094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판단 기준 값</a:t>
            </a:r>
            <a:endParaRPr lang="en-US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(=0.5)</a:t>
            </a:r>
            <a:endParaRPr lang="ko-KR" altLang="en-US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4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cost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함수로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sigmoid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 사용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65032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로지스틱</a:t>
            </a:r>
            <a:r>
              <a:rPr lang="ko-KR" altLang="en-US" dirty="0" smtClean="0"/>
              <a:t> 회귀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594138" y="3422483"/>
            <a:ext cx="5000678" cy="3319112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sp>
        <p:nvSpPr>
          <p:cNvPr id="10" name="내용 개체 틀 4">
            <a:extLst>
              <a:ext uri="{FF2B5EF4-FFF2-40B4-BE49-F238E27FC236}">
                <a16:creationId xmlns="" xmlns:a16="http://schemas.microsoft.com/office/drawing/2014/main" id="{15171573-305E-4D6B-8D35-B691855F4050}"/>
              </a:ext>
            </a:extLst>
          </p:cNvPr>
          <p:cNvSpPr txBox="1">
            <a:spLocks/>
          </p:cNvSpPr>
          <p:nvPr/>
        </p:nvSpPr>
        <p:spPr>
          <a:xfrm>
            <a:off x="1844993" y="2772511"/>
            <a:ext cx="3062287" cy="8493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 =[0.4, 1.0, 2,0]</a:t>
            </a:r>
          </a:p>
          <a:p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 =0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자유형: 도형 3074"/>
              <p:cNvSpPr/>
              <p:nvPr/>
            </p:nvSpPr>
            <p:spPr>
              <a:xfrm>
                <a:off x="6238399" y="2620180"/>
                <a:ext cx="3841998" cy="9620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400">
                          <a:latin typeface="Cambria Math"/>
                          <a:sym typeface="Cambria Math"/>
                        </a:rPr>
                        <m:t>𝑦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𝐻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𝑥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)=</m:t>
                      </m:r>
                      <m:f>
                        <m:fPr>
                          <m:ctrlPr>
                            <a:rPr sz="24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2400" i="1">
                              <a:latin typeface="Cambria Math"/>
                              <a:sym typeface="Cambria Math"/>
                            </a:rPr>
                            <m:t>1</m:t>
                          </m:r>
                        </m:num>
                        <m:den>
                          <m:r>
                            <a:rPr sz="2400" i="1">
                              <a:latin typeface="Cambria Math"/>
                              <a:sym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sz="24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−(</m:t>
                              </m:r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𝑤𝑥</m:t>
                              </m:r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+</m:t>
                              </m:r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𝑏</m:t>
                              </m:r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자유형: 도형 30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399" y="2620180"/>
                <a:ext cx="3841998" cy="9620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4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w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가 작아질수록 직선 형태에 가까워지고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w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가 커질수록 기울기가 급격히 높아짐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기울기가 급격하게 변하면 경계영역이 좁아져 작은 변화에도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+, -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분류값이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바뀔 수 있음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78877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로지스틱</a:t>
            </a:r>
            <a:r>
              <a:rPr lang="ko-KR" altLang="en-US" dirty="0" smtClean="0"/>
              <a:t> 회귀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3" name="내용 개체 틀 2"/>
          <p:cNvSpPr txBox="1">
            <a:spLocks/>
          </p:cNvSpPr>
          <p:nvPr/>
        </p:nvSpPr>
        <p:spPr>
          <a:xfrm>
            <a:off x="1575435" y="2487415"/>
            <a:ext cx="2691765" cy="9177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w=1.0</a:t>
            </a:r>
          </a:p>
          <a:p>
            <a:pPr>
              <a:defRPr/>
            </a:pP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b=[-0.5, 0, 0.5]</a:t>
            </a:r>
            <a:endParaRPr lang="ko-KR" altLang="en-US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602356" y="3491645"/>
            <a:ext cx="4947284" cy="3229830"/>
            <a:chOff x="2789850" y="2812722"/>
            <a:chExt cx="6572296" cy="4290722"/>
          </a:xfrm>
        </p:grpSpPr>
        <p:pic>
          <p:nvPicPr>
            <p:cNvPr id="14" name="Picture 2"/>
            <p:cNvPicPr>
              <a:picLocks noChangeAspect="1" noChangeArrowheads="1"/>
            </p:cNvPicPr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2789850" y="2812722"/>
              <a:ext cx="6572296" cy="4290722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</p:pic>
        <p:cxnSp>
          <p:nvCxnSpPr>
            <p:cNvPr id="15" name="직선 연결선 14"/>
            <p:cNvCxnSpPr/>
            <p:nvPr/>
          </p:nvCxnSpPr>
          <p:spPr>
            <a:xfrm>
              <a:off x="3361354" y="4812986"/>
              <a:ext cx="5786478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sp>
          <p:nvSpPr>
            <p:cNvPr id="16" name="타원 15"/>
            <p:cNvSpPr/>
            <p:nvPr/>
          </p:nvSpPr>
          <p:spPr>
            <a:xfrm>
              <a:off x="5861684" y="4741548"/>
              <a:ext cx="142876" cy="14287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018094" y="4527234"/>
              <a:ext cx="1629275" cy="4164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/>
                <a:t>length=3.5</a:t>
              </a:r>
              <a:endParaRPr lang="ko-KR" altLang="en-US" sz="160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089929" y="4527234"/>
              <a:ext cx="1629275" cy="4164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 dirty="0"/>
                <a:t>length=4.5</a:t>
              </a:r>
              <a:endParaRPr lang="ko-KR" altLang="en-US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자유형: 도형 3074"/>
              <p:cNvSpPr/>
              <p:nvPr/>
            </p:nvSpPr>
            <p:spPr>
              <a:xfrm>
                <a:off x="6339026" y="2440956"/>
                <a:ext cx="3907642" cy="964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400">
                          <a:latin typeface="Cambria Math"/>
                          <a:sym typeface="Cambria Math"/>
                        </a:rPr>
                        <m:t>𝑦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𝐻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𝑥</m:t>
                      </m:r>
                      <m:r>
                        <a:rPr sz="2400">
                          <a:latin typeface="Cambria Math"/>
                          <a:sym typeface="Cambria Math"/>
                        </a:rPr>
                        <m:t>)=</m:t>
                      </m:r>
                      <m:f>
                        <m:fPr>
                          <m:ctrlPr>
                            <a:rPr sz="24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2400" i="1">
                              <a:latin typeface="Cambria Math"/>
                              <a:sym typeface="Cambria Math"/>
                            </a:rPr>
                            <m:t>1</m:t>
                          </m:r>
                        </m:num>
                        <m:den>
                          <m:r>
                            <a:rPr sz="2400" i="1">
                              <a:latin typeface="Cambria Math"/>
                              <a:sym typeface="Cambria Math"/>
                            </a:rPr>
                            <m:t>1</m:t>
                          </m:r>
                          <m:r>
                            <a:rPr sz="2400" i="1">
                              <a:latin typeface="Cambria Math"/>
                              <a:sym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sz="24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−(</m:t>
                              </m:r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𝑤𝑥</m:t>
                              </m:r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+</m:t>
                              </m:r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𝑏</m:t>
                              </m:r>
                              <m:r>
                                <a:rPr sz="24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0" name="자유형: 도형 30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026" y="2440956"/>
                <a:ext cx="3907642" cy="964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b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값은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sigmoid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함수를 좌우로 얼마만큼 이동시킬 것인지를 의미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5246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경사하강법을</a:t>
            </a:r>
            <a:r>
              <a:rPr lang="ko-KR" altLang="en-US" dirty="0" smtClean="0"/>
              <a:t> 이용한 최적화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943225" y="1852089"/>
                <a:ext cx="6205435" cy="1100558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ko-KR" alt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40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ko-KR" alt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ko-K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ko-KR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225" y="1852089"/>
                <a:ext cx="6205435" cy="110055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867734" y="3224416"/>
                <a:ext cx="2895600" cy="96202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2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2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sz="2200" i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4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2400" b="0" i="1"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400" b="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2400" b="0" i="1">
                                  <a:latin typeface="Cambria Math"/>
                                </a:rPr>
                                <m:t>−(</m:t>
                              </m:r>
                              <m:r>
                                <a:rPr sz="2400" b="0" i="1">
                                  <a:latin typeface="Cambria Math"/>
                                </a:rPr>
                                <m:t>𝑤𝑥</m:t>
                              </m:r>
                              <m:r>
                                <a:rPr sz="2400" b="0" i="1">
                                  <a:latin typeface="Cambria Math"/>
                                </a:rPr>
                                <m:t>+</m:t>
                              </m:r>
                              <m:r>
                                <a:rPr sz="2400" b="0" i="1">
                                  <a:latin typeface="Cambria Math"/>
                                </a:rPr>
                                <m:t>𝑏</m:t>
                              </m:r>
                              <m:r>
                                <a:rPr sz="2400" b="0" i="1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734" y="3224416"/>
                <a:ext cx="2895600" cy="96202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자유형: 도형 9"/>
              <p:cNvSpPr/>
              <p:nvPr/>
            </p:nvSpPr>
            <p:spPr>
              <a:xfrm>
                <a:off x="4461767" y="4566684"/>
                <a:ext cx="4638253" cy="5715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900">
                          <a:latin typeface="Cambria Math"/>
                          <a:sym typeface="Cambria Math"/>
                        </a:rPr>
                        <m:t>𝑚𝑖𝑛𝑖𝑚𝑖𝑧𝑒</m:t>
                      </m:r>
                      <m:r>
                        <a:rPr sz="29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2900">
                          <a:latin typeface="Cambria Math"/>
                          <a:sym typeface="Cambria Math"/>
                        </a:rPr>
                        <m:t>𝑐𝑜𝑠𝑡</m:t>
                      </m:r>
                      <m:r>
                        <a:rPr sz="29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9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2900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2900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2900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자유형: 도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767" y="4566684"/>
                <a:ext cx="4638253" cy="5715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자유형: 도형 10"/>
              <p:cNvSpPr/>
              <p:nvPr/>
            </p:nvSpPr>
            <p:spPr>
              <a:xfrm>
                <a:off x="5005462" y="4994168"/>
                <a:ext cx="638175" cy="4095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𝑏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자유형: 도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462" y="4994168"/>
                <a:ext cx="638175" cy="4095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5518427"/>
            <a:ext cx="9589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7"/>
              </a:buBlip>
            </a:pP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경사하강법을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이용해 최적의 </a:t>
            </a:r>
            <a:r>
              <a:rPr lang="en-US" altLang="ko-KR" sz="32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w,b</a:t>
            </a: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추정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5208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시그모이드</a:t>
            </a:r>
            <a:r>
              <a:rPr lang="ko-KR" altLang="en-US" dirty="0" smtClean="0"/>
              <a:t> 함수 사용에 따른 </a:t>
            </a:r>
            <a:r>
              <a:rPr lang="en-US" altLang="ko-KR" dirty="0" smtClean="0"/>
              <a:t>cost </a:t>
            </a:r>
            <a:r>
              <a:rPr lang="ko-KR" altLang="en-US" dirty="0" smtClean="0"/>
              <a:t>함수의 특성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895271" y="3795665"/>
                <a:ext cx="4752528" cy="932628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ko-KR" alt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00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ko-KR" alt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ko-KR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ko-KR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ko-KR" sz="2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271" y="3795665"/>
                <a:ext cx="4752528" cy="93262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24725" y="5003134"/>
                <a:ext cx="3178202" cy="680919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0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sz="2000" i="0">
                          <a:latin typeface="Cambria Math"/>
                        </a:rPr>
                        <m:t>=</m:t>
                      </m:r>
                      <m:r>
                        <a:rPr sz="2000" b="0" i="0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sz="20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2000" b="0" i="1">
                              <a:latin typeface="Cambria Math"/>
                            </a:rPr>
                            <m:t>1+</m:t>
                          </m:r>
                          <m:sSup>
                            <m:sSupPr>
                              <m:ctrlPr>
                                <a:rPr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000" b="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2000" b="0" i="1">
                                  <a:latin typeface="Cambria Math"/>
                                </a:rPr>
                                <m:t>−</m:t>
                              </m:r>
                              <m:r>
                                <a:rPr sz="2000" b="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r>
                                <a:rPr sz="2000" b="0" i="1">
                                  <a:latin typeface="Cambria Math"/>
                                  <a:sym typeface="Cambria Math"/>
                                </a:rPr>
                                <m:t>𝑤𝑥</m:t>
                              </m:r>
                              <m:r>
                                <a:rPr sz="2000" b="0" i="1">
                                  <a:latin typeface="Cambria Math"/>
                                  <a:sym typeface="Cambria Math"/>
                                </a:rPr>
                                <m:t>+</m:t>
                              </m:r>
                              <m:r>
                                <a:rPr sz="2000" b="0" i="1">
                                  <a:latin typeface="Cambria Math"/>
                                  <a:sym typeface="Cambria Math"/>
                                </a:rPr>
                                <m:t>𝑏</m:t>
                              </m:r>
                              <m:r>
                                <a:rPr sz="2000" b="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725" y="5003134"/>
                <a:ext cx="3178202" cy="68091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그룹 12">
            <a:extLst>
              <a:ext uri="{FF2B5EF4-FFF2-40B4-BE49-F238E27FC236}">
                <a16:creationId xmlns="" xmlns:a16="http://schemas.microsoft.com/office/drawing/2014/main" id="{FE624B0D-1A2B-4024-B084-4D21764DE379}"/>
              </a:ext>
            </a:extLst>
          </p:cNvPr>
          <p:cNvGrpSpPr/>
          <p:nvPr/>
        </p:nvGrpSpPr>
        <p:grpSpPr>
          <a:xfrm>
            <a:off x="1805477" y="3021114"/>
            <a:ext cx="4253207" cy="3620503"/>
            <a:chOff x="539552" y="2582634"/>
            <a:chExt cx="4253207" cy="3620503"/>
          </a:xfrm>
        </p:grpSpPr>
        <p:grpSp>
          <p:nvGrpSpPr>
            <p:cNvPr id="14" name="그룹 13">
              <a:extLst>
                <a:ext uri="{FF2B5EF4-FFF2-40B4-BE49-F238E27FC236}">
                  <a16:creationId xmlns="" xmlns:a16="http://schemas.microsoft.com/office/drawing/2014/main" id="{24F2908C-7B46-4D34-91EE-F9D6E69B1D03}"/>
                </a:ext>
              </a:extLst>
            </p:cNvPr>
            <p:cNvGrpSpPr/>
            <p:nvPr/>
          </p:nvGrpSpPr>
          <p:grpSpPr>
            <a:xfrm>
              <a:off x="1526454" y="3516755"/>
              <a:ext cx="2041530" cy="2111775"/>
              <a:chOff x="4098275" y="4046715"/>
              <a:chExt cx="2041530" cy="2111775"/>
            </a:xfrm>
          </p:grpSpPr>
          <p:sp>
            <p:nvSpPr>
              <p:cNvPr id="32" name="자유형: 도형 65">
                <a:extLst>
                  <a:ext uri="{FF2B5EF4-FFF2-40B4-BE49-F238E27FC236}">
                    <a16:creationId xmlns="" xmlns:a16="http://schemas.microsoft.com/office/drawing/2014/main" id="{270E82C5-3B8A-4856-831A-E7FCAB6ABD01}"/>
                  </a:ext>
                </a:extLst>
              </p:cNvPr>
              <p:cNvSpPr/>
              <p:nvPr/>
            </p:nvSpPr>
            <p:spPr>
              <a:xfrm>
                <a:off x="4098275" y="4120308"/>
                <a:ext cx="1189821" cy="2038182"/>
              </a:xfrm>
              <a:custGeom>
                <a:avLst/>
                <a:gdLst>
                  <a:gd name="connsiteX0" fmla="*/ 0 w 1189821"/>
                  <a:gd name="connsiteY0" fmla="*/ 0 h 2038182"/>
                  <a:gd name="connsiteX1" fmla="*/ 231354 w 1189821"/>
                  <a:gd name="connsiteY1" fmla="*/ 1145755 h 2038182"/>
                  <a:gd name="connsiteX2" fmla="*/ 418641 w 1189821"/>
                  <a:gd name="connsiteY2" fmla="*/ 319490 h 2038182"/>
                  <a:gd name="connsiteX3" fmla="*/ 605927 w 1189821"/>
                  <a:gd name="connsiteY3" fmla="*/ 1630497 h 2038182"/>
                  <a:gd name="connsiteX4" fmla="*/ 815248 w 1189821"/>
                  <a:gd name="connsiteY4" fmla="*/ 705080 h 2038182"/>
                  <a:gd name="connsiteX5" fmla="*/ 980501 w 1189821"/>
                  <a:gd name="connsiteY5" fmla="*/ 2038121 h 2038182"/>
                  <a:gd name="connsiteX6" fmla="*/ 1189821 w 1189821"/>
                  <a:gd name="connsiteY6" fmla="*/ 749147 h 2038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9821" h="2038182">
                    <a:moveTo>
                      <a:pt x="0" y="0"/>
                    </a:moveTo>
                    <a:cubicBezTo>
                      <a:pt x="80790" y="546253"/>
                      <a:pt x="161581" y="1092507"/>
                      <a:pt x="231354" y="1145755"/>
                    </a:cubicBezTo>
                    <a:cubicBezTo>
                      <a:pt x="301127" y="1199003"/>
                      <a:pt x="356212" y="238700"/>
                      <a:pt x="418641" y="319490"/>
                    </a:cubicBezTo>
                    <a:cubicBezTo>
                      <a:pt x="481070" y="400280"/>
                      <a:pt x="539826" y="1566232"/>
                      <a:pt x="605927" y="1630497"/>
                    </a:cubicBezTo>
                    <a:cubicBezTo>
                      <a:pt x="672028" y="1694762"/>
                      <a:pt x="752819" y="637143"/>
                      <a:pt x="815248" y="705080"/>
                    </a:cubicBezTo>
                    <a:cubicBezTo>
                      <a:pt x="877677" y="773017"/>
                      <a:pt x="918072" y="2030777"/>
                      <a:pt x="980501" y="2038121"/>
                    </a:cubicBezTo>
                    <a:cubicBezTo>
                      <a:pt x="1042930" y="2045466"/>
                      <a:pt x="1116375" y="1397306"/>
                      <a:pt x="1189821" y="749147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3" name="그림 32">
                <a:extLst>
                  <a:ext uri="{FF2B5EF4-FFF2-40B4-BE49-F238E27FC236}">
                    <a16:creationId xmlns="" xmlns:a16="http://schemas.microsoft.com/office/drawing/2014/main" id="{1EA1CB5A-1191-45F1-9A45-9D3B3A6678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2080" y="4046715"/>
                <a:ext cx="847725" cy="1800225"/>
              </a:xfrm>
              <a:prstGeom prst="rect">
                <a:avLst/>
              </a:prstGeom>
            </p:spPr>
          </p:pic>
        </p:grpSp>
        <p:grpSp>
          <p:nvGrpSpPr>
            <p:cNvPr id="15" name="그룹 14">
              <a:extLst>
                <a:ext uri="{FF2B5EF4-FFF2-40B4-BE49-F238E27FC236}">
                  <a16:creationId xmlns="" xmlns:a16="http://schemas.microsoft.com/office/drawing/2014/main" id="{4F615BA8-C2C6-409C-B6A4-F15238C7A9B9}"/>
                </a:ext>
              </a:extLst>
            </p:cNvPr>
            <p:cNvGrpSpPr/>
            <p:nvPr/>
          </p:nvGrpSpPr>
          <p:grpSpPr>
            <a:xfrm>
              <a:off x="1279355" y="3187072"/>
              <a:ext cx="2737048" cy="2520280"/>
              <a:chOff x="3707904" y="3861048"/>
              <a:chExt cx="2737048" cy="2520280"/>
            </a:xfrm>
          </p:grpSpPr>
          <p:cxnSp>
            <p:nvCxnSpPr>
              <p:cNvPr id="30" name="직선 화살표 연결선 29">
                <a:extLst>
                  <a:ext uri="{FF2B5EF4-FFF2-40B4-BE49-F238E27FC236}">
                    <a16:creationId xmlns="" xmlns:a16="http://schemas.microsoft.com/office/drawing/2014/main" id="{1A9AD1CA-75DC-4E17-BCF0-974FE91D77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07904" y="3861048"/>
                <a:ext cx="0" cy="252028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/>
              </a:ln>
              <a:effectLst/>
            </p:spPr>
          </p:cxnSp>
          <p:cxnSp>
            <p:nvCxnSpPr>
              <p:cNvPr id="31" name="직선 화살표 연결선 30">
                <a:extLst>
                  <a:ext uri="{FF2B5EF4-FFF2-40B4-BE49-F238E27FC236}">
                    <a16:creationId xmlns="" xmlns:a16="http://schemas.microsoft.com/office/drawing/2014/main" id="{69ACFD32-2DE7-433B-9409-8167DF3DF5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07904" y="6381328"/>
                <a:ext cx="2737048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/>
              </a:ln>
              <a:effectLst/>
            </p:spPr>
          </p:cxnSp>
        </p:grp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EC403A32-9AAF-475E-8C49-A5BA9380EEDA}"/>
                </a:ext>
              </a:extLst>
            </p:cNvPr>
            <p:cNvSpPr txBox="1"/>
            <p:nvPr/>
          </p:nvSpPr>
          <p:spPr>
            <a:xfrm>
              <a:off x="539552" y="2996952"/>
              <a:ext cx="616243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cost</a:t>
              </a:r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4B16D709-9E38-45DA-983E-8953CDE8E519}"/>
                </a:ext>
              </a:extLst>
            </p:cNvPr>
            <p:cNvSpPr txBox="1"/>
            <p:nvPr/>
          </p:nvSpPr>
          <p:spPr>
            <a:xfrm>
              <a:off x="3832208" y="5707352"/>
              <a:ext cx="616243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1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w</a:t>
              </a:r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="" xmlns:a16="http://schemas.microsoft.com/office/drawing/2014/main" id="{0AA3ADB4-4378-4CA0-851E-9790B6223711}"/>
                </a:ext>
              </a:extLst>
            </p:cNvPr>
            <p:cNvSpPr/>
            <p:nvPr/>
          </p:nvSpPr>
          <p:spPr>
            <a:xfrm flipH="1">
              <a:off x="1499773" y="3703605"/>
              <a:ext cx="119894" cy="11989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="" xmlns:a16="http://schemas.microsoft.com/office/drawing/2014/main" id="{9A1C3464-D324-4A0C-8481-F84B18485F8E}"/>
                </a:ext>
              </a:extLst>
            </p:cNvPr>
            <p:cNvSpPr/>
            <p:nvPr/>
          </p:nvSpPr>
          <p:spPr>
            <a:xfrm flipH="1">
              <a:off x="1584000" y="4221088"/>
              <a:ext cx="119894" cy="11989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="" xmlns:a16="http://schemas.microsoft.com/office/drawing/2014/main" id="{8D84F213-E386-47B1-A980-40E4D894DDB2}"/>
                </a:ext>
              </a:extLst>
            </p:cNvPr>
            <p:cNvSpPr/>
            <p:nvPr/>
          </p:nvSpPr>
          <p:spPr>
            <a:xfrm flipH="1">
              <a:off x="1571786" y="4149080"/>
              <a:ext cx="119894" cy="11989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="" xmlns:a16="http://schemas.microsoft.com/office/drawing/2014/main" id="{6FA96B85-F252-426B-AF50-8C2468F8B600}"/>
                </a:ext>
              </a:extLst>
            </p:cNvPr>
            <p:cNvCxnSpPr>
              <a:cxnSpLocks/>
              <a:stCxn id="19" idx="0"/>
              <a:endCxn id="21" idx="4"/>
            </p:cNvCxnSpPr>
            <p:nvPr/>
          </p:nvCxnSpPr>
          <p:spPr>
            <a:xfrm>
              <a:off x="1559720" y="3703605"/>
              <a:ext cx="72013" cy="56536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sp>
          <p:nvSpPr>
            <p:cNvPr id="23" name="타원 22">
              <a:extLst>
                <a:ext uri="{FF2B5EF4-FFF2-40B4-BE49-F238E27FC236}">
                  <a16:creationId xmlns="" xmlns:a16="http://schemas.microsoft.com/office/drawing/2014/main" id="{313887D3-A748-48A7-96D7-1F92D3F4B515}"/>
                </a:ext>
              </a:extLst>
            </p:cNvPr>
            <p:cNvSpPr/>
            <p:nvPr/>
          </p:nvSpPr>
          <p:spPr>
            <a:xfrm flipH="1">
              <a:off x="1691680" y="4677258"/>
              <a:ext cx="119894" cy="119894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="" xmlns:a16="http://schemas.microsoft.com/office/drawing/2014/main" id="{734F932B-996F-451E-BB35-D5FC90FFFC4B}"/>
                </a:ext>
              </a:extLst>
            </p:cNvPr>
            <p:cNvCxnSpPr>
              <a:stCxn id="20" idx="4"/>
              <a:endCxn id="23" idx="3"/>
            </p:cNvCxnSpPr>
            <p:nvPr/>
          </p:nvCxnSpPr>
          <p:spPr>
            <a:xfrm>
              <a:off x="1643947" y="4340982"/>
              <a:ext cx="150069" cy="43861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  <p:sp>
          <p:nvSpPr>
            <p:cNvPr id="25" name="타원 24">
              <a:extLst>
                <a:ext uri="{FF2B5EF4-FFF2-40B4-BE49-F238E27FC236}">
                  <a16:creationId xmlns="" xmlns:a16="http://schemas.microsoft.com/office/drawing/2014/main" id="{DE403C95-3649-47A5-853E-3BB3C74D0F5E}"/>
                </a:ext>
              </a:extLst>
            </p:cNvPr>
            <p:cNvSpPr/>
            <p:nvPr/>
          </p:nvSpPr>
          <p:spPr>
            <a:xfrm flipH="1">
              <a:off x="2448000" y="5541354"/>
              <a:ext cx="119894" cy="119894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="" xmlns:a16="http://schemas.microsoft.com/office/drawing/2014/main" id="{013324F7-94C9-4816-AB72-EDD65E479382}"/>
                </a:ext>
              </a:extLst>
            </p:cNvPr>
            <p:cNvCxnSpPr/>
            <p:nvPr/>
          </p:nvCxnSpPr>
          <p:spPr>
            <a:xfrm flipH="1">
              <a:off x="1811574" y="3108212"/>
              <a:ext cx="1332547" cy="156904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/>
            </a:ln>
            <a:effectLst/>
          </p:spPr>
        </p:cxnSp>
        <p:sp>
          <p:nvSpPr>
            <p:cNvPr id="27" name="TextBox 26">
              <a:extLst>
                <a:ext uri="{FF2B5EF4-FFF2-40B4-BE49-F238E27FC236}">
                  <a16:creationId xmlns="" xmlns:a16="http://schemas.microsoft.com/office/drawing/2014/main" id="{9AB5C692-A3A8-4982-8D21-D739FB290072}"/>
                </a:ext>
              </a:extLst>
            </p:cNvPr>
            <p:cNvSpPr txBox="1"/>
            <p:nvPr/>
          </p:nvSpPr>
          <p:spPr>
            <a:xfrm>
              <a:off x="2200471" y="2582634"/>
              <a:ext cx="2592288" cy="58477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최소값으로 수렴하지 않고</a:t>
              </a:r>
              <a:r>
                <a:rPr lang="en-US" altLang="ko-KR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작은 골짜기에서 멈춘다</a:t>
              </a:r>
              <a:r>
                <a:rPr lang="en-US" altLang="ko-KR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="" xmlns:a16="http://schemas.microsoft.com/office/drawing/2014/main" id="{E058441A-7637-40D2-B260-11ADB3EDBDB3}"/>
                </a:ext>
              </a:extLst>
            </p:cNvPr>
            <p:cNvCxnSpPr>
              <a:endCxn id="25" idx="5"/>
            </p:cNvCxnSpPr>
            <p:nvPr/>
          </p:nvCxnSpPr>
          <p:spPr>
            <a:xfrm flipV="1">
              <a:off x="2121364" y="5643690"/>
              <a:ext cx="344194" cy="24832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/>
            </a:ln>
            <a:effectLst/>
          </p:spPr>
        </p:cxn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8AD683C4-77DC-4CE7-9CD3-3ECAFD4762F0}"/>
                </a:ext>
              </a:extLst>
            </p:cNvPr>
            <p:cNvSpPr txBox="1"/>
            <p:nvPr/>
          </p:nvSpPr>
          <p:spPr>
            <a:xfrm>
              <a:off x="1598235" y="5864583"/>
              <a:ext cx="1012847" cy="3385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최소값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6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sigmoid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함수에 대한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cost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함수는 지역적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최소점이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존재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cost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함수로 이용하기 부적절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70312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Log </a:t>
            </a:r>
            <a:r>
              <a:rPr lang="ko-KR" altLang="en-US" dirty="0" smtClean="0"/>
              <a:t>기반 </a:t>
            </a:r>
            <a:r>
              <a:rPr lang="en-US" altLang="ko-KR" dirty="0" smtClean="0"/>
              <a:t>cost </a:t>
            </a:r>
            <a:r>
              <a:rPr lang="ko-KR" altLang="en-US" dirty="0" smtClean="0"/>
              <a:t>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pSp>
        <p:nvGrpSpPr>
          <p:cNvPr id="12" name="그룹 11"/>
          <p:cNvGrpSpPr/>
          <p:nvPr/>
        </p:nvGrpSpPr>
        <p:grpSpPr>
          <a:xfrm>
            <a:off x="1553776" y="3812486"/>
            <a:ext cx="2736304" cy="2075120"/>
            <a:chOff x="395536" y="2481294"/>
            <a:chExt cx="2736304" cy="2075120"/>
          </a:xfrm>
        </p:grpSpPr>
        <p:grpSp>
          <p:nvGrpSpPr>
            <p:cNvPr id="13" name="그룹 22"/>
            <p:cNvGrpSpPr/>
            <p:nvPr/>
          </p:nvGrpSpPr>
          <p:grpSpPr>
            <a:xfrm>
              <a:off x="611560" y="2481294"/>
              <a:ext cx="2278800" cy="1760400"/>
              <a:chOff x="5184887" y="2648938"/>
              <a:chExt cx="3159976" cy="2448272"/>
            </a:xfrm>
          </p:grpSpPr>
          <p:sp>
            <p:nvSpPr>
              <p:cNvPr id="16" name="직사각형 15"/>
              <p:cNvSpPr/>
              <p:nvPr/>
            </p:nvSpPr>
            <p:spPr>
              <a:xfrm>
                <a:off x="5184887" y="2648938"/>
                <a:ext cx="3159976" cy="244827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17" name="자유형: 도형 12"/>
              <p:cNvSpPr/>
              <p:nvPr/>
            </p:nvSpPr>
            <p:spPr>
              <a:xfrm>
                <a:off x="5185925" y="3067444"/>
                <a:ext cx="3121891" cy="2022764"/>
              </a:xfrm>
              <a:custGeom>
                <a:avLst/>
                <a:gdLst>
                  <a:gd name="connsiteX0" fmla="*/ 0 w 3121891"/>
                  <a:gd name="connsiteY0" fmla="*/ 0 h 2022764"/>
                  <a:gd name="connsiteX1" fmla="*/ 858982 w 3121891"/>
                  <a:gd name="connsiteY1" fmla="*/ 1283855 h 2022764"/>
                  <a:gd name="connsiteX2" fmla="*/ 3121891 w 3121891"/>
                  <a:gd name="connsiteY2" fmla="*/ 2022764 h 2022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21891" h="2022764">
                    <a:moveTo>
                      <a:pt x="0" y="0"/>
                    </a:moveTo>
                    <a:cubicBezTo>
                      <a:pt x="169333" y="473364"/>
                      <a:pt x="338667" y="946728"/>
                      <a:pt x="858982" y="1283855"/>
                    </a:cubicBezTo>
                    <a:cubicBezTo>
                      <a:pt x="1379297" y="1620982"/>
                      <a:pt x="2250594" y="1821873"/>
                      <a:pt x="3121891" y="2022764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395536" y="4187082"/>
              <a:ext cx="3600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800">
                  <a:latin typeface="맑은 고딕"/>
                  <a:ea typeface="맑은 고딕"/>
                  <a:cs typeface="+mj-cs"/>
                </a:rPr>
                <a:t>0</a:t>
              </a:r>
              <a:endParaRPr lang="ko-KR" altLang="en-US" sz="1800">
                <a:latin typeface="맑은 고딕"/>
                <a:ea typeface="맑은 고딕"/>
                <a:cs typeface="+mj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71800" y="4187082"/>
              <a:ext cx="3600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800">
                  <a:latin typeface="맑은 고딕"/>
                  <a:ea typeface="맑은 고딕"/>
                  <a:cs typeface="+mj-cs"/>
                </a:rPr>
                <a:t>1</a:t>
              </a:r>
              <a:endParaRPr lang="ko-KR" altLang="en-US" sz="1800">
                <a:latin typeface="맑은 고딕"/>
                <a:ea typeface="맑은 고딕"/>
                <a:cs typeface="+mj-cs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329569" y="5760230"/>
            <a:ext cx="8335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dirty="0"/>
              <a:t>예측 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191414" y="6068007"/>
                <a:ext cx="1714512" cy="46166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i="1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414" y="6068007"/>
                <a:ext cx="1714512" cy="461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235888" y="6050588"/>
                <a:ext cx="1714512" cy="46166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ko-KR" i="1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888" y="6050588"/>
                <a:ext cx="1714512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411296" y="3741048"/>
            <a:ext cx="3071834" cy="2073083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529664" y="3774114"/>
            <a:ext cx="2953830" cy="1928826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40063D66-F4AC-43CE-B8DD-B76C61FAB4F7}"/>
              </a:ext>
            </a:extLst>
          </p:cNvPr>
          <p:cNvSpPr txBox="1"/>
          <p:nvPr/>
        </p:nvSpPr>
        <p:spPr>
          <a:xfrm>
            <a:off x="1386840" y="3462225"/>
            <a:ext cx="827584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오차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="" xmlns:a16="http://schemas.microsoft.com/office/drawing/2014/main" id="{4032EFA2-320E-4454-952D-AE602BBB7FEB}"/>
                  </a:ext>
                </a:extLst>
              </p:cNvPr>
              <p:cNvSpPr txBox="1"/>
              <p:nvPr/>
            </p:nvSpPr>
            <p:spPr>
              <a:xfrm>
                <a:off x="1287255" y="1641082"/>
                <a:ext cx="9685546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65113" indent="-250825">
                  <a:spcAft>
                    <a:spcPts val="1800"/>
                  </a:spcAft>
                  <a:buSzPct val="80000"/>
                  <a:buBlip>
                    <a:blip r:embed="rId7"/>
                  </a:buBlip>
                </a:pPr>
                <a:r>
                  <a:rPr lang="ko-KR" altLang="en-US" sz="32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  학습 데이터 레이블</a:t>
                </a:r>
                <a:r>
                  <a:rPr lang="en-US" altLang="ko-KR" sz="32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(Target) : 1</a:t>
                </a:r>
                <a:r>
                  <a:rPr lang="ko-KR" altLang="en-US" sz="32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일</a:t>
                </a:r>
                <a:r>
                  <a:rPr lang="en-US" altLang="ko-KR" sz="32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 </a:t>
                </a:r>
                <a:r>
                  <a:rPr lang="ko-KR" altLang="en-US" sz="32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때</a:t>
                </a:r>
                <a:r>
                  <a:rPr lang="en-US" altLang="ko-KR" sz="32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/>
                </a:r>
                <a:br>
                  <a:rPr lang="en-US" altLang="ko-KR" sz="32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</a:br>
                <a:r>
                  <a:rPr lang="en-US" altLang="ko-KR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  &gt; </a:t>
                </a:r>
                <a:r>
                  <a:rPr lang="ko-KR" altLang="en-US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예측 값이 </a:t>
                </a:r>
                <a:r>
                  <a:rPr lang="en-US" altLang="ko-KR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0</a:t>
                </a:r>
                <a:r>
                  <a:rPr lang="ko-KR" altLang="en-US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이면 오차 큰 값</a:t>
                </a:r>
                <a:r>
                  <a:rPr lang="en-US" altLang="ko-KR" sz="2800" dirty="0">
                    <a:solidFill>
                      <a:srgbClr val="173F95"/>
                    </a:solidFill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(</a:t>
                </a:r>
                <a:r>
                  <a:rPr lang="ko-KR" altLang="en-US" sz="2800" dirty="0">
                    <a:solidFill>
                      <a:srgbClr val="173F95"/>
                    </a:solidFill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최대</a:t>
                </a:r>
                <a:r>
                  <a:rPr lang="ko-KR" altLang="en-US" sz="2800" dirty="0" smtClean="0">
                    <a:solidFill>
                      <a:srgbClr val="173F95"/>
                    </a:solidFill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2800">
                        <a:solidFill>
                          <a:srgbClr val="173F95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ko-KR" sz="2800" dirty="0">
                    <a:solidFill>
                      <a:srgbClr val="173F95"/>
                    </a:solidFill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)</a:t>
                </a:r>
                <a:r>
                  <a:rPr lang="ko-KR" altLang="en-US" sz="2800" dirty="0">
                    <a:solidFill>
                      <a:srgbClr val="173F95"/>
                    </a:solidFill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 </a:t>
                </a:r>
                <a:r>
                  <a:rPr lang="en-US" altLang="ko-KR" sz="2800" dirty="0">
                    <a:solidFill>
                      <a:srgbClr val="173F95"/>
                    </a:solidFill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/>
                </a:r>
                <a:br>
                  <a:rPr lang="en-US" altLang="ko-KR" sz="2800" dirty="0">
                    <a:solidFill>
                      <a:srgbClr val="173F95"/>
                    </a:solidFill>
                    <a:latin typeface="스웨거 TTF" panose="020B0600000101010101" pitchFamily="50" charset="-127"/>
                    <a:ea typeface="스웨거 TTF" panose="020B0600000101010101" pitchFamily="50" charset="-127"/>
                  </a:rPr>
                </a:br>
                <a:r>
                  <a:rPr lang="en-US" altLang="ko-KR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  &gt; </a:t>
                </a:r>
                <a:r>
                  <a:rPr lang="ko-KR" altLang="en-US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예측 값이 </a:t>
                </a:r>
                <a:r>
                  <a:rPr lang="en-US" altLang="ko-KR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1</a:t>
                </a:r>
                <a:r>
                  <a:rPr lang="ko-KR" altLang="en-US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이면 오차 작은 값</a:t>
                </a:r>
                <a:r>
                  <a:rPr lang="en-US" altLang="ko-KR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(</a:t>
                </a:r>
                <a:r>
                  <a:rPr lang="ko-KR" altLang="en-US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최소 </a:t>
                </a:r>
                <a:r>
                  <a:rPr lang="en-US" altLang="ko-KR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0)</a:t>
                </a:r>
                <a:endParaRPr lang="en-US" altLang="ko-KR" sz="24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4032EFA2-320E-4454-952D-AE602BBB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55" y="1641082"/>
                <a:ext cx="9685546" cy="1446550"/>
              </a:xfrm>
              <a:prstGeom prst="rect">
                <a:avLst/>
              </a:prstGeom>
              <a:blipFill rotWithShape="0">
                <a:blip r:embed="rId8"/>
                <a:stretch>
                  <a:fillRect t="-5462" b="-105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08572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Log </a:t>
            </a:r>
            <a:r>
              <a:rPr lang="ko-KR" altLang="en-US" dirty="0" smtClean="0"/>
              <a:t>기반 </a:t>
            </a:r>
            <a:r>
              <a:rPr lang="en-US" altLang="ko-KR" dirty="0" smtClean="0"/>
              <a:t>cost </a:t>
            </a:r>
            <a:r>
              <a:rPr lang="ko-KR" altLang="en-US" dirty="0" smtClean="0"/>
              <a:t>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="" xmlns:a16="http://schemas.microsoft.com/office/drawing/2014/main" id="{4032EFA2-320E-4454-952D-AE602BBB7FEB}"/>
                  </a:ext>
                </a:extLst>
              </p:cNvPr>
              <p:cNvSpPr txBox="1"/>
              <p:nvPr/>
            </p:nvSpPr>
            <p:spPr>
              <a:xfrm>
                <a:off x="1287255" y="1641082"/>
                <a:ext cx="9685546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65113" indent="-250825">
                  <a:spcAft>
                    <a:spcPts val="1800"/>
                  </a:spcAft>
                  <a:buSzPct val="80000"/>
                  <a:buBlip>
                    <a:blip r:embed="rId3"/>
                  </a:buBlip>
                </a:pPr>
                <a:r>
                  <a:rPr lang="ko-KR" altLang="en-US" sz="32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  학습 데이터 레이블</a:t>
                </a:r>
                <a:r>
                  <a:rPr lang="en-US" altLang="ko-KR" sz="32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(Target) : 0</a:t>
                </a:r>
                <a:r>
                  <a:rPr lang="ko-KR" altLang="en-US" sz="32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일</a:t>
                </a:r>
                <a:r>
                  <a:rPr lang="en-US" altLang="ko-KR" sz="32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 </a:t>
                </a:r>
                <a:r>
                  <a:rPr lang="ko-KR" altLang="en-US" sz="32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때</a:t>
                </a:r>
                <a:r>
                  <a:rPr lang="en-US" altLang="ko-KR" sz="32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/>
                </a:r>
                <a:br>
                  <a:rPr lang="en-US" altLang="ko-KR" sz="32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</a:br>
                <a:r>
                  <a:rPr lang="en-US" altLang="ko-KR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  &gt; </a:t>
                </a:r>
                <a:r>
                  <a:rPr lang="ko-KR" altLang="en-US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예측 값이 </a:t>
                </a:r>
                <a:r>
                  <a:rPr lang="en-US" altLang="ko-KR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0</a:t>
                </a:r>
                <a:r>
                  <a:rPr lang="ko-KR" altLang="en-US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이면 오차 큰 값</a:t>
                </a:r>
                <a:r>
                  <a:rPr lang="en-US" altLang="ko-KR" sz="2800" dirty="0" smtClean="0">
                    <a:solidFill>
                      <a:srgbClr val="173F95"/>
                    </a:solidFill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(</a:t>
                </a:r>
                <a:r>
                  <a:rPr lang="ko-KR" altLang="en-US" sz="2800" dirty="0" smtClean="0">
                    <a:solidFill>
                      <a:srgbClr val="173F95"/>
                    </a:solidFill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최소 </a:t>
                </a:r>
                <a:r>
                  <a:rPr lang="en-US" altLang="ko-KR" sz="2800" dirty="0" smtClean="0">
                    <a:solidFill>
                      <a:srgbClr val="173F95"/>
                    </a:solidFill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0)</a:t>
                </a:r>
                <a:r>
                  <a:rPr lang="ko-KR" altLang="en-US" sz="2800" dirty="0" smtClean="0">
                    <a:solidFill>
                      <a:srgbClr val="173F95"/>
                    </a:solidFill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 </a:t>
                </a:r>
                <a:r>
                  <a:rPr lang="en-US" altLang="ko-KR" sz="2800" dirty="0">
                    <a:solidFill>
                      <a:srgbClr val="173F95"/>
                    </a:solidFill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/>
                </a:r>
                <a:br>
                  <a:rPr lang="en-US" altLang="ko-KR" sz="2800" dirty="0">
                    <a:solidFill>
                      <a:srgbClr val="173F95"/>
                    </a:solidFill>
                    <a:latin typeface="스웨거 TTF" panose="020B0600000101010101" pitchFamily="50" charset="-127"/>
                    <a:ea typeface="스웨거 TTF" panose="020B0600000101010101" pitchFamily="50" charset="-127"/>
                  </a:rPr>
                </a:br>
                <a:r>
                  <a:rPr lang="en-US" altLang="ko-KR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  &gt; </a:t>
                </a:r>
                <a:r>
                  <a:rPr lang="ko-KR" altLang="en-US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예측 값이 </a:t>
                </a:r>
                <a:r>
                  <a:rPr lang="en-US" altLang="ko-KR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1</a:t>
                </a:r>
                <a:r>
                  <a:rPr lang="ko-KR" altLang="en-US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이면 오차 작은 값</a:t>
                </a:r>
                <a:r>
                  <a:rPr lang="en-US" altLang="ko-KR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(</a:t>
                </a:r>
                <a:r>
                  <a:rPr lang="ko-KR" altLang="en-US" sz="2800" dirty="0">
                    <a:solidFill>
                      <a:srgbClr val="173F95"/>
                    </a:solidFill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최대 </a:t>
                </a:r>
                <a14:m>
                  <m:oMath xmlns:m="http://schemas.openxmlformats.org/officeDocument/2006/math">
                    <m:r>
                      <a:rPr lang="ko-KR" altLang="en-US" sz="2800">
                        <a:solidFill>
                          <a:srgbClr val="173F95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ko-KR" sz="28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effectLst>
                      <a:glow>
                        <a:schemeClr val="bg1"/>
                      </a:glow>
                    </a:effectLst>
                    <a:latin typeface="스웨거 TTF" panose="020B0600000101010101" pitchFamily="50" charset="-127"/>
                    <a:ea typeface="스웨거 TTF" panose="020B0600000101010101" pitchFamily="50" charset="-127"/>
                  </a:rPr>
                  <a:t>)</a:t>
                </a:r>
                <a:endParaRPr lang="en-US" altLang="ko-KR" sz="24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4032EFA2-320E-4454-952D-AE602BBB7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55" y="1641082"/>
                <a:ext cx="9685546" cy="1446550"/>
              </a:xfrm>
              <a:prstGeom prst="rect">
                <a:avLst/>
              </a:prstGeom>
              <a:blipFill rotWithShape="0">
                <a:blip r:embed="rId4"/>
                <a:stretch>
                  <a:fillRect t="-5462" b="-105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그룹 6"/>
          <p:cNvGrpSpPr/>
          <p:nvPr/>
        </p:nvGrpSpPr>
        <p:grpSpPr>
          <a:xfrm>
            <a:off x="1529684" y="3835196"/>
            <a:ext cx="2808312" cy="2047429"/>
            <a:chOff x="6372200" y="2407788"/>
            <a:chExt cx="2808312" cy="2047429"/>
          </a:xfrm>
        </p:grpSpPr>
        <p:grpSp>
          <p:nvGrpSpPr>
            <p:cNvPr id="24" name="그룹 23">
              <a:extLst>
                <a:ext uri="{FF2B5EF4-FFF2-40B4-BE49-F238E27FC236}">
                  <a16:creationId xmlns="" xmlns:a16="http://schemas.microsoft.com/office/drawing/2014/main" id="{F834F642-3744-45C8-918E-00AE16064F34}"/>
                </a:ext>
              </a:extLst>
            </p:cNvPr>
            <p:cNvGrpSpPr/>
            <p:nvPr/>
          </p:nvGrpSpPr>
          <p:grpSpPr>
            <a:xfrm>
              <a:off x="6614247" y="2407788"/>
              <a:ext cx="2278806" cy="1761712"/>
              <a:chOff x="5635069" y="2139648"/>
              <a:chExt cx="3166884" cy="2448272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="" xmlns:a16="http://schemas.microsoft.com/office/drawing/2014/main" id="{3D199094-1D3F-4992-8AAD-BE94BDCD98AD}"/>
                  </a:ext>
                </a:extLst>
              </p:cNvPr>
              <p:cNvSpPr/>
              <p:nvPr/>
            </p:nvSpPr>
            <p:spPr bwMode="auto">
              <a:xfrm>
                <a:off x="5641977" y="2139648"/>
                <a:ext cx="3159976" cy="244827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굴림" pitchFamily="50" charset="-127"/>
                </a:endParaRPr>
              </a:p>
            </p:txBody>
          </p:sp>
          <p:sp>
            <p:nvSpPr>
              <p:cNvPr id="30" name="자유형: 도형 14">
                <a:extLst>
                  <a:ext uri="{FF2B5EF4-FFF2-40B4-BE49-F238E27FC236}">
                    <a16:creationId xmlns="" xmlns:a16="http://schemas.microsoft.com/office/drawing/2014/main" id="{C51CD06F-FC7D-4DA6-BAAA-2B6D58D4CF66}"/>
                  </a:ext>
                </a:extLst>
              </p:cNvPr>
              <p:cNvSpPr/>
              <p:nvPr/>
            </p:nvSpPr>
            <p:spPr bwMode="auto">
              <a:xfrm flipH="1">
                <a:off x="5635069" y="2561138"/>
                <a:ext cx="3166883" cy="2025338"/>
              </a:xfrm>
              <a:custGeom>
                <a:avLst/>
                <a:gdLst>
                  <a:gd name="connsiteX0" fmla="*/ 0 w 3121891"/>
                  <a:gd name="connsiteY0" fmla="*/ 0 h 2022764"/>
                  <a:gd name="connsiteX1" fmla="*/ 858982 w 3121891"/>
                  <a:gd name="connsiteY1" fmla="*/ 1283855 h 2022764"/>
                  <a:gd name="connsiteX2" fmla="*/ 3121891 w 3121891"/>
                  <a:gd name="connsiteY2" fmla="*/ 2022764 h 2022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21891" h="2022764">
                    <a:moveTo>
                      <a:pt x="0" y="0"/>
                    </a:moveTo>
                    <a:cubicBezTo>
                      <a:pt x="169333" y="473364"/>
                      <a:pt x="338667" y="946728"/>
                      <a:pt x="858982" y="1283855"/>
                    </a:cubicBezTo>
                    <a:cubicBezTo>
                      <a:pt x="1379297" y="1620982"/>
                      <a:pt x="2250594" y="1821873"/>
                      <a:pt x="3121891" y="2022764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6372200" y="4085885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820472" y="4080302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668172" y="5805811"/>
            <a:ext cx="7647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예측값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911598" y="5959700"/>
                <a:ext cx="2158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i="1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598" y="5959700"/>
                <a:ext cx="2158530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777444" y="5995699"/>
                <a:ext cx="23397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ko-KR" i="1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444" y="5995699"/>
                <a:ext cx="2339752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601518" y="3763758"/>
            <a:ext cx="2778691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601914" y="3835196"/>
            <a:ext cx="2690812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DE5860C8-D45A-41F0-8D38-D608BA93907C}"/>
              </a:ext>
            </a:extLst>
          </p:cNvPr>
          <p:cNvSpPr txBox="1"/>
          <p:nvPr/>
        </p:nvSpPr>
        <p:spPr>
          <a:xfrm>
            <a:off x="1470593" y="3414838"/>
            <a:ext cx="827584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오차</a:t>
            </a:r>
          </a:p>
        </p:txBody>
      </p:sp>
    </p:spTree>
    <p:extLst>
      <p:ext uri="{BB962C8B-B14F-4D97-AF65-F5344CB8AC3E}">
        <p14:creationId xmlns:p14="http://schemas.microsoft.com/office/powerpoint/2010/main" val="35365959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Log </a:t>
            </a:r>
            <a:r>
              <a:rPr lang="ko-KR" altLang="en-US" dirty="0" smtClean="0"/>
              <a:t>기반 </a:t>
            </a:r>
            <a:r>
              <a:rPr lang="en-US" altLang="ko-KR" dirty="0" smtClean="0"/>
              <a:t>cost </a:t>
            </a:r>
            <a:r>
              <a:rPr lang="ko-KR" altLang="en-US" dirty="0" smtClean="0"/>
              <a:t>함수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53896" y="2302709"/>
                <a:ext cx="5050159" cy="1001116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altLang="ko-KR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 dirty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altLang="ko-KR" sz="1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8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18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8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ko-KR" sz="1800" dirty="0"/>
                  <a:t>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18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18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         :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1800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  <m:d>
                                      <m:dPr>
                                        <m:ctrlP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8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896" y="2302709"/>
                <a:ext cx="5050159" cy="100111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06856" y="4456236"/>
                <a:ext cx="6070883" cy="46166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ko-KR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ko-KR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18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ko-KR" sz="1800" dirty="0"/>
                        <m:t>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𝑦𝑙𝑜𝑔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)+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func>
                        <m:func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sz="1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856" y="4456236"/>
                <a:ext cx="6070883" cy="461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아래쪽 화살표 7"/>
          <p:cNvSpPr/>
          <p:nvPr/>
        </p:nvSpPr>
        <p:spPr>
          <a:xfrm>
            <a:off x="4999881" y="3722518"/>
            <a:ext cx="284832" cy="363047"/>
          </a:xfrm>
          <a:prstGeom prst="downArrow">
            <a:avLst>
              <a:gd name="adj1" fmla="val 50000"/>
              <a:gd name="adj2" fmla="val 50000"/>
            </a:avLst>
          </a:prstGeom>
          <a:ln>
            <a:headEnd w="med" len="med"/>
            <a:tailEnd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830596" y="1705666"/>
            <a:ext cx="2572171" cy="1649901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871426" y="3380582"/>
            <a:ext cx="2485851" cy="1649901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cxnSp>
        <p:nvCxnSpPr>
          <p:cNvPr id="11" name="직선 화살표 연결선 10">
            <a:extLst>
              <a:ext uri="{FF2B5EF4-FFF2-40B4-BE49-F238E27FC236}">
                <a16:creationId xmlns="" xmlns:a16="http://schemas.microsoft.com/office/drawing/2014/main" id="{4EA02430-1285-4812-9557-35A875CFFD67}"/>
              </a:ext>
            </a:extLst>
          </p:cNvPr>
          <p:cNvCxnSpPr>
            <a:cxnSpLocks/>
          </p:cNvCxnSpPr>
          <p:nvPr/>
        </p:nvCxnSpPr>
        <p:spPr>
          <a:xfrm flipV="1">
            <a:off x="6585377" y="2324736"/>
            <a:ext cx="720080" cy="2944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p:cxnSp>
        <p:nvCxnSpPr>
          <p:cNvPr id="12" name="직선 화살표 연결선 11">
            <a:extLst>
              <a:ext uri="{FF2B5EF4-FFF2-40B4-BE49-F238E27FC236}">
                <a16:creationId xmlns="" xmlns:a16="http://schemas.microsoft.com/office/drawing/2014/main" id="{83021226-8DE7-4304-9AAC-369C1526B334}"/>
              </a:ext>
            </a:extLst>
          </p:cNvPr>
          <p:cNvCxnSpPr>
            <a:cxnSpLocks/>
          </p:cNvCxnSpPr>
          <p:nvPr/>
        </p:nvCxnSpPr>
        <p:spPr>
          <a:xfrm>
            <a:off x="6585377" y="3017154"/>
            <a:ext cx="720080" cy="4084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3">
                <a:extLst>
                  <a:ext uri="{FF2B5EF4-FFF2-40B4-BE49-F238E27FC236}">
                    <a16:creationId xmlns="" xmlns:a16="http://schemas.microsoft.com/office/drawing/2014/main" id="{7B6FAB62-8E89-4CA1-B700-DC3707ECF20D}"/>
                  </a:ext>
                </a:extLst>
              </p:cNvPr>
              <p:cNvSpPr txBox="1"/>
              <p:nvPr/>
            </p:nvSpPr>
            <p:spPr>
              <a:xfrm>
                <a:off x="2608987" y="5835015"/>
                <a:ext cx="7584157" cy="93345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i="0">
                          <a:latin typeface="Cambria Math"/>
                          <a:sym typeface="Cambria Math"/>
                        </a:rPr>
                        <m:t>𝑐𝑜𝑠𝑡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)=−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𝑦𝑙𝑜𝑔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𝐻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𝑥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))+(1−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𝑦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𝑙𝑜𝑔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(1−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𝐻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𝑥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3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B6FAB62-8E89-4CA1-B700-DC3707ECF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987" y="5835015"/>
                <a:ext cx="7584157" cy="93345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806576" y="1741583"/>
            <a:ext cx="3193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8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로지스틱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회귀에서 오차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806576" y="5151315"/>
            <a:ext cx="3193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8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로지스틱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회귀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cost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935109" y="4027050"/>
            <a:ext cx="3574262" cy="29533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y=1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일때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y=0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 때를 모두 고려한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cost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함수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227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Cost </a:t>
            </a:r>
            <a:r>
              <a:rPr lang="ko-KR" altLang="en-US" dirty="0" smtClean="0"/>
              <a:t>함수 직접 계산하기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aphicFrame>
        <p:nvGraphicFramePr>
          <p:cNvPr id="15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839741"/>
              </p:ext>
            </p:extLst>
          </p:nvPr>
        </p:nvGraphicFramePr>
        <p:xfrm>
          <a:off x="1893248" y="1647273"/>
          <a:ext cx="2000264" cy="1983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001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16378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x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y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6378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6378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6378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7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20429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8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325296" y="3912340"/>
            <a:ext cx="82063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 smtClean="0"/>
              <a:t>cost(w </a:t>
            </a:r>
            <a:r>
              <a:rPr lang="en-US" altLang="ko-KR" sz="1600" dirty="0"/>
              <a:t>= -3)</a:t>
            </a:r>
          </a:p>
          <a:p>
            <a:pPr lvl="0">
              <a:defRPr/>
            </a:pPr>
            <a:r>
              <a:rPr lang="en-US" altLang="ko-KR" sz="1600" dirty="0"/>
              <a:t>  = - ( log(1-H(1) ) +  log(1-H(2)) +  log(H(7)) +   log(H(8)) / 4)</a:t>
            </a:r>
          </a:p>
          <a:p>
            <a:pPr lvl="0">
              <a:defRPr/>
            </a:pPr>
            <a:r>
              <a:rPr lang="en-US" altLang="ko-KR" sz="1600" dirty="0"/>
              <a:t>  = - (  log(1- 0.04742) + log(1- 0.0024726) + log(7.5e-10) + log(3.77e-11) ) / 4 </a:t>
            </a:r>
          </a:p>
          <a:p>
            <a:pPr lvl="0">
              <a:defRPr/>
            </a:pPr>
            <a:r>
              <a:rPr lang="en-US" altLang="ko-KR" sz="1600" dirty="0"/>
              <a:t>  = - (-0.0485 + -0.0024 + -21.010 + -24.0013) / 4</a:t>
            </a:r>
          </a:p>
          <a:p>
            <a:pPr lvl="0">
              <a:defRPr/>
            </a:pPr>
            <a:r>
              <a:rPr lang="en-US" altLang="ko-KR" sz="1600" dirty="0"/>
              <a:t>  = 11.26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자유형: 도형 4098"/>
              <p:cNvSpPr/>
              <p:nvPr/>
            </p:nvSpPr>
            <p:spPr>
              <a:xfrm>
                <a:off x="4197504" y="1985040"/>
                <a:ext cx="6334125" cy="8001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/>
                          <a:sym typeface="Cambria Math"/>
                        </a:rPr>
                        <m:t>𝑐𝑜𝑠𝑡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)=−</m:t>
                      </m:r>
                      <m:f>
                        <m:fPr>
                          <m:ctrlPr>
                            <a:rPr sz="20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1</m:t>
                          </m:r>
                        </m:num>
                        <m:den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sz="20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𝑦𝑙𝑜𝑔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𝐻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𝑥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))+(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1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𝑦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)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𝑙𝑜𝑔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1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𝐻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𝑥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자유형: 도형 40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504" y="1985040"/>
                <a:ext cx="6334125" cy="8001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직사각형 20">
            <a:extLst>
              <a:ext uri="{FF2B5EF4-FFF2-40B4-BE49-F238E27FC236}">
                <a16:creationId xmlns="" xmlns:a16="http://schemas.microsoft.com/office/drawing/2014/main" id="{978A0836-84A8-43A8-A3DF-D48FA8210228}"/>
              </a:ext>
            </a:extLst>
          </p:cNvPr>
          <p:cNvSpPr/>
          <p:nvPr/>
        </p:nvSpPr>
        <p:spPr>
          <a:xfrm>
            <a:off x="2306296" y="5517377"/>
            <a:ext cx="333136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/>
              <a:t>H(1)=1/(1+exp(-3×1)=0.04742</a:t>
            </a:r>
          </a:p>
          <a:p>
            <a:r>
              <a:rPr lang="en-US" altLang="ko-KR" sz="1600" dirty="0"/>
              <a:t>H(2)=1/(1+exp(-3×2)=0.0024626</a:t>
            </a:r>
            <a:endParaRPr lang="ko-KR" altLang="en-US" sz="1600" dirty="0"/>
          </a:p>
          <a:p>
            <a:r>
              <a:rPr lang="en-US" altLang="ko-KR" sz="1600" dirty="0"/>
              <a:t>H(7)=1/(1+exp(-3×7)=7.5e-10</a:t>
            </a:r>
            <a:endParaRPr lang="ko-KR" altLang="en-US" sz="1600" dirty="0"/>
          </a:p>
          <a:p>
            <a:r>
              <a:rPr lang="en-US" altLang="ko-KR" sz="1600" dirty="0"/>
              <a:t>H(8)=1/(1+exp(-3×8)=3.77e-11</a:t>
            </a:r>
            <a:endParaRPr lang="ko-KR" altLang="en-US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50359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로지스틱</a:t>
            </a:r>
            <a:r>
              <a:rPr lang="ko-KR" altLang="en-US" dirty="0" smtClean="0"/>
              <a:t> 회귀 </a:t>
            </a:r>
            <a:r>
              <a:rPr lang="ko-KR" altLang="en-US" dirty="0" err="1" smtClean="0"/>
              <a:t>경사하강법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52871" y="2783556"/>
                <a:ext cx="7573393" cy="1145442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00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ko-KR" altLang="en-US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𝑦𝑙𝑜𝑔</m:t>
                          </m:r>
                          <m:d>
                            <m:d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ko-KR" sz="2000" dirty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871" y="2783556"/>
                <a:ext cx="7573393" cy="114544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15504" y="6063424"/>
                <a:ext cx="3960440" cy="794576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ko-KR" alt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dirty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ko-KR" altLang="en-US" i="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5504" y="6063424"/>
                <a:ext cx="3960440" cy="79457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3"/>
              <p:cNvSpPr txBox="1"/>
              <p:nvPr/>
            </p:nvSpPr>
            <p:spPr>
              <a:xfrm>
                <a:off x="3427398" y="2010161"/>
                <a:ext cx="3048000" cy="96202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000" i="1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sz="2000" i="0">
                          <a:latin typeface="Cambria Math"/>
                        </a:rPr>
                        <m:t>=</m:t>
                      </m:r>
                      <m:r>
                        <a:rPr sz="2000" b="0" i="0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sz="20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000" b="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2000" b="0" i="1">
                              <a:latin typeface="Cambria Math"/>
                            </a:rPr>
                            <m:t>1</m:t>
                          </m:r>
                          <m:r>
                            <a:rPr sz="2000" b="0" i="1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000" b="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sz="2000" b="0" i="1">
                                  <a:latin typeface="Cambria Math"/>
                                </a:rPr>
                                <m:t>−</m:t>
                              </m:r>
                              <m:r>
                                <a:rPr sz="2000" b="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r>
                                <a:rPr sz="2000" b="0" i="1">
                                  <a:latin typeface="Cambria Math"/>
                                  <a:sym typeface="Cambria Math"/>
                                </a:rPr>
                                <m:t>𝑤𝑥</m:t>
                              </m:r>
                              <m:r>
                                <a:rPr sz="2000" b="0" i="1">
                                  <a:latin typeface="Cambria Math"/>
                                  <a:sym typeface="Cambria Math"/>
                                </a:rPr>
                                <m:t>+</m:t>
                              </m:r>
                              <m:r>
                                <a:rPr sz="2000" b="0" i="1">
                                  <a:latin typeface="Cambria Math"/>
                                  <a:sym typeface="Cambria Math"/>
                                </a:rPr>
                                <m:t>𝑏</m:t>
                              </m:r>
                              <m:r>
                                <a:rPr sz="2000" b="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10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398" y="2010161"/>
                <a:ext cx="3048000" cy="96202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자유형: 도형 8">
                <a:extLst>
                  <a:ext uri="{FF2B5EF4-FFF2-40B4-BE49-F238E27FC236}">
                    <a16:creationId xmlns="" xmlns:a16="http://schemas.microsoft.com/office/drawing/2014/main" id="{DA126942-9647-4064-81C1-FBCF24C45855}"/>
                  </a:ext>
                </a:extLst>
              </p:cNvPr>
              <p:cNvSpPr/>
              <p:nvPr/>
            </p:nvSpPr>
            <p:spPr>
              <a:xfrm>
                <a:off x="3699207" y="4150572"/>
                <a:ext cx="3240360" cy="5143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/>
                          <a:sym typeface="Cambria Math"/>
                        </a:rPr>
                        <m:t>𝐻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𝑥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)=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𝑤𝑥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+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𝑏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11" name="자유형: 도형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A126942-9647-4064-81C1-FBCF24C458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207" y="4150572"/>
                <a:ext cx="3240360" cy="5143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자유형: 도형 9">
                <a:extLst>
                  <a:ext uri="{FF2B5EF4-FFF2-40B4-BE49-F238E27FC236}">
                    <a16:creationId xmlns="" xmlns:a16="http://schemas.microsoft.com/office/drawing/2014/main" id="{E0B65535-E1FF-42E3-9ADD-7D76843DD6F0}"/>
                  </a:ext>
                </a:extLst>
              </p:cNvPr>
              <p:cNvSpPr/>
              <p:nvPr/>
            </p:nvSpPr>
            <p:spPr>
              <a:xfrm>
                <a:off x="3675544" y="4664922"/>
                <a:ext cx="5904656" cy="9710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/>
                          <a:sym typeface="Cambria Math"/>
                        </a:rPr>
                        <m:t>𝑐𝑜𝑠𝑡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2000" i="1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2000" i="1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2000" i="0">
                          <a:latin typeface="Cambria Math"/>
                          <a:sym typeface="Cambria Math"/>
                        </a:rPr>
                        <m:t>)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sz="20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1</m:t>
                          </m:r>
                        </m:num>
                        <m:den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20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naryPr>
                        <m:sub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𝑖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=</m:t>
                          </m:r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1</m:t>
                          </m:r>
                        </m:sub>
                        <m:sup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𝑚</m:t>
                          </m:r>
                        </m:sup>
                        <m:e>
                          <m:r>
                            <a:rPr sz="2000" i="1">
                              <a:latin typeface="Cambria Math"/>
                              <a:sym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sz="20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𝐻</m:t>
                              </m:r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sz="200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  <m:t>(</m:t>
                                  </m:r>
                                  <m: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  <m:t>𝑖</m:t>
                                  </m:r>
                                  <m: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)−</m:t>
                              </m:r>
                              <m:sSup>
                                <m:sSupPr>
                                  <m:ctrlPr>
                                    <a:rPr sz="200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  <m:t>(</m:t>
                                  </m:r>
                                  <m: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  <m:t>𝑖</m:t>
                                  </m:r>
                                  <m:r>
                                    <a:rPr sz="2000" i="1">
                                      <a:latin typeface="Cambria Math"/>
                                      <a:sym typeface="Cambria Math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sz="2000" i="1">
                                  <a:latin typeface="Cambria Math"/>
                                  <a:sym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12" name="자유형: 도형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0B65535-E1FF-42E3-9ADD-7D76843DD6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544" y="4664922"/>
                <a:ext cx="5904656" cy="9710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2091368" y="1564393"/>
            <a:ext cx="84053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8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로지스틱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회귀</a:t>
            </a:r>
            <a:endParaRPr lang="en-US" altLang="ko-KR" sz="24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2091368" y="3623333"/>
            <a:ext cx="84053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8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선형 회귀</a:t>
            </a:r>
            <a:endParaRPr lang="en-US" altLang="ko-KR" sz="24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2091368" y="5636008"/>
            <a:ext cx="84053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8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경사하강법</a:t>
            </a:r>
            <a:endParaRPr lang="en-US" altLang="ko-KR" sz="24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5870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결정경계를 통한 학습결과 시각화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6817996" y="2575630"/>
            <a:ext cx="3333714" cy="2081651"/>
            <a:chOff x="4714876" y="3000372"/>
            <a:chExt cx="4133850" cy="2581275"/>
          </a:xfrm>
        </p:grpSpPr>
        <p:pic>
          <p:nvPicPr>
            <p:cNvPr id="14" name="Picture 2"/>
            <p:cNvPicPr>
              <a:picLocks noChangeAspect="1" noChangeArrowheads="1"/>
            </p:cNvPicPr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4714876" y="3000372"/>
              <a:ext cx="4133850" cy="2581275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</p:pic>
        <p:cxnSp>
          <p:nvCxnSpPr>
            <p:cNvPr id="15" name="직선 연결선 14"/>
            <p:cNvCxnSpPr/>
            <p:nvPr/>
          </p:nvCxnSpPr>
          <p:spPr>
            <a:xfrm>
              <a:off x="5429256" y="3429000"/>
              <a:ext cx="2786082" cy="171451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</p:grpSp>
      <p:grpSp>
        <p:nvGrpSpPr>
          <p:cNvPr id="16" name="그룹 15"/>
          <p:cNvGrpSpPr/>
          <p:nvPr/>
        </p:nvGrpSpPr>
        <p:grpSpPr>
          <a:xfrm>
            <a:off x="2460279" y="2585137"/>
            <a:ext cx="2966322" cy="1987218"/>
            <a:chOff x="714348" y="3000372"/>
            <a:chExt cx="3895725" cy="2609850"/>
          </a:xfrm>
        </p:grpSpPr>
        <p:pic>
          <p:nvPicPr>
            <p:cNvPr id="17" name="Picture 3"/>
            <p:cNvPicPr>
              <a:picLocks noChangeAspect="1" noChangeArrowheads="1"/>
            </p:cNvPicPr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714348" y="3000372"/>
              <a:ext cx="3895725" cy="2609850"/>
            </a:xfrm>
            <a:prstGeom prst="rect">
              <a:avLst/>
            </a:prstGeom>
            <a:noFill/>
            <a:ln w="9525">
              <a:noFill/>
              <a:miter/>
            </a:ln>
            <a:effectLst/>
          </p:spPr>
        </p:pic>
        <p:cxnSp>
          <p:nvCxnSpPr>
            <p:cNvPr id="20" name="직선 연결선 19"/>
            <p:cNvCxnSpPr/>
            <p:nvPr/>
          </p:nvCxnSpPr>
          <p:spPr>
            <a:xfrm rot="5400000">
              <a:off x="1429522" y="4224657"/>
              <a:ext cx="2428892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</p:cxnSp>
      </p:grpSp>
      <p:sp>
        <p:nvSpPr>
          <p:cNvPr id="23" name="직사각형 22"/>
          <p:cNvSpPr/>
          <p:nvPr/>
        </p:nvSpPr>
        <p:spPr>
          <a:xfrm>
            <a:off x="3009917" y="4600633"/>
            <a:ext cx="1491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1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차원 데이터 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7897516" y="4629208"/>
            <a:ext cx="1491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2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차원 데이터 </a:t>
            </a: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462450" y="4561530"/>
            <a:ext cx="3048002" cy="2109325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sp>
        <p:nvSpPr>
          <p:cNvPr id="26" name="직사각형 25"/>
          <p:cNvSpPr/>
          <p:nvPr/>
        </p:nvSpPr>
        <p:spPr>
          <a:xfrm>
            <a:off x="7534284" y="5924568"/>
            <a:ext cx="21788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2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차 원 데이터에 대한</a:t>
            </a:r>
          </a:p>
          <a:p>
            <a:pPr lvl="0">
              <a:defRPr/>
            </a:pP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비선형 결정경계</a:t>
            </a:r>
          </a:p>
        </p:txBody>
      </p:sp>
      <p:sp>
        <p:nvSpPr>
          <p:cNvPr id="27" name="자유형: 도형 3">
            <a:extLst>
              <a:ext uri="{FF2B5EF4-FFF2-40B4-BE49-F238E27FC236}">
                <a16:creationId xmlns="" xmlns:a16="http://schemas.microsoft.com/office/drawing/2014/main" id="{C54E1516-1491-42E0-954C-E7D075BE873D}"/>
              </a:ext>
            </a:extLst>
          </p:cNvPr>
          <p:cNvSpPr/>
          <p:nvPr/>
        </p:nvSpPr>
        <p:spPr>
          <a:xfrm>
            <a:off x="5724525" y="5296535"/>
            <a:ext cx="619457" cy="444500"/>
          </a:xfrm>
          <a:custGeom>
            <a:avLst/>
            <a:gdLst>
              <a:gd name="connsiteX0" fmla="*/ 104775 w 619457"/>
              <a:gd name="connsiteY0" fmla="*/ 82550 h 444500"/>
              <a:gd name="connsiteX1" fmla="*/ 88900 w 619457"/>
              <a:gd name="connsiteY1" fmla="*/ 92075 h 444500"/>
              <a:gd name="connsiteX2" fmla="*/ 79375 w 619457"/>
              <a:gd name="connsiteY2" fmla="*/ 111125 h 444500"/>
              <a:gd name="connsiteX3" fmla="*/ 63500 w 619457"/>
              <a:gd name="connsiteY3" fmla="*/ 127000 h 444500"/>
              <a:gd name="connsiteX4" fmla="*/ 57150 w 619457"/>
              <a:gd name="connsiteY4" fmla="*/ 136525 h 444500"/>
              <a:gd name="connsiteX5" fmla="*/ 47625 w 619457"/>
              <a:gd name="connsiteY5" fmla="*/ 139700 h 444500"/>
              <a:gd name="connsiteX6" fmla="*/ 38100 w 619457"/>
              <a:gd name="connsiteY6" fmla="*/ 146050 h 444500"/>
              <a:gd name="connsiteX7" fmla="*/ 15875 w 619457"/>
              <a:gd name="connsiteY7" fmla="*/ 168275 h 444500"/>
              <a:gd name="connsiteX8" fmla="*/ 3175 w 619457"/>
              <a:gd name="connsiteY8" fmla="*/ 196850 h 444500"/>
              <a:gd name="connsiteX9" fmla="*/ 0 w 619457"/>
              <a:gd name="connsiteY9" fmla="*/ 206375 h 444500"/>
              <a:gd name="connsiteX10" fmla="*/ 3175 w 619457"/>
              <a:gd name="connsiteY10" fmla="*/ 260350 h 444500"/>
              <a:gd name="connsiteX11" fmla="*/ 9525 w 619457"/>
              <a:gd name="connsiteY11" fmla="*/ 279400 h 444500"/>
              <a:gd name="connsiteX12" fmla="*/ 15875 w 619457"/>
              <a:gd name="connsiteY12" fmla="*/ 298450 h 444500"/>
              <a:gd name="connsiteX13" fmla="*/ 19050 w 619457"/>
              <a:gd name="connsiteY13" fmla="*/ 307975 h 444500"/>
              <a:gd name="connsiteX14" fmla="*/ 25400 w 619457"/>
              <a:gd name="connsiteY14" fmla="*/ 317500 h 444500"/>
              <a:gd name="connsiteX15" fmla="*/ 34925 w 619457"/>
              <a:gd name="connsiteY15" fmla="*/ 336550 h 444500"/>
              <a:gd name="connsiteX16" fmla="*/ 44450 w 619457"/>
              <a:gd name="connsiteY16" fmla="*/ 342900 h 444500"/>
              <a:gd name="connsiteX17" fmla="*/ 57150 w 619457"/>
              <a:gd name="connsiteY17" fmla="*/ 358775 h 444500"/>
              <a:gd name="connsiteX18" fmla="*/ 79375 w 619457"/>
              <a:gd name="connsiteY18" fmla="*/ 377825 h 444500"/>
              <a:gd name="connsiteX19" fmla="*/ 88900 w 619457"/>
              <a:gd name="connsiteY19" fmla="*/ 381000 h 444500"/>
              <a:gd name="connsiteX20" fmla="*/ 98425 w 619457"/>
              <a:gd name="connsiteY20" fmla="*/ 390525 h 444500"/>
              <a:gd name="connsiteX21" fmla="*/ 107950 w 619457"/>
              <a:gd name="connsiteY21" fmla="*/ 393700 h 444500"/>
              <a:gd name="connsiteX22" fmla="*/ 117475 w 619457"/>
              <a:gd name="connsiteY22" fmla="*/ 400050 h 444500"/>
              <a:gd name="connsiteX23" fmla="*/ 127000 w 619457"/>
              <a:gd name="connsiteY23" fmla="*/ 403225 h 444500"/>
              <a:gd name="connsiteX24" fmla="*/ 136525 w 619457"/>
              <a:gd name="connsiteY24" fmla="*/ 409575 h 444500"/>
              <a:gd name="connsiteX25" fmla="*/ 158750 w 619457"/>
              <a:gd name="connsiteY25" fmla="*/ 415925 h 444500"/>
              <a:gd name="connsiteX26" fmla="*/ 180975 w 619457"/>
              <a:gd name="connsiteY26" fmla="*/ 422275 h 444500"/>
              <a:gd name="connsiteX27" fmla="*/ 209550 w 619457"/>
              <a:gd name="connsiteY27" fmla="*/ 425450 h 444500"/>
              <a:gd name="connsiteX28" fmla="*/ 219075 w 619457"/>
              <a:gd name="connsiteY28" fmla="*/ 428625 h 444500"/>
              <a:gd name="connsiteX29" fmla="*/ 250825 w 619457"/>
              <a:gd name="connsiteY29" fmla="*/ 434975 h 444500"/>
              <a:gd name="connsiteX30" fmla="*/ 260350 w 619457"/>
              <a:gd name="connsiteY30" fmla="*/ 438150 h 444500"/>
              <a:gd name="connsiteX31" fmla="*/ 269875 w 619457"/>
              <a:gd name="connsiteY31" fmla="*/ 444500 h 444500"/>
              <a:gd name="connsiteX32" fmla="*/ 361950 w 619457"/>
              <a:gd name="connsiteY32" fmla="*/ 441325 h 444500"/>
              <a:gd name="connsiteX33" fmla="*/ 371475 w 619457"/>
              <a:gd name="connsiteY33" fmla="*/ 438150 h 444500"/>
              <a:gd name="connsiteX34" fmla="*/ 403225 w 619457"/>
              <a:gd name="connsiteY34" fmla="*/ 434975 h 444500"/>
              <a:gd name="connsiteX35" fmla="*/ 425450 w 619457"/>
              <a:gd name="connsiteY35" fmla="*/ 425450 h 444500"/>
              <a:gd name="connsiteX36" fmla="*/ 444500 w 619457"/>
              <a:gd name="connsiteY36" fmla="*/ 419100 h 444500"/>
              <a:gd name="connsiteX37" fmla="*/ 454025 w 619457"/>
              <a:gd name="connsiteY37" fmla="*/ 415925 h 444500"/>
              <a:gd name="connsiteX38" fmla="*/ 473075 w 619457"/>
              <a:gd name="connsiteY38" fmla="*/ 403225 h 444500"/>
              <a:gd name="connsiteX39" fmla="*/ 479425 w 619457"/>
              <a:gd name="connsiteY39" fmla="*/ 393700 h 444500"/>
              <a:gd name="connsiteX40" fmla="*/ 488950 w 619457"/>
              <a:gd name="connsiteY40" fmla="*/ 390525 h 444500"/>
              <a:gd name="connsiteX41" fmla="*/ 498475 w 619457"/>
              <a:gd name="connsiteY41" fmla="*/ 384175 h 444500"/>
              <a:gd name="connsiteX42" fmla="*/ 508000 w 619457"/>
              <a:gd name="connsiteY42" fmla="*/ 374650 h 444500"/>
              <a:gd name="connsiteX43" fmla="*/ 520700 w 619457"/>
              <a:gd name="connsiteY43" fmla="*/ 371475 h 444500"/>
              <a:gd name="connsiteX44" fmla="*/ 533400 w 619457"/>
              <a:gd name="connsiteY44" fmla="*/ 361950 h 444500"/>
              <a:gd name="connsiteX45" fmla="*/ 542925 w 619457"/>
              <a:gd name="connsiteY45" fmla="*/ 355600 h 444500"/>
              <a:gd name="connsiteX46" fmla="*/ 565150 w 619457"/>
              <a:gd name="connsiteY46" fmla="*/ 330200 h 444500"/>
              <a:gd name="connsiteX47" fmla="*/ 581025 w 619457"/>
              <a:gd name="connsiteY47" fmla="*/ 314325 h 444500"/>
              <a:gd name="connsiteX48" fmla="*/ 596900 w 619457"/>
              <a:gd name="connsiteY48" fmla="*/ 298450 h 444500"/>
              <a:gd name="connsiteX49" fmla="*/ 603250 w 619457"/>
              <a:gd name="connsiteY49" fmla="*/ 285750 h 444500"/>
              <a:gd name="connsiteX50" fmla="*/ 606425 w 619457"/>
              <a:gd name="connsiteY50" fmla="*/ 276225 h 444500"/>
              <a:gd name="connsiteX51" fmla="*/ 615950 w 619457"/>
              <a:gd name="connsiteY51" fmla="*/ 269875 h 444500"/>
              <a:gd name="connsiteX52" fmla="*/ 615950 w 619457"/>
              <a:gd name="connsiteY52" fmla="*/ 215900 h 444500"/>
              <a:gd name="connsiteX53" fmla="*/ 609600 w 619457"/>
              <a:gd name="connsiteY53" fmla="*/ 206375 h 444500"/>
              <a:gd name="connsiteX54" fmla="*/ 596900 w 619457"/>
              <a:gd name="connsiteY54" fmla="*/ 187325 h 444500"/>
              <a:gd name="connsiteX55" fmla="*/ 593725 w 619457"/>
              <a:gd name="connsiteY55" fmla="*/ 174625 h 444500"/>
              <a:gd name="connsiteX56" fmla="*/ 590550 w 619457"/>
              <a:gd name="connsiteY56" fmla="*/ 158750 h 444500"/>
              <a:gd name="connsiteX57" fmla="*/ 584200 w 619457"/>
              <a:gd name="connsiteY57" fmla="*/ 139700 h 444500"/>
              <a:gd name="connsiteX58" fmla="*/ 568325 w 619457"/>
              <a:gd name="connsiteY58" fmla="*/ 111125 h 444500"/>
              <a:gd name="connsiteX59" fmla="*/ 558800 w 619457"/>
              <a:gd name="connsiteY59" fmla="*/ 104775 h 444500"/>
              <a:gd name="connsiteX60" fmla="*/ 536575 w 619457"/>
              <a:gd name="connsiteY60" fmla="*/ 76200 h 444500"/>
              <a:gd name="connsiteX61" fmla="*/ 530225 w 619457"/>
              <a:gd name="connsiteY61" fmla="*/ 66675 h 444500"/>
              <a:gd name="connsiteX62" fmla="*/ 511175 w 619457"/>
              <a:gd name="connsiteY62" fmla="*/ 53975 h 444500"/>
              <a:gd name="connsiteX63" fmla="*/ 482600 w 619457"/>
              <a:gd name="connsiteY63" fmla="*/ 34925 h 444500"/>
              <a:gd name="connsiteX64" fmla="*/ 473075 w 619457"/>
              <a:gd name="connsiteY64" fmla="*/ 28575 h 444500"/>
              <a:gd name="connsiteX65" fmla="*/ 463550 w 619457"/>
              <a:gd name="connsiteY65" fmla="*/ 25400 h 444500"/>
              <a:gd name="connsiteX66" fmla="*/ 450850 w 619457"/>
              <a:gd name="connsiteY66" fmla="*/ 19050 h 444500"/>
              <a:gd name="connsiteX67" fmla="*/ 441325 w 619457"/>
              <a:gd name="connsiteY67" fmla="*/ 15875 h 444500"/>
              <a:gd name="connsiteX68" fmla="*/ 431800 w 619457"/>
              <a:gd name="connsiteY68" fmla="*/ 9525 h 444500"/>
              <a:gd name="connsiteX69" fmla="*/ 412750 w 619457"/>
              <a:gd name="connsiteY69" fmla="*/ 3175 h 444500"/>
              <a:gd name="connsiteX70" fmla="*/ 403225 w 619457"/>
              <a:gd name="connsiteY70" fmla="*/ 0 h 444500"/>
              <a:gd name="connsiteX71" fmla="*/ 295275 w 619457"/>
              <a:gd name="connsiteY71" fmla="*/ 3175 h 444500"/>
              <a:gd name="connsiteX72" fmla="*/ 263525 w 619457"/>
              <a:gd name="connsiteY72" fmla="*/ 9525 h 444500"/>
              <a:gd name="connsiteX73" fmla="*/ 234950 w 619457"/>
              <a:gd name="connsiteY73" fmla="*/ 12700 h 444500"/>
              <a:gd name="connsiteX74" fmla="*/ 206375 w 619457"/>
              <a:gd name="connsiteY74" fmla="*/ 19050 h 444500"/>
              <a:gd name="connsiteX75" fmla="*/ 187325 w 619457"/>
              <a:gd name="connsiteY75" fmla="*/ 25400 h 444500"/>
              <a:gd name="connsiteX76" fmla="*/ 174625 w 619457"/>
              <a:gd name="connsiteY76" fmla="*/ 28575 h 444500"/>
              <a:gd name="connsiteX77" fmla="*/ 142875 w 619457"/>
              <a:gd name="connsiteY77" fmla="*/ 47625 h 444500"/>
              <a:gd name="connsiteX78" fmla="*/ 123825 w 619457"/>
              <a:gd name="connsiteY78" fmla="*/ 63500 h 444500"/>
              <a:gd name="connsiteX79" fmla="*/ 92075 w 619457"/>
              <a:gd name="connsiteY79" fmla="*/ 95250 h 444500"/>
              <a:gd name="connsiteX80" fmla="*/ 82550 w 619457"/>
              <a:gd name="connsiteY80" fmla="*/ 101600 h 444500"/>
              <a:gd name="connsiteX81" fmla="*/ 104775 w 619457"/>
              <a:gd name="connsiteY81" fmla="*/ 82550 h 44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19457" h="444500">
                <a:moveTo>
                  <a:pt x="104775" y="82550"/>
                </a:moveTo>
                <a:cubicBezTo>
                  <a:pt x="99483" y="85725"/>
                  <a:pt x="93585" y="88059"/>
                  <a:pt x="88900" y="92075"/>
                </a:cubicBezTo>
                <a:cubicBezTo>
                  <a:pt x="80938" y="98899"/>
                  <a:pt x="83542" y="102791"/>
                  <a:pt x="79375" y="111125"/>
                </a:cubicBezTo>
                <a:cubicBezTo>
                  <a:pt x="74083" y="121708"/>
                  <a:pt x="73025" y="120650"/>
                  <a:pt x="63500" y="127000"/>
                </a:cubicBezTo>
                <a:cubicBezTo>
                  <a:pt x="61383" y="130175"/>
                  <a:pt x="60130" y="134141"/>
                  <a:pt x="57150" y="136525"/>
                </a:cubicBezTo>
                <a:cubicBezTo>
                  <a:pt x="54537" y="138616"/>
                  <a:pt x="50618" y="138203"/>
                  <a:pt x="47625" y="139700"/>
                </a:cubicBezTo>
                <a:cubicBezTo>
                  <a:pt x="44212" y="141407"/>
                  <a:pt x="40936" y="143497"/>
                  <a:pt x="38100" y="146050"/>
                </a:cubicBezTo>
                <a:cubicBezTo>
                  <a:pt x="30313" y="153059"/>
                  <a:pt x="21687" y="159558"/>
                  <a:pt x="15875" y="168275"/>
                </a:cubicBezTo>
                <a:cubicBezTo>
                  <a:pt x="5812" y="183369"/>
                  <a:pt x="10732" y="174180"/>
                  <a:pt x="3175" y="196850"/>
                </a:cubicBezTo>
                <a:lnTo>
                  <a:pt x="0" y="206375"/>
                </a:lnTo>
                <a:cubicBezTo>
                  <a:pt x="1058" y="224367"/>
                  <a:pt x="844" y="242479"/>
                  <a:pt x="3175" y="260350"/>
                </a:cubicBezTo>
                <a:cubicBezTo>
                  <a:pt x="4041" y="266987"/>
                  <a:pt x="7408" y="273050"/>
                  <a:pt x="9525" y="279400"/>
                </a:cubicBezTo>
                <a:lnTo>
                  <a:pt x="15875" y="298450"/>
                </a:lnTo>
                <a:cubicBezTo>
                  <a:pt x="16933" y="301625"/>
                  <a:pt x="17194" y="305190"/>
                  <a:pt x="19050" y="307975"/>
                </a:cubicBezTo>
                <a:cubicBezTo>
                  <a:pt x="21167" y="311150"/>
                  <a:pt x="23693" y="314087"/>
                  <a:pt x="25400" y="317500"/>
                </a:cubicBezTo>
                <a:cubicBezTo>
                  <a:pt x="30565" y="327829"/>
                  <a:pt x="25826" y="327451"/>
                  <a:pt x="34925" y="336550"/>
                </a:cubicBezTo>
                <a:cubicBezTo>
                  <a:pt x="37623" y="339248"/>
                  <a:pt x="41275" y="340783"/>
                  <a:pt x="44450" y="342900"/>
                </a:cubicBezTo>
                <a:cubicBezTo>
                  <a:pt x="49662" y="358537"/>
                  <a:pt x="43893" y="347728"/>
                  <a:pt x="57150" y="358775"/>
                </a:cubicBezTo>
                <a:cubicBezTo>
                  <a:pt x="69434" y="369011"/>
                  <a:pt x="64242" y="369177"/>
                  <a:pt x="79375" y="377825"/>
                </a:cubicBezTo>
                <a:cubicBezTo>
                  <a:pt x="82281" y="379485"/>
                  <a:pt x="85725" y="379942"/>
                  <a:pt x="88900" y="381000"/>
                </a:cubicBezTo>
                <a:cubicBezTo>
                  <a:pt x="92075" y="384175"/>
                  <a:pt x="94689" y="388034"/>
                  <a:pt x="98425" y="390525"/>
                </a:cubicBezTo>
                <a:cubicBezTo>
                  <a:pt x="101210" y="392381"/>
                  <a:pt x="104957" y="392203"/>
                  <a:pt x="107950" y="393700"/>
                </a:cubicBezTo>
                <a:cubicBezTo>
                  <a:pt x="111363" y="395407"/>
                  <a:pt x="114062" y="398343"/>
                  <a:pt x="117475" y="400050"/>
                </a:cubicBezTo>
                <a:cubicBezTo>
                  <a:pt x="120468" y="401547"/>
                  <a:pt x="124007" y="401728"/>
                  <a:pt x="127000" y="403225"/>
                </a:cubicBezTo>
                <a:cubicBezTo>
                  <a:pt x="130413" y="404932"/>
                  <a:pt x="133112" y="407868"/>
                  <a:pt x="136525" y="409575"/>
                </a:cubicBezTo>
                <a:cubicBezTo>
                  <a:pt x="141600" y="412113"/>
                  <a:pt x="154003" y="414569"/>
                  <a:pt x="158750" y="415925"/>
                </a:cubicBezTo>
                <a:cubicBezTo>
                  <a:pt x="168431" y="418691"/>
                  <a:pt x="170222" y="420621"/>
                  <a:pt x="180975" y="422275"/>
                </a:cubicBezTo>
                <a:cubicBezTo>
                  <a:pt x="190447" y="423732"/>
                  <a:pt x="200025" y="424392"/>
                  <a:pt x="209550" y="425450"/>
                </a:cubicBezTo>
                <a:cubicBezTo>
                  <a:pt x="212725" y="426508"/>
                  <a:pt x="215814" y="427872"/>
                  <a:pt x="219075" y="428625"/>
                </a:cubicBezTo>
                <a:cubicBezTo>
                  <a:pt x="229592" y="431052"/>
                  <a:pt x="240586" y="431562"/>
                  <a:pt x="250825" y="434975"/>
                </a:cubicBezTo>
                <a:cubicBezTo>
                  <a:pt x="254000" y="436033"/>
                  <a:pt x="257357" y="436653"/>
                  <a:pt x="260350" y="438150"/>
                </a:cubicBezTo>
                <a:cubicBezTo>
                  <a:pt x="263763" y="439857"/>
                  <a:pt x="266700" y="442383"/>
                  <a:pt x="269875" y="444500"/>
                </a:cubicBezTo>
                <a:cubicBezTo>
                  <a:pt x="300567" y="443442"/>
                  <a:pt x="331300" y="443241"/>
                  <a:pt x="361950" y="441325"/>
                </a:cubicBezTo>
                <a:cubicBezTo>
                  <a:pt x="365290" y="441116"/>
                  <a:pt x="368167" y="438659"/>
                  <a:pt x="371475" y="438150"/>
                </a:cubicBezTo>
                <a:cubicBezTo>
                  <a:pt x="381987" y="436533"/>
                  <a:pt x="392642" y="436033"/>
                  <a:pt x="403225" y="434975"/>
                </a:cubicBezTo>
                <a:cubicBezTo>
                  <a:pt x="433886" y="424755"/>
                  <a:pt x="386216" y="441143"/>
                  <a:pt x="425450" y="425450"/>
                </a:cubicBezTo>
                <a:cubicBezTo>
                  <a:pt x="431665" y="422964"/>
                  <a:pt x="438150" y="421217"/>
                  <a:pt x="444500" y="419100"/>
                </a:cubicBezTo>
                <a:lnTo>
                  <a:pt x="454025" y="415925"/>
                </a:lnTo>
                <a:cubicBezTo>
                  <a:pt x="469967" y="392012"/>
                  <a:pt x="448472" y="419627"/>
                  <a:pt x="473075" y="403225"/>
                </a:cubicBezTo>
                <a:cubicBezTo>
                  <a:pt x="476250" y="401108"/>
                  <a:pt x="476445" y="396084"/>
                  <a:pt x="479425" y="393700"/>
                </a:cubicBezTo>
                <a:cubicBezTo>
                  <a:pt x="482038" y="391609"/>
                  <a:pt x="485957" y="392022"/>
                  <a:pt x="488950" y="390525"/>
                </a:cubicBezTo>
                <a:cubicBezTo>
                  <a:pt x="492363" y="388818"/>
                  <a:pt x="495544" y="386618"/>
                  <a:pt x="498475" y="384175"/>
                </a:cubicBezTo>
                <a:cubicBezTo>
                  <a:pt x="501924" y="381300"/>
                  <a:pt x="504101" y="376878"/>
                  <a:pt x="508000" y="374650"/>
                </a:cubicBezTo>
                <a:cubicBezTo>
                  <a:pt x="511789" y="372485"/>
                  <a:pt x="516467" y="372533"/>
                  <a:pt x="520700" y="371475"/>
                </a:cubicBezTo>
                <a:cubicBezTo>
                  <a:pt x="524933" y="368300"/>
                  <a:pt x="529094" y="365026"/>
                  <a:pt x="533400" y="361950"/>
                </a:cubicBezTo>
                <a:cubicBezTo>
                  <a:pt x="536505" y="359732"/>
                  <a:pt x="540412" y="358472"/>
                  <a:pt x="542925" y="355600"/>
                </a:cubicBezTo>
                <a:cubicBezTo>
                  <a:pt x="568854" y="325967"/>
                  <a:pt x="543719" y="344488"/>
                  <a:pt x="565150" y="330200"/>
                </a:cubicBezTo>
                <a:cubicBezTo>
                  <a:pt x="582083" y="304800"/>
                  <a:pt x="559858" y="335492"/>
                  <a:pt x="581025" y="314325"/>
                </a:cubicBezTo>
                <a:cubicBezTo>
                  <a:pt x="602192" y="293158"/>
                  <a:pt x="571500" y="315383"/>
                  <a:pt x="596900" y="298450"/>
                </a:cubicBezTo>
                <a:cubicBezTo>
                  <a:pt x="599017" y="294217"/>
                  <a:pt x="601386" y="290100"/>
                  <a:pt x="603250" y="285750"/>
                </a:cubicBezTo>
                <a:cubicBezTo>
                  <a:pt x="604568" y="282674"/>
                  <a:pt x="604334" y="278838"/>
                  <a:pt x="606425" y="276225"/>
                </a:cubicBezTo>
                <a:cubicBezTo>
                  <a:pt x="608809" y="273245"/>
                  <a:pt x="612775" y="271992"/>
                  <a:pt x="615950" y="269875"/>
                </a:cubicBezTo>
                <a:cubicBezTo>
                  <a:pt x="619250" y="246773"/>
                  <a:pt x="621829" y="241378"/>
                  <a:pt x="615950" y="215900"/>
                </a:cubicBezTo>
                <a:cubicBezTo>
                  <a:pt x="615092" y="212182"/>
                  <a:pt x="611307" y="209788"/>
                  <a:pt x="609600" y="206375"/>
                </a:cubicBezTo>
                <a:cubicBezTo>
                  <a:pt x="600410" y="187995"/>
                  <a:pt x="614956" y="205381"/>
                  <a:pt x="596900" y="187325"/>
                </a:cubicBezTo>
                <a:cubicBezTo>
                  <a:pt x="595842" y="183092"/>
                  <a:pt x="594672" y="178885"/>
                  <a:pt x="593725" y="174625"/>
                </a:cubicBezTo>
                <a:cubicBezTo>
                  <a:pt x="592554" y="169357"/>
                  <a:pt x="591970" y="163956"/>
                  <a:pt x="590550" y="158750"/>
                </a:cubicBezTo>
                <a:cubicBezTo>
                  <a:pt x="588789" y="152292"/>
                  <a:pt x="586317" y="146050"/>
                  <a:pt x="584200" y="139700"/>
                </a:cubicBezTo>
                <a:cubicBezTo>
                  <a:pt x="580891" y="129774"/>
                  <a:pt x="577683" y="117363"/>
                  <a:pt x="568325" y="111125"/>
                </a:cubicBezTo>
                <a:lnTo>
                  <a:pt x="558800" y="104775"/>
                </a:lnTo>
                <a:cubicBezTo>
                  <a:pt x="526702" y="56627"/>
                  <a:pt x="561444" y="106043"/>
                  <a:pt x="536575" y="76200"/>
                </a:cubicBezTo>
                <a:cubicBezTo>
                  <a:pt x="534132" y="73269"/>
                  <a:pt x="533097" y="69188"/>
                  <a:pt x="530225" y="66675"/>
                </a:cubicBezTo>
                <a:cubicBezTo>
                  <a:pt x="524482" y="61649"/>
                  <a:pt x="517525" y="58208"/>
                  <a:pt x="511175" y="53975"/>
                </a:cubicBezTo>
                <a:lnTo>
                  <a:pt x="482600" y="34925"/>
                </a:lnTo>
                <a:cubicBezTo>
                  <a:pt x="479425" y="32808"/>
                  <a:pt x="476695" y="29782"/>
                  <a:pt x="473075" y="28575"/>
                </a:cubicBezTo>
                <a:cubicBezTo>
                  <a:pt x="469900" y="27517"/>
                  <a:pt x="466626" y="26718"/>
                  <a:pt x="463550" y="25400"/>
                </a:cubicBezTo>
                <a:cubicBezTo>
                  <a:pt x="459200" y="23536"/>
                  <a:pt x="455200" y="20914"/>
                  <a:pt x="450850" y="19050"/>
                </a:cubicBezTo>
                <a:cubicBezTo>
                  <a:pt x="447774" y="17732"/>
                  <a:pt x="444318" y="17372"/>
                  <a:pt x="441325" y="15875"/>
                </a:cubicBezTo>
                <a:cubicBezTo>
                  <a:pt x="437912" y="14168"/>
                  <a:pt x="435287" y="11075"/>
                  <a:pt x="431800" y="9525"/>
                </a:cubicBezTo>
                <a:cubicBezTo>
                  <a:pt x="425683" y="6807"/>
                  <a:pt x="419100" y="5292"/>
                  <a:pt x="412750" y="3175"/>
                </a:cubicBezTo>
                <a:lnTo>
                  <a:pt x="403225" y="0"/>
                </a:lnTo>
                <a:cubicBezTo>
                  <a:pt x="367242" y="1058"/>
                  <a:pt x="331229" y="1377"/>
                  <a:pt x="295275" y="3175"/>
                </a:cubicBezTo>
                <a:cubicBezTo>
                  <a:pt x="272279" y="4325"/>
                  <a:pt x="282228" y="6648"/>
                  <a:pt x="263525" y="9525"/>
                </a:cubicBezTo>
                <a:cubicBezTo>
                  <a:pt x="254053" y="10982"/>
                  <a:pt x="244437" y="11345"/>
                  <a:pt x="234950" y="12700"/>
                </a:cubicBezTo>
                <a:cubicBezTo>
                  <a:pt x="229182" y="13524"/>
                  <a:pt x="212678" y="17159"/>
                  <a:pt x="206375" y="19050"/>
                </a:cubicBezTo>
                <a:cubicBezTo>
                  <a:pt x="199964" y="20973"/>
                  <a:pt x="193819" y="23777"/>
                  <a:pt x="187325" y="25400"/>
                </a:cubicBezTo>
                <a:cubicBezTo>
                  <a:pt x="183092" y="26458"/>
                  <a:pt x="178711" y="27043"/>
                  <a:pt x="174625" y="28575"/>
                </a:cubicBezTo>
                <a:cubicBezTo>
                  <a:pt x="166608" y="31581"/>
                  <a:pt x="147306" y="43194"/>
                  <a:pt x="142875" y="47625"/>
                </a:cubicBezTo>
                <a:cubicBezTo>
                  <a:pt x="130652" y="59848"/>
                  <a:pt x="137086" y="54659"/>
                  <a:pt x="123825" y="63500"/>
                </a:cubicBezTo>
                <a:cubicBezTo>
                  <a:pt x="106892" y="88900"/>
                  <a:pt x="117475" y="78317"/>
                  <a:pt x="92075" y="95250"/>
                </a:cubicBezTo>
                <a:lnTo>
                  <a:pt x="82550" y="101600"/>
                </a:lnTo>
                <a:lnTo>
                  <a:pt x="104775" y="82550"/>
                </a:lnTo>
                <a:close/>
              </a:path>
            </a:pathLst>
          </a:custGeom>
          <a:noFill/>
          <a:ln w="38100" cap="flat" cmpd="sng" algn="ctr">
            <a:solidFill>
              <a:schemeClr val="tx1">
                <a:lumMod val="95000"/>
                <a:lumOff val="5000"/>
              </a:schemeClr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Times New Roman"/>
              <a:ea typeface="굴림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806576" y="1597166"/>
            <a:ext cx="96081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6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영역을 구분하는 경계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결정경계는 데이터와 분류기의 특성을 분석하고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학습이 잘 되었는지 판단하는 데 유용함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342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모서리가 둥근 직사각형 85"/>
          <p:cNvSpPr/>
          <p:nvPr/>
        </p:nvSpPr>
        <p:spPr>
          <a:xfrm>
            <a:off x="6241142" y="1992378"/>
            <a:ext cx="3942128" cy="475614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7" name="모서리가 둥근 직사각형 86"/>
          <p:cNvSpPr/>
          <p:nvPr/>
        </p:nvSpPr>
        <p:spPr>
          <a:xfrm>
            <a:off x="6241142" y="2891764"/>
            <a:ext cx="3942128" cy="678227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8" name="모서리가 둥근 직사각형 87"/>
          <p:cNvSpPr/>
          <p:nvPr/>
        </p:nvSpPr>
        <p:spPr>
          <a:xfrm>
            <a:off x="6241142" y="3831651"/>
            <a:ext cx="5417458" cy="730394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9" name="모서리가 둥근 직사각형 88"/>
          <p:cNvSpPr/>
          <p:nvPr/>
        </p:nvSpPr>
        <p:spPr>
          <a:xfrm>
            <a:off x="6241142" y="4718586"/>
            <a:ext cx="3942128" cy="616866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90" name="모서리가 둥근 직사각형 89"/>
          <p:cNvSpPr/>
          <p:nvPr/>
        </p:nvSpPr>
        <p:spPr>
          <a:xfrm>
            <a:off x="6241142" y="5486399"/>
            <a:ext cx="3942128" cy="609601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91" name="모서리가 둥근 직사각형 90"/>
          <p:cNvSpPr/>
          <p:nvPr/>
        </p:nvSpPr>
        <p:spPr>
          <a:xfrm>
            <a:off x="6241142" y="6245140"/>
            <a:ext cx="3942128" cy="475614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로지스틱</a:t>
            </a:r>
            <a:r>
              <a:rPr lang="ko-KR" altLang="en-US" dirty="0" smtClean="0"/>
              <a:t> 회귀 학습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자유형: 도형 9">
                <a:extLst>
                  <a:ext uri="{FF2B5EF4-FFF2-40B4-BE49-F238E27FC236}">
                    <a16:creationId xmlns:a16="http://schemas.microsoft.com/office/drawing/2014/main" xmlns="" id="{9826E289-C3DA-4743-A7AE-EF688568A379}"/>
                  </a:ext>
                </a:extLst>
              </p:cNvPr>
              <p:cNvSpPr/>
              <p:nvPr/>
            </p:nvSpPr>
            <p:spPr>
              <a:xfrm>
                <a:off x="7254065" y="4739530"/>
                <a:ext cx="2731808" cy="4667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/>
                          <a:sym typeface="Cambria Math"/>
                        </a:rPr>
                        <m:t>𝑚𝑖𝑛𝑖𝑚𝑖𝑧𝑒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𝑐𝑜𝑠𝑡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80" name="자유형: 도형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826E289-C3DA-4743-A7AE-EF688568A3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4065" y="4739530"/>
                <a:ext cx="2731808" cy="4667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자유형: 도형 10">
                <a:extLst>
                  <a:ext uri="{FF2B5EF4-FFF2-40B4-BE49-F238E27FC236}">
                    <a16:creationId xmlns:a16="http://schemas.microsoft.com/office/drawing/2014/main" xmlns="" id="{E58C9755-30CD-45D6-B1EE-956F77007B8B}"/>
                  </a:ext>
                </a:extLst>
              </p:cNvPr>
              <p:cNvSpPr/>
              <p:nvPr/>
            </p:nvSpPr>
            <p:spPr>
              <a:xfrm>
                <a:off x="8275282" y="5015779"/>
                <a:ext cx="580484" cy="4095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600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1600">
                          <a:latin typeface="Cambria Math"/>
                          <a:sym typeface="Cambria Math"/>
                        </a:rPr>
                        <m:t>𝑏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81" name="자유형: 도형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58C9755-30CD-45D6-B1EE-956F77007B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282" y="5015779"/>
                <a:ext cx="580484" cy="4095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Box 9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498296" y="1581552"/>
            <a:ext cx="3884847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학습 데이터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학습데이터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x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와 출력 레이블</a:t>
            </a:r>
            <a:endParaRPr lang="en-US" altLang="ko-KR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학습 모델 정의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4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시그모이드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기울기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w, x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축 </a:t>
            </a:r>
            <a:r>
              <a:rPr lang="ko-KR" altLang="en-US" sz="24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이동량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b)</a:t>
            </a:r>
          </a:p>
          <a:p>
            <a:pPr marL="265113" indent="-250825"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en-US" altLang="ko-KR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학습방법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cost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함수 정의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비용이 최소화 되도록 최적화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4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경사하강법을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이용한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w, b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추정</a:t>
            </a:r>
            <a:endParaRPr lang="en-US" altLang="ko-KR" sz="24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en-US" altLang="ko-KR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예측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en-US" altLang="ko-KR" sz="24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w,b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를 사용해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x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분류</a:t>
            </a:r>
            <a:endParaRPr lang="en-US" altLang="ko-KR" sz="24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5050971" y="2218756"/>
            <a:ext cx="119017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/>
          <p:nvPr/>
        </p:nvCxnSpPr>
        <p:spPr>
          <a:xfrm>
            <a:off x="5383143" y="3225928"/>
            <a:ext cx="85799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endCxn id="89" idx="1"/>
          </p:cNvCxnSpPr>
          <p:nvPr/>
        </p:nvCxnSpPr>
        <p:spPr>
          <a:xfrm>
            <a:off x="4754880" y="4623072"/>
            <a:ext cx="1486262" cy="403947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/>
          <p:nvPr/>
        </p:nvCxnSpPr>
        <p:spPr>
          <a:xfrm>
            <a:off x="4602480" y="5226380"/>
            <a:ext cx="1638662" cy="578379"/>
          </a:xfrm>
          <a:prstGeom prst="bentConnector3">
            <a:avLst>
              <a:gd name="adj1" fmla="val 709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96"/>
          <p:cNvCxnSpPr/>
          <p:nvPr/>
        </p:nvCxnSpPr>
        <p:spPr>
          <a:xfrm>
            <a:off x="4160520" y="6004120"/>
            <a:ext cx="2080622" cy="498631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/>
          <p:nvPr/>
        </p:nvCxnSpPr>
        <p:spPr>
          <a:xfrm>
            <a:off x="3810000" y="4256442"/>
            <a:ext cx="243114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직사각형 23">
                <a:extLst>
                  <a:ext uri="{FF2B5EF4-FFF2-40B4-BE49-F238E27FC236}">
                    <a16:creationId xmlns="" xmlns:a16="http://schemas.microsoft.com/office/drawing/2014/main" id="{7038C2D7-874C-48EC-9FE6-2949B70F6D0A}"/>
                  </a:ext>
                </a:extLst>
              </p:cNvPr>
              <p:cNvSpPr/>
              <p:nvPr/>
            </p:nvSpPr>
            <p:spPr>
              <a:xfrm>
                <a:off x="7643493" y="2037885"/>
                <a:ext cx="11374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800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8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ko-KR" sz="1800" dirty="0"/>
                        <m:t>[0|1</m:t>
                      </m:r>
                      <m:r>
                        <a:rPr lang="en-US" altLang="ko-KR" sz="1800" i="1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ko-KR" sz="1800" i="1" dirty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038C2D7-874C-48EC-9FE6-2949B70F6D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493" y="2037885"/>
                <a:ext cx="1137426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96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="" xmlns:a16="http://schemas.microsoft.com/office/drawing/2014/main" id="{9A955FAB-118B-4049-B115-BB68D1A2E667}"/>
                  </a:ext>
                </a:extLst>
              </p:cNvPr>
              <p:cNvSpPr txBox="1"/>
              <p:nvPr/>
            </p:nvSpPr>
            <p:spPr>
              <a:xfrm>
                <a:off x="6313465" y="2886537"/>
                <a:ext cx="3672408" cy="622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8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ko-KR" altLang="en-US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ko-KR" altLang="en-US" sz="180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8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𝑤𝑥</m:t>
                              </m:r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A955FAB-118B-4049-B115-BB68D1A2E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465" y="2886537"/>
                <a:ext cx="3672408" cy="62203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="" xmlns:a16="http://schemas.microsoft.com/office/drawing/2014/main" id="{47069A5B-EB5E-40A9-96AB-B92F056B5806}"/>
                  </a:ext>
                </a:extLst>
              </p:cNvPr>
              <p:cNvSpPr txBox="1"/>
              <p:nvPr/>
            </p:nvSpPr>
            <p:spPr>
              <a:xfrm>
                <a:off x="5767466" y="3876671"/>
                <a:ext cx="6336704" cy="763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i="1" spc="-150" smtClean="0"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en-US" altLang="ko-KR" sz="1800" i="1" spc="-1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pc="-150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800" b="0" i="1" spc="-1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800" b="0" i="1" spc="-15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ko-KR" sz="1800" i="1" spc="-15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ko-KR" altLang="en-US" sz="1800" i="1" spc="-150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800" spc="-15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o-KR" altLang="en-US" sz="1800" i="1" spc="-150" dirty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ko-KR" altLang="en-US" sz="1800" i="1" spc="-150" dirty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ko-KR" sz="1800" i="1" spc="-150" dirty="0">
                              <a:latin typeface="Cambria Math" panose="02040503050406030204" pitchFamily="18" charset="0"/>
                            </a:rPr>
                            <m:t>𝑦𝑙𝑜𝑔</m:t>
                          </m:r>
                          <m:d>
                            <m:dPr>
                              <m:ctrlPr>
                                <a:rPr lang="en-US" altLang="ko-KR" sz="1800" i="1" spc="-150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i="1" spc="-150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en-US" altLang="ko-KR" sz="1800" i="1" spc="-150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i="1" spc="-150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ko-KR" sz="1800" i="1" spc="-150" dirty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1800" i="1" spc="-150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i="1" spc="-150" dirty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ko-KR" sz="1800" i="1" spc="-150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ko-KR" sz="1800" spc="-150" dirty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ko-KR" sz="1800" i="1" spc="-150" dirty="0">
                              <a:latin typeface="Cambria Math" panose="02040503050406030204" pitchFamily="18" charset="0"/>
                            </a:rPr>
                            <m:t>⁡(1−</m:t>
                          </m:r>
                          <m:r>
                            <a:rPr lang="en-US" altLang="ko-KR" sz="1800" i="1" spc="-150" dirty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ko-KR" sz="1800" i="1" spc="-150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i="1" spc="-150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1800" i="1" spc="-150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2000" spc="-150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7069A5B-EB5E-40A9-96AB-B92F056B5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466" y="3876671"/>
                <a:ext cx="6336704" cy="76309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="" xmlns:a16="http://schemas.microsoft.com/office/drawing/2014/main" id="{AA3A637B-7B31-4D1E-9FB1-B37DE88E933B}"/>
                  </a:ext>
                </a:extLst>
              </p:cNvPr>
              <p:cNvSpPr txBox="1"/>
              <p:nvPr/>
            </p:nvSpPr>
            <p:spPr>
              <a:xfrm>
                <a:off x="6253649" y="5476729"/>
                <a:ext cx="3960440" cy="794576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8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ko-KR" alt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800" dirty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ko-KR" altLang="en-US" sz="1800" i="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ko-KR" sz="1800" b="0" i="1" dirty="0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US" altLang="ko-KR" sz="1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A3A637B-7B31-4D1E-9FB1-B37DE88E9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649" y="5476729"/>
                <a:ext cx="3960440" cy="79457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자유형: 도형 11">
                <a:extLst>
                  <a:ext uri="{FF2B5EF4-FFF2-40B4-BE49-F238E27FC236}">
                    <a16:creationId xmlns="" xmlns:a16="http://schemas.microsoft.com/office/drawing/2014/main" id="{777F1E2D-046A-4F51-953B-877D8E9BAC23}"/>
                  </a:ext>
                </a:extLst>
              </p:cNvPr>
              <p:cNvSpPr/>
              <p:nvPr/>
            </p:nvSpPr>
            <p:spPr>
              <a:xfrm>
                <a:off x="7191688" y="6296024"/>
                <a:ext cx="2401988" cy="4857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sym typeface="Cambria Math"/>
                        </a:rPr>
                        <m:t>𝑡𝑟𝑢𝑒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sym typeface="Cambria Math"/>
                        </a:rPr>
                        <m:t>,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sym typeface="Cambria Math"/>
                        </a:rPr>
                        <m:t>𝑖𝑓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sym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i="1" smtClean="0">
                          <a:latin typeface="Cambria Math" panose="02040503050406030204" pitchFamily="18" charset="0"/>
                          <a:sym typeface="Cambria Math"/>
                        </a:rPr>
                        <m:t>H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Cambria Math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sym typeface="Cambria Math"/>
                        </a:rPr>
                        <m:t>&gt;0.5</m:t>
                      </m:r>
                    </m:oMath>
                  </m:oMathPara>
                </a14:m>
                <a:endParaRPr sz="1800" dirty="0"/>
              </a:p>
            </p:txBody>
          </p:sp>
        </mc:Choice>
        <mc:Fallback xmlns="">
          <p:sp>
            <p:nvSpPr>
              <p:cNvPr id="28" name="자유형: 도형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77F1E2D-046A-4F51-953B-877D8E9BAC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688" y="6296024"/>
                <a:ext cx="2401988" cy="4857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62407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TensorFlow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808679"/>
            <a:ext cx="91498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sigmoid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함수에 대한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cost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 특성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로지스틱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회귀 구현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정규분포 분류하기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당뇨병 발병 가능성 진단하기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스팸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메일 검출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3299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2630</TotalTime>
  <Words>893</Words>
  <Application>Microsoft Office PowerPoint</Application>
  <PresentationFormat>와이드스크린</PresentationFormat>
  <Paragraphs>281</Paragraphs>
  <Slides>26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9" baseType="lpstr">
      <vt:lpstr>나눔바른고딕</vt:lpstr>
      <vt:lpstr>굴림</vt:lpstr>
      <vt:lpstr>Cambria Math</vt:lpstr>
      <vt:lpstr>나눔스퀘어 ExtraBold</vt:lpstr>
      <vt:lpstr>Impact</vt:lpstr>
      <vt:lpstr>나눔스퀘어 Bold</vt:lpstr>
      <vt:lpstr>휴먼모음T</vt:lpstr>
      <vt:lpstr>Times New Roman</vt:lpstr>
      <vt:lpstr>스웨거 TTF</vt:lpstr>
      <vt:lpstr>Arial</vt:lpstr>
      <vt:lpstr>Cambria</vt:lpstr>
      <vt:lpstr>맑은 고딕</vt:lpstr>
      <vt:lpstr>1_Office 테마</vt:lpstr>
      <vt:lpstr>PowerPoint 프레젠테이션</vt:lpstr>
      <vt:lpstr>PowerPoint 프레젠테이션</vt:lpstr>
      <vt:lpstr>신용도에 따른 대출 승인</vt:lpstr>
      <vt:lpstr>당뇨병 진단 예측</vt:lpstr>
      <vt:lpstr>SPAM 필터링</vt:lpstr>
      <vt:lpstr>2진 분류</vt:lpstr>
      <vt:lpstr>직선을 이용한 이항 분포 모델링</vt:lpstr>
      <vt:lpstr>직선을 이용한 이항 분포 모델링</vt:lpstr>
      <vt:lpstr>출력 값 제한</vt:lpstr>
      <vt:lpstr>확률 함수로 변환</vt:lpstr>
      <vt:lpstr>확률 함수로 변환</vt:lpstr>
      <vt:lpstr>시그모이드 함수</vt:lpstr>
      <vt:lpstr>시그모이드 미분함수</vt:lpstr>
      <vt:lpstr>로지스틱 회귀</vt:lpstr>
      <vt:lpstr>로지스틱 회귀</vt:lpstr>
      <vt:lpstr>로지스틱 회귀</vt:lpstr>
      <vt:lpstr>경사하강법을 이용한 최적화</vt:lpstr>
      <vt:lpstr>시그모이드 함수 사용에 따른 cost 함수의 특성</vt:lpstr>
      <vt:lpstr>Log 기반 cost 함수</vt:lpstr>
      <vt:lpstr>Log 기반 cost 함수</vt:lpstr>
      <vt:lpstr>Log 기반 cost 함수</vt:lpstr>
      <vt:lpstr>Cost 함수 직접 계산하기</vt:lpstr>
      <vt:lpstr>로지스틱 회귀 경사하강법</vt:lpstr>
      <vt:lpstr>결정경계를 통한 학습결과 시각화</vt:lpstr>
      <vt:lpstr>로지스틱 회귀 학습</vt:lpstr>
      <vt:lpstr>TensorFlow 실습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648</cp:revision>
  <dcterms:created xsi:type="dcterms:W3CDTF">2019-01-19T08:23:23Z</dcterms:created>
  <dcterms:modified xsi:type="dcterms:W3CDTF">2020-03-10T06:48:44Z</dcterms:modified>
</cp:coreProperties>
</file>