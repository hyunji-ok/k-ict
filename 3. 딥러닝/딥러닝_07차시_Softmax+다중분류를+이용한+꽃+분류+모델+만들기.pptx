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5" r:id="rId1"/>
  </p:sldMasterIdLst>
  <p:notesMasterIdLst>
    <p:notesMasterId r:id="rId29"/>
  </p:notesMasterIdLst>
  <p:handoutMasterIdLst>
    <p:handoutMasterId r:id="rId30"/>
  </p:handoutMasterIdLst>
  <p:sldIdLst>
    <p:sldId id="314" r:id="rId2"/>
    <p:sldId id="261" r:id="rId3"/>
    <p:sldId id="354" r:id="rId4"/>
    <p:sldId id="355" r:id="rId5"/>
    <p:sldId id="356" r:id="rId6"/>
    <p:sldId id="357" r:id="rId7"/>
    <p:sldId id="409" r:id="rId8"/>
    <p:sldId id="410" r:id="rId9"/>
    <p:sldId id="398" r:id="rId10"/>
    <p:sldId id="411" r:id="rId11"/>
    <p:sldId id="419" r:id="rId12"/>
    <p:sldId id="420" r:id="rId13"/>
    <p:sldId id="412" r:id="rId14"/>
    <p:sldId id="401" r:id="rId15"/>
    <p:sldId id="421" r:id="rId16"/>
    <p:sldId id="422" r:id="rId17"/>
    <p:sldId id="413" r:id="rId18"/>
    <p:sldId id="402" r:id="rId19"/>
    <p:sldId id="403" r:id="rId20"/>
    <p:sldId id="400" r:id="rId21"/>
    <p:sldId id="405" r:id="rId22"/>
    <p:sldId id="406" r:id="rId23"/>
    <p:sldId id="407" r:id="rId24"/>
    <p:sldId id="414" r:id="rId25"/>
    <p:sldId id="408" r:id="rId26"/>
    <p:sldId id="423" r:id="rId27"/>
    <p:sldId id="404" r:id="rId28"/>
  </p:sldIdLst>
  <p:sldSz cx="12192000" cy="6858000"/>
  <p:notesSz cx="6858000" cy="9144000"/>
  <p:embeddedFontLst>
    <p:embeddedFont>
      <p:font typeface="나눔바른고딕" panose="020B0603020101020101" pitchFamily="50" charset="-127"/>
      <p:regular r:id="rId31"/>
      <p:bold r:id="rId32"/>
    </p:embeddedFont>
    <p:embeddedFont>
      <p:font typeface="Cambria Math" panose="02040503050406030204" pitchFamily="18" charset="0"/>
      <p:regular r:id="rId33"/>
    </p:embeddedFont>
    <p:embeddedFont>
      <p:font typeface="Impact" panose="020B0806030902050204" pitchFamily="34" charset="0"/>
      <p:regular r:id="rId34"/>
    </p:embeddedFont>
    <p:embeddedFont>
      <p:font typeface="나눔스퀘어 Bold" panose="020B0600000101010101" pitchFamily="50" charset="-127"/>
      <p:bold r:id="rId35"/>
    </p:embeddedFont>
    <p:embeddedFont>
      <p:font typeface="휴먼모음T" panose="02030504000101010101" pitchFamily="18" charset="-127"/>
      <p:regular r:id="rId36"/>
    </p:embeddedFont>
    <p:embeddedFont>
      <p:font typeface="스웨거 TTF" panose="020B0600000101010101" pitchFamily="50" charset="-127"/>
      <p:regular r:id="rId37"/>
    </p:embeddedFont>
    <p:embeddedFont>
      <p:font typeface="맑은 고딕" panose="020B0503020000020004" pitchFamily="50" charset="-127"/>
      <p:regular r:id="rId38"/>
      <p:bold r:id="rId3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62" userDrawn="1">
          <p15:clr>
            <a:srgbClr val="A4A3A4"/>
          </p15:clr>
        </p15:guide>
        <p15:guide id="2" pos="7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F95"/>
    <a:srgbClr val="CC0099"/>
    <a:srgbClr val="37AADA"/>
    <a:srgbClr val="95D5E1"/>
    <a:srgbClr val="99CCFF"/>
    <a:srgbClr val="66CCFF"/>
    <a:srgbClr val="3399FF"/>
    <a:srgbClr val="36AAD9"/>
    <a:srgbClr val="5AA8CF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1" autoAdjust="0"/>
    <p:restoredTop sz="94660"/>
  </p:normalViewPr>
  <p:slideViewPr>
    <p:cSldViewPr snapToGrid="0">
      <p:cViewPr varScale="1">
        <p:scale>
          <a:sx n="96" d="100"/>
          <a:sy n="96" d="100"/>
        </p:scale>
        <p:origin x="306" y="78"/>
      </p:cViewPr>
      <p:guideLst>
        <p:guide orient="horz" pos="1162"/>
        <p:guide pos="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292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1722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5403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240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4453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470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471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78185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24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0082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8772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926306-6D90-4D79-8F24-CD46E2BCC7C3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1201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20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3046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2332401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20002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815630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583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8049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0BF1A-F6CD-4C5D-8A10-50CE1AC8E4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4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alandoresearch/fashion-mnist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0.png"/><Relationship Id="rId3" Type="http://schemas.openxmlformats.org/officeDocument/2006/relationships/image" Target="../media/image16.png"/><Relationship Id="rId12" Type="http://schemas.openxmlformats.org/officeDocument/2006/relationships/image" Target="../media/image140.png"/><Relationship Id="rId2" Type="http://schemas.openxmlformats.org/officeDocument/2006/relationships/image" Target="../media/image15.png"/><Relationship Id="rId16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130.png"/><Relationship Id="rId5" Type="http://schemas.openxmlformats.org/officeDocument/2006/relationships/image" Target="../media/image18.png"/><Relationship Id="rId15" Type="http://schemas.openxmlformats.org/officeDocument/2006/relationships/image" Target="../media/image19.png"/><Relationship Id="rId10" Type="http://schemas.openxmlformats.org/officeDocument/2006/relationships/image" Target="../media/image140.png"/><Relationship Id="rId4" Type="http://schemas.openxmlformats.org/officeDocument/2006/relationships/image" Target="../media/image17.png"/><Relationship Id="rId9" Type="http://schemas.openxmlformats.org/officeDocument/2006/relationships/image" Target="../media/image130.png"/><Relationship Id="rId14" Type="http://schemas.openxmlformats.org/officeDocument/2006/relationships/image" Target="../media/image1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2.png"/><Relationship Id="rId7" Type="http://schemas.openxmlformats.org/officeDocument/2006/relationships/image" Target="../media/image190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image" Target="../media/image10.png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60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50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0.png"/><Relationship Id="rId3" Type="http://schemas.openxmlformats.org/officeDocument/2006/relationships/image" Target="../media/image7.png"/><Relationship Id="rId7" Type="http://schemas.openxmlformats.org/officeDocument/2006/relationships/image" Target="../media/image37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0.png"/><Relationship Id="rId5" Type="http://schemas.openxmlformats.org/officeDocument/2006/relationships/image" Target="../media/image9.png"/><Relationship Id="rId10" Type="http://schemas.openxmlformats.org/officeDocument/2006/relationships/image" Target="../media/image40.png"/><Relationship Id="rId4" Type="http://schemas.openxmlformats.org/officeDocument/2006/relationships/image" Target="../media/image8.png"/><Relationship Id="rId9" Type="http://schemas.openxmlformats.org/officeDocument/2006/relationships/image" Target="../media/image39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png"/><Relationship Id="rId5" Type="http://schemas.openxmlformats.org/officeDocument/2006/relationships/image" Target="../media/image430.png"/><Relationship Id="rId4" Type="http://schemas.openxmlformats.org/officeDocument/2006/relationships/image" Target="../media/image4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31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10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6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.png"/><Relationship Id="rId7" Type="http://schemas.openxmlformats.org/officeDocument/2006/relationships/image" Target="../media/image73.png"/><Relationship Id="rId12" Type="http://schemas.openxmlformats.org/officeDocument/2006/relationships/image" Target="../media/image7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2.png"/><Relationship Id="rId11" Type="http://schemas.openxmlformats.org/officeDocument/2006/relationships/image" Target="../media/image77.png"/><Relationship Id="rId5" Type="http://schemas.openxmlformats.org/officeDocument/2006/relationships/image" Target="../media/image10.png"/><Relationship Id="rId10" Type="http://schemas.openxmlformats.org/officeDocument/2006/relationships/image" Target="../media/image76.png"/><Relationship Id="rId4" Type="http://schemas.openxmlformats.org/officeDocument/2006/relationships/image" Target="../media/image71.png"/><Relationship Id="rId9" Type="http://schemas.openxmlformats.org/officeDocument/2006/relationships/image" Target="../media/image7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41417" y="2852777"/>
            <a:ext cx="111055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7. </a:t>
            </a:r>
            <a:r>
              <a:rPr lang="en-US" altLang="ko-KR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r>
              <a:rPr lang="ko-KR" altLang="en-US" sz="66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다중분류를 이용한 꽃 분류 모델 만들기</a:t>
            </a:r>
          </a:p>
        </p:txBody>
      </p:sp>
    </p:spTree>
    <p:extLst>
      <p:ext uri="{BB962C8B-B14F-4D97-AF65-F5344CB8AC3E}">
        <p14:creationId xmlns:p14="http://schemas.microsoft.com/office/powerpoint/2010/main" val="416606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그룹 24"/>
          <p:cNvGrpSpPr/>
          <p:nvPr/>
        </p:nvGrpSpPr>
        <p:grpSpPr>
          <a:xfrm>
            <a:off x="1986130" y="1082980"/>
            <a:ext cx="8345735" cy="539110"/>
            <a:chOff x="1986130" y="1509700"/>
            <a:chExt cx="8345735" cy="539110"/>
          </a:xfrm>
        </p:grpSpPr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9" y="1518179"/>
              <a:ext cx="7764786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다중 클래스 분류 사례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1509700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9906000" y="1509700"/>
              <a:ext cx="3369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3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986130" y="2155376"/>
            <a:ext cx="8345735" cy="542649"/>
            <a:chOff x="1986130" y="2630163"/>
            <a:chExt cx="8345735" cy="542649"/>
          </a:xfrm>
        </p:grpSpPr>
        <p:sp>
          <p:nvSpPr>
            <p:cNvPr id="8" name="TextBox 7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2649592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Softmax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기반 다중 분류에 대한 이해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2630163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8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9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7" name="TextBox 16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9906001" y="2646054"/>
              <a:ext cx="33695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7</a:t>
              </a:r>
              <a:endParaRPr lang="ko-KR" altLang="en-US" sz="2800" b="1" spc="-30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1986130" y="3231311"/>
            <a:ext cx="8345735" cy="553652"/>
            <a:chOff x="1986130" y="3736085"/>
            <a:chExt cx="8345735" cy="553652"/>
          </a:xfrm>
        </p:grpSpPr>
        <p:sp>
          <p:nvSpPr>
            <p:cNvPr id="6" name="TextBox 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3736085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Softmax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3750627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1" name="그룹 20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3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4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3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9753714" y="373608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1986130" y="4318249"/>
            <a:ext cx="8345735" cy="553652"/>
            <a:chOff x="1986130" y="4856549"/>
            <a:chExt cx="8345735" cy="553652"/>
          </a:xfrm>
        </p:grpSpPr>
        <p:sp>
          <p:nvSpPr>
            <p:cNvPr id="26" name="TextBox 2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다중분류를 위한 </a:t>
              </a:r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cost 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함수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8" name="그룹 27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30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31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18210"/>
                <a:ext cx="4063626" cy="54409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4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19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1986130" y="5405189"/>
            <a:ext cx="8345735" cy="553652"/>
            <a:chOff x="1986130" y="4856549"/>
            <a:chExt cx="8345735" cy="553652"/>
          </a:xfrm>
        </p:grpSpPr>
        <p:sp>
          <p:nvSpPr>
            <p:cNvPr id="36" name="TextBox 35">
              <a:extLst>
                <a:ext uri="{FF2B5EF4-FFF2-40B4-BE49-F238E27FC236}">
                  <a16:creationId xmlns="" xmlns:a16="http://schemas.microsoft.com/office/drawing/2014/main" id="{1FB602C5-E855-4D86-B3E0-B12A2EADDDA0}"/>
                </a:ext>
              </a:extLst>
            </p:cNvPr>
            <p:cNvSpPr txBox="1"/>
            <p:nvPr/>
          </p:nvSpPr>
          <p:spPr>
            <a:xfrm>
              <a:off x="2567078" y="4856549"/>
              <a:ext cx="7764787" cy="523220"/>
            </a:xfrm>
            <a:prstGeom prst="rect">
              <a:avLst/>
            </a:prstGeom>
            <a:solidFill>
              <a:srgbClr val="5AA8CF"/>
            </a:solidFill>
          </p:spPr>
          <p:txBody>
            <a:bodyPr wrap="square" rtlCol="0" anchor="ctr">
              <a:spAutoFit/>
            </a:bodyPr>
            <a:lstStyle/>
            <a:p>
              <a:pPr marL="14288">
                <a:spcAft>
                  <a:spcPts val="1200"/>
                </a:spcAft>
                <a:buSzPct val="80000"/>
              </a:pPr>
              <a:r>
                <a:rPr lang="en-US" altLang="ko-KR" sz="2800" dirty="0" err="1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TensorFlow</a:t>
              </a:r>
              <a:r>
                <a:rPr lang="ko-KR" altLang="en-US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를 이용한 다중 분류 구현</a:t>
              </a:r>
              <a:endParaRPr lang="en-US" altLang="ko-KR" sz="2800" dirty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endParaRPr>
            </a:p>
          </p:txBody>
        </p:sp>
        <p:grpSp>
          <p:nvGrpSpPr>
            <p:cNvPr id="37" name="그룹 36">
              <a:extLst>
                <a:ext uri="{FF2B5EF4-FFF2-40B4-BE49-F238E27FC236}">
                  <a16:creationId xmlns="" xmlns:a16="http://schemas.microsoft.com/office/drawing/2014/main" id="{A49B5C0F-8F04-4D52-943C-1750C8E88D1E}"/>
                </a:ext>
              </a:extLst>
            </p:cNvPr>
            <p:cNvGrpSpPr/>
            <p:nvPr/>
          </p:nvGrpSpPr>
          <p:grpSpPr>
            <a:xfrm>
              <a:off x="1986130" y="4871091"/>
              <a:ext cx="404758" cy="539110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39" name="그룹 38">
                <a:extLst>
                  <a:ext uri="{FF2B5EF4-FFF2-40B4-BE49-F238E27FC236}">
                    <a16:creationId xmlns="" xmlns:a16="http://schemas.microsoft.com/office/drawing/2014/main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1" name="오른쪽 대괄호 8">
                  <a:extLst>
                    <a:ext uri="{FF2B5EF4-FFF2-40B4-BE49-F238E27FC236}">
                      <a16:creationId xmlns="" xmlns:a16="http://schemas.microsoft.com/office/drawing/2014/main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2" name="오른쪽 대괄호 8">
                  <a:extLst>
                    <a:ext uri="{FF2B5EF4-FFF2-40B4-BE49-F238E27FC236}">
                      <a16:creationId xmlns="" xmlns:a16="http://schemas.microsoft.com/office/drawing/2014/main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58741"/>
                <a:ext cx="4063626" cy="46302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sz="2000" b="1" spc="-300" dirty="0" smtClean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5</a:t>
                </a:r>
                <a:endParaRPr lang="ko-KR" altLang="en-US" sz="2000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8" name="TextBox 37"/>
            <p:cNvSpPr txBox="1"/>
            <p:nvPr/>
          </p:nvSpPr>
          <p:spPr>
            <a:xfrm>
              <a:off x="9753714" y="4856635"/>
              <a:ext cx="489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800" dirty="0" smtClean="0">
                  <a:ln w="25400" cap="flat">
                    <a:noFill/>
                    <a:miter lim="800000"/>
                  </a:ln>
                  <a:solidFill>
                    <a:schemeClr val="bg1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27</a:t>
              </a:r>
              <a:endParaRPr lang="ko-KR" altLang="en-US" sz="28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  <a:ea typeface="휴먼모음T" panose="0203050400010101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9225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붓꽃 분류</a:t>
            </a:r>
            <a:endParaRPr lang="ko-KR" altLang="en-US" dirty="0"/>
          </a:p>
        </p:txBody>
      </p:sp>
      <p:sp>
        <p:nvSpPr>
          <p:cNvPr id="16" name="슬라이드 번호 개체 틀 1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95802" y="2308848"/>
            <a:ext cx="5532924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" name="Picture 2"/>
          <p:cNvPicPr preferRelativeResize="0"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76" y="2880352"/>
            <a:ext cx="857256" cy="719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" name="Picture 3"/>
          <p:cNvPicPr preferRelativeResize="0">
            <a:picLocks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953124" y="4451988"/>
            <a:ext cx="1000132" cy="862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4"/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0644" y="4237674"/>
            <a:ext cx="928694" cy="809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" name="직사각형 29"/>
          <p:cNvSpPr/>
          <p:nvPr/>
        </p:nvSpPr>
        <p:spPr>
          <a:xfrm>
            <a:off x="5095868" y="2880352"/>
            <a:ext cx="898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setosa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8739206" y="3809046"/>
            <a:ext cx="1244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versicolor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881818" y="5225664"/>
            <a:ext cx="12144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virginica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3" name="Picture 2"/>
          <p:cNvPicPr preferRelativeResize="0"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38348" y="3094666"/>
            <a:ext cx="1500198" cy="12144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4" name="직선 연결선 33"/>
          <p:cNvCxnSpPr/>
          <p:nvPr/>
        </p:nvCxnSpPr>
        <p:spPr bwMode="auto">
          <a:xfrm>
            <a:off x="2309786" y="3880484"/>
            <a:ext cx="35719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 bwMode="auto">
          <a:xfrm>
            <a:off x="2952728" y="3308980"/>
            <a:ext cx="357190" cy="1588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 bwMode="auto">
          <a:xfrm rot="5400000">
            <a:off x="2962252" y="3370894"/>
            <a:ext cx="419104" cy="952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 bwMode="auto">
          <a:xfrm rot="5400000">
            <a:off x="2268892" y="3902490"/>
            <a:ext cx="419104" cy="9524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024034" y="4737740"/>
            <a:ext cx="18373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꽃잎의 폭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길이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꽃받침의 폭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길이</a:t>
            </a:r>
          </a:p>
        </p:txBody>
      </p:sp>
      <p:cxnSp>
        <p:nvCxnSpPr>
          <p:cNvPr id="39" name="직선 연결선 38"/>
          <p:cNvCxnSpPr/>
          <p:nvPr/>
        </p:nvCxnSpPr>
        <p:spPr bwMode="auto">
          <a:xfrm flipV="1">
            <a:off x="4667240" y="2308848"/>
            <a:ext cx="3929090" cy="292895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직선 연결선 39"/>
          <p:cNvCxnSpPr/>
          <p:nvPr/>
        </p:nvCxnSpPr>
        <p:spPr bwMode="auto">
          <a:xfrm rot="16200000" flipH="1">
            <a:off x="6596066" y="3951922"/>
            <a:ext cx="2643206" cy="150019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1" name="TextBox 4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6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영역을 잘 구분할 수 있는 직선 학습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알고리즘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2716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와인 분류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70258" y="1931459"/>
            <a:ext cx="5322932" cy="4286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2404950" y="2983121"/>
            <a:ext cx="2388795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13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화학적 분석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알코올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사과산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마그네슘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색 강도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</a:p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가지 와인 범주로 분류</a:t>
            </a:r>
          </a:p>
        </p:txBody>
      </p:sp>
      <p:cxnSp>
        <p:nvCxnSpPr>
          <p:cNvPr id="12" name="직선 연결선 11"/>
          <p:cNvCxnSpPr/>
          <p:nvPr/>
        </p:nvCxnSpPr>
        <p:spPr bwMode="auto">
          <a:xfrm flipV="1">
            <a:off x="5313134" y="3574533"/>
            <a:ext cx="4357718" cy="5715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3" name="직선 연결선 12"/>
          <p:cNvCxnSpPr/>
          <p:nvPr/>
        </p:nvCxnSpPr>
        <p:spPr bwMode="auto">
          <a:xfrm rot="16200000" flipH="1">
            <a:off x="6741894" y="4574665"/>
            <a:ext cx="1857388" cy="42862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632221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숫자 인식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25" name="Picture 2" descr="https://cdn-images-1.medium.com/max/1600/1*9Mjoc_J0JR294YwHGXwCeg.jpe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02480" y="2521816"/>
            <a:ext cx="5786478" cy="3834534"/>
          </a:xfrm>
          <a:prstGeom prst="rect">
            <a:avLst/>
          </a:prstGeom>
          <a:noFill/>
        </p:spPr>
      </p:pic>
      <p:sp>
        <p:nvSpPr>
          <p:cNvPr id="26" name="직사각형 25"/>
          <p:cNvSpPr/>
          <p:nvPr/>
        </p:nvSpPr>
        <p:spPr>
          <a:xfrm>
            <a:off x="1916400" y="3792752"/>
            <a:ext cx="189667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FontTx/>
              <a:buChar char="-"/>
            </a:pPr>
            <a:r>
              <a: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28x28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영상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Tx/>
              <a:buChar char="-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0 ~ 9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필기 숫자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186(28x28)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특징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, 10(0~9)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구성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85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영상 인식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16744" y="1773207"/>
            <a:ext cx="4409295" cy="4440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6698352" y="6356350"/>
            <a:ext cx="378618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https://github.com/zalandoresearch/fashion-mnist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1870680" y="3688080"/>
            <a:ext cx="36309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Char char="-"/>
            </a:pPr>
            <a:r>
              <a: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28x28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영상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buFontTx/>
              <a:buChar char="-"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T-shirt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Coat,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Bag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등 </a:t>
            </a: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범주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83943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클래스</a:t>
            </a:r>
            <a:r>
              <a:rPr lang="en-US" altLang="ko-KR" dirty="0" smtClean="0"/>
              <a:t>(Multinomial Classification)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grpSp>
        <p:nvGrpSpPr>
          <p:cNvPr id="26" name="그룹 25"/>
          <p:cNvGrpSpPr/>
          <p:nvPr/>
        </p:nvGrpSpPr>
        <p:grpSpPr>
          <a:xfrm>
            <a:off x="6290889" y="2498616"/>
            <a:ext cx="4311390" cy="2980917"/>
            <a:chOff x="5049806" y="1875396"/>
            <a:chExt cx="4311390" cy="2980917"/>
          </a:xfrm>
        </p:grpSpPr>
        <p:grpSp>
          <p:nvGrpSpPr>
            <p:cNvPr id="27" name="그룹 26"/>
            <p:cNvGrpSpPr/>
            <p:nvPr/>
          </p:nvGrpSpPr>
          <p:grpSpPr>
            <a:xfrm>
              <a:off x="5049806" y="1875396"/>
              <a:ext cx="4311390" cy="2980917"/>
              <a:chOff x="4818738" y="1887274"/>
              <a:chExt cx="4311390" cy="2980917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8058558" y="4498859"/>
                <a:ext cx="10715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dirty="0" err="1" smtClean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꽃잎폭</a:t>
                </a:r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4818738" y="1887274"/>
                    <a:ext cx="428628" cy="37452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i="1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꽃잎길이</m:t>
                          </m:r>
                        </m:oMath>
                      </m:oMathPara>
                    </a14:m>
                    <a:endParaRPr lang="ko-KR" altLang="en-US" dirty="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mc:Choice>
            <mc:Fallback xmlns="">
              <p:sp>
                <p:nvSpPr>
                  <p:cNvPr id="34" name="TextBox 3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18738" y="1887274"/>
                    <a:ext cx="428628" cy="374526"/>
                  </a:xfrm>
                  <a:prstGeom prst="rect">
                    <a:avLst/>
                  </a:prstGeom>
                  <a:blipFill rotWithShape="0">
                    <a:blip r:embed="rId2"/>
                    <a:stretch>
                      <a:fillRect l="-4286" r="-162857" b="-8197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5" name="그룹 34"/>
              <p:cNvGrpSpPr/>
              <p:nvPr/>
            </p:nvGrpSpPr>
            <p:grpSpPr>
              <a:xfrm>
                <a:off x="5033052" y="2278550"/>
                <a:ext cx="2904607" cy="2407572"/>
                <a:chOff x="5525013" y="1126326"/>
                <a:chExt cx="2904607" cy="2407572"/>
              </a:xfrm>
            </p:grpSpPr>
            <p:cxnSp>
              <p:nvCxnSpPr>
                <p:cNvPr id="36" name="직선 연결선 35"/>
                <p:cNvCxnSpPr/>
                <p:nvPr/>
              </p:nvCxnSpPr>
              <p:spPr bwMode="auto">
                <a:xfrm>
                  <a:off x="5525013" y="1126326"/>
                  <a:ext cx="0" cy="240757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37" name="직선 연결선 36"/>
                <p:cNvCxnSpPr/>
                <p:nvPr/>
              </p:nvCxnSpPr>
              <p:spPr bwMode="auto">
                <a:xfrm>
                  <a:off x="5525013" y="3533898"/>
                  <a:ext cx="2904607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</p:cxnSp>
          </p:grpSp>
        </p:grpSp>
        <p:sp>
          <p:nvSpPr>
            <p:cNvPr id="28" name="TextBox 27"/>
            <p:cNvSpPr txBox="1"/>
            <p:nvPr/>
          </p:nvSpPr>
          <p:spPr>
            <a:xfrm>
              <a:off x="6039138" y="2673754"/>
              <a:ext cx="591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B050"/>
                  </a:solidFill>
                </a:rPr>
                <a:t>A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623893" y="2830198"/>
              <a:ext cx="591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00B050"/>
                  </a:solidFill>
                </a:rPr>
                <a:t>A</a:t>
              </a:r>
              <a:endParaRPr lang="ko-KR" altLang="en-US" dirty="0">
                <a:solidFill>
                  <a:srgbClr val="00B050"/>
                </a:solidFill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613989" y="3444282"/>
              <a:ext cx="591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452469" y="3710908"/>
              <a:ext cx="591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 dirty="0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7182146" y="4102514"/>
              <a:ext cx="5918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7030A0"/>
                  </a:solidFill>
                </a:rPr>
                <a:t>C</a:t>
              </a:r>
              <a:endParaRPr lang="ko-KR" altLang="en-US" dirty="0">
                <a:solidFill>
                  <a:srgbClr val="7030A0"/>
                </a:solidFill>
              </a:endParaRPr>
            </a:p>
          </p:txBody>
        </p:sp>
      </p:grpSp>
      <p:graphicFrame>
        <p:nvGraphicFramePr>
          <p:cNvPr id="38" name="내용 개체 틀 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6502011"/>
              </p:ext>
            </p:extLst>
          </p:nvPr>
        </p:nvGraphicFramePr>
        <p:xfrm>
          <a:off x="1821396" y="2847735"/>
          <a:ext cx="4261536" cy="241505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0512">
                  <a:extLst>
                    <a:ext uri="{9D8B030D-6E8A-4147-A177-3AD203B41FA5}">
                      <a16:colId xmlns:a16="http://schemas.microsoft.com/office/drawing/2014/main" xmlns="" val="2159963320"/>
                    </a:ext>
                  </a:extLst>
                </a:gridCol>
                <a:gridCol w="1420512">
                  <a:extLst>
                    <a:ext uri="{9D8B030D-6E8A-4147-A177-3AD203B41FA5}">
                      <a16:colId xmlns:a16="http://schemas.microsoft.com/office/drawing/2014/main" xmlns="" val="2187417454"/>
                    </a:ext>
                  </a:extLst>
                </a:gridCol>
                <a:gridCol w="1420512">
                  <a:extLst>
                    <a:ext uri="{9D8B030D-6E8A-4147-A177-3AD203B41FA5}">
                      <a16:colId xmlns:a16="http://schemas.microsoft.com/office/drawing/2014/main" xmlns="" val="2955966466"/>
                    </a:ext>
                  </a:extLst>
                </a:gridCol>
              </a:tblGrid>
              <a:tr h="59614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dirty="0" err="1" smtClean="0"/>
                        <a:t>꽃잎폭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500" dirty="0" smtClean="0"/>
                        <a:t>꽃잎길이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500" dirty="0" smtClean="0"/>
                        <a:t>붓꽃종류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4041555518"/>
                  </a:ext>
                </a:extLst>
              </a:tr>
              <a:tr h="363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8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3559032151"/>
                  </a:ext>
                </a:extLst>
              </a:tr>
              <a:tr h="363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7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A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1652058983"/>
                  </a:ext>
                </a:extLst>
              </a:tr>
              <a:tr h="363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3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4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B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2385471309"/>
                  </a:ext>
                </a:extLst>
              </a:tr>
              <a:tr h="363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B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2422200856"/>
                  </a:ext>
                </a:extLst>
              </a:tr>
              <a:tr h="3637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8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2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/>
                        <a:t>C</a:t>
                      </a:r>
                      <a:endParaRPr lang="ko-KR" altLang="en-US" sz="1500" dirty="0"/>
                    </a:p>
                  </a:txBody>
                  <a:tcPr marL="82952" marR="82952" marT="41476" marB="41476" anchor="ctr"/>
                </a:tc>
                <a:extLst>
                  <a:ext uri="{0D108BD9-81ED-4DB2-BD59-A6C34878D82A}">
                    <a16:rowId xmlns:a16="http://schemas.microsoft.com/office/drawing/2014/main" xmlns="" val="1186059240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주어진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5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 데이터의 붓꽃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종류 예측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6729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</a:t>
            </a:r>
            <a:r>
              <a:rPr lang="en-US" altLang="ko-KR" dirty="0"/>
              <a:t>(Multinomial Classification)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21" name="Picture 1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04"/>
          <a:stretch/>
        </p:blipFill>
        <p:spPr>
          <a:xfrm>
            <a:off x="1711039" y="5518244"/>
            <a:ext cx="2409630" cy="693816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4089883" y="5752378"/>
            <a:ext cx="13573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0.1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962516" y="5656503"/>
            <a:ext cx="2444124" cy="53093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24" name="Picture 3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014723" y="5592027"/>
            <a:ext cx="2409438" cy="687567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42" name="Picture 2"/>
          <p:cNvPicPr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96757" y="5661120"/>
            <a:ext cx="571472" cy="50545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43" name="Picture 2"/>
          <p:cNvPicPr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76764" y="5656502"/>
            <a:ext cx="571472" cy="50545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44" name="Picture 2"/>
          <p:cNvPicPr>
            <a:picLocks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871846" y="5663465"/>
            <a:ext cx="571472" cy="505458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45" name="TextBox 44"/>
          <p:cNvSpPr txBox="1"/>
          <p:nvPr/>
        </p:nvSpPr>
        <p:spPr>
          <a:xfrm>
            <a:off x="7371780" y="5783759"/>
            <a:ext cx="8572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0.8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424161" y="5773478"/>
            <a:ext cx="8572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0.3</a:t>
            </a:r>
            <a:endParaRPr lang="ko-KR" altLang="en-US" sz="14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grpSp>
        <p:nvGrpSpPr>
          <p:cNvPr id="47" name="그룹 7"/>
          <p:cNvGrpSpPr/>
          <p:nvPr/>
        </p:nvGrpSpPr>
        <p:grpSpPr>
          <a:xfrm>
            <a:off x="1999928" y="2880026"/>
            <a:ext cx="2512981" cy="2096292"/>
            <a:chOff x="5049806" y="1875395"/>
            <a:chExt cx="3621688" cy="3021160"/>
          </a:xfrm>
        </p:grpSpPr>
        <p:grpSp>
          <p:nvGrpSpPr>
            <p:cNvPr id="48" name="그룹 8"/>
            <p:cNvGrpSpPr/>
            <p:nvPr/>
          </p:nvGrpSpPr>
          <p:grpSpPr>
            <a:xfrm>
              <a:off x="5049806" y="1875395"/>
              <a:ext cx="3621688" cy="3021160"/>
              <a:chOff x="4818738" y="1887274"/>
              <a:chExt cx="3621688" cy="30211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16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2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14" name="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17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15" name="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blipFill rotWithShape="1">
                    <a:blip r:embed="rId10"/>
                    <a:stretch>
                      <a:fillRect/>
                    </a:stretch>
                  </a:blipFill>
                </p:spPr>
              </p:sp>
            </mc:Fallback>
          </mc:AlternateContent>
          <p:grpSp>
            <p:nvGrpSpPr>
              <p:cNvPr id="56" name="그룹 18"/>
              <p:cNvGrpSpPr/>
              <p:nvPr/>
            </p:nvGrpSpPr>
            <p:grpSpPr>
              <a:xfrm>
                <a:off x="5033051" y="2278549"/>
                <a:ext cx="2904607" cy="2407572"/>
                <a:chOff x="5525013" y="1126326"/>
                <a:chExt cx="2904607" cy="2407572"/>
              </a:xfrm>
            </p:grpSpPr>
            <p:cxnSp>
              <p:nvCxnSpPr>
                <p:cNvPr id="57" name="직선 연결선 19"/>
                <p:cNvCxnSpPr/>
                <p:nvPr/>
              </p:nvCxnSpPr>
              <p:spPr>
                <a:xfrm>
                  <a:off x="5525013" y="1126326"/>
                  <a:ext cx="0" cy="240757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58" name="직선 연결선 20"/>
                <p:cNvCxnSpPr/>
                <p:nvPr/>
              </p:nvCxnSpPr>
              <p:spPr>
                <a:xfrm>
                  <a:off x="5525013" y="3533898"/>
                  <a:ext cx="2904607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</p:grpSp>
        <p:sp>
          <p:nvSpPr>
            <p:cNvPr id="49" name="TextBox 11"/>
            <p:cNvSpPr txBox="1"/>
            <p:nvPr/>
          </p:nvSpPr>
          <p:spPr>
            <a:xfrm>
              <a:off x="6039135" y="2673752"/>
              <a:ext cx="591881" cy="5288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50" name="TextBox 12"/>
            <p:cNvSpPr txBox="1"/>
            <p:nvPr/>
          </p:nvSpPr>
          <p:spPr>
            <a:xfrm>
              <a:off x="6623891" y="2830195"/>
              <a:ext cx="591881" cy="526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5613982" y="3444280"/>
              <a:ext cx="591881" cy="529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52" name="TextBox 14"/>
            <p:cNvSpPr txBox="1"/>
            <p:nvPr/>
          </p:nvSpPr>
          <p:spPr>
            <a:xfrm>
              <a:off x="5452463" y="3710906"/>
              <a:ext cx="591883" cy="523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53" name="TextBox 15"/>
            <p:cNvSpPr txBox="1"/>
            <p:nvPr/>
          </p:nvSpPr>
          <p:spPr>
            <a:xfrm>
              <a:off x="7182143" y="4102513"/>
              <a:ext cx="591881" cy="5277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7030A0"/>
                  </a:solidFill>
                </a:rPr>
                <a:t>C</a:t>
              </a:r>
              <a:endParaRPr lang="ko-KR" altLang="en-US">
                <a:solidFill>
                  <a:srgbClr val="7030A0"/>
                </a:solidFill>
              </a:endParaRPr>
            </a:p>
          </p:txBody>
        </p:sp>
      </p:grpSp>
      <p:cxnSp>
        <p:nvCxnSpPr>
          <p:cNvPr id="59" name="직선 연결선 58"/>
          <p:cNvCxnSpPr>
            <a:endCxn id="54" idx="1"/>
          </p:cNvCxnSpPr>
          <p:nvPr/>
        </p:nvCxnSpPr>
        <p:spPr>
          <a:xfrm>
            <a:off x="2136645" y="3246207"/>
            <a:ext cx="2006153" cy="1588015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2424677" y="4976319"/>
            <a:ext cx="1368152" cy="288032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 sz="1500">
                <a:solidFill>
                  <a:srgbClr val="FF0000"/>
                </a:solidFill>
                <a:latin typeface="맑은 고딕"/>
                <a:ea typeface="맑은 고딕"/>
                <a:cs typeface="+mj-cs"/>
              </a:rPr>
              <a:t>H : A or Not</a:t>
            </a:r>
          </a:p>
        </p:txBody>
      </p:sp>
      <p:grpSp>
        <p:nvGrpSpPr>
          <p:cNvPr id="61" name="그룹 7"/>
          <p:cNvGrpSpPr/>
          <p:nvPr/>
        </p:nvGrpSpPr>
        <p:grpSpPr>
          <a:xfrm>
            <a:off x="4887547" y="2880026"/>
            <a:ext cx="2512981" cy="2096292"/>
            <a:chOff x="5049802" y="1875395"/>
            <a:chExt cx="3621688" cy="3021160"/>
          </a:xfrm>
        </p:grpSpPr>
        <p:grpSp>
          <p:nvGrpSpPr>
            <p:cNvPr id="62" name="그룹 8"/>
            <p:cNvGrpSpPr/>
            <p:nvPr/>
          </p:nvGrpSpPr>
          <p:grpSpPr>
            <a:xfrm>
              <a:off x="5049802" y="1875395"/>
              <a:ext cx="3621688" cy="3021160"/>
              <a:chOff x="4818738" y="1887274"/>
              <a:chExt cx="3621688" cy="30211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Box 16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2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28" name="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blipFill rotWithShape="1">
                    <a:blip r:embed="rId11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9" name="TextBox 17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29" name="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blipFill rotWithShape="1">
                    <a:blip r:embed="rId12"/>
                    <a:stretch>
                      <a:fillRect/>
                    </a:stretch>
                  </a:blipFill>
                </p:spPr>
              </p:sp>
            </mc:Fallback>
          </mc:AlternateContent>
          <p:grpSp>
            <p:nvGrpSpPr>
              <p:cNvPr id="70" name="그룹 18"/>
              <p:cNvGrpSpPr/>
              <p:nvPr/>
            </p:nvGrpSpPr>
            <p:grpSpPr>
              <a:xfrm>
                <a:off x="5033050" y="2278549"/>
                <a:ext cx="2904607" cy="2407572"/>
                <a:chOff x="5525013" y="1126326"/>
                <a:chExt cx="2904607" cy="2407572"/>
              </a:xfrm>
            </p:grpSpPr>
            <p:cxnSp>
              <p:nvCxnSpPr>
                <p:cNvPr id="71" name="직선 연결선 19"/>
                <p:cNvCxnSpPr/>
                <p:nvPr/>
              </p:nvCxnSpPr>
              <p:spPr>
                <a:xfrm>
                  <a:off x="5525013" y="1126326"/>
                  <a:ext cx="0" cy="240757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72" name="직선 연결선 20"/>
                <p:cNvCxnSpPr/>
                <p:nvPr/>
              </p:nvCxnSpPr>
              <p:spPr>
                <a:xfrm>
                  <a:off x="5525013" y="3533898"/>
                  <a:ext cx="2904607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</p:grpSp>
        <p:sp>
          <p:nvSpPr>
            <p:cNvPr id="63" name="TextBox 11"/>
            <p:cNvSpPr txBox="1"/>
            <p:nvPr/>
          </p:nvSpPr>
          <p:spPr>
            <a:xfrm>
              <a:off x="6039104" y="2673751"/>
              <a:ext cx="591883" cy="5288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64" name="TextBox 12"/>
            <p:cNvSpPr txBox="1"/>
            <p:nvPr/>
          </p:nvSpPr>
          <p:spPr>
            <a:xfrm>
              <a:off x="6623891" y="2830195"/>
              <a:ext cx="591881" cy="5261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65" name="TextBox 13"/>
            <p:cNvSpPr txBox="1"/>
            <p:nvPr/>
          </p:nvSpPr>
          <p:spPr>
            <a:xfrm>
              <a:off x="5613961" y="3444279"/>
              <a:ext cx="591883" cy="5297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66" name="TextBox 14"/>
            <p:cNvSpPr txBox="1"/>
            <p:nvPr/>
          </p:nvSpPr>
          <p:spPr>
            <a:xfrm>
              <a:off x="5452437" y="3710905"/>
              <a:ext cx="591883" cy="52399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67" name="TextBox 15"/>
            <p:cNvSpPr txBox="1"/>
            <p:nvPr/>
          </p:nvSpPr>
          <p:spPr>
            <a:xfrm>
              <a:off x="7182127" y="4102512"/>
              <a:ext cx="591883" cy="5277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7030A0"/>
                  </a:solidFill>
                </a:rPr>
                <a:t>C</a:t>
              </a:r>
              <a:endParaRPr lang="ko-KR" altLang="en-US">
                <a:solidFill>
                  <a:srgbClr val="7030A0"/>
                </a:solidFill>
              </a:endParaRPr>
            </a:p>
          </p:txBody>
        </p:sp>
      </p:grpSp>
      <p:cxnSp>
        <p:nvCxnSpPr>
          <p:cNvPr id="73" name="직선 연결선 72"/>
          <p:cNvCxnSpPr/>
          <p:nvPr/>
        </p:nvCxnSpPr>
        <p:spPr>
          <a:xfrm rot="16200000" flipH="1">
            <a:off x="4855618" y="3504230"/>
            <a:ext cx="1514087" cy="114205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5166923" y="4972203"/>
            <a:ext cx="1368152" cy="288032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/>
                <a:ea typeface="맑은 고딕"/>
                <a:cs typeface="+mj-cs"/>
              </a:rPr>
              <a:t>H : B or Not</a:t>
            </a:r>
          </a:p>
        </p:txBody>
      </p:sp>
      <p:grpSp>
        <p:nvGrpSpPr>
          <p:cNvPr id="75" name="그룹 7"/>
          <p:cNvGrpSpPr/>
          <p:nvPr/>
        </p:nvGrpSpPr>
        <p:grpSpPr>
          <a:xfrm>
            <a:off x="7695859" y="2880026"/>
            <a:ext cx="2512981" cy="2096292"/>
            <a:chOff x="5049794" y="1875395"/>
            <a:chExt cx="3621688" cy="3021159"/>
          </a:xfrm>
        </p:grpSpPr>
        <p:grpSp>
          <p:nvGrpSpPr>
            <p:cNvPr id="76" name="그룹 8"/>
            <p:cNvGrpSpPr/>
            <p:nvPr/>
          </p:nvGrpSpPr>
          <p:grpSpPr>
            <a:xfrm>
              <a:off x="5049794" y="1875395"/>
              <a:ext cx="3621688" cy="3021160"/>
              <a:chOff x="4818738" y="1887274"/>
              <a:chExt cx="3621688" cy="302116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2" name="TextBox 16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2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43" name=""/>
                  <p:cNvSpPr txBox="1"/>
                  <p:nvPr/>
                </p:nvSpPr>
                <p:spPr>
                  <a:xfrm>
                    <a:off x="7907026" y="4498859"/>
                    <a:ext cx="533400" cy="409575"/>
                  </a:xfrm>
                  <a:prstGeom prst="rect">
                    <a:avLst/>
                  </a:prstGeom>
                  <a:blipFill rotWithShape="1">
                    <a:blip r:embed="rId13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3" name="TextBox 17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𝑥</m:t>
                          </m:r>
                          <m:r>
                            <a:rPr sz="1800" i="1">
                              <a:latin typeface="Cambria Math"/>
                              <a:ea typeface="맑은 고딕"/>
                              <a:sym typeface="Cambria Math"/>
                            </a:rPr>
                            <m:t>1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68644" name=""/>
                  <p:cNvSpPr txBox="1"/>
                  <p:nvPr/>
                </p:nvSpPr>
                <p:spPr>
                  <a:xfrm>
                    <a:off x="4818738" y="1887274"/>
                    <a:ext cx="533400" cy="409575"/>
                  </a:xfrm>
                  <a:prstGeom prst="rect">
                    <a:avLst/>
                  </a:prstGeom>
                  <a:blipFill rotWithShape="1">
                    <a:blip r:embed="rId14"/>
                    <a:stretch>
                      <a:fillRect/>
                    </a:stretch>
                  </a:blipFill>
                </p:spPr>
              </p:sp>
            </mc:Fallback>
          </mc:AlternateContent>
          <p:grpSp>
            <p:nvGrpSpPr>
              <p:cNvPr id="84" name="그룹 18"/>
              <p:cNvGrpSpPr/>
              <p:nvPr/>
            </p:nvGrpSpPr>
            <p:grpSpPr>
              <a:xfrm>
                <a:off x="5033043" y="2278549"/>
                <a:ext cx="2904607" cy="2407572"/>
                <a:chOff x="5525013" y="1126326"/>
                <a:chExt cx="2904607" cy="2407572"/>
              </a:xfrm>
            </p:grpSpPr>
            <p:cxnSp>
              <p:nvCxnSpPr>
                <p:cNvPr id="85" name="직선 연결선 19"/>
                <p:cNvCxnSpPr/>
                <p:nvPr/>
              </p:nvCxnSpPr>
              <p:spPr>
                <a:xfrm>
                  <a:off x="5525013" y="1126326"/>
                  <a:ext cx="0" cy="2407572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  <p:cxnSp>
              <p:nvCxnSpPr>
                <p:cNvPr id="86" name="직선 연결선 20"/>
                <p:cNvCxnSpPr/>
                <p:nvPr/>
              </p:nvCxnSpPr>
              <p:spPr>
                <a:xfrm>
                  <a:off x="5525013" y="3533898"/>
                  <a:ext cx="2904607" cy="0"/>
                </a:xfrm>
                <a:prstGeom prst="line">
                  <a:avLst/>
                </a:prstGeom>
                <a:solidFill>
                  <a:schemeClr val="accent1"/>
                </a:solidFill>
                <a:ln w="19050" cap="flat" cmpd="sng" algn="ctr">
                  <a:solidFill>
                    <a:schemeClr val="tx1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</p:cxnSp>
          </p:grpSp>
        </p:grpSp>
        <p:sp>
          <p:nvSpPr>
            <p:cNvPr id="77" name="TextBox 11"/>
            <p:cNvSpPr txBox="1"/>
            <p:nvPr/>
          </p:nvSpPr>
          <p:spPr>
            <a:xfrm>
              <a:off x="6039081" y="2673740"/>
              <a:ext cx="591883" cy="5288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78" name="TextBox 12"/>
            <p:cNvSpPr txBox="1"/>
            <p:nvPr/>
          </p:nvSpPr>
          <p:spPr>
            <a:xfrm>
              <a:off x="6623888" y="2830192"/>
              <a:ext cx="591881" cy="5282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00B050"/>
                  </a:solidFill>
                </a:rPr>
                <a:t>A</a:t>
              </a:r>
              <a:endParaRPr lang="ko-KR" altLang="en-US">
                <a:solidFill>
                  <a:srgbClr val="00B050"/>
                </a:solidFill>
              </a:endParaRPr>
            </a:p>
          </p:txBody>
        </p:sp>
        <p:sp>
          <p:nvSpPr>
            <p:cNvPr id="79" name="TextBox 13"/>
            <p:cNvSpPr txBox="1"/>
            <p:nvPr/>
          </p:nvSpPr>
          <p:spPr>
            <a:xfrm>
              <a:off x="5613938" y="3444272"/>
              <a:ext cx="591883" cy="5298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0" name="TextBox 14"/>
            <p:cNvSpPr txBox="1"/>
            <p:nvPr/>
          </p:nvSpPr>
          <p:spPr>
            <a:xfrm>
              <a:off x="5452410" y="3710902"/>
              <a:ext cx="591883" cy="5277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chemeClr val="accent2">
                      <a:lumMod val="50000"/>
                    </a:schemeClr>
                  </a:solidFill>
                </a:rPr>
                <a:t>B</a:t>
              </a:r>
              <a:endParaRPr lang="ko-KR" altLang="en-US">
                <a:solidFill>
                  <a:schemeClr val="accent2">
                    <a:lumMod val="50000"/>
                  </a:schemeClr>
                </a:solidFill>
              </a:endParaRPr>
            </a:p>
          </p:txBody>
        </p:sp>
        <p:sp>
          <p:nvSpPr>
            <p:cNvPr id="81" name="TextBox 15"/>
            <p:cNvSpPr txBox="1"/>
            <p:nvPr/>
          </p:nvSpPr>
          <p:spPr>
            <a:xfrm>
              <a:off x="7182102" y="4102509"/>
              <a:ext cx="591883" cy="5277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>
                  <a:solidFill>
                    <a:srgbClr val="7030A0"/>
                  </a:solidFill>
                </a:rPr>
                <a:t>C</a:t>
              </a:r>
              <a:endParaRPr lang="ko-KR" altLang="en-US">
                <a:solidFill>
                  <a:srgbClr val="7030A0"/>
                </a:solidFill>
              </a:endParaRPr>
            </a:p>
          </p:txBody>
        </p:sp>
      </p:grpSp>
      <p:sp>
        <p:nvSpPr>
          <p:cNvPr id="87" name="TextBox 86"/>
          <p:cNvSpPr txBox="1"/>
          <p:nvPr/>
        </p:nvSpPr>
        <p:spPr>
          <a:xfrm>
            <a:off x="8168193" y="4972203"/>
            <a:ext cx="1368152" cy="288032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en-US" altLang="ko-KR" sz="1500" dirty="0">
                <a:solidFill>
                  <a:srgbClr val="FF0000"/>
                </a:solidFill>
                <a:latin typeface="맑은 고딕"/>
                <a:ea typeface="맑은 고딕"/>
                <a:cs typeface="+mj-cs"/>
              </a:rPr>
              <a:t>H : C or Not</a:t>
            </a:r>
          </a:p>
        </p:txBody>
      </p:sp>
      <p:cxnSp>
        <p:nvCxnSpPr>
          <p:cNvPr id="88" name="직선 연결선 87"/>
          <p:cNvCxnSpPr/>
          <p:nvPr/>
        </p:nvCxnSpPr>
        <p:spPr>
          <a:xfrm flipV="1">
            <a:off x="7832576" y="3824191"/>
            <a:ext cx="1944216" cy="100811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/>
            <a:headEnd w="med" len="med"/>
            <a:tailEnd w="med" len="med"/>
          </a:ln>
          <a:effectLst/>
        </p:spPr>
      </p:cxnSp>
      <p:pic>
        <p:nvPicPr>
          <p:cNvPr id="89" name="Picture 2">
            <a:extLst>
              <a:ext uri="{FF2B5EF4-FFF2-40B4-BE49-F238E27FC236}">
                <a16:creationId xmlns:a16="http://schemas.microsoft.com/office/drawing/2014/main" xmlns="" id="{0DCE6308-A5A6-4CDF-A9D2-2C83A012DE52}"/>
              </a:ext>
            </a:extLst>
          </p:cNvPr>
          <p:cNvPicPr>
            <a:picLocks noChangeArrowheads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33805" y="4749164"/>
            <a:ext cx="388706" cy="33409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90" name="Picture 2">
            <a:extLst>
              <a:ext uri="{FF2B5EF4-FFF2-40B4-BE49-F238E27FC236}">
                <a16:creationId xmlns:a16="http://schemas.microsoft.com/office/drawing/2014/main" xmlns="" id="{8B9B1993-47CE-44F8-92D7-320B882B33BD}"/>
              </a:ext>
            </a:extLst>
          </p:cNvPr>
          <p:cNvPicPr>
            <a:picLocks noChangeArrowheads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468928" y="4719599"/>
            <a:ext cx="388706" cy="33409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pic>
        <p:nvPicPr>
          <p:cNvPr id="91" name="Picture 2">
            <a:extLst>
              <a:ext uri="{FF2B5EF4-FFF2-40B4-BE49-F238E27FC236}">
                <a16:creationId xmlns:a16="http://schemas.microsoft.com/office/drawing/2014/main" xmlns="" id="{BA7F3CB7-3B38-4210-ADCC-EF9916E42496}"/>
              </a:ext>
            </a:extLst>
          </p:cNvPr>
          <p:cNvPicPr>
            <a:picLocks noChangeArrowheads="1"/>
          </p:cNvPicPr>
          <p:nvPr/>
        </p:nvPicPr>
        <p:blipFill rotWithShape="1"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437341" y="4680525"/>
            <a:ext cx="388706" cy="334093"/>
          </a:xfrm>
          <a:prstGeom prst="rect">
            <a:avLst/>
          </a:prstGeom>
          <a:noFill/>
          <a:ln w="9525">
            <a:noFill/>
            <a:miter/>
          </a:ln>
          <a:effectLst/>
        </p:spPr>
      </p:pic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641082"/>
            <a:ext cx="91498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16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분류를 위해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분류기 사용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임의의 붓꽃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data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대해 각각의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b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학습한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분류기에서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확률값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추정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2949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</a:t>
            </a:r>
            <a:r>
              <a:rPr lang="en-US" altLang="ko-KR" dirty="0"/>
              <a:t>(Multinomial Classification)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data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행렬로 변형하면 계산을 쉽고 빠르게 할 수 있음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1287255" y="3302216"/>
            <a:ext cx="9001000" cy="3221967"/>
            <a:chOff x="-890286" y="1547972"/>
            <a:chExt cx="9001000" cy="3221967"/>
          </a:xfrm>
        </p:grpSpPr>
        <p:grpSp>
          <p:nvGrpSpPr>
            <p:cNvPr id="39" name="그룹 38"/>
            <p:cNvGrpSpPr/>
            <p:nvPr/>
          </p:nvGrpSpPr>
          <p:grpSpPr>
            <a:xfrm>
              <a:off x="-890286" y="1547972"/>
              <a:ext cx="6192688" cy="2928209"/>
              <a:chOff x="-890286" y="1547972"/>
              <a:chExt cx="6192688" cy="198070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TextBox 75"/>
                  <p:cNvSpPr txBox="1"/>
                  <p:nvPr/>
                </p:nvSpPr>
                <p:spPr>
                  <a:xfrm>
                    <a:off x="-890286" y="1547972"/>
                    <a:ext cx="6192688" cy="3437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baseline="-25000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b="0" i="1" baseline="-25000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     </m:t>
                          </m:r>
                          <m:sSub>
                            <m:sSubPr>
                              <m:ctrlPr>
                                <a:rPr lang="ko-KR" altLang="en-US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ko-KR" altLang="en-US" i="0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8" name="TextBox 1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90286" y="1547972"/>
                    <a:ext cx="6192688" cy="34376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84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7" name="TextBox 76"/>
                  <p:cNvSpPr txBox="1"/>
                  <p:nvPr/>
                </p:nvSpPr>
                <p:spPr>
                  <a:xfrm>
                    <a:off x="-890286" y="2365617"/>
                    <a:ext cx="6192688" cy="3437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 baseline="-250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 baseline="-250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sSub>
                            <m:sSubPr>
                              <m:ctrlP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19" name="Text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90286" y="2365617"/>
                    <a:ext cx="6192688" cy="34376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9524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8" name="TextBox 77"/>
                  <p:cNvSpPr txBox="1"/>
                  <p:nvPr/>
                </p:nvSpPr>
                <p:spPr>
                  <a:xfrm>
                    <a:off x="-890286" y="3184912"/>
                    <a:ext cx="6192688" cy="34376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ko-KR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 baseline="-25000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ko-KR" i="1" baseline="-250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eqArr>
                            </m:e>
                          </m:d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ko-KR" b="0" i="1" dirty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           </m:t>
                          </m:r>
                          <m:sSub>
                            <m:sSubPr>
                              <m:ctrlP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ko-KR" altLang="en-US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b="0" i="0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ko-KR" alt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90286" y="3184912"/>
                    <a:ext cx="6192688" cy="34376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084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그룹 39"/>
            <p:cNvGrpSpPr/>
            <p:nvPr/>
          </p:nvGrpSpPr>
          <p:grpSpPr>
            <a:xfrm>
              <a:off x="4312478" y="1551132"/>
              <a:ext cx="3798236" cy="830782"/>
              <a:chOff x="718896" y="5434723"/>
              <a:chExt cx="3798236" cy="830782"/>
            </a:xfrm>
          </p:grpSpPr>
          <p:grpSp>
            <p:nvGrpSpPr>
              <p:cNvPr id="65" name="그룹 64"/>
              <p:cNvGrpSpPr/>
              <p:nvPr/>
            </p:nvGrpSpPr>
            <p:grpSpPr>
              <a:xfrm>
                <a:off x="718896" y="5434723"/>
                <a:ext cx="3292841" cy="830782"/>
                <a:chOff x="5155650" y="2048218"/>
                <a:chExt cx="2520038" cy="573548"/>
              </a:xfrm>
            </p:grpSpPr>
            <p:grpSp>
              <p:nvGrpSpPr>
                <p:cNvPr id="68" name="그룹 67"/>
                <p:cNvGrpSpPr/>
                <p:nvPr/>
              </p:nvGrpSpPr>
              <p:grpSpPr>
                <a:xfrm>
                  <a:off x="5155650" y="2048218"/>
                  <a:ext cx="2520038" cy="573548"/>
                  <a:chOff x="4808991" y="2104134"/>
                  <a:chExt cx="2520038" cy="573548"/>
                </a:xfrm>
              </p:grpSpPr>
              <p:sp>
                <p:nvSpPr>
                  <p:cNvPr id="70" name="직사각형 69"/>
                  <p:cNvSpPr/>
                  <p:nvPr/>
                </p:nvSpPr>
                <p:spPr bwMode="auto">
                  <a:xfrm>
                    <a:off x="5508104" y="2111046"/>
                    <a:ext cx="720080" cy="432048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chemeClr val="accent2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71" name="직선 화살표 연결선 70"/>
                  <p:cNvCxnSpPr/>
                  <p:nvPr/>
                </p:nvCxnSpPr>
                <p:spPr bwMode="auto">
                  <a:xfrm>
                    <a:off x="6228184" y="2325278"/>
                    <a:ext cx="318765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p:sp>
                <p:nvSpPr>
                  <p:cNvPr id="72" name="직사각형 71"/>
                  <p:cNvSpPr/>
                  <p:nvPr/>
                </p:nvSpPr>
                <p:spPr bwMode="auto">
                  <a:xfrm>
                    <a:off x="6545038" y="2104134"/>
                    <a:ext cx="486608" cy="432000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73" name="직선 화살표 연결선 72"/>
                  <p:cNvCxnSpPr/>
                  <p:nvPr/>
                </p:nvCxnSpPr>
                <p:spPr bwMode="auto">
                  <a:xfrm>
                    <a:off x="7031646" y="2320133"/>
                    <a:ext cx="297383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74" name="TextBox 73"/>
                      <p:cNvSpPr txBox="1"/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2800" b="0" i="1" smtClean="0">
                                  <a:solidFill>
                                    <a:srgbClr val="0066CC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ko-KR" altLang="en-US" sz="2800" dirty="0">
                          <a:solidFill>
                            <a:srgbClr val="0066CC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Box 2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75" name="직선 화살표 연결선 74"/>
                  <p:cNvCxnSpPr/>
                  <p:nvPr/>
                </p:nvCxnSpPr>
                <p:spPr bwMode="auto">
                  <a:xfrm>
                    <a:off x="5165417" y="2328862"/>
                    <a:ext cx="356202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</p:grpSp>
            <p:sp>
              <p:nvSpPr>
                <p:cNvPr id="69" name="자유형 68"/>
                <p:cNvSpPr/>
                <p:nvPr/>
              </p:nvSpPr>
              <p:spPr bwMode="auto">
                <a:xfrm>
                  <a:off x="6980851" y="2161849"/>
                  <a:ext cx="335271" cy="215025"/>
                </a:xfrm>
                <a:custGeom>
                  <a:avLst/>
                  <a:gdLst>
                    <a:gd name="connsiteX0" fmla="*/ 484095 w 484095"/>
                    <a:gd name="connsiteY0" fmla="*/ 7319 h 310473"/>
                    <a:gd name="connsiteX1" fmla="*/ 282389 w 484095"/>
                    <a:gd name="connsiteY1" fmla="*/ 34213 h 310473"/>
                    <a:gd name="connsiteX2" fmla="*/ 215153 w 484095"/>
                    <a:gd name="connsiteY2" fmla="*/ 276260 h 310473"/>
                    <a:gd name="connsiteX3" fmla="*/ 0 w 484095"/>
                    <a:gd name="connsiteY3" fmla="*/ 303154 h 31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4095" h="310473">
                      <a:moveTo>
                        <a:pt x="484095" y="7319"/>
                      </a:moveTo>
                      <a:cubicBezTo>
                        <a:pt x="405654" y="-1646"/>
                        <a:pt x="327213" y="-10610"/>
                        <a:pt x="282389" y="34213"/>
                      </a:cubicBezTo>
                      <a:cubicBezTo>
                        <a:pt x="237565" y="79036"/>
                        <a:pt x="262218" y="231437"/>
                        <a:pt x="215153" y="276260"/>
                      </a:cubicBezTo>
                      <a:cubicBezTo>
                        <a:pt x="168088" y="321084"/>
                        <a:pt x="84044" y="312119"/>
                        <a:pt x="0" y="303154"/>
                      </a:cubicBezTo>
                    </a:path>
                  </a:pathLst>
                </a:custGeom>
                <a:noFill/>
                <a:ln w="25400" cap="flat" cmpd="sng" algn="ctr">
                  <a:solidFill>
                    <a:srgbClr val="00B05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TextBox 65"/>
                  <p:cNvSpPr txBox="1"/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a14:m>
                    <a:r>
                      <a:rPr lang="en-US" altLang="ko-KR" sz="2000" dirty="0">
                        <a:solidFill>
                          <a:srgbClr val="0070C0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oMath>
                    </a14:m>
                    <a:endParaRPr lang="ko-KR" altLang="en-US" sz="20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TextBox 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6061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Box 66"/>
                  <p:cNvSpPr txBox="1"/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800" b="0" i="1" smtClean="0">
                              <a:solidFill>
                                <a:srgbClr val="0066CC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2800" dirty="0">
                      <a:solidFill>
                        <a:srgbClr val="0066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그룹 40"/>
            <p:cNvGrpSpPr/>
            <p:nvPr/>
          </p:nvGrpSpPr>
          <p:grpSpPr>
            <a:xfrm>
              <a:off x="4312478" y="3939157"/>
              <a:ext cx="3798236" cy="830782"/>
              <a:chOff x="718896" y="5434723"/>
              <a:chExt cx="3798236" cy="830782"/>
            </a:xfrm>
          </p:grpSpPr>
          <p:grpSp>
            <p:nvGrpSpPr>
              <p:cNvPr id="54" name="그룹 53"/>
              <p:cNvGrpSpPr/>
              <p:nvPr/>
            </p:nvGrpSpPr>
            <p:grpSpPr>
              <a:xfrm>
                <a:off x="718896" y="5434723"/>
                <a:ext cx="3292841" cy="830782"/>
                <a:chOff x="5155650" y="2048218"/>
                <a:chExt cx="2520038" cy="573548"/>
              </a:xfrm>
            </p:grpSpPr>
            <p:grpSp>
              <p:nvGrpSpPr>
                <p:cNvPr id="57" name="그룹 56"/>
                <p:cNvGrpSpPr/>
                <p:nvPr/>
              </p:nvGrpSpPr>
              <p:grpSpPr>
                <a:xfrm>
                  <a:off x="5155650" y="2048218"/>
                  <a:ext cx="2520038" cy="573548"/>
                  <a:chOff x="4808991" y="2104134"/>
                  <a:chExt cx="2520038" cy="573548"/>
                </a:xfrm>
              </p:grpSpPr>
              <p:sp>
                <p:nvSpPr>
                  <p:cNvPr id="59" name="직사각형 58"/>
                  <p:cNvSpPr/>
                  <p:nvPr/>
                </p:nvSpPr>
                <p:spPr bwMode="auto">
                  <a:xfrm>
                    <a:off x="5508104" y="2111046"/>
                    <a:ext cx="720080" cy="432048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chemeClr val="accent2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60" name="직선 화살표 연결선 59"/>
                  <p:cNvCxnSpPr/>
                  <p:nvPr/>
                </p:nvCxnSpPr>
                <p:spPr bwMode="auto">
                  <a:xfrm>
                    <a:off x="6228184" y="2325278"/>
                    <a:ext cx="318765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p:sp>
                <p:nvSpPr>
                  <p:cNvPr id="61" name="직사각형 60"/>
                  <p:cNvSpPr/>
                  <p:nvPr/>
                </p:nvSpPr>
                <p:spPr bwMode="auto">
                  <a:xfrm>
                    <a:off x="6545038" y="2104134"/>
                    <a:ext cx="486608" cy="432000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62" name="직선 화살표 연결선 61"/>
                  <p:cNvCxnSpPr/>
                  <p:nvPr/>
                </p:nvCxnSpPr>
                <p:spPr bwMode="auto">
                  <a:xfrm>
                    <a:off x="7031646" y="2320133"/>
                    <a:ext cx="297383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3" name="TextBox 62"/>
                      <p:cNvSpPr txBox="1"/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2800" b="0" i="1" smtClean="0">
                                  <a:solidFill>
                                    <a:srgbClr val="0066CC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ko-KR" altLang="en-US" sz="2800" dirty="0">
                          <a:solidFill>
                            <a:srgbClr val="0066CC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7" name="TextBox 8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64" name="직선 화살표 연결선 63"/>
                  <p:cNvCxnSpPr/>
                  <p:nvPr/>
                </p:nvCxnSpPr>
                <p:spPr bwMode="auto">
                  <a:xfrm>
                    <a:off x="5165417" y="2328862"/>
                    <a:ext cx="356202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</p:grpSp>
            <p:sp>
              <p:nvSpPr>
                <p:cNvPr id="58" name="자유형 57"/>
                <p:cNvSpPr/>
                <p:nvPr/>
              </p:nvSpPr>
              <p:spPr bwMode="auto">
                <a:xfrm>
                  <a:off x="6980851" y="2161849"/>
                  <a:ext cx="335271" cy="215025"/>
                </a:xfrm>
                <a:custGeom>
                  <a:avLst/>
                  <a:gdLst>
                    <a:gd name="connsiteX0" fmla="*/ 484095 w 484095"/>
                    <a:gd name="connsiteY0" fmla="*/ 7319 h 310473"/>
                    <a:gd name="connsiteX1" fmla="*/ 282389 w 484095"/>
                    <a:gd name="connsiteY1" fmla="*/ 34213 h 310473"/>
                    <a:gd name="connsiteX2" fmla="*/ 215153 w 484095"/>
                    <a:gd name="connsiteY2" fmla="*/ 276260 h 310473"/>
                    <a:gd name="connsiteX3" fmla="*/ 0 w 484095"/>
                    <a:gd name="connsiteY3" fmla="*/ 303154 h 31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4095" h="310473">
                      <a:moveTo>
                        <a:pt x="484095" y="7319"/>
                      </a:moveTo>
                      <a:cubicBezTo>
                        <a:pt x="405654" y="-1646"/>
                        <a:pt x="327213" y="-10610"/>
                        <a:pt x="282389" y="34213"/>
                      </a:cubicBezTo>
                      <a:cubicBezTo>
                        <a:pt x="237565" y="79036"/>
                        <a:pt x="262218" y="231437"/>
                        <a:pt x="215153" y="276260"/>
                      </a:cubicBezTo>
                      <a:cubicBezTo>
                        <a:pt x="168088" y="321084"/>
                        <a:pt x="84044" y="312119"/>
                        <a:pt x="0" y="303154"/>
                      </a:cubicBezTo>
                    </a:path>
                  </a:pathLst>
                </a:custGeom>
                <a:noFill/>
                <a:ln w="25400" cap="flat" cmpd="sng" algn="ctr">
                  <a:solidFill>
                    <a:srgbClr val="00B05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TextBox 54"/>
                  <p:cNvSpPr txBox="1"/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r>
                      <a:rPr lang="en-US" altLang="ko-KR" sz="2000" dirty="0">
                        <a:solidFill>
                          <a:srgbClr val="0070C0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a14:m>
                    <a:endParaRPr lang="ko-KR" altLang="en-US" sz="20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79" name="TextBox 7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7692" b="-29231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800" b="0" i="1" smtClean="0">
                              <a:solidFill>
                                <a:srgbClr val="0066CC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ko-KR" altLang="en-US" sz="2800" dirty="0">
                      <a:solidFill>
                        <a:srgbClr val="0066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80" name="TextBox 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그룹 41"/>
            <p:cNvGrpSpPr/>
            <p:nvPr/>
          </p:nvGrpSpPr>
          <p:grpSpPr>
            <a:xfrm>
              <a:off x="4312478" y="2758395"/>
              <a:ext cx="3798236" cy="830782"/>
              <a:chOff x="718896" y="5434723"/>
              <a:chExt cx="3798236" cy="830782"/>
            </a:xfrm>
          </p:grpSpPr>
          <p:grpSp>
            <p:nvGrpSpPr>
              <p:cNvPr id="43" name="그룹 42"/>
              <p:cNvGrpSpPr/>
              <p:nvPr/>
            </p:nvGrpSpPr>
            <p:grpSpPr>
              <a:xfrm>
                <a:off x="718896" y="5434723"/>
                <a:ext cx="3292841" cy="830782"/>
                <a:chOff x="5155650" y="2048218"/>
                <a:chExt cx="2520038" cy="573548"/>
              </a:xfrm>
            </p:grpSpPr>
            <p:grpSp>
              <p:nvGrpSpPr>
                <p:cNvPr id="46" name="그룹 45"/>
                <p:cNvGrpSpPr/>
                <p:nvPr/>
              </p:nvGrpSpPr>
              <p:grpSpPr>
                <a:xfrm>
                  <a:off x="5155650" y="2048218"/>
                  <a:ext cx="2520038" cy="573548"/>
                  <a:chOff x="4808991" y="2104134"/>
                  <a:chExt cx="2520038" cy="573548"/>
                </a:xfrm>
              </p:grpSpPr>
              <p:sp>
                <p:nvSpPr>
                  <p:cNvPr id="48" name="직사각형 47"/>
                  <p:cNvSpPr/>
                  <p:nvPr/>
                </p:nvSpPr>
                <p:spPr bwMode="auto">
                  <a:xfrm>
                    <a:off x="5508104" y="2111046"/>
                    <a:ext cx="720080" cy="432048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chemeClr val="accent2">
                        <a:lumMod val="50000"/>
                      </a:schemeClr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49" name="직선 화살표 연결선 48"/>
                  <p:cNvCxnSpPr/>
                  <p:nvPr/>
                </p:nvCxnSpPr>
                <p:spPr bwMode="auto">
                  <a:xfrm>
                    <a:off x="6228184" y="2325278"/>
                    <a:ext cx="318765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p:sp>
                <p:nvSpPr>
                  <p:cNvPr id="50" name="직사각형 49"/>
                  <p:cNvSpPr/>
                  <p:nvPr/>
                </p:nvSpPr>
                <p:spPr bwMode="auto">
                  <a:xfrm>
                    <a:off x="6545038" y="2104134"/>
                    <a:ext cx="486608" cy="432000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fontAlgn="base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1" lang="ko-KR" altLang="en-US" sz="2400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charset="0"/>
                      <a:ea typeface="나눔바른고딕" panose="020B0603020101020101" pitchFamily="50" charset="-127"/>
                    </a:endParaRPr>
                  </a:p>
                </p:txBody>
              </p:sp>
              <p:cxnSp>
                <p:nvCxnSpPr>
                  <p:cNvPr id="51" name="직선 화살표 연결선 50"/>
                  <p:cNvCxnSpPr/>
                  <p:nvPr/>
                </p:nvCxnSpPr>
                <p:spPr bwMode="auto">
                  <a:xfrm>
                    <a:off x="7031646" y="2320133"/>
                    <a:ext cx="297383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TextBox 51"/>
                      <p:cNvSpPr txBox="1"/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altLang="ko-KR" sz="2800" b="0" i="1" smtClean="0">
                                  <a:solidFill>
                                    <a:srgbClr val="0066CC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oMath>
                          </m:oMathPara>
                        </a14:m>
                        <a:endParaRPr lang="ko-KR" altLang="en-US" sz="2800" dirty="0">
                          <a:solidFill>
                            <a:srgbClr val="0066CC"/>
                          </a:solidFill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9" name="TextBox 9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808991" y="2154462"/>
                        <a:ext cx="432048" cy="523220"/>
                      </a:xfrm>
                      <a:prstGeom prst="rect">
                        <a:avLst/>
                      </a:prstGeom>
                      <a:blipFill>
                        <a:blip r:embed="rId12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ko-KR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53" name="직선 화살표 연결선 52"/>
                  <p:cNvCxnSpPr/>
                  <p:nvPr/>
                </p:nvCxnSpPr>
                <p:spPr bwMode="auto">
                  <a:xfrm>
                    <a:off x="5165417" y="2328862"/>
                    <a:ext cx="356202" cy="0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rgbClr val="0066CC"/>
                    </a:solidFill>
                    <a:prstDash val="solid"/>
                    <a:miter lim="800000"/>
                    <a:headEnd type="none" w="med" len="med"/>
                    <a:tailEnd type="triangle"/>
                  </a:ln>
                  <a:effectLst/>
                </p:spPr>
              </p:cxnSp>
            </p:grpSp>
            <p:sp>
              <p:nvSpPr>
                <p:cNvPr id="47" name="자유형 46"/>
                <p:cNvSpPr/>
                <p:nvPr/>
              </p:nvSpPr>
              <p:spPr bwMode="auto">
                <a:xfrm>
                  <a:off x="6980851" y="2161849"/>
                  <a:ext cx="335271" cy="215025"/>
                </a:xfrm>
                <a:custGeom>
                  <a:avLst/>
                  <a:gdLst>
                    <a:gd name="connsiteX0" fmla="*/ 484095 w 484095"/>
                    <a:gd name="connsiteY0" fmla="*/ 7319 h 310473"/>
                    <a:gd name="connsiteX1" fmla="*/ 282389 w 484095"/>
                    <a:gd name="connsiteY1" fmla="*/ 34213 h 310473"/>
                    <a:gd name="connsiteX2" fmla="*/ 215153 w 484095"/>
                    <a:gd name="connsiteY2" fmla="*/ 276260 h 310473"/>
                    <a:gd name="connsiteX3" fmla="*/ 0 w 484095"/>
                    <a:gd name="connsiteY3" fmla="*/ 303154 h 310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84095" h="310473">
                      <a:moveTo>
                        <a:pt x="484095" y="7319"/>
                      </a:moveTo>
                      <a:cubicBezTo>
                        <a:pt x="405654" y="-1646"/>
                        <a:pt x="327213" y="-10610"/>
                        <a:pt x="282389" y="34213"/>
                      </a:cubicBezTo>
                      <a:cubicBezTo>
                        <a:pt x="237565" y="79036"/>
                        <a:pt x="262218" y="231437"/>
                        <a:pt x="215153" y="276260"/>
                      </a:cubicBezTo>
                      <a:cubicBezTo>
                        <a:pt x="168088" y="321084"/>
                        <a:pt x="84044" y="312119"/>
                        <a:pt x="0" y="303154"/>
                      </a:cubicBezTo>
                    </a:path>
                  </a:pathLst>
                </a:custGeom>
                <a:noFill/>
                <a:ln w="25400" cap="flat" cmpd="sng" algn="ctr">
                  <a:solidFill>
                    <a:srgbClr val="00B050"/>
                  </a:solidFill>
                  <a:prstDash val="solid"/>
                  <a:miter lim="800000"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fontAlgn="base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1" lang="ko-KR" altLang="en-US" sz="2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charset="0"/>
                    <a:ea typeface="나눔바른고딕" panose="020B0603020101020101" pitchFamily="50" charset="-127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TextBox 43"/>
                  <p:cNvSpPr txBox="1"/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a14:m>
                    <a:r>
                      <a:rPr lang="en-US" altLang="ko-KR" sz="2000" dirty="0">
                        <a:solidFill>
                          <a:srgbClr val="0070C0"/>
                        </a:solidFill>
                      </a:rPr>
                      <a:t>,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0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20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a14:m>
                    <a:endParaRPr lang="ko-KR" altLang="en-US" sz="2000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1" name="TextBox 9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92492" y="5547542"/>
                    <a:ext cx="988560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6061" b="-27273"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800" b="0" i="1" smtClean="0">
                              <a:solidFill>
                                <a:srgbClr val="0066CC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ko-KR" altLang="en-US" sz="2800" dirty="0">
                      <a:solidFill>
                        <a:srgbClr val="0066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2" name="TextBox 9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2591" y="5507623"/>
                    <a:ext cx="564541" cy="52322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ko-KR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9" name="그룹 78"/>
          <p:cNvGrpSpPr/>
          <p:nvPr/>
        </p:nvGrpSpPr>
        <p:grpSpPr>
          <a:xfrm>
            <a:off x="2943225" y="2205232"/>
            <a:ext cx="3446328" cy="887567"/>
            <a:chOff x="549609" y="1078633"/>
            <a:chExt cx="3446328" cy="8875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TextBox 79"/>
                <p:cNvSpPr txBox="1"/>
                <p:nvPr/>
              </p:nvSpPr>
              <p:spPr>
                <a:xfrm>
                  <a:off x="828244" y="1078633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1" name="TextBox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244" y="1078633"/>
                  <a:ext cx="360040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TextBox 80"/>
                <p:cNvSpPr txBox="1"/>
                <p:nvPr/>
              </p:nvSpPr>
              <p:spPr>
                <a:xfrm>
                  <a:off x="2699792" y="1080838"/>
                  <a:ext cx="3600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3" name="TextBox 10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9792" y="1080838"/>
                  <a:ext cx="360040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TextBox 81"/>
                <p:cNvSpPr txBox="1"/>
                <p:nvPr/>
              </p:nvSpPr>
              <p:spPr>
                <a:xfrm>
                  <a:off x="549609" y="1383962"/>
                  <a:ext cx="11839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ko-KR" dirty="0"/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4" name="TextBox 10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609" y="1383962"/>
                  <a:ext cx="1183940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546"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직선 화살표 연결선 82"/>
            <p:cNvCxnSpPr/>
            <p:nvPr/>
          </p:nvCxnSpPr>
          <p:spPr bwMode="auto">
            <a:xfrm>
              <a:off x="1619672" y="1568628"/>
              <a:ext cx="60620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triangle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2359043" y="1378019"/>
              <a:ext cx="16368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(0,  0,  1)</a:t>
              </a:r>
              <a:endParaRPr lang="ko-KR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/>
                <p:cNvSpPr txBox="1"/>
                <p:nvPr/>
              </p:nvSpPr>
              <p:spPr>
                <a:xfrm>
                  <a:off x="2359043" y="1596868"/>
                  <a:ext cx="11839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a14:m>
                  <a:r>
                    <a:rPr lang="en-US" altLang="ko-KR" dirty="0"/>
                    <a:t>,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08" name="TextBox 10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9043" y="1596868"/>
                  <a:ext cx="1183940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10000" b="-2666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86" name="직선 화살표 연결선 85">
            <a:extLst>
              <a:ext uri="{FF2B5EF4-FFF2-40B4-BE49-F238E27FC236}">
                <a16:creationId xmlns:a16="http://schemas.microsoft.com/office/drawing/2014/main" xmlns="" id="{DD46E1DF-8D26-4E3F-8FEF-553CFF37501D}"/>
              </a:ext>
            </a:extLst>
          </p:cNvPr>
          <p:cNvCxnSpPr>
            <a:cxnSpLocks/>
          </p:cNvCxnSpPr>
          <p:nvPr/>
        </p:nvCxnSpPr>
        <p:spPr>
          <a:xfrm>
            <a:off x="5011292" y="3618250"/>
            <a:ext cx="38041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xmlns="" id="{72C7BE33-9159-44B9-A732-C819AB90EA5C}"/>
              </a:ext>
            </a:extLst>
          </p:cNvPr>
          <p:cNvCxnSpPr>
            <a:cxnSpLocks/>
          </p:cNvCxnSpPr>
          <p:nvPr/>
        </p:nvCxnSpPr>
        <p:spPr>
          <a:xfrm>
            <a:off x="5031671" y="4813406"/>
            <a:ext cx="38041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xmlns="" id="{353B58C2-BB4F-45F4-BAD0-7745564F94B7}"/>
              </a:ext>
            </a:extLst>
          </p:cNvPr>
          <p:cNvCxnSpPr>
            <a:cxnSpLocks/>
          </p:cNvCxnSpPr>
          <p:nvPr/>
        </p:nvCxnSpPr>
        <p:spPr>
          <a:xfrm>
            <a:off x="5011292" y="6037542"/>
            <a:ext cx="380419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xmlns="" id="{D7252418-EF71-433D-9E38-E43934E441C0}"/>
              </a:ext>
            </a:extLst>
          </p:cNvPr>
          <p:cNvSpPr txBox="1"/>
          <p:nvPr/>
        </p:nvSpPr>
        <p:spPr>
          <a:xfrm>
            <a:off x="5056815" y="3293480"/>
            <a:ext cx="28937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xmlns="" id="{1D3E52BB-F44E-46E9-B40A-B77B267CD6DC}"/>
              </a:ext>
            </a:extLst>
          </p:cNvPr>
          <p:cNvSpPr txBox="1"/>
          <p:nvPr/>
        </p:nvSpPr>
        <p:spPr>
          <a:xfrm>
            <a:off x="5056814" y="4463632"/>
            <a:ext cx="28937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xmlns="" id="{4D5448E7-D867-4DCF-891C-8BDCCBF438AC}"/>
              </a:ext>
            </a:extLst>
          </p:cNvPr>
          <p:cNvSpPr txBox="1"/>
          <p:nvPr/>
        </p:nvSpPr>
        <p:spPr>
          <a:xfrm>
            <a:off x="5058234" y="5719770"/>
            <a:ext cx="289371" cy="3693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dirty="0"/>
              <a:t>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4567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행렬 표현으로 바꾸기</a:t>
            </a:r>
            <a:r>
              <a:rPr lang="en-US" altLang="ko-KR" dirty="0" smtClean="0"/>
              <a:t>(y=</a:t>
            </a:r>
            <a:r>
              <a:rPr lang="en-US" altLang="ko-KR" dirty="0" err="1" smtClean="0"/>
              <a:t>wx+b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분류기를 하나의 수식으로 묶어서 간단하게 표현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w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들을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열벡터로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표현해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수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특징 차원 수 행렬로 표현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(3x2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행렬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)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268405" y="5079565"/>
                <a:ext cx="7416824" cy="130426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1 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ko-KR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eqAr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ko-KR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eqArr>
                        </m:e>
                      </m:d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  <m:r>
                        <a:rPr lang="en-US" altLang="ko-KR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ko-KR" sz="2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2400" b="0" i="1" dirty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ko-KR" sz="2400" i="1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ko-KR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2400" i="1" dirty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ko-KR" sz="2400" b="0" i="1" dirty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8405" y="5079565"/>
                <a:ext cx="7416824" cy="13042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="" id="{0873C36E-C55E-4987-946D-EB00947AFC32}"/>
                  </a:ext>
                </a:extLst>
              </p:cNvPr>
              <p:cNvSpPr txBox="1"/>
              <p:nvPr/>
            </p:nvSpPr>
            <p:spPr>
              <a:xfrm>
                <a:off x="3175680" y="2751872"/>
                <a:ext cx="6192688" cy="646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b="0" i="1" baseline="-2500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b="0" i="1" baseline="-2500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73C36E-C55E-4987-946D-EB00947AF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80" y="2751872"/>
                <a:ext cx="6192688" cy="646844"/>
              </a:xfrm>
              <a:prstGeom prst="rect">
                <a:avLst/>
              </a:prstGeom>
              <a:blipFill rotWithShape="0">
                <a:blip r:embed="rId4"/>
                <a:stretch>
                  <a:fillRect b="-28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="" id="{637828E5-53D0-4559-8BE3-1DA021119705}"/>
                  </a:ext>
                </a:extLst>
              </p:cNvPr>
              <p:cNvSpPr txBox="1"/>
              <p:nvPr/>
            </p:nvSpPr>
            <p:spPr>
              <a:xfrm>
                <a:off x="3175680" y="3446875"/>
                <a:ext cx="6192688" cy="646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i="1" baseline="-250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i="1" baseline="-250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ko-KR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37828E5-53D0-4559-8BE3-1DA021119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80" y="3446875"/>
                <a:ext cx="6192688" cy="646844"/>
              </a:xfrm>
              <a:prstGeom prst="rect">
                <a:avLst/>
              </a:prstGeom>
              <a:blipFill rotWithShape="0">
                <a:blip r:embed="rId5"/>
                <a:stretch>
                  <a:fillRect b="-46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="" id="{748D8E2C-C8DD-4749-B11F-9CAC85B8F257}"/>
                  </a:ext>
                </a:extLst>
              </p:cNvPr>
              <p:cNvSpPr txBox="1"/>
              <p:nvPr/>
            </p:nvSpPr>
            <p:spPr>
              <a:xfrm>
                <a:off x="3175680" y="4141878"/>
                <a:ext cx="6192688" cy="6468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 lang="en-US" altLang="ko-KR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i="1" baseline="-250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sz="2400" i="1" baseline="-250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eqArr>
                      </m:e>
                    </m:d>
                    <m:r>
                      <a:rPr lang="en-US" altLang="ko-KR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2400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sSub>
                          <m:sSubPr>
                            <m:ctrlP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ko-KR" sz="24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48D8E2C-C8DD-4749-B11F-9CAC85B8F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680" y="4141878"/>
                <a:ext cx="6192688" cy="646844"/>
              </a:xfrm>
              <a:prstGeom prst="rect">
                <a:avLst/>
              </a:prstGeom>
              <a:blipFill rotWithShape="0">
                <a:blip r:embed="rId6"/>
                <a:stretch>
                  <a:fillRect b="-46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화살표: 아래쪽 1">
            <a:extLst>
              <a:ext uri="{FF2B5EF4-FFF2-40B4-BE49-F238E27FC236}">
                <a16:creationId xmlns:a16="http://schemas.microsoft.com/office/drawing/2014/main" xmlns="" id="{D4B84B76-8F55-464B-8A75-7CC6EB4B9A42}"/>
              </a:ext>
            </a:extLst>
          </p:cNvPr>
          <p:cNvSpPr/>
          <p:nvPr/>
        </p:nvSpPr>
        <p:spPr>
          <a:xfrm>
            <a:off x="5832801" y="4815610"/>
            <a:ext cx="288032" cy="360040"/>
          </a:xfrm>
          <a:prstGeom prst="downArrow">
            <a:avLst/>
          </a:prstGeom>
          <a:ln>
            <a:headEnd w="med" len="med"/>
            <a:tailEnd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81279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행렬 표현으로 바꾸기</a:t>
            </a:r>
            <a:r>
              <a:rPr lang="en-US" altLang="ko-KR" dirty="0" smtClean="0"/>
              <a:t>(y=</a:t>
            </a:r>
            <a:r>
              <a:rPr lang="en-US" altLang="ko-KR" dirty="0" err="1" smtClean="0"/>
              <a:t>wx+b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클래스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4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개인 경우 →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데이터를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열벡터로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표기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효과적인 행렬 연산을 위해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x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대한 곱셈 위치 변경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자유형: 도형 13"/>
              <p:cNvSpPr/>
              <p:nvPr/>
            </p:nvSpPr>
            <p:spPr>
              <a:xfrm>
                <a:off x="2582848" y="3192989"/>
                <a:ext cx="6027068" cy="10096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7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sz="17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41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32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 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42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sz="1700" i="1">
                          <a:latin typeface="Cambria Math"/>
                          <a:sym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sz="17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    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10" name="자유형: 도형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2848" y="3192989"/>
                <a:ext cx="6027068" cy="10096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자유형: 도형 14"/>
              <p:cNvSpPr/>
              <p:nvPr/>
            </p:nvSpPr>
            <p:spPr>
              <a:xfrm>
                <a:off x="1680131" y="5270500"/>
                <a:ext cx="8963025" cy="1085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16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6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 i="1">
                                    <a:latin typeface="Cambria Math"/>
                                    <a:sym typeface="Cambria Math"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4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4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600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600" i="1">
                                    <a:latin typeface="Cambria Math"/>
                                    <a:sym typeface="Cambria Math"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4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>
                                        <a:latin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sz="1600" i="1">
                                    <a:latin typeface="Cambria Math"/>
                                    <a:sym typeface="Cambria Math"/>
                                  </a:rPr>
                                  <m:t>     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4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  <m:r>
                                      <a:rPr sz="160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sz="16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sz="1600">
                                    <a:latin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6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6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1600" dirty="0"/>
              </a:p>
            </p:txBody>
          </p:sp>
        </mc:Choice>
        <mc:Fallback xmlns="">
          <p:sp>
            <p:nvSpPr>
              <p:cNvPr id="11" name="자유형: 도형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0131" y="5270500"/>
                <a:ext cx="8963025" cy="10858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>
                <a:extLst>
                  <a:ext uri="{FF2B5EF4-FFF2-40B4-BE49-F238E27FC236}">
                    <a16:creationId xmlns="" xmlns:a16="http://schemas.microsoft.com/office/drawing/2014/main" id="{AE1F4FFA-5E45-4D7B-A00F-E4EF52214B2D}"/>
                  </a:ext>
                </a:extLst>
              </p:cNvPr>
              <p:cNvSpPr/>
              <p:nvPr/>
            </p:nvSpPr>
            <p:spPr>
              <a:xfrm>
                <a:off x="3086904" y="4306340"/>
                <a:ext cx="393922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E1F4FFA-5E45-4D7B-A00F-E4EF52214B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6904" y="4306340"/>
                <a:ext cx="3939220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타원 12">
            <a:extLst>
              <a:ext uri="{FF2B5EF4-FFF2-40B4-BE49-F238E27FC236}">
                <a16:creationId xmlns="" xmlns:a16="http://schemas.microsoft.com/office/drawing/2014/main" id="{FD9BD464-80F0-4553-B13C-2A9315453231}"/>
              </a:ext>
            </a:extLst>
          </p:cNvPr>
          <p:cNvSpPr/>
          <p:nvPr/>
        </p:nvSpPr>
        <p:spPr>
          <a:xfrm>
            <a:off x="3806984" y="3192989"/>
            <a:ext cx="432048" cy="89755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5575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행렬 표현으로 바꾸기</a:t>
            </a:r>
            <a:r>
              <a:rPr lang="en-US" altLang="ko-KR" dirty="0" smtClean="0"/>
              <a:t>(y=</a:t>
            </a:r>
            <a:r>
              <a:rPr lang="en-US" altLang="ko-KR" smtClean="0"/>
              <a:t>xw+b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클래스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4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개인 경우 →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데이터를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행벡터로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표기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열벡터로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정의된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w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는 샘플 수에 따라서 행렬의 크기가 변화되지 않고 고정됨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87255" y="3097661"/>
                <a:ext cx="9144000" cy="329565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700" b="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sz="1700" b="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b="0" i="1">
                                        <a:latin typeface="Cambria Math"/>
                                        <a:sym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sz="1700" b="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sz="1700" b="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sz="1700" b="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sz="1700" b="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sz="1700" b="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  <a:sym typeface="Cambria Math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𝑐</m:t>
                                        </m:r>
                                      </m:e>
                                      <m:sub>
                                        <m:r>
                                          <a:rPr sz="1700" b="0" i="1">
                                            <a:latin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sz="1700" b="0" i="0">
                          <a:latin typeface="Cambria Math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sz="1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0">
                                        <a:latin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700" dirty="0"/>
              </a:p>
              <a:p>
                <a:endParaRPr lang="en-US" altLang="ko-KR" sz="1700" dirty="0"/>
              </a:p>
              <a:p>
                <a:endParaRPr lang="en-US" altLang="ko-KR" sz="1700" dirty="0"/>
              </a:p>
              <a:p>
                <a:endParaRPr lang="en-US" altLang="ko-KR" sz="1700" dirty="0"/>
              </a:p>
              <a:p>
                <a:endParaRPr lang="en-US" altLang="ko-KR" sz="1700" dirty="0"/>
              </a:p>
              <a:p>
                <a:endParaRPr sz="17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b="0" i="0">
                          <a:latin typeface="Cambria Math"/>
                          <a:sym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sz="1700" b="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70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𝑎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22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𝑐</m:t>
                                    </m:r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sz="1700" i="1">
                                    <a:latin typeface="Cambria Math"/>
                                    <a:sym typeface="Cambria Math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eqArr>
                                  <m:eqArr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𝑎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𝑎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𝑎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𝑎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  <m:e>
                                <m:eqArr>
                                  <m:eqArrPr>
                                    <m:ctrlPr>
                                      <a:rPr sz="1700" i="1">
                                        <a:latin typeface="Cambria Math" panose="02040503050406030204" pitchFamily="18" charset="0"/>
                                        <a:sym typeface="Cambria Math"/>
                                      </a:rPr>
                                    </m:ctrlPr>
                                  </m:eqArrPr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  <m:e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42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𝑤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𝑐</m:t>
                                        </m:r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sz="1700" i="1">
                                        <a:latin typeface="Cambria Math"/>
                                        <a:sym typeface="Cambria Math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sz="1700" i="1">
                                            <a:latin typeface="Cambria Math" panose="02040503050406030204" pitchFamily="18" charset="0"/>
                                            <a:sym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sz="1700" i="1">
                                            <a:latin typeface="Cambria Math"/>
                                            <a:sym typeface="Cambria Math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eqAr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sz="17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255" y="3097661"/>
                <a:ext cx="9144000" cy="3295650"/>
              </a:xfrm>
              <a:prstGeom prst="rect">
                <a:avLst/>
              </a:prstGeom>
              <a:blipFill rotWithShape="0">
                <a:blip r:embed="rId3"/>
                <a:stretch>
                  <a:fillRect b="-277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xmlns="" id="{895900E4-0712-4E98-9E92-4CBEA8606AF2}"/>
                  </a:ext>
                </a:extLst>
              </p:cNvPr>
              <p:cNvSpPr/>
              <p:nvPr/>
            </p:nvSpPr>
            <p:spPr>
              <a:xfrm>
                <a:off x="3987047" y="4371508"/>
                <a:ext cx="406746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×2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2×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95900E4-0712-4E98-9E92-4CBEA8606A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047" y="4371508"/>
                <a:ext cx="4067460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5681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One-hot </a:t>
            </a:r>
            <a:r>
              <a:rPr lang="ko-KR" altLang="en-US" dirty="0" err="1" smtClean="0"/>
              <a:t>인코딩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Sample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하나에 대해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개의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y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값 필요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18" name="Picture 2"/>
          <p:cNvPicPr preferRelativeResize="0"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77916" y="2761149"/>
            <a:ext cx="1317600" cy="11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" name="Picture 3"/>
          <p:cNvPicPr preferRelativeResize="0">
            <a:picLocks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176629" y="4006610"/>
            <a:ext cx="1317600" cy="11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176201" y="5252071"/>
            <a:ext cx="1316313" cy="1147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4" name="TextBox 33"/>
          <p:cNvSpPr txBox="1"/>
          <p:nvPr/>
        </p:nvSpPr>
        <p:spPr>
          <a:xfrm>
            <a:off x="6107048" y="2309343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 분류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4238" y="6488668"/>
            <a:ext cx="314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분류기 필요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8387695" y="2303512"/>
            <a:ext cx="17620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One-hot </a:t>
            </a:r>
            <a:r>
              <a:rPr lang="ko-KR" altLang="en-US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인코딩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7" name="Picture 2"/>
          <p:cNvPicPr preferRelativeResize="0">
            <a:picLocks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48826" y="3036012"/>
            <a:ext cx="1317600" cy="11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48826" y="4476811"/>
            <a:ext cx="1316313" cy="1147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9" name="TextBox 38"/>
          <p:cNvSpPr txBox="1"/>
          <p:nvPr/>
        </p:nvSpPr>
        <p:spPr>
          <a:xfrm>
            <a:off x="2177388" y="2312204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클래스 분류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8826" y="6488668"/>
            <a:ext cx="235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개의 분류기 필요</a:t>
            </a:r>
          </a:p>
        </p:txBody>
      </p:sp>
      <p:grpSp>
        <p:nvGrpSpPr>
          <p:cNvPr id="41" name="그룹 40"/>
          <p:cNvGrpSpPr/>
          <p:nvPr/>
        </p:nvGrpSpPr>
        <p:grpSpPr>
          <a:xfrm>
            <a:off x="8369272" y="2824206"/>
            <a:ext cx="1857388" cy="3500462"/>
            <a:chOff x="2285984" y="2285992"/>
            <a:chExt cx="1857388" cy="3500462"/>
          </a:xfrm>
        </p:grpSpPr>
        <p:sp>
          <p:nvSpPr>
            <p:cNvPr id="42" name="직사각형 41"/>
            <p:cNvSpPr/>
            <p:nvPr/>
          </p:nvSpPr>
          <p:spPr bwMode="auto">
            <a:xfrm>
              <a:off x="2285984" y="2285992"/>
              <a:ext cx="1857388" cy="3500462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2357422" y="2682675"/>
                  <a:ext cx="171451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7422" y="2682675"/>
                  <a:ext cx="1714512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2607455" y="3798974"/>
                  <a:ext cx="12144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7455" y="3798974"/>
                  <a:ext cx="1214446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2607455" y="4914761"/>
                  <a:ext cx="121444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altLang="ko-KR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7455" y="4914761"/>
                  <a:ext cx="121444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그룹 45"/>
          <p:cNvGrpSpPr/>
          <p:nvPr/>
        </p:nvGrpSpPr>
        <p:grpSpPr>
          <a:xfrm>
            <a:off x="3737054" y="3455040"/>
            <a:ext cx="785818" cy="1809492"/>
            <a:chOff x="8018745" y="2988538"/>
            <a:chExt cx="785818" cy="180949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8018745" y="2988538"/>
                  <a:ext cx="7858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ko-KR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ko-KR" altLang="en-US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8745" y="2988538"/>
                  <a:ext cx="785818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8018745" y="4428698"/>
                  <a:ext cx="78581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ko-KR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0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oMath>
                    </m:oMathPara>
                  </a14:m>
                  <a:endParaRPr lang="ko-KR" altLang="en-US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8745" y="4428698"/>
                  <a:ext cx="78581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직사각형 48"/>
          <p:cNvSpPr/>
          <p:nvPr/>
        </p:nvSpPr>
        <p:spPr>
          <a:xfrm>
            <a:off x="8354953" y="1774958"/>
            <a:ext cx="2505114" cy="480190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One-hot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인코딩으로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표현할 때 행렬 크기는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n*class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37639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클래스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주어진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data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는 최대값을 갖는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로 분류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1762815" y="2405031"/>
            <a:ext cx="8315721" cy="3696023"/>
            <a:chOff x="607191" y="1636535"/>
            <a:chExt cx="8315721" cy="3696023"/>
          </a:xfrm>
        </p:grpSpPr>
        <p:grpSp>
          <p:nvGrpSpPr>
            <p:cNvPr id="12" name="그룹 11"/>
            <p:cNvGrpSpPr/>
            <p:nvPr/>
          </p:nvGrpSpPr>
          <p:grpSpPr>
            <a:xfrm>
              <a:off x="607191" y="1636535"/>
              <a:ext cx="8315721" cy="3592665"/>
              <a:chOff x="607191" y="1636535"/>
              <a:chExt cx="8315721" cy="3592665"/>
            </a:xfrm>
          </p:grpSpPr>
          <p:grpSp>
            <p:nvGrpSpPr>
              <p:cNvPr id="15" name="그룹 14"/>
              <p:cNvGrpSpPr/>
              <p:nvPr/>
            </p:nvGrpSpPr>
            <p:grpSpPr>
              <a:xfrm>
                <a:off x="607191" y="1636535"/>
                <a:ext cx="8315721" cy="3592665"/>
                <a:chOff x="607191" y="1636535"/>
                <a:chExt cx="8315721" cy="3592665"/>
              </a:xfrm>
            </p:grpSpPr>
            <p:grpSp>
              <p:nvGrpSpPr>
                <p:cNvPr id="19" name="그룹 18"/>
                <p:cNvGrpSpPr/>
                <p:nvPr/>
              </p:nvGrpSpPr>
              <p:grpSpPr>
                <a:xfrm>
                  <a:off x="607191" y="1636535"/>
                  <a:ext cx="8315721" cy="2502285"/>
                  <a:chOff x="607191" y="1636535"/>
                  <a:chExt cx="8315721" cy="2502285"/>
                </a:xfrm>
              </p:grpSpPr>
              <p:grpSp>
                <p:nvGrpSpPr>
                  <p:cNvPr id="23" name="그룹 22"/>
                  <p:cNvGrpSpPr/>
                  <p:nvPr/>
                </p:nvGrpSpPr>
                <p:grpSpPr>
                  <a:xfrm>
                    <a:off x="607191" y="2852936"/>
                    <a:ext cx="8315721" cy="1285884"/>
                    <a:chOff x="500034" y="3071810"/>
                    <a:chExt cx="8315721" cy="1285884"/>
                  </a:xfrm>
                </p:grpSpPr>
                <p:sp>
                  <p:nvSpPr>
                    <p:cNvPr id="25" name="직사각형 24"/>
                    <p:cNvSpPr/>
                    <p:nvPr/>
                  </p:nvSpPr>
                  <p:spPr>
                    <a:xfrm>
                      <a:off x="500034" y="3071810"/>
                      <a:ext cx="2428892" cy="1285884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or not</a:t>
                      </a:r>
                    </a:p>
                  </p:txBody>
                </p:sp>
                <p:sp>
                  <p:nvSpPr>
                    <p:cNvPr id="26" name="직사각형 25"/>
                    <p:cNvSpPr/>
                    <p:nvPr/>
                  </p:nvSpPr>
                  <p:spPr>
                    <a:xfrm>
                      <a:off x="3536149" y="3071810"/>
                      <a:ext cx="2428892" cy="1285884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or not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27" name="직사각형 26"/>
                    <p:cNvSpPr/>
                    <p:nvPr/>
                  </p:nvSpPr>
                  <p:spPr>
                    <a:xfrm>
                      <a:off x="6511499" y="3072494"/>
                      <a:ext cx="2304256" cy="1285200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or not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</p:grpSp>
              <p:sp>
                <p:nvSpPr>
                  <p:cNvPr id="24" name="TextBox 23"/>
                  <p:cNvSpPr txBox="1"/>
                  <p:nvPr/>
                </p:nvSpPr>
                <p:spPr>
                  <a:xfrm>
                    <a:off x="4103506" y="1636535"/>
                    <a:ext cx="1272623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class B</a:t>
                    </a:r>
                    <a:endParaRPr lang="ko-KR" altLang="en-US" dirty="0">
                      <a:latin typeface="맑은 고딕" panose="020B0503020000020004" pitchFamily="50" charset="-127"/>
                      <a:ea typeface="맑은 고딕" panose="020B0503020000020004" pitchFamily="50" charset="-127"/>
                    </a:endParaRPr>
                  </a:p>
                </p:txBody>
              </p:sp>
            </p:grpSp>
            <p:sp>
              <p:nvSpPr>
                <p:cNvPr id="20" name="TextBox 19"/>
                <p:cNvSpPr txBox="1"/>
                <p:nvPr/>
              </p:nvSpPr>
              <p:spPr>
                <a:xfrm>
                  <a:off x="1562406" y="4859868"/>
                  <a:ext cx="5184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0.2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1" name="TextBox 20"/>
                <p:cNvSpPr txBox="1"/>
                <p:nvPr/>
              </p:nvSpPr>
              <p:spPr>
                <a:xfrm>
                  <a:off x="4605723" y="4859868"/>
                  <a:ext cx="5040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0.8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22" name="TextBox 21"/>
                <p:cNvSpPr txBox="1"/>
                <p:nvPr/>
              </p:nvSpPr>
              <p:spPr>
                <a:xfrm>
                  <a:off x="7315160" y="4859868"/>
                  <a:ext cx="5040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0.4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16" name="아래쪽 화살표 15"/>
              <p:cNvSpPr/>
              <p:nvPr/>
            </p:nvSpPr>
            <p:spPr bwMode="auto">
              <a:xfrm>
                <a:off x="1692021" y="4293096"/>
                <a:ext cx="259231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7" name="아래쪽 화살표 16"/>
              <p:cNvSpPr/>
              <p:nvPr/>
            </p:nvSpPr>
            <p:spPr bwMode="auto">
              <a:xfrm>
                <a:off x="4728136" y="4293096"/>
                <a:ext cx="259231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8" name="아래쪽 화살표 17"/>
              <p:cNvSpPr/>
              <p:nvPr/>
            </p:nvSpPr>
            <p:spPr bwMode="auto">
              <a:xfrm>
                <a:off x="7437572" y="4293096"/>
                <a:ext cx="259231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3" name="타원 12"/>
            <p:cNvSpPr/>
            <p:nvPr/>
          </p:nvSpPr>
          <p:spPr bwMode="auto">
            <a:xfrm>
              <a:off x="4497711" y="4756494"/>
              <a:ext cx="720080" cy="576064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188055" y="4875249"/>
              <a:ext cx="977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최대값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28" name="직선 화살표 연결선 27"/>
          <p:cNvCxnSpPr>
            <a:cxnSpLocks/>
            <a:stCxn id="24" idx="2"/>
            <a:endCxn id="25" idx="0"/>
          </p:cNvCxnSpPr>
          <p:nvPr/>
        </p:nvCxnSpPr>
        <p:spPr bwMode="auto">
          <a:xfrm flipH="1">
            <a:off x="2977261" y="2774363"/>
            <a:ext cx="2918181" cy="8470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29" name="직선 화살표 연결선 28"/>
          <p:cNvCxnSpPr>
            <a:cxnSpLocks/>
            <a:stCxn id="24" idx="2"/>
            <a:endCxn id="26" idx="0"/>
          </p:cNvCxnSpPr>
          <p:nvPr/>
        </p:nvCxnSpPr>
        <p:spPr bwMode="auto">
          <a:xfrm>
            <a:off x="5895442" y="2774363"/>
            <a:ext cx="117934" cy="84706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30" name="직선 화살표 연결선 29"/>
          <p:cNvCxnSpPr>
            <a:cxnSpLocks/>
            <a:stCxn id="24" idx="2"/>
            <a:endCxn id="27" idx="0"/>
          </p:cNvCxnSpPr>
          <p:nvPr/>
        </p:nvCxnSpPr>
        <p:spPr bwMode="auto">
          <a:xfrm>
            <a:off x="5895442" y="2774363"/>
            <a:ext cx="3030966" cy="84775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2260325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클래스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grpSp>
        <p:nvGrpSpPr>
          <p:cNvPr id="31" name="그룹 20">
            <a:extLst>
              <a:ext uri="{FF2B5EF4-FFF2-40B4-BE49-F238E27FC236}">
                <a16:creationId xmlns:a16="http://schemas.microsoft.com/office/drawing/2014/main" xmlns="" id="{D02F7B4D-759F-4535-962A-F53B1BD64101}"/>
              </a:ext>
            </a:extLst>
          </p:cNvPr>
          <p:cNvGrpSpPr/>
          <p:nvPr/>
        </p:nvGrpSpPr>
        <p:grpSpPr>
          <a:xfrm>
            <a:off x="1767136" y="2604871"/>
            <a:ext cx="8321007" cy="3475194"/>
            <a:chOff x="607191" y="1857364"/>
            <a:chExt cx="8321036" cy="3475194"/>
          </a:xfrm>
        </p:grpSpPr>
        <p:grpSp>
          <p:nvGrpSpPr>
            <p:cNvPr id="32" name="그룹 21">
              <a:extLst>
                <a:ext uri="{FF2B5EF4-FFF2-40B4-BE49-F238E27FC236}">
                  <a16:creationId xmlns:a16="http://schemas.microsoft.com/office/drawing/2014/main" xmlns="" id="{645EB6CC-0856-424B-87FE-DD4D9A249FCB}"/>
                </a:ext>
              </a:extLst>
            </p:cNvPr>
            <p:cNvGrpSpPr/>
            <p:nvPr/>
          </p:nvGrpSpPr>
          <p:grpSpPr>
            <a:xfrm>
              <a:off x="607191" y="1857364"/>
              <a:ext cx="8321036" cy="3371836"/>
              <a:chOff x="607191" y="1857364"/>
              <a:chExt cx="8321036" cy="3371836"/>
            </a:xfrm>
          </p:grpSpPr>
          <p:grpSp>
            <p:nvGrpSpPr>
              <p:cNvPr id="35" name="그룹 24">
                <a:extLst>
                  <a:ext uri="{FF2B5EF4-FFF2-40B4-BE49-F238E27FC236}">
                    <a16:creationId xmlns:a16="http://schemas.microsoft.com/office/drawing/2014/main" xmlns="" id="{169E0624-6EAF-4D2A-A85A-5FC2B6839C04}"/>
                  </a:ext>
                </a:extLst>
              </p:cNvPr>
              <p:cNvGrpSpPr/>
              <p:nvPr/>
            </p:nvGrpSpPr>
            <p:grpSpPr>
              <a:xfrm>
                <a:off x="607191" y="1857364"/>
                <a:ext cx="8321036" cy="3371836"/>
                <a:chOff x="607191" y="1857364"/>
                <a:chExt cx="8321036" cy="3371836"/>
              </a:xfrm>
            </p:grpSpPr>
            <p:grpSp>
              <p:nvGrpSpPr>
                <p:cNvPr id="39" name="그룹 28">
                  <a:extLst>
                    <a:ext uri="{FF2B5EF4-FFF2-40B4-BE49-F238E27FC236}">
                      <a16:creationId xmlns:a16="http://schemas.microsoft.com/office/drawing/2014/main" xmlns="" id="{C1A2B9C2-09F3-43A4-BFDF-C3D7FC8D5A27}"/>
                    </a:ext>
                  </a:extLst>
                </p:cNvPr>
                <p:cNvGrpSpPr/>
                <p:nvPr/>
              </p:nvGrpSpPr>
              <p:grpSpPr>
                <a:xfrm>
                  <a:off x="607191" y="1857364"/>
                  <a:ext cx="8321036" cy="2281456"/>
                  <a:chOff x="607191" y="1857364"/>
                  <a:chExt cx="8321036" cy="2281456"/>
                </a:xfrm>
              </p:grpSpPr>
              <p:grpSp>
                <p:nvGrpSpPr>
                  <p:cNvPr id="43" name="그룹 32">
                    <a:extLst>
                      <a:ext uri="{FF2B5EF4-FFF2-40B4-BE49-F238E27FC236}">
                        <a16:creationId xmlns:a16="http://schemas.microsoft.com/office/drawing/2014/main" xmlns="" id="{19D09369-D099-4C97-99CB-A57572B89F65}"/>
                      </a:ext>
                    </a:extLst>
                  </p:cNvPr>
                  <p:cNvGrpSpPr/>
                  <p:nvPr/>
                </p:nvGrpSpPr>
                <p:grpSpPr>
                  <a:xfrm>
                    <a:off x="607191" y="2852936"/>
                    <a:ext cx="8321036" cy="1285884"/>
                    <a:chOff x="500034" y="3071810"/>
                    <a:chExt cx="8321036" cy="1285884"/>
                  </a:xfrm>
                </p:grpSpPr>
                <p:sp>
                  <p:nvSpPr>
                    <p:cNvPr id="45" name="직사각형 44">
                      <a:extLst>
                        <a:ext uri="{FF2B5EF4-FFF2-40B4-BE49-F238E27FC236}">
                          <a16:creationId xmlns:a16="http://schemas.microsoft.com/office/drawing/2014/main" xmlns="" id="{4F9782CE-DABC-4930-A8CD-347D1D8C78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00034" y="3071810"/>
                      <a:ext cx="2428892" cy="1285884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 or not</a:t>
                      </a:r>
                    </a:p>
                  </p:txBody>
                </p:sp>
                <p:sp>
                  <p:nvSpPr>
                    <p:cNvPr id="46" name="직사각형 45">
                      <a:extLst>
                        <a:ext uri="{FF2B5EF4-FFF2-40B4-BE49-F238E27FC236}">
                          <a16:creationId xmlns:a16="http://schemas.microsoft.com/office/drawing/2014/main" xmlns="" id="{11466ECD-6E61-4A00-B6A9-844B6709814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536149" y="3071810"/>
                      <a:ext cx="2428892" cy="1285884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 or not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  <p:sp>
                  <p:nvSpPr>
                    <p:cNvPr id="47" name="직사각형 46">
                      <a:extLst>
                        <a:ext uri="{FF2B5EF4-FFF2-40B4-BE49-F238E27FC236}">
                          <a16:creationId xmlns:a16="http://schemas.microsoft.com/office/drawing/2014/main" xmlns="" id="{550E4632-413D-4757-B74B-6264A745F1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72263" y="3072494"/>
                      <a:ext cx="2248807" cy="1285200"/>
                    </a:xfrm>
                    <a:prstGeom prst="rect">
                      <a:avLst/>
                    </a:prstGeom>
                    <a:solidFill>
                      <a:schemeClr val="bg2">
                        <a:lumMod val="60000"/>
                        <a:lumOff val="40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 or not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p:txBody>
                </p:sp>
              </p:grp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xmlns="" id="{8B75B3C1-0C50-42B8-B4F3-7D3CD41487D7}"/>
                      </a:ext>
                    </a:extLst>
                  </p:cNvPr>
                  <p:cNvSpPr txBox="1"/>
                  <p:nvPr/>
                </p:nvSpPr>
                <p:spPr>
                  <a:xfrm>
                    <a:off x="3714744" y="1857364"/>
                    <a:ext cx="235745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B</a:t>
                    </a:r>
                    <a:r>
                      <a:rPr lang="ko-KR" altLang="en-US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a:t>입력</a:t>
                    </a:r>
                  </a:p>
                </p:txBody>
              </p:sp>
            </p:grp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xmlns="" id="{27D1FD8B-0DCA-445D-80C4-ECFEE0DF3666}"/>
                    </a:ext>
                  </a:extLst>
                </p:cNvPr>
                <p:cNvSpPr txBox="1"/>
                <p:nvPr/>
              </p:nvSpPr>
              <p:spPr>
                <a:xfrm>
                  <a:off x="1562406" y="4859868"/>
                  <a:ext cx="5184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0.2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xmlns="" id="{26D2DD28-408E-45F4-8B99-B4F1EE150E44}"/>
                    </a:ext>
                  </a:extLst>
                </p:cNvPr>
                <p:cNvSpPr txBox="1"/>
                <p:nvPr/>
              </p:nvSpPr>
              <p:spPr>
                <a:xfrm>
                  <a:off x="4605723" y="4859868"/>
                  <a:ext cx="50405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0.8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xmlns="" id="{5356AC5C-9C51-4348-A3F7-4D5B133F1E5B}"/>
                    </a:ext>
                  </a:extLst>
                </p:cNvPr>
                <p:cNvSpPr txBox="1"/>
                <p:nvPr/>
              </p:nvSpPr>
              <p:spPr>
                <a:xfrm>
                  <a:off x="7315160" y="4859868"/>
                  <a:ext cx="82874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ko-KR" dirty="0">
                      <a:latin typeface="맑은 고딕" panose="020B0503020000020004" pitchFamily="50" charset="-127"/>
                      <a:ea typeface="맑은 고딕" panose="020B0503020000020004" pitchFamily="50" charset="-127"/>
                    </a:rPr>
                    <a:t>0.79</a:t>
                  </a:r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</p:grpSp>
          <p:sp>
            <p:nvSpPr>
              <p:cNvPr id="36" name="아래쪽 화살표 25">
                <a:extLst>
                  <a:ext uri="{FF2B5EF4-FFF2-40B4-BE49-F238E27FC236}">
                    <a16:creationId xmlns:a16="http://schemas.microsoft.com/office/drawing/2014/main" xmlns="" id="{38F0129E-9375-4508-B62B-EA2954040052}"/>
                  </a:ext>
                </a:extLst>
              </p:cNvPr>
              <p:cNvSpPr/>
              <p:nvPr/>
            </p:nvSpPr>
            <p:spPr bwMode="auto">
              <a:xfrm>
                <a:off x="1692021" y="4293096"/>
                <a:ext cx="259232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아래쪽 화살표 26">
                <a:extLst>
                  <a:ext uri="{FF2B5EF4-FFF2-40B4-BE49-F238E27FC236}">
                    <a16:creationId xmlns:a16="http://schemas.microsoft.com/office/drawing/2014/main" xmlns="" id="{DAE8E035-0E6C-4314-AA66-6B7307E1CF72}"/>
                  </a:ext>
                </a:extLst>
              </p:cNvPr>
              <p:cNvSpPr/>
              <p:nvPr/>
            </p:nvSpPr>
            <p:spPr bwMode="auto">
              <a:xfrm>
                <a:off x="4728136" y="4293096"/>
                <a:ext cx="259231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8" name="아래쪽 화살표 27">
                <a:extLst>
                  <a:ext uri="{FF2B5EF4-FFF2-40B4-BE49-F238E27FC236}">
                    <a16:creationId xmlns:a16="http://schemas.microsoft.com/office/drawing/2014/main" xmlns="" id="{1A13524B-AEA1-4F6D-B35A-9B9558D4FE42}"/>
                  </a:ext>
                </a:extLst>
              </p:cNvPr>
              <p:cNvSpPr/>
              <p:nvPr/>
            </p:nvSpPr>
            <p:spPr bwMode="auto">
              <a:xfrm>
                <a:off x="7437572" y="4293096"/>
                <a:ext cx="259231" cy="422756"/>
              </a:xfrm>
              <a:prstGeom prst="downArrow">
                <a:avLst/>
              </a:prstGeom>
              <a:solidFill>
                <a:schemeClr val="tx1"/>
              </a:solidFill>
              <a:ln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1" lang="ko-KR" altLang="en-US" sz="2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charset="0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xmlns="" id="{9EE9CE77-EC8F-41AF-AF20-13D9F82282FC}"/>
                </a:ext>
              </a:extLst>
            </p:cNvPr>
            <p:cNvSpPr/>
            <p:nvPr/>
          </p:nvSpPr>
          <p:spPr bwMode="auto">
            <a:xfrm>
              <a:off x="4497710" y="4756494"/>
              <a:ext cx="3789065" cy="576064"/>
            </a:xfrm>
            <a:prstGeom prst="ellipse">
              <a:avLst/>
            </a:prstGeom>
            <a:noFill/>
            <a:ln w="9525" cap="flat" cmpd="sng" algn="ctr">
              <a:solidFill>
                <a:srgbClr val="FF0000"/>
              </a:solidFill>
              <a:prstDash val="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charset="0"/>
                <a:ea typeface="나눔바른고딕" panose="020B0603020101020101" pitchFamily="50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xmlns="" id="{A1ABD177-6BF4-4B2F-988E-9F859CEC7354}"/>
                </a:ext>
              </a:extLst>
            </p:cNvPr>
            <p:cNvSpPr txBox="1"/>
            <p:nvPr/>
          </p:nvSpPr>
          <p:spPr>
            <a:xfrm>
              <a:off x="5188055" y="4875249"/>
              <a:ext cx="977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값</a:t>
              </a:r>
            </a:p>
          </p:txBody>
        </p:sp>
      </p:grp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xmlns="" id="{1A95DACD-279C-4BDF-82A7-55C48C6E9883}"/>
              </a:ext>
            </a:extLst>
          </p:cNvPr>
          <p:cNvCxnSpPr/>
          <p:nvPr/>
        </p:nvCxnSpPr>
        <p:spPr bwMode="auto">
          <a:xfrm rot="10800000" flipV="1">
            <a:off x="2981583" y="2962061"/>
            <a:ext cx="2107421" cy="6383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xmlns="" id="{20B2C1A9-E6CB-4346-B45F-94B6F3556CF6}"/>
              </a:ext>
            </a:extLst>
          </p:cNvPr>
          <p:cNvCxnSpPr/>
          <p:nvPr/>
        </p:nvCxnSpPr>
        <p:spPr bwMode="auto">
          <a:xfrm>
            <a:off x="5089003" y="2962061"/>
            <a:ext cx="928694" cy="6383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xmlns="" id="{E9105D77-F474-4861-A437-53B87BA547BD}"/>
              </a:ext>
            </a:extLst>
          </p:cNvPr>
          <p:cNvCxnSpPr/>
          <p:nvPr/>
        </p:nvCxnSpPr>
        <p:spPr bwMode="auto">
          <a:xfrm>
            <a:off x="5089003" y="2962061"/>
            <a:ext cx="3643338" cy="63906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arrow"/>
          </a:ln>
          <a:effectLst/>
        </p:spPr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xmlns="" id="{320F9B4A-32F9-4DF8-8A1B-FB665E8FCA19}"/>
              </a:ext>
            </a:extLst>
          </p:cNvPr>
          <p:cNvSpPr txBox="1"/>
          <p:nvPr/>
        </p:nvSpPr>
        <p:spPr>
          <a:xfrm>
            <a:off x="7232143" y="6248209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판단보류</a:t>
            </a:r>
          </a:p>
        </p:txBody>
      </p:sp>
    </p:spTree>
    <p:extLst>
      <p:ext uri="{BB962C8B-B14F-4D97-AF65-F5344CB8AC3E}">
        <p14:creationId xmlns:p14="http://schemas.microsoft.com/office/powerpoint/2010/main" val="644702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클래스 예측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확률의 합이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을 초과하므로 정규화 필요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772772" y="2667797"/>
            <a:ext cx="8836432" cy="3886786"/>
            <a:chOff x="1880672" y="2225857"/>
            <a:chExt cx="8836432" cy="3886786"/>
          </a:xfrm>
        </p:grpSpPr>
        <p:grpSp>
          <p:nvGrpSpPr>
            <p:cNvPr id="26" name="그룹 25"/>
            <p:cNvGrpSpPr/>
            <p:nvPr/>
          </p:nvGrpSpPr>
          <p:grpSpPr>
            <a:xfrm>
              <a:off x="1880672" y="3133829"/>
              <a:ext cx="8836432" cy="2978814"/>
              <a:chOff x="622356" y="2045540"/>
              <a:chExt cx="8836432" cy="2978814"/>
            </a:xfrm>
          </p:grpSpPr>
          <p:sp>
            <p:nvSpPr>
              <p:cNvPr id="27" name="TextBox 26"/>
              <p:cNvSpPr txBox="1"/>
              <p:nvPr/>
            </p:nvSpPr>
            <p:spPr>
              <a:xfrm>
                <a:off x="1036876" y="4378023"/>
                <a:ext cx="285752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0.2/1.4=0.054</a:t>
                </a:r>
              </a:p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5.4%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확률</a:t>
                </a:r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4192593" y="4378023"/>
                <a:ext cx="228601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0.8/1.4=0.756</a:t>
                </a:r>
              </a:p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75.6%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확률</a:t>
                </a: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6887052" y="4352088"/>
                <a:ext cx="257173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0.4/1.4=0.189</a:t>
                </a:r>
              </a:p>
              <a:p>
                <a:pPr lvl="0">
                  <a:defRPr/>
                </a:pPr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18.9%</a:t>
                </a:r>
                <a:r>
                  <a:rPr lang="ko-KR" altLang="en-US" dirty="0">
                    <a:latin typeface="나눔스퀘어 Bold" panose="020B0600000101010101" pitchFamily="50" charset="-127"/>
                    <a:ea typeface="나눔스퀘어 Bold" panose="020B0600000101010101" pitchFamily="50" charset="-127"/>
                    <a:cs typeface="+mj-cs"/>
                  </a:rPr>
                  <a:t>확률</a:t>
                </a:r>
              </a:p>
            </p:txBody>
          </p:sp>
          <p:grpSp>
            <p:nvGrpSpPr>
              <p:cNvPr id="30" name="그룹 29"/>
              <p:cNvGrpSpPr/>
              <p:nvPr/>
            </p:nvGrpSpPr>
            <p:grpSpPr>
              <a:xfrm>
                <a:off x="622356" y="2045540"/>
                <a:ext cx="8329022" cy="1988420"/>
                <a:chOff x="622356" y="2045540"/>
                <a:chExt cx="8329022" cy="1988420"/>
              </a:xfrm>
            </p:grpSpPr>
            <p:sp>
              <p:nvSpPr>
                <p:cNvPr id="52" name="TextBox 51"/>
                <p:cNvSpPr txBox="1"/>
                <p:nvPr/>
              </p:nvSpPr>
              <p:spPr>
                <a:xfrm>
                  <a:off x="1464449" y="3675487"/>
                  <a:ext cx="2857520" cy="358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>
                      <a:latin typeface="맑은 고딕"/>
                      <a:ea typeface="맑은 고딕"/>
                      <a:cs typeface="+mj-cs"/>
                    </a:rPr>
                    <a:t> </a:t>
                  </a:r>
                  <a:r>
                    <a:rPr lang="en-US" altLang="ko-KR">
                      <a:latin typeface="맑은 고딕"/>
                      <a:ea typeface="맑은 고딕"/>
                      <a:cs typeface="+mj-cs"/>
                    </a:rPr>
                    <a:t>0.2</a:t>
                  </a:r>
                  <a:endParaRPr lang="ko-KR" altLang="en-US"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4572000" y="3675487"/>
                  <a:ext cx="1643074" cy="358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en-US" altLang="ko-KR">
                      <a:latin typeface="맑은 고딕"/>
                      <a:ea typeface="맑은 고딕"/>
                      <a:cs typeface="+mj-cs"/>
                    </a:rPr>
                    <a:t>0.8</a:t>
                  </a:r>
                  <a:endParaRPr lang="ko-KR" altLang="en-US">
                    <a:latin typeface="맑은 고딕"/>
                    <a:ea typeface="맑은 고딕"/>
                    <a:cs typeface="+mj-cs"/>
                  </a:endParaRP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7308304" y="3675487"/>
                  <a:ext cx="1643074" cy="35847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:r>
                    <a:rPr lang="ko-KR" altLang="en-US">
                      <a:latin typeface="맑은 고딕"/>
                      <a:ea typeface="맑은 고딕"/>
                      <a:cs typeface="+mj-cs"/>
                    </a:rPr>
                    <a:t> </a:t>
                  </a:r>
                  <a:r>
                    <a:rPr lang="en-US" altLang="ko-KR">
                      <a:latin typeface="맑은 고딕"/>
                      <a:ea typeface="맑은 고딕"/>
                      <a:cs typeface="+mj-cs"/>
                    </a:rPr>
                    <a:t>0.4</a:t>
                  </a:r>
                  <a:endParaRPr lang="ko-KR" altLang="en-US">
                    <a:latin typeface="맑은 고딕"/>
                    <a:ea typeface="맑은 고딕"/>
                    <a:cs typeface="+mj-cs"/>
                  </a:endParaRPr>
                </a:p>
              </p:txBody>
            </p:sp>
            <p:grpSp>
              <p:nvGrpSpPr>
                <p:cNvPr id="55" name="그룹 54"/>
                <p:cNvGrpSpPr/>
                <p:nvPr/>
              </p:nvGrpSpPr>
              <p:grpSpPr>
                <a:xfrm>
                  <a:off x="622356" y="2045540"/>
                  <a:ext cx="7858180" cy="1285884"/>
                  <a:chOff x="500034" y="3071810"/>
                  <a:chExt cx="7858180" cy="1285884"/>
                </a:xfrm>
              </p:grpSpPr>
              <p:sp>
                <p:nvSpPr>
                  <p:cNvPr id="56" name="직사각형 55"/>
                  <p:cNvSpPr/>
                  <p:nvPr/>
                </p:nvSpPr>
                <p:spPr>
                  <a:xfrm>
                    <a:off x="500034" y="3071810"/>
                    <a:ext cx="2428892" cy="1285884"/>
                  </a:xfrm>
                  <a:prstGeom prst="rect">
                    <a:avLst/>
                  </a:prstGeom>
                  <a:solidFill>
                    <a:schemeClr val="bg2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r>
                      <a:rPr lang="en-US" altLang="ko-KR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j-cs"/>
                      </a:rPr>
                      <a:t>A or not</a:t>
                    </a:r>
                  </a:p>
                </p:txBody>
              </p:sp>
              <p:sp>
                <p:nvSpPr>
                  <p:cNvPr id="57" name="직사각형 56"/>
                  <p:cNvSpPr/>
                  <p:nvPr/>
                </p:nvSpPr>
                <p:spPr>
                  <a:xfrm>
                    <a:off x="3536149" y="3071810"/>
                    <a:ext cx="2428892" cy="1285884"/>
                  </a:xfrm>
                  <a:prstGeom prst="rect">
                    <a:avLst/>
                  </a:prstGeom>
                  <a:solidFill>
                    <a:schemeClr val="bg2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r>
                      <a:rPr lang="en-US" altLang="ko-KR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j-cs"/>
                      </a:rPr>
                      <a:t>B or not</a:t>
                    </a:r>
                    <a:endParaRPr lang="ko-KR" altLang="en-US">
                      <a:solidFill>
                        <a:schemeClr val="tx1"/>
                      </a:solidFill>
                      <a:latin typeface="맑은 고딕"/>
                      <a:ea typeface="맑은 고딕"/>
                      <a:cs typeface="+mj-cs"/>
                    </a:endParaRPr>
                  </a:p>
                </p:txBody>
              </p:sp>
              <p:sp>
                <p:nvSpPr>
                  <p:cNvPr id="58" name="직사각형 57"/>
                  <p:cNvSpPr/>
                  <p:nvPr/>
                </p:nvSpPr>
                <p:spPr>
                  <a:xfrm>
                    <a:off x="6572264" y="3072494"/>
                    <a:ext cx="1785950" cy="1285200"/>
                  </a:xfrm>
                  <a:prstGeom prst="rect">
                    <a:avLst/>
                  </a:prstGeom>
                  <a:solidFill>
                    <a:schemeClr val="bg2">
                      <a:lumMod val="60000"/>
                      <a:lumOff val="40000"/>
                    </a:schemeClr>
                  </a:solidFill>
                  <a:ln>
                    <a:solidFill>
                      <a:schemeClr val="accent1">
                        <a:lumMod val="7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r>
                      <a:rPr lang="en-US" altLang="ko-KR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j-cs"/>
                      </a:rPr>
                      <a:t>C or not</a:t>
                    </a:r>
                    <a:endParaRPr lang="ko-KR" altLang="en-US">
                      <a:solidFill>
                        <a:schemeClr val="tx1"/>
                      </a:solidFill>
                      <a:latin typeface="맑은 고딕"/>
                      <a:ea typeface="맑은 고딕"/>
                      <a:cs typeface="+mj-cs"/>
                    </a:endParaRPr>
                  </a:p>
                </p:txBody>
              </p:sp>
            </p:grpSp>
          </p:grp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xmlns="" id="{C218D1CF-3869-4F38-85E8-1C2C0C87E8AA}"/>
                </a:ext>
              </a:extLst>
            </p:cNvPr>
            <p:cNvSpPr txBox="1"/>
            <p:nvPr/>
          </p:nvSpPr>
          <p:spPr>
            <a:xfrm>
              <a:off x="5321294" y="2225857"/>
              <a:ext cx="12726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class B</a:t>
              </a:r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cxnSp>
          <p:nvCxnSpPr>
            <p:cNvPr id="60" name="직선 화살표 연결선 59">
              <a:extLst>
                <a:ext uri="{FF2B5EF4-FFF2-40B4-BE49-F238E27FC236}">
                  <a16:creationId xmlns:a16="http://schemas.microsoft.com/office/drawing/2014/main" xmlns="" id="{C2C0A6BA-C6A4-4824-8BCA-09A2A5142A50}"/>
                </a:ext>
              </a:extLst>
            </p:cNvPr>
            <p:cNvCxnSpPr>
              <a:stCxn id="59" idx="2"/>
              <a:endCxn id="56" idx="0"/>
            </p:cNvCxnSpPr>
            <p:nvPr/>
          </p:nvCxnSpPr>
          <p:spPr>
            <a:xfrm flipH="1">
              <a:off x="3095118" y="2595189"/>
              <a:ext cx="2862488" cy="5386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xmlns="" id="{297A0752-6AE5-4758-815A-452F6AA5264C}"/>
                </a:ext>
              </a:extLst>
            </p:cNvPr>
            <p:cNvCxnSpPr>
              <a:stCxn id="59" idx="2"/>
              <a:endCxn id="57" idx="0"/>
            </p:cNvCxnSpPr>
            <p:nvPr/>
          </p:nvCxnSpPr>
          <p:spPr>
            <a:xfrm>
              <a:off x="5957606" y="2595189"/>
              <a:ext cx="173627" cy="53864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  <p:cxnSp>
          <p:nvCxnSpPr>
            <p:cNvPr id="62" name="직선 화살표 연결선 61">
              <a:extLst>
                <a:ext uri="{FF2B5EF4-FFF2-40B4-BE49-F238E27FC236}">
                  <a16:creationId xmlns:a16="http://schemas.microsoft.com/office/drawing/2014/main" xmlns="" id="{369AD5A3-7CE9-47CA-9C0D-45FDC313E116}"/>
                </a:ext>
              </a:extLst>
            </p:cNvPr>
            <p:cNvCxnSpPr>
              <a:stCxn id="59" idx="2"/>
              <a:endCxn id="58" idx="0"/>
            </p:cNvCxnSpPr>
            <p:nvPr/>
          </p:nvCxnSpPr>
          <p:spPr>
            <a:xfrm>
              <a:off x="5957606" y="2595189"/>
              <a:ext cx="2888271" cy="53932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/>
              <a:headEnd w="med" len="med"/>
              <a:tailEnd type="triangle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187247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Softmax</a:t>
            </a:r>
            <a:r>
              <a:rPr lang="en-US" altLang="ko-KR" dirty="0" smtClean="0"/>
              <a:t> </a:t>
            </a:r>
            <a:r>
              <a:rPr lang="ko-KR" altLang="en-US" dirty="0" smtClean="0"/>
              <a:t>정규화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전체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data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합으로 자신의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출력값을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나누어줄 때 지수 함수 사용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지수함수를 사용하는 이유는 값이 급격하게 변하기 때문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4606026" y="3644191"/>
            <a:ext cx="2831094" cy="3026180"/>
            <a:chOff x="4760821" y="2143616"/>
            <a:chExt cx="3182160" cy="3401439"/>
          </a:xfrm>
        </p:grpSpPr>
        <p:grpSp>
          <p:nvGrpSpPr>
            <p:cNvPr id="18" name="그룹 17"/>
            <p:cNvGrpSpPr/>
            <p:nvPr/>
          </p:nvGrpSpPr>
          <p:grpSpPr>
            <a:xfrm>
              <a:off x="5002306" y="2143616"/>
              <a:ext cx="2940675" cy="2922225"/>
              <a:chOff x="5002306" y="2143616"/>
              <a:chExt cx="2940675" cy="2922225"/>
            </a:xfrm>
          </p:grpSpPr>
          <p:grpSp>
            <p:nvGrpSpPr>
              <p:cNvPr id="20" name="그룹 19"/>
              <p:cNvGrpSpPr/>
              <p:nvPr/>
            </p:nvGrpSpPr>
            <p:grpSpPr>
              <a:xfrm>
                <a:off x="5002306" y="2655567"/>
                <a:ext cx="2455658" cy="2410274"/>
                <a:chOff x="5002306" y="2655567"/>
                <a:chExt cx="2455658" cy="2410274"/>
              </a:xfrm>
            </p:grpSpPr>
            <p:grpSp>
              <p:nvGrpSpPr>
                <p:cNvPr id="23" name="그룹 22"/>
                <p:cNvGrpSpPr/>
                <p:nvPr/>
              </p:nvGrpSpPr>
              <p:grpSpPr>
                <a:xfrm>
                  <a:off x="5004048" y="2655568"/>
                  <a:ext cx="2453916" cy="2410273"/>
                  <a:chOff x="5004048" y="2655568"/>
                  <a:chExt cx="2453916" cy="2410273"/>
                </a:xfrm>
              </p:grpSpPr>
              <p:grpSp>
                <p:nvGrpSpPr>
                  <p:cNvPr id="26" name="그룹 25"/>
                  <p:cNvGrpSpPr/>
                  <p:nvPr/>
                </p:nvGrpSpPr>
                <p:grpSpPr>
                  <a:xfrm>
                    <a:off x="5009692" y="2655569"/>
                    <a:ext cx="2448272" cy="2410272"/>
                    <a:chOff x="3347864" y="2530896"/>
                    <a:chExt cx="2448272" cy="2410272"/>
                  </a:xfrm>
                </p:grpSpPr>
                <p:cxnSp>
                  <p:nvCxnSpPr>
                    <p:cNvPr id="28" name="직선 연결선 27"/>
                    <p:cNvCxnSpPr/>
                    <p:nvPr/>
                  </p:nvCxnSpPr>
                  <p:spPr>
                    <a:xfrm flipH="1">
                      <a:off x="4569178" y="2530896"/>
                      <a:ext cx="2822" cy="2410272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tx1"/>
                      </a:solidFill>
                      <a:prstDash val="solid"/>
                      <a:miter/>
                      <a:headEnd w="med" len="med"/>
                      <a:tailEnd w="med" len="med"/>
                    </a:ln>
                    <a:effectLst/>
                  </p:spPr>
                </p:cxnSp>
                <p:cxnSp>
                  <p:nvCxnSpPr>
                    <p:cNvPr id="29" name="직선 연결선 28"/>
                    <p:cNvCxnSpPr/>
                    <p:nvPr/>
                  </p:nvCxnSpPr>
                  <p:spPr>
                    <a:xfrm>
                      <a:off x="3347864" y="4653136"/>
                      <a:ext cx="2448272" cy="0"/>
                    </a:xfrm>
                    <a:prstGeom prst="line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chemeClr val="tx1"/>
                      </a:solidFill>
                      <a:prstDash val="solid"/>
                      <a:miter/>
                      <a:headEnd w="med" len="med"/>
                      <a:tailEnd w="med" len="med"/>
                    </a:ln>
                    <a:effectLst/>
                  </p:spPr>
                </p:cxnSp>
              </p:grpSp>
              <p:sp>
                <p:nvSpPr>
                  <p:cNvPr id="27" name="직사각형 26"/>
                  <p:cNvSpPr/>
                  <p:nvPr/>
                </p:nvSpPr>
                <p:spPr>
                  <a:xfrm>
                    <a:off x="5004048" y="2655568"/>
                    <a:ext cx="2453916" cy="2410273"/>
                  </a:xfrm>
                  <a:prstGeom prst="rect">
                    <a:avLst/>
                  </a:prstGeom>
                  <a:noFill/>
                  <a:ln w="19050" cap="flat" cmpd="sng" algn="ctr">
                    <a:solidFill>
                      <a:schemeClr val="accent3">
                        <a:lumMod val="65000"/>
                      </a:schemeClr>
                    </a:solidFill>
                    <a:prstDash val="solid"/>
                    <a:miter/>
                    <a:headEnd w="med" len="med"/>
                    <a:tailEnd w="med" len="med"/>
                  </a:ln>
                  <a:effectLst/>
                </p:spPr>
                <p:txBody>
                  <a:bodyPr vert="horz" wrap="none" lIns="91440" tIns="45720" rIns="91440" bIns="45720" anchor="t" anchorCtr="0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14400" rtl="0" eaLnBrk="1" latinLnBrk="1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FontTx/>
                      <a:buNone/>
                      <a:defRPr/>
                    </a:pPr>
                    <a:endParaRPr kumimoji="1" lang="ko-KR" altLang="en-US" sz="2400" b="0" i="0" u="none" strike="noStrike" cap="none" normalizeH="0" baseline="0" dirty="0">
                      <a:solidFill>
                        <a:schemeClr val="tx1"/>
                      </a:solidFill>
                      <a:effectLst/>
                      <a:latin typeface="Times New Roman"/>
                      <a:ea typeface="나눔바른고딕" panose="020B0603020101020101" pitchFamily="50" charset="-127"/>
                    </a:endParaRPr>
                  </a:p>
                </p:txBody>
              </p:sp>
            </p:grpSp>
            <p:sp>
              <p:nvSpPr>
                <p:cNvPr id="24" name="자유형 23"/>
                <p:cNvSpPr/>
                <p:nvPr/>
              </p:nvSpPr>
              <p:spPr>
                <a:xfrm>
                  <a:off x="5715000" y="2655567"/>
                  <a:ext cx="1089248" cy="2104692"/>
                </a:xfrm>
                <a:custGeom>
                  <a:avLst/>
                  <a:gdLst>
                    <a:gd name="connsiteX0" fmla="*/ 0 w 1008529"/>
                    <a:gd name="connsiteY0" fmla="*/ 2130222 h 2130222"/>
                    <a:gd name="connsiteX1" fmla="*/ 443753 w 1008529"/>
                    <a:gd name="connsiteY1" fmla="*/ 2022645 h 2130222"/>
                    <a:gd name="connsiteX2" fmla="*/ 833717 w 1008529"/>
                    <a:gd name="connsiteY2" fmla="*/ 1538551 h 2130222"/>
                    <a:gd name="connsiteX3" fmla="*/ 954741 w 1008529"/>
                    <a:gd name="connsiteY3" fmla="*/ 866198 h 2130222"/>
                    <a:gd name="connsiteX4" fmla="*/ 995082 w 1008529"/>
                    <a:gd name="connsiteY4" fmla="*/ 99716 h 2130222"/>
                    <a:gd name="connsiteX5" fmla="*/ 1008529 w 1008529"/>
                    <a:gd name="connsiteY5" fmla="*/ 32481 h 2130222"/>
                    <a:gd name="connsiteX0" fmla="*/ 0 w 1008529"/>
                    <a:gd name="connsiteY0" fmla="*/ 2130222 h 2130222"/>
                    <a:gd name="connsiteX1" fmla="*/ 443753 w 1008529"/>
                    <a:gd name="connsiteY1" fmla="*/ 2022645 h 2130222"/>
                    <a:gd name="connsiteX2" fmla="*/ 771465 w 1008529"/>
                    <a:gd name="connsiteY2" fmla="*/ 1524941 h 2130222"/>
                    <a:gd name="connsiteX3" fmla="*/ 954741 w 1008529"/>
                    <a:gd name="connsiteY3" fmla="*/ 866198 h 2130222"/>
                    <a:gd name="connsiteX4" fmla="*/ 995082 w 1008529"/>
                    <a:gd name="connsiteY4" fmla="*/ 99716 h 2130222"/>
                    <a:gd name="connsiteX5" fmla="*/ 1008529 w 1008529"/>
                    <a:gd name="connsiteY5" fmla="*/ 32481 h 21302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008529" h="2130222">
                      <a:moveTo>
                        <a:pt x="0" y="2130222"/>
                      </a:moveTo>
                      <a:cubicBezTo>
                        <a:pt x="152400" y="2125739"/>
                        <a:pt x="315176" y="2123525"/>
                        <a:pt x="443753" y="2022645"/>
                      </a:cubicBezTo>
                      <a:cubicBezTo>
                        <a:pt x="572330" y="1921765"/>
                        <a:pt x="686300" y="1717682"/>
                        <a:pt x="771465" y="1524941"/>
                      </a:cubicBezTo>
                      <a:cubicBezTo>
                        <a:pt x="856630" y="1332200"/>
                        <a:pt x="917472" y="1103735"/>
                        <a:pt x="954741" y="866198"/>
                      </a:cubicBezTo>
                      <a:cubicBezTo>
                        <a:pt x="992010" y="628661"/>
                        <a:pt x="986117" y="238669"/>
                        <a:pt x="995082" y="99716"/>
                      </a:cubicBezTo>
                      <a:cubicBezTo>
                        <a:pt x="1004047" y="-39237"/>
                        <a:pt x="1006288" y="-3378"/>
                        <a:pt x="1008529" y="32481"/>
                      </a:cubicBezTo>
                    </a:path>
                  </a:pathLst>
                </a:custGeom>
                <a:noFill/>
                <a:ln w="28575" cap="flat" cmpd="sng" algn="ctr">
                  <a:solidFill>
                    <a:srgbClr val="0066CC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5" name="자유형 24"/>
                <p:cNvSpPr/>
                <p:nvPr/>
              </p:nvSpPr>
              <p:spPr>
                <a:xfrm>
                  <a:off x="5002306" y="4760259"/>
                  <a:ext cx="712694" cy="0"/>
                </a:xfrm>
                <a:custGeom>
                  <a:avLst/>
                  <a:gdLst>
                    <a:gd name="connsiteX0" fmla="*/ 0 w 712694"/>
                    <a:gd name="connsiteY0" fmla="*/ 0 h 0"/>
                    <a:gd name="connsiteX1" fmla="*/ 712694 w 712694"/>
                    <a:gd name="connsiteY1" fmla="*/ 0 h 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12694">
                      <a:moveTo>
                        <a:pt x="0" y="0"/>
                      </a:moveTo>
                      <a:lnTo>
                        <a:pt x="712694" y="0"/>
                      </a:lnTo>
                    </a:path>
                  </a:pathLst>
                </a:custGeom>
                <a:noFill/>
                <a:ln w="28575" cap="flat" cmpd="sng" algn="ctr">
                  <a:solidFill>
                    <a:srgbClr val="0066CC"/>
                  </a:solidFill>
                  <a:prstDash val="solid"/>
                  <a:miter/>
                  <a:headEnd w="med" len="med"/>
                  <a:tailEnd w="med" len="med"/>
                </a:ln>
                <a:effectLst/>
              </p:spPr>
              <p:txBody>
                <a:bodyPr vert="horz" wrap="none" lIns="91440" tIns="45720" rIns="91440" bIns="45720" anchor="t" anchorCtr="0">
                  <a:prstTxWarp prst="textNoShape">
                    <a:avLst/>
                  </a:prstTxWarp>
                </a:bodyPr>
                <a:lstStyle/>
                <a:p>
                  <a:pPr marL="0" marR="0" indent="0" algn="l" defTabSz="914400" rtl="0" eaLnBrk="1" latinLnBrk="1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FontTx/>
                    <a:buNone/>
                    <a:defRPr/>
                  </a:pPr>
                  <a:endParaRPr kumimoji="1" lang="ko-KR" altLang="en-US" sz="2400" b="0" i="0" u="none" strike="noStrike" cap="none" normalizeH="0" baseline="0" dirty="0">
                    <a:solidFill>
                      <a:schemeClr val="tx1"/>
                    </a:solidFill>
                    <a:effectLst/>
                    <a:latin typeface="Times New Roman"/>
                    <a:ea typeface="나눔바른고딕" panose="020B0603020101020101" pitchFamily="50" charset="-127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/>
                  <p:cNvSpPr txBox="1"/>
                  <p:nvPr/>
                </p:nvSpPr>
                <p:spPr>
                  <a:xfrm>
                    <a:off x="7394847" y="4529426"/>
                    <a:ext cx="548134" cy="46166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16" name=""/>
                  <p:cNvSpPr txBox="1"/>
                  <p:nvPr/>
                </p:nvSpPr>
                <p:spPr>
                  <a:xfrm>
                    <a:off x="7394847" y="4529426"/>
                    <a:ext cx="548134" cy="46166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5956939" y="2143616"/>
                    <a:ext cx="548134" cy="46166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  <a:ea typeface="맑은 고딕" panose="020B0503020000020004" pitchFamily="50" charset="-127"/>
                            </a:rPr>
                            <m:t>𝑦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17" name=""/>
                  <p:cNvSpPr txBox="1"/>
                  <p:nvPr/>
                </p:nvSpPr>
                <p:spPr>
                  <a:xfrm>
                    <a:off x="5956939" y="2143616"/>
                    <a:ext cx="548134" cy="461665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/>
                <p:cNvSpPr txBox="1"/>
                <p:nvPr/>
              </p:nvSpPr>
              <p:spPr>
                <a:xfrm>
                  <a:off x="4760821" y="5083390"/>
                  <a:ext cx="2858395" cy="461665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𝑦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=</m:t>
                        </m:r>
                        <m:func>
                          <m:func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  <a:ea typeface="맑은 고딕" panose="020B0503020000020004" pitchFamily="50" charset="-127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</m:ctrlPr>
                              </m:dPr>
                              <m:e>
                                <m:r>
                                  <a:rPr lang="en-US" altLang="ko-KR" sz="2400" b="0" i="1" smtClean="0">
                                    <a:latin typeface="Cambria Math" panose="02040503050406030204" pitchFamily="18" charset="0"/>
                                    <a:ea typeface="맑은 고딕" panose="020B0503020000020004" pitchFamily="50" charset="-127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altLang="ko-KR" sz="2400" b="0" i="1" smtClean="0">
                            <a:latin typeface="Cambria Math" panose="02040503050406030204" pitchFamily="18" charset="0"/>
                            <a:ea typeface="맑은 고딕" panose="020B0503020000020004" pitchFamily="50" charset="-127"/>
                          </a:rPr>
                          <m:t>=</m:t>
                        </m:r>
                        <m:sSup>
                          <m:sSupPr>
                            <m:ctrlPr>
                              <a:rPr lang="ko-KR" altLang="en-US" sz="24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sz="2400" dirty="0">
                                <a:latin typeface="Cambria Math" panose="02040503050406030204" pitchFamily="18" charset="0"/>
                              </a:rPr>
                              <m:t>ⅇ</m:t>
                            </m:r>
                          </m:e>
                          <m:sup>
                            <m:r>
                              <a:rPr lang="ko-KR" altLang="en-US" sz="24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oMath>
                    </m:oMathPara>
                  </a14:m>
                  <a:endParaRPr/>
                </a:p>
              </p:txBody>
            </p:sp>
          </mc:Choice>
          <mc:Fallback xmlns:dsp="http://schemas.microsoft.com/office/drawing/2008/diagram" xmlns:dgm="http://schemas.openxmlformats.org/drawingml/2006/diagram" xmlns:c="http://schemas.openxmlformats.org/drawingml/2006/chart" xmlns="">
            <p:sp>
              <p:nvSpPr>
                <p:cNvPr id="14" name=""/>
                <p:cNvSpPr txBox="1"/>
                <p:nvPr/>
              </p:nvSpPr>
              <p:spPr>
                <a:xfrm>
                  <a:off x="4760821" y="5083390"/>
                  <a:ext cx="2858395" cy="461665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1" name="오른쪽 화살표 30"/>
          <p:cNvSpPr/>
          <p:nvPr/>
        </p:nvSpPr>
        <p:spPr>
          <a:xfrm>
            <a:off x="5657318" y="3023270"/>
            <a:ext cx="501206" cy="35776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8"/>
              <p:cNvSpPr txBox="1"/>
              <p:nvPr/>
            </p:nvSpPr>
            <p:spPr>
              <a:xfrm>
                <a:off x="2151152" y="2737734"/>
                <a:ext cx="2133600" cy="862299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sz="22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200" b="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sz="2200" b="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200" b="0" i="1">
                                  <a:latin typeface="Cambria Math"/>
                                  <a:sym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b="0" i="1">
                                  <a:latin typeface="Cambria Math"/>
                                  <a:sym typeface="Cambria Math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sz="2200" b="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200" b="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sz="2200" b="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200" b="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2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52" y="2737734"/>
                <a:ext cx="2133600" cy="8622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8"/>
              <p:cNvSpPr txBox="1"/>
              <p:nvPr/>
            </p:nvSpPr>
            <p:spPr>
              <a:xfrm>
                <a:off x="6875485" y="2758368"/>
                <a:ext cx="2752602" cy="862299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200" i="1">
                          <a:latin typeface="Cambria Math"/>
                        </a:rPr>
                        <m:t>𝜎</m:t>
                      </m:r>
                      <m:d>
                        <m:dPr>
                          <m:ctrlPr>
                            <a:rPr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2200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i="1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sz="2200" b="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sz="2200" b="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ko-KR" sz="2200" i="1">
                              <a:latin typeface="Cambria Math" panose="02040503050406030204" pitchFamily="18" charset="0"/>
                              <a:sym typeface="Cambria Math"/>
                            </a:rPr>
                            <m:t>exp</m:t>
                          </m:r>
                          <m:r>
                            <a:rPr lang="en-US" altLang="ko-KR" sz="2200" i="1">
                              <a:latin typeface="Cambria Math" panose="02040503050406030204" pitchFamily="18" charset="0"/>
                              <a:sym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sz="2200" b="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sSubPr>
                            <m:e>
                              <m:r>
                                <a:rPr sz="2200" b="0" i="1">
                                  <a:latin typeface="Cambria Math"/>
                                  <a:sym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sz="2200" b="0" i="1">
                                  <a:latin typeface="Cambria Math"/>
                                  <a:sym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200" i="1">
                              <a:latin typeface="Cambria Math" panose="02040503050406030204" pitchFamily="18" charset="0"/>
                              <a:sym typeface="Cambria Math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bHide m:val="on"/>
                              <m:supHide m:val="on"/>
                              <m:ctrlPr>
                                <a:rPr sz="2200" b="0" i="1">
                                  <a:latin typeface="Cambria Math" panose="02040503050406030204" pitchFamily="18" charset="0"/>
                                  <a:sym typeface="Cambria Math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sz="2200" b="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sz="22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  <m:t>exp</m:t>
                                  </m:r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  <m:t>(</m:t>
                                  </m:r>
                                  <m:r>
                                    <a:rPr sz="2200" b="0" i="1">
                                      <a:latin typeface="Cambria Math"/>
                                      <a:sym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sz="2200" b="0" i="1">
                                      <a:latin typeface="Cambria Math"/>
                                      <a:sym typeface="Cambria Math"/>
                                    </a:rPr>
                                    <m:t>𝑖</m:t>
                                  </m:r>
                                  <m:r>
                                    <a:rPr lang="en-US" altLang="ko-KR" sz="2200" i="1">
                                      <a:latin typeface="Cambria Math" panose="02040503050406030204" pitchFamily="18" charset="0"/>
                                      <a:sym typeface="Cambria Math"/>
                                    </a:rPr>
                                    <m:t>)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33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485" y="2758368"/>
                <a:ext cx="2752602" cy="86229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5189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정규화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[0.2  0.8  0.4], sum = 1.2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정규화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[0.2  0.8  0.4] / 1.2 = [0.142, 0.5714, 0.2857]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28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정규화</a:t>
            </a:r>
            <a: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[</a:t>
            </a:r>
            <a:r>
              <a:rPr lang="en-US" altLang="ko-KR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1.22, 2.22, 1.49 ],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sum=4.93</a:t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[1.22</a:t>
            </a:r>
            <a:r>
              <a:rPr lang="en-US" altLang="ko-KR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, 2.22, 1.49 ]</a:t>
            </a:r>
            <a:r>
              <a:rPr lang="ko-KR" altLang="en-US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24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/  4.93 = [0.24 , 0.45, 0.30]</a:t>
            </a:r>
          </a:p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pic>
        <p:nvPicPr>
          <p:cNvPr id="23" name="Picture 3"/>
          <p:cNvPicPr>
            <a:picLocks noChangeAspect="1" noChangeArrowheads="1"/>
          </p:cNvPicPr>
          <p:nvPr/>
        </p:nvPicPr>
        <p:blipFill rotWithShape="1">
          <a:blip r:embed="rId3"/>
          <a:srcRect t="5893"/>
          <a:stretch/>
        </p:blipFill>
        <p:spPr bwMode="auto">
          <a:xfrm>
            <a:off x="2223108" y="4480560"/>
            <a:ext cx="3429000" cy="2115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80826" y="4346377"/>
            <a:ext cx="3143272" cy="2059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5" name="TextBox 24"/>
          <p:cNvSpPr txBox="1"/>
          <p:nvPr/>
        </p:nvSpPr>
        <p:spPr>
          <a:xfrm>
            <a:off x="3560912" y="6468301"/>
            <a:ext cx="1071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정규화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2339" y="641134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softmax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정규화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8152993" y="3952655"/>
            <a:ext cx="2356344" cy="49560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정규화한 후</a:t>
            </a:r>
            <a:endParaRPr lang="en-US" altLang="ko-KR" sz="1400" dirty="0" smtClean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가장 큰 </a:t>
            </a:r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확률값이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매우 커짐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65032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다중 클래스에서 </a:t>
            </a:r>
            <a:r>
              <a:rPr lang="en-US" altLang="ko-KR" dirty="0" smtClean="0"/>
              <a:t>cost</a:t>
            </a:r>
            <a:r>
              <a:rPr lang="ko-KR" altLang="en-US" dirty="0" smtClean="0"/>
              <a:t>함수 정의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2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다중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에 맞는 별도의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cost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필요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069724" y="3165665"/>
            <a:ext cx="7068244" cy="1872208"/>
            <a:chOff x="1783293" y="2360452"/>
            <a:chExt cx="7068244" cy="1872208"/>
          </a:xfrm>
        </p:grpSpPr>
        <p:grpSp>
          <p:nvGrpSpPr>
            <p:cNvPr id="12" name="그룹 11"/>
            <p:cNvGrpSpPr/>
            <p:nvPr/>
          </p:nvGrpSpPr>
          <p:grpSpPr>
            <a:xfrm>
              <a:off x="1783293" y="2360452"/>
              <a:ext cx="2171700" cy="1828403"/>
              <a:chOff x="1783293" y="2360452"/>
              <a:chExt cx="2171700" cy="18284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1783293" y="3512580"/>
                    <a:ext cx="2171700" cy="6762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ea typeface="맑은 고딕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sz="1800" i="1">
                                        <a:latin typeface="Cambria Math"/>
                                        <a:ea typeface="맑은 고딕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       </m:t>
                                    </m:r>
                                    <m:r>
                                      <a:rPr sz="180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        </m:t>
                                    </m:r>
                                    <m:r>
                                      <a:rPr sz="180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ea typeface="맑은 고딕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05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05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endParaRPr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22" name=""/>
                  <p:cNvSpPr txBox="1"/>
                  <p:nvPr/>
                </p:nvSpPr>
                <p:spPr>
                  <a:xfrm>
                    <a:off x="1783293" y="3512580"/>
                    <a:ext cx="2171700" cy="676275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783293" y="2360452"/>
                    <a:ext cx="2171700" cy="676275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ea typeface="맑은 고딕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      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         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begChr m:val="["/>
                              <m:endChr m:val="]"/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sz="1800" i="1">
                                      <a:latin typeface="Cambria Math" panose="02040503050406030204" pitchFamily="18" charset="0"/>
                                      <a:ea typeface="맑은 고딕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9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05</m:t>
                                    </m:r>
                                  </m:e>
                                  <m:e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.</m:t>
                                    </m:r>
                                    <m:r>
                                      <a:rPr sz="1800" b="0" i="1">
                                        <a:latin typeface="Cambria Math"/>
                                        <a:ea typeface="맑은 고딕"/>
                                      </a:rPr>
                                      <m:t>05</m:t>
                                    </m:r>
                                  </m:e>
                                </m:mr>
                              </m:m>
                            </m:e>
                          </m:d>
                        </m:oMath>
                      </m:oMathPara>
                    </a14:m>
                    <a:endParaRPr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endParaRPr>
                  </a:p>
                </p:txBody>
              </p:sp>
            </mc:Choice>
            <mc:Fallback xmlns:dsp="http://schemas.microsoft.com/office/drawing/2008/diagram" xmlns:dgm="http://schemas.openxmlformats.org/drawingml/2006/diagram" xmlns:c="http://schemas.openxmlformats.org/drawingml/2006/chart" xmlns="">
              <p:sp>
                <p:nvSpPr>
                  <p:cNvPr id="23" name=""/>
                  <p:cNvSpPr txBox="1"/>
                  <p:nvPr/>
                </p:nvSpPr>
                <p:spPr>
                  <a:xfrm>
                    <a:off x="1783293" y="2360452"/>
                    <a:ext cx="2171700" cy="676275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6115233" y="2432460"/>
                  <a:ext cx="2413693" cy="369332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dirty="0">
                          <a:latin typeface="Cambria Math" panose="02040503050406030204" pitchFamily="18" charset="0"/>
                        </a:rPr>
                        <m:t>c</m:t>
                      </m:r>
                      <m:r>
                        <m:rPr>
                          <m:sty m:val="p"/>
                        </m:rPr>
                        <a:rPr lang="en-US" altLang="ko-KR" i="1" dirty="0" smtClean="0">
                          <a:latin typeface="Cambria Math" panose="02040503050406030204" pitchFamily="18" charset="0"/>
                        </a:rPr>
                        <m:t>ost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낮</m:t>
                      </m:r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은</m:t>
                      </m:r>
                    </m:oMath>
                  </a14:m>
                  <a:r>
                    <a:rPr lang="ko-KR" altLang="en-US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값</a:t>
                  </a:r>
                  <a:r>
                    <a:rPr lang="en-US" altLang="ko-KR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(</a:t>
                  </a:r>
                  <a:r>
                    <a:rPr lang="ko-KR" altLang="en-US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최소 </a:t>
                  </a:r>
                  <a:r>
                    <a:rPr lang="en-US" altLang="ko-KR" dirty="0">
                      <a:latin typeface="나눔스퀘어 Bold" panose="020B0600000101010101" pitchFamily="50" charset="-127"/>
                      <a:ea typeface="나눔스퀘어 Bold" panose="020B0600000101010101" pitchFamily="50" charset="-127"/>
                    </a:rPr>
                    <a:t>0)</a:t>
                  </a:r>
                  <a:endParaRPr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233" y="2432460"/>
                  <a:ext cx="2413693" cy="369332"/>
                </a:xfrm>
                <a:prstGeom prst="rect">
                  <a:avLst/>
                </a:prstGeom>
                <a:blipFill>
                  <a:blip r:embed="rId5"/>
                  <a:stretch>
                    <a:fillRect t="-11475" r="-5051" b="-262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5827201" y="3863328"/>
                  <a:ext cx="3024336" cy="369332"/>
                </a:xfrm>
                <a:prstGeom prst="rect">
                  <a:avLst/>
                </a:prstGeom>
                <a:noFill/>
              </p:spPr>
              <p:txBody>
                <a:bodyPr/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cost</m:t>
                        </m:r>
                        <m: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높은값</m:t>
                        </m:r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최대</m:t>
                        </m:r>
                        <m:r>
                          <a:rPr lang="ko-KR" altLang="en-US" dirty="0" smtClean="0"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en-US" altLang="ko-KR" b="0" i="0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endParaRPr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201" y="3863328"/>
                  <a:ext cx="3024336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/>
          <p:cNvSpPr txBox="1"/>
          <p:nvPr/>
        </p:nvSpPr>
        <p:spPr>
          <a:xfrm>
            <a:off x="2145080" y="4389801"/>
            <a:ext cx="936104" cy="57606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</a:p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추정값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5080" y="3237673"/>
            <a:ext cx="936104" cy="57606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</a:p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추정값</a:t>
            </a:r>
          </a:p>
        </p:txBody>
      </p:sp>
      <p:sp>
        <p:nvSpPr>
          <p:cNvPr id="20" name="오른쪽 화살표 21">
            <a:extLst>
              <a:ext uri="{FF2B5EF4-FFF2-40B4-BE49-F238E27FC236}">
                <a16:creationId xmlns:a16="http://schemas.microsoft.com/office/drawing/2014/main" xmlns="" id="{FB4FF1FA-9F0A-4CE9-A720-1EDB78F9D08F}"/>
              </a:ext>
            </a:extLst>
          </p:cNvPr>
          <p:cNvSpPr/>
          <p:nvPr/>
        </p:nvSpPr>
        <p:spPr>
          <a:xfrm>
            <a:off x="6260732" y="3309681"/>
            <a:ext cx="642942" cy="3714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1" name="오른쪽 화살표 21">
            <a:extLst>
              <a:ext uri="{FF2B5EF4-FFF2-40B4-BE49-F238E27FC236}">
                <a16:creationId xmlns:a16="http://schemas.microsoft.com/office/drawing/2014/main" xmlns="" id="{5B6D002E-FAC5-4661-A6D0-646782B64E1C}"/>
              </a:ext>
            </a:extLst>
          </p:cNvPr>
          <p:cNvSpPr/>
          <p:nvPr/>
        </p:nvSpPr>
        <p:spPr>
          <a:xfrm>
            <a:off x="6249536" y="4666426"/>
            <a:ext cx="642942" cy="3714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322FC5D2-B5F8-45D7-99F0-61B999BCFF0C}"/>
              </a:ext>
            </a:extLst>
          </p:cNvPr>
          <p:cNvSpPr/>
          <p:nvPr/>
        </p:nvSpPr>
        <p:spPr>
          <a:xfrm>
            <a:off x="3291738" y="3444461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xmlns="" id="{ADE24B4B-53D1-4FD1-868F-5AA2B4FFA972}"/>
              </a:ext>
            </a:extLst>
          </p:cNvPr>
          <p:cNvSpPr/>
          <p:nvPr/>
        </p:nvSpPr>
        <p:spPr>
          <a:xfrm>
            <a:off x="3914873" y="4578117"/>
            <a:ext cx="490164" cy="45324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AD959254-7DF5-4A96-938F-98CB78812BAA}"/>
              </a:ext>
            </a:extLst>
          </p:cNvPr>
          <p:cNvSpPr txBox="1"/>
          <p:nvPr/>
        </p:nvSpPr>
        <p:spPr>
          <a:xfrm>
            <a:off x="4017288" y="5059067"/>
            <a:ext cx="1152128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최대값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0A8CD64-EE61-481A-8326-4F5C4723027E}"/>
              </a:ext>
            </a:extLst>
          </p:cNvPr>
          <p:cNvSpPr txBox="1"/>
          <p:nvPr/>
        </p:nvSpPr>
        <p:spPr>
          <a:xfrm>
            <a:off x="3529029" y="3841940"/>
            <a:ext cx="1152128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최대값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xmlns="" id="{09F8B08A-0C78-4B95-A5FE-1D62165504A9}"/>
              </a:ext>
            </a:extLst>
          </p:cNvPr>
          <p:cNvSpPr/>
          <p:nvPr/>
        </p:nvSpPr>
        <p:spPr>
          <a:xfrm>
            <a:off x="3291738" y="3135300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xmlns="" id="{92077E5C-E208-4D50-B75A-E0C042F28804}"/>
              </a:ext>
            </a:extLst>
          </p:cNvPr>
          <p:cNvSpPr/>
          <p:nvPr/>
        </p:nvSpPr>
        <p:spPr>
          <a:xfrm>
            <a:off x="3255992" y="4289251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78877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클래스에서 </a:t>
            </a:r>
            <a:r>
              <a:rPr lang="en-US" altLang="ko-KR" dirty="0"/>
              <a:t>cost</a:t>
            </a:r>
            <a:r>
              <a:rPr lang="ko-KR" altLang="en-US" dirty="0"/>
              <a:t>함수 정의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-log(x)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함수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: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정답에 가까우면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출력값이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0,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오류일 경우에는 무한대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2446034" y="2163290"/>
            <a:ext cx="6980532" cy="4599460"/>
            <a:chOff x="1785040" y="2225857"/>
            <a:chExt cx="8302519" cy="5470516"/>
          </a:xfrm>
        </p:grpSpPr>
        <p:pic>
          <p:nvPicPr>
            <p:cNvPr id="18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785040" y="2225857"/>
              <a:ext cx="8302519" cy="54705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A019EA71-1850-47BE-BECF-6D10B11EB1EF}"/>
                </a:ext>
              </a:extLst>
            </p:cNvPr>
            <p:cNvSpPr txBox="1"/>
            <p:nvPr/>
          </p:nvSpPr>
          <p:spPr>
            <a:xfrm>
              <a:off x="3585240" y="373802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-log(x)</a:t>
              </a:r>
              <a:endParaRPr lang="ko-KR" altLang="en-US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5110F189-1936-4CE5-B6C8-9D9F378F67E8}"/>
                </a:ext>
              </a:extLst>
            </p:cNvPr>
            <p:cNvSpPr txBox="1"/>
            <p:nvPr/>
          </p:nvSpPr>
          <p:spPr>
            <a:xfrm>
              <a:off x="3678172" y="581696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log(x)</a:t>
              </a:r>
              <a:endParaRPr lang="ko-KR" alt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865BFF5E-7652-4BA5-971D-D798047B5701}"/>
                </a:ext>
              </a:extLst>
            </p:cNvPr>
            <p:cNvSpPr txBox="1"/>
            <p:nvPr/>
          </p:nvSpPr>
          <p:spPr>
            <a:xfrm>
              <a:off x="7769684" y="4448813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correct</a:t>
              </a:r>
              <a:endParaRPr lang="ko-KR" alt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5386BB85-33D7-47E6-BA06-D7F6E28628C3}"/>
                </a:ext>
              </a:extLst>
            </p:cNvPr>
            <p:cNvSpPr txBox="1"/>
            <p:nvPr/>
          </p:nvSpPr>
          <p:spPr>
            <a:xfrm>
              <a:off x="2585108" y="4484144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오류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0A407571-B6CF-4CBF-9C34-980B16128C07}"/>
                </a:ext>
              </a:extLst>
            </p:cNvPr>
            <p:cNvSpPr txBox="1"/>
            <p:nvPr/>
          </p:nvSpPr>
          <p:spPr>
            <a:xfrm>
              <a:off x="8269750" y="496111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정답</a:t>
              </a:r>
            </a:p>
          </p:txBody>
        </p:sp>
      </p:grpSp>
      <p:grpSp>
        <p:nvGrpSpPr>
          <p:cNvPr id="27" name="그룹 26"/>
          <p:cNvGrpSpPr/>
          <p:nvPr/>
        </p:nvGrpSpPr>
        <p:grpSpPr>
          <a:xfrm>
            <a:off x="2446034" y="2258540"/>
            <a:ext cx="6980532" cy="4599460"/>
            <a:chOff x="1785040" y="2225857"/>
            <a:chExt cx="8302519" cy="5470516"/>
          </a:xfrm>
        </p:grpSpPr>
        <p:pic>
          <p:nvPicPr>
            <p:cNvPr id="28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1785040" y="2225857"/>
              <a:ext cx="8302519" cy="54705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xmlns="" id="{A019EA71-1850-47BE-BECF-6D10B11EB1EF}"/>
                </a:ext>
              </a:extLst>
            </p:cNvPr>
            <p:cNvSpPr txBox="1"/>
            <p:nvPr/>
          </p:nvSpPr>
          <p:spPr>
            <a:xfrm>
              <a:off x="3585240" y="373802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-log(x)</a:t>
              </a:r>
              <a:endParaRPr lang="ko-KR" alt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xmlns="" id="{5110F189-1936-4CE5-B6C8-9D9F378F67E8}"/>
                </a:ext>
              </a:extLst>
            </p:cNvPr>
            <p:cNvSpPr txBox="1"/>
            <p:nvPr/>
          </p:nvSpPr>
          <p:spPr>
            <a:xfrm>
              <a:off x="3678172" y="581696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log(x)</a:t>
              </a:r>
              <a:endParaRPr lang="ko-KR" altLang="en-US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865BFF5E-7652-4BA5-971D-D798047B5701}"/>
                </a:ext>
              </a:extLst>
            </p:cNvPr>
            <p:cNvSpPr txBox="1"/>
            <p:nvPr/>
          </p:nvSpPr>
          <p:spPr>
            <a:xfrm>
              <a:off x="7769684" y="4448814"/>
              <a:ext cx="1220496" cy="439277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correct</a:t>
              </a:r>
              <a:endParaRPr lang="ko-KR" altLang="en-US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xmlns="" id="{5386BB85-33D7-47E6-BA06-D7F6E28628C3}"/>
                </a:ext>
              </a:extLst>
            </p:cNvPr>
            <p:cNvSpPr txBox="1"/>
            <p:nvPr/>
          </p:nvSpPr>
          <p:spPr>
            <a:xfrm>
              <a:off x="2585108" y="4484144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오류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xmlns="" id="{0A407571-B6CF-4CBF-9C34-980B16128C07}"/>
                </a:ext>
              </a:extLst>
            </p:cNvPr>
            <p:cNvSpPr txBox="1"/>
            <p:nvPr/>
          </p:nvSpPr>
          <p:spPr>
            <a:xfrm>
              <a:off x="8269750" y="4961115"/>
              <a:ext cx="1000132" cy="369332"/>
            </a:xfrm>
            <a:prstGeom prst="rect">
              <a:avLst/>
            </a:prstGeom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정답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52469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클래스에서 </a:t>
            </a:r>
            <a:r>
              <a:rPr lang="en-US" altLang="ko-KR" dirty="0"/>
              <a:t>cost</a:t>
            </a:r>
            <a:r>
              <a:rPr lang="ko-KR" altLang="en-US" dirty="0"/>
              <a:t>함수 정의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38996" y="2068582"/>
                <a:ext cx="2171700" cy="70326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0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 </m:t>
                                </m:r>
                                <m:r>
                                  <a:rPr sz="1800" b="0" i="1">
                                    <a:latin typeface="Cambria Math"/>
                                    <a:ea typeface="맑은 고딕"/>
                                  </a:rPr>
                                  <m:t> </m:t>
                                </m:r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0.9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0.05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8996" y="2068582"/>
                <a:ext cx="2171700" cy="7032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550776" y="3332241"/>
                <a:ext cx="3605531" cy="90896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i="1">
                          <a:latin typeface="Cambria Math"/>
                          <a:ea typeface="맑은 고딕"/>
                          <a:sym typeface="Cambria Math"/>
                        </a:rPr>
                        <m:t>    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0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   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800" b="0" i="1">
                          <a:latin typeface="Cambria Math"/>
                          <a:ea typeface="맑은 고딕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 panose="02040503050406030204" pitchFamily="18" charset="0"/>
                          <a:ea typeface="맑은 고딕"/>
                        </a:rPr>
                        <m:t>l</m:t>
                      </m:r>
                      <m:r>
                        <a:rPr sz="1800" b="0" i="1">
                          <a:latin typeface="Cambria Math"/>
                          <a:ea typeface="맑은 고딕"/>
                        </a:rPr>
                        <m:t>𝑜𝑔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맑은 고딕"/>
                        </a:rPr>
                        <m:t>(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맑은 고딕"/>
                        </a:rPr>
                        <m:t>추정값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맑은 고딕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  <a:sym typeface="Cambria Math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맑은 고딕"/>
                                    <a:sym typeface="Cambria Math"/>
                                  </a:rPr>
                                  <m:t>2.99</m:t>
                                </m:r>
                              </m:e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2.99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776" y="3332241"/>
                <a:ext cx="3605531" cy="90896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오른쪽 화살표 16"/>
          <p:cNvSpPr/>
          <p:nvPr/>
        </p:nvSpPr>
        <p:spPr>
          <a:xfrm>
            <a:off x="6534937" y="3427631"/>
            <a:ext cx="642942" cy="3714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696902" y="3416777"/>
                <a:ext cx="1330891" cy="32574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c</m:t>
                    </m:r>
                    <m:r>
                      <m:rPr>
                        <m:sty m:val="p"/>
                      </m:rPr>
                      <a:rPr lang="en-US" altLang="ko-KR" i="1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ost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= </m:t>
                    </m:r>
                  </m:oMath>
                </a14:m>
                <a:r>
                  <a:rPr lang="en-US" altLang="ko-KR" dirty="0"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0.1</a:t>
                </a:r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902" y="3416777"/>
                <a:ext cx="1330891" cy="325748"/>
              </a:xfrm>
              <a:prstGeom prst="rect">
                <a:avLst/>
              </a:prstGeom>
              <a:blipFill rotWithShape="0">
                <a:blip r:embed="rId5"/>
                <a:stretch>
                  <a:fillRect t="-7407" b="-425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3810706" y="4605738"/>
                <a:ext cx="2171700" cy="703268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0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         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</m:t>
                                </m:r>
                                <m:r>
                                  <a:rPr sz="1800" i="1" smtClean="0">
                                    <a:latin typeface="Cambria Math"/>
                                    <a:ea typeface="맑은 고딕"/>
                                    <a:sym typeface="Cambria Math"/>
                                  </a:rPr>
                                  <m:t>05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</m:t>
                                </m:r>
                                <m:r>
                                  <a:rPr sz="1800" i="1" smtClean="0">
                                    <a:latin typeface="Cambria Math"/>
                                    <a:ea typeface="맑은 고딕"/>
                                    <a:sym typeface="Cambria Math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sz="1800" i="1">
                                    <a:latin typeface="Cambria Math"/>
                                    <a:ea typeface="맑은 고딕"/>
                                  </a:rPr>
                                  <m:t>0.05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706" y="4605738"/>
                <a:ext cx="2171700" cy="70326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730884" y="6061780"/>
                <a:ext cx="3744416" cy="841940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mtClean="0">
                          <a:latin typeface="Cambria Math"/>
                          <a:sym typeface="Cambria Math"/>
                        </a:rPr>
                        <m:t>                         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ar-AE" sz="1800" i="1">
                                    <a:latin typeface="Cambria Math"/>
                                    <a:ea typeface="맑은 고딕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sz="1800" i="1">
                                    <a:latin typeface="Cambria Math"/>
                                    <a:ea typeface="맑은 고딕"/>
                                  </a:rPr>
                                  <m:t>      </m:t>
                                </m:r>
                                <m:r>
                                  <a:rPr lang="ar-AE" sz="1800" i="1">
                                    <a:latin typeface="Cambria Math"/>
                                    <a:ea typeface="맑은 고딕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ar-AE" sz="1800" i="1">
                                    <a:latin typeface="Cambria Math"/>
                                    <a:ea typeface="맑은 고딕"/>
                                  </a:rPr>
                                  <m:t>         </m:t>
                                </m:r>
                                <m:r>
                                  <a:rPr lang="ar-AE" sz="1800" i="1">
                                    <a:latin typeface="Cambria Math"/>
                                    <a:ea typeface="맑은 고딕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ar-AE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1800" i="1">
                          <a:latin typeface="Cambria Math"/>
                          <a:ea typeface="맑은 고딕"/>
                        </a:rPr>
                        <m:t>−</m:t>
                      </m:r>
                      <m:r>
                        <a:rPr lang="ar-AE" sz="1800" b="0" i="1" smtClean="0">
                          <a:latin typeface="Cambria Math" panose="02040503050406030204" pitchFamily="18" charset="0"/>
                          <a:ea typeface="맑은 고딕"/>
                        </a:rPr>
                        <m:t>𝑙</m:t>
                      </m:r>
                      <m:r>
                        <a:rPr lang="ar-AE" sz="1800" i="1">
                          <a:latin typeface="Cambria Math"/>
                          <a:ea typeface="맑은 고딕"/>
                        </a:rPr>
                        <m:t>𝑜𝑔</m:t>
                      </m:r>
                      <m:r>
                        <a:rPr lang="ar-AE" altLang="ko-KR" i="1">
                          <a:latin typeface="Cambria Math" panose="02040503050406030204" pitchFamily="18" charset="0"/>
                          <a:ea typeface="맑은 고딕"/>
                        </a:rPr>
                        <m:t>(</m:t>
                      </m:r>
                      <m:r>
                        <a:rPr lang="ko-KR" altLang="en-US" i="1">
                          <a:latin typeface="Cambria Math" panose="02040503050406030204" pitchFamily="18" charset="0"/>
                          <a:ea typeface="맑은 고딕"/>
                        </a:rPr>
                        <m:t>추정값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맑은 고딕"/>
                        </a:rPr>
                        <m:t>)</m:t>
                      </m:r>
                      <m:d>
                        <m:dPr>
                          <m:begChr m:val="["/>
                          <m:endChr m:val="]"/>
                          <m:ctrlPr>
                            <a:rPr lang="ar-AE" sz="1800" i="1">
                              <a:latin typeface="Cambria Math" panose="02040503050406030204" pitchFamily="18" charset="0"/>
                              <a:ea typeface="맑은 고딕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ar-AE" sz="1800" i="1">
                                  <a:latin typeface="Cambria Math" panose="02040503050406030204" pitchFamily="18" charset="0"/>
                                  <a:ea typeface="맑은 고딕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2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.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99</m:t>
                                </m:r>
                              </m:e>
                              <m:e>
                                <m:r>
                                  <a:rPr lang="ar-AE" sz="1800" b="0" i="1">
                                    <a:latin typeface="Cambria Math"/>
                                    <a:ea typeface="맑은 고딕"/>
                                  </a:rPr>
                                  <m:t>0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.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2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.</m:t>
                                </m:r>
                                <m:r>
                                  <a:rPr lang="ar-AE" altLang="ko-KR" i="1">
                                    <a:latin typeface="Cambria Math" panose="02040503050406030204" pitchFamily="18" charset="0"/>
                                    <a:ea typeface="맑은 고딕"/>
                                  </a:rPr>
                                  <m:t>99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884" y="6061780"/>
                <a:ext cx="3744416" cy="841940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7696902" y="6174883"/>
            <a:ext cx="2286016" cy="369332"/>
          </a:xfrm>
          <a:prstGeom prst="rect">
            <a:avLst/>
          </a:prstGeom>
          <a:noFill/>
        </p:spPr>
        <p:txBody>
          <a:bodyPr/>
          <a:lstStyle/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 = 2.99</a:t>
            </a:r>
            <a:endParaRPr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551232" y="2042775"/>
            <a:ext cx="936104" cy="57606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</a:p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추정값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51232" y="4581372"/>
            <a:ext cx="936104" cy="576064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</a:p>
          <a:p>
            <a:pPr>
              <a:defRPr/>
            </a:pPr>
            <a:r>
              <a:rPr lang="ko-KR" altLang="en-US" sz="1900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추정값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08009" y="3239508"/>
            <a:ext cx="936104" cy="360040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  <a:endParaRPr lang="ko-KR" altLang="en-US" sz="19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51232" y="6021532"/>
            <a:ext cx="936104" cy="360040"/>
          </a:xfrm>
          <a:prstGeom prst="rect">
            <a:avLst/>
          </a:prstGeom>
        </p:spPr>
        <p:txBody>
          <a:bodyPr wrap="square"/>
          <a:lstStyle/>
          <a:p>
            <a:pPr>
              <a:defRPr/>
            </a:pPr>
            <a:r>
              <a:rPr lang="ko-KR" altLang="en-US" sz="1900" dirty="0" err="1"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rPr>
              <a:t>목적값</a:t>
            </a:r>
            <a:endParaRPr lang="ko-KR" altLang="en-US" sz="1900" dirty="0"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p:sp>
        <p:nvSpPr>
          <p:cNvPr id="28" name="화살표: 아래쪽 2">
            <a:extLst>
              <a:ext uri="{FF2B5EF4-FFF2-40B4-BE49-F238E27FC236}">
                <a16:creationId xmlns:a16="http://schemas.microsoft.com/office/drawing/2014/main" xmlns="" id="{522188D7-6FB6-4076-8421-B5F879177434}"/>
              </a:ext>
            </a:extLst>
          </p:cNvPr>
          <p:cNvSpPr/>
          <p:nvPr/>
        </p:nvSpPr>
        <p:spPr>
          <a:xfrm>
            <a:off x="4437174" y="2800691"/>
            <a:ext cx="381082" cy="448861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화살표: 아래쪽 27">
            <a:extLst>
              <a:ext uri="{FF2B5EF4-FFF2-40B4-BE49-F238E27FC236}">
                <a16:creationId xmlns:a16="http://schemas.microsoft.com/office/drawing/2014/main" xmlns="" id="{E3B92EA1-9638-4821-8843-2373A93F6BDC}"/>
              </a:ext>
            </a:extLst>
          </p:cNvPr>
          <p:cNvSpPr/>
          <p:nvPr/>
        </p:nvSpPr>
        <p:spPr>
          <a:xfrm>
            <a:off x="4469064" y="5489954"/>
            <a:ext cx="381082" cy="448861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xmlns="" id="{2C669BD7-BB0A-459E-9DC2-13CDCB4D7933}"/>
              </a:ext>
            </a:extLst>
          </p:cNvPr>
          <p:cNvSpPr/>
          <p:nvPr/>
        </p:nvSpPr>
        <p:spPr>
          <a:xfrm>
            <a:off x="3939805" y="2349628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B048F48B-3A2D-497E-8195-7E379BE95BEB}"/>
              </a:ext>
            </a:extLst>
          </p:cNvPr>
          <p:cNvCxnSpPr/>
          <p:nvPr/>
        </p:nvCxnSpPr>
        <p:spPr>
          <a:xfrm>
            <a:off x="6957469" y="2401460"/>
            <a:ext cx="0" cy="4347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ED700B79-CF9E-42D1-85A4-4D80E4A946D8}"/>
              </a:ext>
            </a:extLst>
          </p:cNvPr>
          <p:cNvCxnSpPr/>
          <p:nvPr/>
        </p:nvCxnSpPr>
        <p:spPr>
          <a:xfrm>
            <a:off x="7663800" y="2425133"/>
            <a:ext cx="0" cy="43475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69DEBE92-A581-4A39-A4BE-C0F8A5E6EB01}"/>
              </a:ext>
            </a:extLst>
          </p:cNvPr>
          <p:cNvSpPr txBox="1"/>
          <p:nvPr/>
        </p:nvSpPr>
        <p:spPr>
          <a:xfrm>
            <a:off x="6514637" y="2034526"/>
            <a:ext cx="864096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목적값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86AEF929-D1EC-489C-A618-AFF47A6551E4}"/>
              </a:ext>
            </a:extLst>
          </p:cNvPr>
          <p:cNvSpPr txBox="1"/>
          <p:nvPr/>
        </p:nvSpPr>
        <p:spPr>
          <a:xfrm>
            <a:off x="7393702" y="2029819"/>
            <a:ext cx="864096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ko-KR" altLang="en-US" sz="16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추정값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xmlns="" id="{6063A11F-3C77-4F0B-A44B-12416B3F91BB}"/>
                  </a:ext>
                </a:extLst>
              </p:cNvPr>
              <p:cNvSpPr/>
              <p:nvPr/>
            </p:nvSpPr>
            <p:spPr>
              <a:xfrm>
                <a:off x="5768414" y="2854539"/>
                <a:ext cx="2446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𝑙𝑜𝑔𝑞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063A11F-3C77-4F0B-A44B-12416B3F91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414" y="2854539"/>
                <a:ext cx="2446311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오른쪽 화살표 21">
            <a:extLst>
              <a:ext uri="{FF2B5EF4-FFF2-40B4-BE49-F238E27FC236}">
                <a16:creationId xmlns:a16="http://schemas.microsoft.com/office/drawing/2014/main" xmlns="" id="{90D21469-98D0-47EA-B6E3-6B85BCEAC2F6}"/>
              </a:ext>
            </a:extLst>
          </p:cNvPr>
          <p:cNvSpPr/>
          <p:nvPr/>
        </p:nvSpPr>
        <p:spPr>
          <a:xfrm>
            <a:off x="6625214" y="6185185"/>
            <a:ext cx="642942" cy="37144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 w="9525" cap="flat" cmpd="sng" algn="ctr">
            <a:noFill/>
            <a:prstDash val="solid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xmlns="" id="{4466B3B5-9FE3-4B93-A53B-CBE63755708D}"/>
                  </a:ext>
                </a:extLst>
              </p:cNvPr>
              <p:cNvSpPr/>
              <p:nvPr/>
            </p:nvSpPr>
            <p:spPr>
              <a:xfrm>
                <a:off x="5831873" y="5656229"/>
                <a:ext cx="244631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𝑙𝑜𝑔𝑞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466B3B5-9FE3-4B93-A53B-CBE6375570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1873" y="5656229"/>
                <a:ext cx="2446311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타원 37">
            <a:extLst>
              <a:ext uri="{FF2B5EF4-FFF2-40B4-BE49-F238E27FC236}">
                <a16:creationId xmlns:a16="http://schemas.microsoft.com/office/drawing/2014/main" xmlns="" id="{C0AA99BD-9DE4-4A95-898D-FC346F7E1F3A}"/>
              </a:ext>
            </a:extLst>
          </p:cNvPr>
          <p:cNvSpPr/>
          <p:nvPr/>
        </p:nvSpPr>
        <p:spPr>
          <a:xfrm>
            <a:off x="4659605" y="4900131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xmlns="" id="{398F184D-E5C2-4534-9DF7-4F86949657D9}"/>
              </a:ext>
            </a:extLst>
          </p:cNvPr>
          <p:cNvSpPr/>
          <p:nvPr/>
        </p:nvSpPr>
        <p:spPr>
          <a:xfrm>
            <a:off x="3924836" y="2023274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xmlns="" id="{3904A7BF-A86A-45E2-B494-95ABF3517E5A}"/>
              </a:ext>
            </a:extLst>
          </p:cNvPr>
          <p:cNvSpPr/>
          <p:nvPr/>
        </p:nvSpPr>
        <p:spPr>
          <a:xfrm>
            <a:off x="3948875" y="4573451"/>
            <a:ext cx="425982" cy="426872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endParaRPr kumimoji="1" lang="ko-KR" altLang="en-US" sz="2400" b="0" i="0" u="none" strike="noStrike" cap="none" normalizeH="0" baseline="0">
              <a:solidFill>
                <a:schemeClr val="tx1"/>
              </a:solidFill>
              <a:effectLst/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782441" y="1504019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정답인 경우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782441" y="4048876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10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오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답인 경우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5208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클래스에서 </a:t>
            </a:r>
            <a:r>
              <a:rPr lang="en-US" altLang="ko-KR" dirty="0"/>
              <a:t>cost</a:t>
            </a:r>
            <a:r>
              <a:rPr lang="ko-KR" altLang="en-US" dirty="0"/>
              <a:t>함수 정의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018318" y="1726635"/>
                <a:ext cx="5057375" cy="988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grow m:val="on"/>
                          <m:supHide m:val="on"/>
                          <m:ctrlPr>
                            <a:rPr lang="ko-KR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𝑙𝑜𝑔𝑞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8318" y="1726635"/>
                <a:ext cx="5057375" cy="98854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344728" y="3605912"/>
                <a:ext cx="8103764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𝑙𝑜𝑔𝑄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1×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eqAr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ko-KR" altLang="en-US" sz="2000" dirty="0"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+0</m:t>
                        </m:r>
                      </m:e>
                    </m:d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2000" dirty="0"/>
                  <a:t> </a:t>
                </a:r>
                <a14:m>
                  <m:oMath xmlns:m="http://schemas.openxmlformats.org/officeDocument/2006/math">
                    <m:r>
                      <a:rPr lang="ko-KR" altLang="en-US" sz="2000" dirty="0">
                        <a:latin typeface="Cambria Math" panose="02040503050406030204" pitchFamily="18" charset="0"/>
                      </a:rPr>
                      <m:t>∞</m:t>
                    </m:r>
                    <m:r>
                      <a:rPr lang="ko-KR" alt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4728" y="3605912"/>
                <a:ext cx="8103764" cy="68179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327425" y="5299314"/>
                <a:ext cx="7866175" cy="6817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𝑙𝑜𝑔𝑄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en-US" altLang="ko-KR" sz="20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i="1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ko-KR" sz="2000" i="1">
                                <a:latin typeface="Cambria Math" panose="02040503050406030204" pitchFamily="18" charset="0"/>
                              </a:rPr>
                              <m:t>𝑙𝑜𝑔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eqArr>
                      </m:e>
                    </m:d>
                    <m:r>
                      <a:rPr lang="en-US" altLang="ko-KR" sz="200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ko-KR" sz="2000" b="0" i="0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ko-KR" altLang="en-US" sz="2000" dirty="0"/>
                  <a:t> </a:t>
                </a:r>
                <a:r>
                  <a:rPr lang="en-US" altLang="ko-KR" sz="2000" dirty="0" smtClean="0"/>
                  <a:t>0</a:t>
                </a:r>
                <a:endParaRPr lang="ko-KR" altLang="en-US" sz="20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7425" y="5299314"/>
                <a:ext cx="7866175" cy="68179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xmlns="" id="{DFC0D507-4E57-441F-B89F-4099D35B8EBD}"/>
                  </a:ext>
                </a:extLst>
              </p:cNvPr>
              <p:cNvSpPr/>
              <p:nvPr/>
            </p:nvSpPr>
            <p:spPr>
              <a:xfrm>
                <a:off x="6892280" y="4519293"/>
                <a:ext cx="3384376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0=∞,  </m:t>
                      </m:r>
                      <m:r>
                        <m:rPr>
                          <m:sty m:val="p"/>
                        </m:rP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altLang="ko-KR" b="0" i="0" dirty="0" smtClean="0">
                          <a:latin typeface="Cambria Math" panose="02040503050406030204" pitchFamily="18" charset="0"/>
                        </a:rPr>
                        <m:t>1=0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0" name="직사각형 3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FC0D507-4E57-441F-B89F-4099D35B8E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2280" y="4519293"/>
                <a:ext cx="3384376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직사각형 40"/>
          <p:cNvSpPr/>
          <p:nvPr/>
        </p:nvSpPr>
        <p:spPr>
          <a:xfrm>
            <a:off x="7092641" y="1966586"/>
            <a:ext cx="2750158" cy="508638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타겟모델과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예측 확률 모델의 차를 의미하는 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Cross Entropy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782441" y="3010557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7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모델 학습이 잘 된 경우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782441" y="4862529"/>
            <a:ext cx="96855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7"/>
              </a:buBlip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모델 학습이 잘 안 된 경우</a:t>
            </a:r>
            <a:endParaRPr lang="en-US" altLang="ko-KR" sz="24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7031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클래스에서 </a:t>
            </a:r>
            <a:r>
              <a:rPr lang="en-US" altLang="ko-KR" dirty="0"/>
              <a:t>cost</a:t>
            </a:r>
            <a:r>
              <a:rPr lang="ko-KR" altLang="en-US" dirty="0"/>
              <a:t>함수 정의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cxnSp>
        <p:nvCxnSpPr>
          <p:cNvPr id="18" name="직선 화살표 연결선 17"/>
          <p:cNvCxnSpPr>
            <a:cxnSpLocks/>
          </p:cNvCxnSpPr>
          <p:nvPr/>
        </p:nvCxnSpPr>
        <p:spPr>
          <a:xfrm>
            <a:off x="6371392" y="2835543"/>
            <a:ext cx="1069658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1293517" y="3581285"/>
            <a:ext cx="2125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/>
              <a:t>ex) </a:t>
            </a:r>
            <a:r>
              <a:rPr lang="en-US" altLang="ko-KR" dirty="0" smtClean="0"/>
              <a:t>[0 0 1  </a:t>
            </a:r>
            <a:r>
              <a:rPr lang="en-US" altLang="ko-KR" dirty="0"/>
              <a:t>0  0]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335795" y="2329291"/>
            <a:ext cx="106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확률벡터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BF007E38-F25A-4788-BB36-D0AFA1EFF3FB}"/>
              </a:ext>
            </a:extLst>
          </p:cNvPr>
          <p:cNvSpPr txBox="1"/>
          <p:nvPr/>
        </p:nvSpPr>
        <p:spPr>
          <a:xfrm>
            <a:off x="7838100" y="2666266"/>
            <a:ext cx="3012779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ex) [</a:t>
            </a:r>
            <a:r>
              <a:rPr lang="en-US" altLang="ko-KR" sz="1600" dirty="0" smtClean="0"/>
              <a:t>0.05 0.05 0.8 0.03 0.07]</a:t>
            </a:r>
            <a:endParaRPr lang="ko-KR" alt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="" id="{2E679FE5-51A5-407F-969E-22F73DF37294}"/>
                  </a:ext>
                </a:extLst>
              </p:cNvPr>
              <p:cNvSpPr txBox="1"/>
              <p:nvPr/>
            </p:nvSpPr>
            <p:spPr>
              <a:xfrm>
                <a:off x="4319164" y="3843510"/>
                <a:ext cx="4104456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𝐿𝑜𝑠𝑠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E679FE5-51A5-407F-969E-22F73DF37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164" y="3843510"/>
                <a:ext cx="4104456" cy="764568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xmlns="" id="{D24130B2-7691-4015-9AD0-C2789BDA38AA}"/>
                  </a:ext>
                </a:extLst>
              </p:cNvPr>
              <p:cNvSpPr/>
              <p:nvPr/>
            </p:nvSpPr>
            <p:spPr>
              <a:xfrm>
                <a:off x="3119829" y="2637816"/>
                <a:ext cx="27206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𝑤𝑥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ko-KR" dirty="0" smtClean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24130B2-7691-4015-9AD0-C2789BDA38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829" y="2637816"/>
                <a:ext cx="2720681" cy="369332"/>
              </a:xfrm>
              <a:prstGeom prst="rect">
                <a:avLst/>
              </a:prstGeom>
              <a:blipFill rotWithShape="0">
                <a:blip r:embed="rId4"/>
                <a:stretch>
                  <a:fillRect t="-10000" r="-673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xmlns="" id="{E3E45ADD-03D4-4546-949E-70A1C1308261}"/>
              </a:ext>
            </a:extLst>
          </p:cNvPr>
          <p:cNvCxnSpPr>
            <a:cxnSpLocks/>
          </p:cNvCxnSpPr>
          <p:nvPr/>
        </p:nvCxnSpPr>
        <p:spPr>
          <a:xfrm>
            <a:off x="3287364" y="3765951"/>
            <a:ext cx="1944216" cy="24916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xmlns="" id="{8FDDBDAA-9A98-4530-8F90-9769CB8F9A25}"/>
              </a:ext>
            </a:extLst>
          </p:cNvPr>
          <p:cNvCxnSpPr>
            <a:stCxn id="29" idx="3"/>
          </p:cNvCxnSpPr>
          <p:nvPr/>
        </p:nvCxnSpPr>
        <p:spPr>
          <a:xfrm>
            <a:off x="8423620" y="4225794"/>
            <a:ext cx="3363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xmlns="" id="{BC779BE9-3B2E-45F3-B9A9-B6846F5D2530}"/>
              </a:ext>
            </a:extLst>
          </p:cNvPr>
          <p:cNvSpPr txBox="1"/>
          <p:nvPr/>
        </p:nvSpPr>
        <p:spPr>
          <a:xfrm>
            <a:off x="8950553" y="4028010"/>
            <a:ext cx="8474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xmlns="" id="{33F24366-0C6A-4CBC-A2A1-DE18A802EE38}"/>
                  </a:ext>
                </a:extLst>
              </p:cNvPr>
              <p:cNvSpPr txBox="1"/>
              <p:nvPr/>
            </p:nvSpPr>
            <p:spPr>
              <a:xfrm>
                <a:off x="3325805" y="5317915"/>
                <a:ext cx="3960440" cy="7645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33F24366-0C6A-4CBC-A2A1-DE18A802E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25805" y="5317915"/>
                <a:ext cx="3960440" cy="76456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xmlns="" id="{90EF4749-9B0A-4B0E-A1CC-130633533B50}"/>
              </a:ext>
            </a:extLst>
          </p:cNvPr>
          <p:cNvCxnSpPr/>
          <p:nvPr/>
        </p:nvCxnSpPr>
        <p:spPr>
          <a:xfrm>
            <a:off x="7036132" y="5661027"/>
            <a:ext cx="33635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700CB29A-CA24-4F71-BE60-5CB5E10BBE4E}"/>
              </a:ext>
            </a:extLst>
          </p:cNvPr>
          <p:cNvSpPr txBox="1"/>
          <p:nvPr/>
        </p:nvSpPr>
        <p:spPr>
          <a:xfrm>
            <a:off x="7821305" y="5491750"/>
            <a:ext cx="209288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전체 </a:t>
            </a:r>
            <a:r>
              <a:rPr lang="en-US" altLang="ko-KR" sz="16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</a:t>
            </a:r>
            <a:endParaRPr lang="ko-KR" altLang="en-US" sz="16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xmlns="" id="{44B87BE4-9444-4D72-942F-BA8CCBF6D39E}"/>
                  </a:ext>
                </a:extLst>
              </p:cNvPr>
              <p:cNvSpPr/>
              <p:nvPr/>
            </p:nvSpPr>
            <p:spPr>
              <a:xfrm>
                <a:off x="1820450" y="3243077"/>
                <a:ext cx="22468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nor/>
                      </m:rPr>
                      <a:rPr lang="en-US" altLang="ko-KR" dirty="0"/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7" name="직사각형 3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4B87BE4-9444-4D72-942F-BA8CCBF6D3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450" y="3243077"/>
                <a:ext cx="2246834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8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xmlns="" id="{E70BBB81-FD40-4C58-8982-FFD9DC85F4DB}"/>
                  </a:ext>
                </a:extLst>
              </p:cNvPr>
              <p:cNvSpPr/>
              <p:nvPr/>
            </p:nvSpPr>
            <p:spPr>
              <a:xfrm>
                <a:off x="7441050" y="2282942"/>
                <a:ext cx="283071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]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8" name="직사각형 3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E70BBB81-FD40-4C58-8982-FFD9DC85F4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1050" y="2282942"/>
                <a:ext cx="2830710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직사각형 38"/>
          <p:cNvSpPr/>
          <p:nvPr/>
        </p:nvSpPr>
        <p:spPr>
          <a:xfrm>
            <a:off x="681403" y="2269608"/>
            <a:ext cx="3389556" cy="304354"/>
          </a:xfrm>
          <a:prstGeom prst="rect">
            <a:avLst/>
          </a:prstGeom>
          <a:solidFill>
            <a:srgbClr val="37AADA"/>
          </a:solidFill>
          <a:ln w="19050">
            <a:solidFill>
              <a:srgbClr val="173F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s(x)</a:t>
            </a:r>
            <a:r>
              <a:rPr lang="en-US" altLang="ko-KR" sz="1400" baseline="-25000" dirty="0" err="1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</a:t>
            </a:r>
            <a:r>
              <a:rPr lang="en-US" altLang="ko-KR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: 0~1 </a:t>
            </a:r>
            <a:r>
              <a:rPr lang="ko-KR" altLang="en-US" sz="1400" dirty="0" smtClean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사이의 값을 갖는 확률 벡터 값</a:t>
            </a:r>
            <a:endParaRPr lang="ko-KR" altLang="en-US" sz="14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08572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오차 함수 직접 계산하기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17" name="내용 개체 틀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3831379"/>
              </p:ext>
            </p:extLst>
          </p:nvPr>
        </p:nvGraphicFramePr>
        <p:xfrm>
          <a:off x="2042419" y="2022841"/>
          <a:ext cx="2071702" cy="1858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85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35851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4684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x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y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684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1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ko-KR" altLang="en-US"/>
                        <a:t> </a:t>
                      </a:r>
                      <a:r>
                        <a:rPr lang="en-US" altLang="ko-KR"/>
                        <a:t>0   1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684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0   1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46845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/>
                        <a:t>7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 1   0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95148"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dirty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dirty="0"/>
                        <a:t> 1   0 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2044545" y="4098749"/>
            <a:ext cx="16430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 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초기값</a:t>
            </a:r>
            <a:endParaRPr lang="en-US" altLang="ko-KR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lvl="0">
              <a:defRPr/>
            </a:pP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b=0</a:t>
            </a:r>
          </a:p>
          <a:p>
            <a:pPr lvl="0">
              <a:defRPr/>
            </a:pPr>
            <a:r>
              <a:rPr lang="en-US" altLang="ko-KR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=[-1, 1]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87876" y="1621975"/>
            <a:ext cx="15232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 = </a:t>
            </a: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sofmax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Rectangle 3"/>
          <p:cNvSpPr>
            <a:spLocks noChangeArrowheads="1"/>
          </p:cNvSpPr>
          <p:nvPr/>
        </p:nvSpPr>
        <p:spPr>
          <a:xfrm>
            <a:off x="7443447" y="1968420"/>
            <a:ext cx="2643206" cy="615550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0.11,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0.88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0.01,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0.98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0.00,   0.99</a:t>
            </a:r>
            <a:endParaRPr kumimoji="1" lang="ko-KR" altLang="ko-KR" sz="1000" b="0" i="0" u="none" strike="noStrike" cap="none" normalizeH="0" baseline="0" dirty="0">
              <a:solidFill>
                <a:srgbClr val="000000"/>
              </a:solidFill>
              <a:effectLst/>
              <a:latin typeface="+mj-lt"/>
              <a:ea typeface="나눔바른고딕" panose="020B0603020101020101" pitchFamily="50" charset="-127"/>
              <a:cs typeface="Courier New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0.00,   0.99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+mj-lt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>
          <a:xfrm>
            <a:off x="6461058" y="4377055"/>
            <a:ext cx="1207038" cy="615553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-0.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      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-0.12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-0.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      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-0.018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-14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      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0. 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-16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      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0.</a:t>
            </a:r>
            <a:r>
              <a:rPr kumimoji="1" lang="ko-KR" altLang="ko-KR" sz="600" b="0" i="0" u="none" strike="noStrike" cap="none" normalizeH="0" baseline="0" dirty="0">
                <a:solidFill>
                  <a:schemeClr val="tx1"/>
                </a:solidFill>
                <a:effectLst/>
                <a:latin typeface="+mj-lt"/>
                <a:ea typeface="나눔바른고딕" panose="020B0603020101020101" pitchFamily="50" charset="-127"/>
                <a:cs typeface="굴림"/>
              </a:rPr>
              <a:t> 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+mj-lt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38136" y="3948916"/>
            <a:ext cx="12070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 log(s) </a:t>
            </a: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>
          <a:xfrm>
            <a:off x="6603309" y="5748559"/>
            <a:ext cx="709033" cy="610802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[0.12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0.018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14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.0</a:t>
            </a:r>
            <a:endParaRPr kumimoji="1" lang="ko-KR" altLang="ko-KR" sz="1000" b="0" i="0" u="none" strike="noStrike" cap="none" normalizeH="0" baseline="0" dirty="0">
              <a:solidFill>
                <a:srgbClr val="000000"/>
              </a:solidFill>
              <a:effectLst/>
              <a:latin typeface="Arail"/>
              <a:ea typeface="나눔바른고딕" panose="020B0603020101020101" pitchFamily="50" charset="-127"/>
              <a:cs typeface="Courier New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16.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0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]</a:t>
            </a:r>
            <a:r>
              <a:rPr kumimoji="1" lang="ko-KR" altLang="ko-KR" sz="600" b="0" i="0" u="none" strike="noStrike" cap="none" normalizeH="0" baseline="0" dirty="0">
                <a:solidFill>
                  <a:schemeClr val="tx1"/>
                </a:solidFill>
                <a:effectLst/>
                <a:latin typeface="Arail"/>
                <a:ea typeface="나눔바른고딕" panose="020B0603020101020101" pitchFamily="50" charset="-127"/>
                <a:cs typeface="굴림"/>
              </a:rPr>
              <a:t> 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Arail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462975" y="5321358"/>
            <a:ext cx="4572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-sum(L log(s) )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40796" y="6419492"/>
            <a:ext cx="1785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cost= 7.53</a:t>
            </a:r>
            <a:endParaRPr lang="ko-KR" altLang="en-US" b="1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61847" y="5288102"/>
            <a:ext cx="2514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mean(-sum(L</a:t>
            </a:r>
            <a:r>
              <a:rPr lang="en-US" altLang="ko-KR" baseline="-25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log(s) )) </a:t>
            </a:r>
          </a:p>
        </p:txBody>
      </p:sp>
      <p:sp>
        <p:nvSpPr>
          <p:cNvPr id="40" name="Rectangle 5"/>
          <p:cNvSpPr>
            <a:spLocks noChangeArrowheads="1"/>
          </p:cNvSpPr>
          <p:nvPr/>
        </p:nvSpPr>
        <p:spPr>
          <a:xfrm>
            <a:off x="8395525" y="5913313"/>
            <a:ext cx="661580" cy="153888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[7.53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]</a:t>
            </a:r>
            <a:r>
              <a:rPr kumimoji="1" lang="ko-KR" altLang="ko-KR" sz="600" b="0" i="0" u="none" strike="noStrike" cap="none" normalizeH="0" baseline="0" dirty="0">
                <a:solidFill>
                  <a:schemeClr val="tx1"/>
                </a:solidFill>
                <a:effectLst/>
                <a:latin typeface="Arail"/>
                <a:ea typeface="나눔바른고딕" panose="020B0603020101020101" pitchFamily="50" charset="-127"/>
                <a:cs typeface="굴림"/>
              </a:rPr>
              <a:t> 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Arail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786544" y="1618602"/>
            <a:ext cx="8635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wx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2" name="Rectangle 6"/>
          <p:cNvSpPr>
            <a:spLocks noChangeArrowheads="1"/>
          </p:cNvSpPr>
          <p:nvPr/>
        </p:nvSpPr>
        <p:spPr>
          <a:xfrm>
            <a:off x="5830696" y="2006885"/>
            <a:ext cx="1357322" cy="615542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1.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1.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2. 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2.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7.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7. 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-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8.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Arail"/>
                <a:ea typeface="나눔바른고딕" panose="020B0603020101020101" pitchFamily="50" charset="-127"/>
                <a:cs typeface="Courier New"/>
              </a:rPr>
              <a:t> 8.</a:t>
            </a:r>
            <a:r>
              <a:rPr kumimoji="1" lang="ko-KR" altLang="ko-KR" sz="600" b="0" i="0" u="none" strike="noStrike" cap="none" normalizeH="0" baseline="0" dirty="0">
                <a:solidFill>
                  <a:schemeClr val="tx1"/>
                </a:solidFill>
                <a:effectLst/>
                <a:latin typeface="Arail"/>
                <a:ea typeface="나눔바른고딕" panose="020B0603020101020101" pitchFamily="50" charset="-127"/>
                <a:cs typeface="굴림"/>
              </a:rPr>
              <a:t> 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Arail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xmlns="" id="{6A764DFB-EB4F-425C-928F-B332995946C9}"/>
              </a:ext>
            </a:extLst>
          </p:cNvPr>
          <p:cNvSpPr>
            <a:spLocks noChangeArrowheads="1"/>
          </p:cNvSpPr>
          <p:nvPr/>
        </p:nvSpPr>
        <p:spPr>
          <a:xfrm>
            <a:off x="7371649" y="3187591"/>
            <a:ext cx="1685456" cy="615553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2.12	-0.12</a:t>
            </a:r>
            <a:endParaRPr kumimoji="1" lang="ko-KR" altLang="ko-KR" sz="1000" b="0" i="0" u="none" strike="noStrike" cap="none" normalizeH="0" baseline="0" dirty="0">
              <a:solidFill>
                <a:srgbClr val="000000"/>
              </a:solidFill>
              <a:effectLst/>
              <a:latin typeface="+mj-lt"/>
              <a:ea typeface="나눔바른고딕" panose="020B0603020101020101" pitchFamily="50" charset="-127"/>
              <a:cs typeface="Courier New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4.01	-0.018</a:t>
            </a:r>
            <a:endParaRPr kumimoji="1" lang="ko-KR" altLang="ko-KR" sz="1000" b="0" i="0" u="none" strike="noStrike" cap="none" normalizeH="0" baseline="0" dirty="0">
              <a:solidFill>
                <a:srgbClr val="000000"/>
              </a:solidFill>
              <a:effectLst/>
              <a:latin typeface="+mj-lt"/>
              <a:ea typeface="나눔바른고딕" panose="020B0603020101020101" pitchFamily="50" charset="-127"/>
              <a:cs typeface="Courier New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-14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  	0</a:t>
            </a:r>
            <a:endParaRPr kumimoji="1" lang="ko-KR" altLang="ko-KR" sz="1000" b="0" i="0" u="none" strike="noStrike" cap="none" normalizeH="0" baseline="0" dirty="0">
              <a:solidFill>
                <a:srgbClr val="000000"/>
              </a:solidFill>
              <a:effectLst/>
              <a:latin typeface="+mj-lt"/>
              <a:ea typeface="나눔바른고딕" panose="020B0603020101020101" pitchFamily="50" charset="-127"/>
              <a:cs typeface="Courier New"/>
            </a:endParaRP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 </a:t>
            </a:r>
            <a:r>
              <a:rPr kumimoji="1" lang="ko-KR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-16</a:t>
            </a: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	0</a:t>
            </a:r>
            <a:endParaRPr kumimoji="1" lang="ko-KR" altLang="ko-KR" sz="1800" b="0" i="0" u="none" strike="noStrike" cap="none" normalizeH="0" baseline="0" dirty="0">
              <a:solidFill>
                <a:schemeClr val="tx1"/>
              </a:solidFill>
              <a:effectLst/>
              <a:latin typeface="+mj-lt"/>
              <a:ea typeface="나눔바른고딕" panose="020B0603020101020101" pitchFamily="50" charset="-127"/>
              <a:cs typeface="굴림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8165A47C-06E1-487F-B493-ACE7680E7F4F}"/>
              </a:ext>
            </a:extLst>
          </p:cNvPr>
          <p:cNvSpPr txBox="1"/>
          <p:nvPr/>
        </p:nvSpPr>
        <p:spPr>
          <a:xfrm>
            <a:off x="7581883" y="2741895"/>
            <a:ext cx="9480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log(s)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xmlns="" id="{DF1ECDA6-268D-4395-926E-A673274CE7C8}"/>
              </a:ext>
            </a:extLst>
          </p:cNvPr>
          <p:cNvSpPr>
            <a:spLocks noChangeArrowheads="1"/>
          </p:cNvSpPr>
          <p:nvPr/>
        </p:nvSpPr>
        <p:spPr>
          <a:xfrm>
            <a:off x="5848493" y="3178800"/>
            <a:ext cx="589643" cy="615553"/>
          </a:xfrm>
          <a:prstGeom prst="rect">
            <a:avLst/>
          </a:prstGeom>
          <a:solidFill>
            <a:srgbClr val="FFFFFF"/>
          </a:solidFill>
          <a:ln w="9525">
            <a:noFill/>
            <a:miter/>
          </a:ln>
          <a:effectLst/>
        </p:spPr>
        <p:txBody>
          <a:bodyPr vert="horz" wrap="square" lIns="0" tIns="0" rIns="0" bIns="0" anchor="ctr" anchorCtr="0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b="0" i="0" u="none" strike="noStrike" cap="none" normalizeH="0" baseline="0" dirty="0">
                <a:solidFill>
                  <a:srgbClr val="000000"/>
                </a:solidFill>
                <a:effectLst/>
                <a:latin typeface="+mj-lt"/>
                <a:ea typeface="나눔바른고딕" panose="020B0603020101020101" pitchFamily="50" charset="-127"/>
                <a:cs typeface="Courier New"/>
              </a:rPr>
              <a:t>0      1</a:t>
            </a:r>
          </a:p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0      1</a:t>
            </a:r>
          </a:p>
          <a:p>
            <a:pPr marR="0" lv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1      0       </a:t>
            </a:r>
          </a:p>
          <a:p>
            <a:pPr marR="0" lvl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defRPr/>
            </a:pP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나눔바른고딕" panose="020B0603020101020101" pitchFamily="50" charset="-127"/>
                <a:cs typeface="Courier New"/>
              </a:rPr>
              <a:t>1      0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xmlns="" id="{58C71F78-1C9A-4FCA-BE7E-1CAF1AB5A14F}"/>
              </a:ext>
            </a:extLst>
          </p:cNvPr>
          <p:cNvSpPr txBox="1"/>
          <p:nvPr/>
        </p:nvSpPr>
        <p:spPr>
          <a:xfrm>
            <a:off x="5907920" y="2743340"/>
            <a:ext cx="4972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xmlns="" id="{F55015EE-9B7C-402C-829B-3C62E61B24DE}"/>
                  </a:ext>
                </a:extLst>
              </p:cNvPr>
              <p:cNvSpPr/>
              <p:nvPr/>
            </p:nvSpPr>
            <p:spPr>
              <a:xfrm>
                <a:off x="9411673" y="6174695"/>
                <a:ext cx="39235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55015EE-9B7C-402C-829B-3C62E61B24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1673" y="6174695"/>
                <a:ext cx="392352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xmlns="" id="{E552869A-3CA8-479E-8AA0-18125D1A7941}"/>
              </a:ext>
            </a:extLst>
          </p:cNvPr>
          <p:cNvCxnSpPr>
            <a:cxnSpLocks/>
          </p:cNvCxnSpPr>
          <p:nvPr/>
        </p:nvCxnSpPr>
        <p:spPr>
          <a:xfrm flipH="1" flipV="1">
            <a:off x="9559465" y="5636777"/>
            <a:ext cx="48384" cy="4934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xmlns="" id="{9553ECFC-A8D8-48B8-9186-3449067808CD}"/>
              </a:ext>
            </a:extLst>
          </p:cNvPr>
          <p:cNvCxnSpPr>
            <a:cxnSpLocks/>
          </p:cNvCxnSpPr>
          <p:nvPr/>
        </p:nvCxnSpPr>
        <p:spPr>
          <a:xfrm flipV="1">
            <a:off x="5520126" y="5806867"/>
            <a:ext cx="1041763" cy="29263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xmlns="" id="{8D0B289D-7AA8-40D7-A9F1-8028743BC823}"/>
                  </a:ext>
                </a:extLst>
              </p:cNvPr>
              <p:cNvSpPr/>
              <p:nvPr/>
            </p:nvSpPr>
            <p:spPr>
              <a:xfrm>
                <a:off x="5214000" y="5904386"/>
                <a:ext cx="4158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D0B289D-7AA8-40D7-A9F1-8028743BC8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4000" y="5904386"/>
                <a:ext cx="415818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xmlns="" id="{DDBEF044-A050-48EB-BC3D-588790845FBE}"/>
                  </a:ext>
                </a:extLst>
              </p:cNvPr>
              <p:cNvSpPr/>
              <p:nvPr/>
            </p:nvSpPr>
            <p:spPr>
              <a:xfrm>
                <a:off x="9184362" y="1754676"/>
                <a:ext cx="37510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DBEF044-A050-48EB-BC3D-588790845F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4362" y="1754676"/>
                <a:ext cx="375103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xmlns="" id="{C031A110-EEDC-4937-81C5-11E18F30D0FD}"/>
              </a:ext>
            </a:extLst>
          </p:cNvPr>
          <p:cNvCxnSpPr>
            <a:cxnSpLocks/>
          </p:cNvCxnSpPr>
          <p:nvPr/>
        </p:nvCxnSpPr>
        <p:spPr>
          <a:xfrm flipH="1">
            <a:off x="8130039" y="1933857"/>
            <a:ext cx="1116409" cy="1029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type="triangle"/>
          </a:ln>
          <a:effectLst/>
        </p:spPr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xmlns="" id="{177FC39B-6E0E-4C95-BDF0-EFB65536086D}"/>
              </a:ext>
            </a:extLst>
          </p:cNvPr>
          <p:cNvCxnSpPr/>
          <p:nvPr/>
        </p:nvCxnSpPr>
        <p:spPr>
          <a:xfrm>
            <a:off x="5069984" y="2686858"/>
            <a:ext cx="50817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xmlns="" id="{B6B07A9E-46D2-4665-B757-C219242FDEF2}"/>
              </a:ext>
            </a:extLst>
          </p:cNvPr>
          <p:cNvCxnSpPr/>
          <p:nvPr/>
        </p:nvCxnSpPr>
        <p:spPr>
          <a:xfrm>
            <a:off x="5066293" y="3886200"/>
            <a:ext cx="50817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xmlns="" id="{452157D6-9D92-495B-B97F-D034A438DCB1}"/>
              </a:ext>
            </a:extLst>
          </p:cNvPr>
          <p:cNvCxnSpPr/>
          <p:nvPr/>
        </p:nvCxnSpPr>
        <p:spPr>
          <a:xfrm>
            <a:off x="5060362" y="5136624"/>
            <a:ext cx="5081761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/>
            <a:headEnd w="med" len="med"/>
            <a:tailEnd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5365959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클래스 레이블 예측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5081388" y="2815874"/>
            <a:ext cx="2163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en-US" altLang="ko-KR" sz="2000"/>
          </a:p>
          <a:p>
            <a:pPr lvl="0">
              <a:defRPr/>
            </a:pPr>
            <a:endParaRPr lang="ko-KR" altLang="en-US" sz="2000"/>
          </a:p>
        </p:txBody>
      </p:sp>
      <p:sp>
        <p:nvSpPr>
          <p:cNvPr id="20" name="타원 19"/>
          <p:cNvSpPr/>
          <p:nvPr/>
        </p:nvSpPr>
        <p:spPr>
          <a:xfrm>
            <a:off x="3875234" y="4756235"/>
            <a:ext cx="501985" cy="571504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ysDash"/>
            <a:miter/>
            <a:headEnd w="med" len="med"/>
            <a:tailEnd w="med" len="med"/>
          </a:ln>
          <a:effectLst/>
        </p:spPr>
        <p:txBody>
          <a:bodyPr vert="horz" wrap="non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2800" b="0" i="0" u="none" strike="noStrike" cap="none" normalizeH="0" baseline="0" dirty="0">
              <a:solidFill>
                <a:schemeClr val="tx1"/>
              </a:solidFill>
              <a:effectLst/>
              <a:latin typeface="Times New Roman"/>
              <a:ea typeface="나눔바른고딕" panose="020B0603020101020101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자유형: 도형 17"/>
              <p:cNvSpPr/>
              <p:nvPr/>
            </p:nvSpPr>
            <p:spPr>
              <a:xfrm>
                <a:off x="2260868" y="2630552"/>
                <a:ext cx="3682732" cy="1545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h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=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𝑠𝑜𝑓𝑡𝑚𝑎𝑥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(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𝑤𝑥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+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𝑏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lang="en-US" altLang="ko-KR" sz="2400" dirty="0"/>
              </a:p>
              <a:p>
                <a:pPr algn="l"/>
                <a:endParaRPr lang="en-US" sz="2400" i="1" dirty="0" smtClean="0">
                  <a:latin typeface="Cambria Math" panose="02040503050406030204" pitchFamily="18" charset="0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accPr>
                        <m:e>
                          <m:r>
                            <a:rPr sz="2400">
                              <a:latin typeface="Cambria Math"/>
                              <a:sym typeface="Cambria Math"/>
                            </a:rPr>
                            <m:t>𝑦</m:t>
                          </m:r>
                        </m:e>
                      </m:acc>
                      <m:r>
                        <a:rPr sz="24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𝑎𝑟𝑔𝑚𝑎𝑥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h</m:t>
                      </m:r>
                      <m:r>
                        <a:rPr sz="24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1" name="자유형: 도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68" y="2630552"/>
                <a:ext cx="3682732" cy="1545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자유형: 도형 17"/>
              <p:cNvSpPr/>
              <p:nvPr/>
            </p:nvSpPr>
            <p:spPr>
              <a:xfrm>
                <a:off x="2260868" y="4810425"/>
                <a:ext cx="3682732" cy="1545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ar-AE" altLang="ko-KR" sz="2400" i="1" smtClean="0">
                          <a:latin typeface="Cambria Math" panose="02040503050406030204" pitchFamily="18" charset="0"/>
                          <a:sym typeface="Cambria Math"/>
                        </a:rPr>
                        <m:t>h</m:t>
                      </m:r>
                      <m:r>
                        <a:rPr lang="ar-AE" altLang="ko-KR" sz="2400" i="1" smtClean="0">
                          <a:latin typeface="Cambria Math" panose="02040503050406030204" pitchFamily="18" charset="0"/>
                          <a:sym typeface="Cambria Math"/>
                        </a:rPr>
                        <m:t>=[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0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.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05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    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0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.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8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     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0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.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15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  <a:sym typeface="Cambria Math"/>
                        </a:rPr>
                        <m:t>]</m:t>
                      </m:r>
                    </m:oMath>
                  </m:oMathPara>
                </a14:m>
                <a:endParaRPr lang="ar-AE" altLang="ko-KR" sz="2400" dirty="0"/>
              </a:p>
              <a:p>
                <a:pPr algn="l"/>
                <a:endParaRPr lang="ar-AE" sz="2400" i="1" dirty="0" smtClean="0">
                  <a:latin typeface="Cambria Math" panose="02040503050406030204" pitchFamily="18" charset="0"/>
                  <a:sym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sz="24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accPr>
                        <m:e>
                          <m:r>
                            <a:rPr lang="ar-AE" sz="2400">
                              <a:latin typeface="Cambria Math"/>
                              <a:sym typeface="Cambria Math"/>
                            </a:rPr>
                            <m:t>𝑦</m:t>
                          </m:r>
                        </m:e>
                      </m:acc>
                      <m:r>
                        <a:rPr lang="ar-AE" sz="24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sym typeface="Cambria Math"/>
                        </a:rPr>
                        <m:t>1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24" name="자유형: 도형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868" y="4810425"/>
                <a:ext cx="3682732" cy="15459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 l="-49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1757948" y="4338638"/>
            <a:ext cx="164307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Ex)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287255" y="1641082"/>
            <a:ext cx="96855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예측값은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세 개 중에서 가장 </a:t>
            </a:r>
            <a:r>
              <a:rPr lang="ko-KR" altLang="en-US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확률값이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높은 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class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의 위치 값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227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모서리가 둥근 직사각형 85"/>
          <p:cNvSpPr/>
          <p:nvPr/>
        </p:nvSpPr>
        <p:spPr>
          <a:xfrm>
            <a:off x="6241142" y="2021970"/>
            <a:ext cx="3942128" cy="416430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7" name="모서리가 둥근 직사각형 86"/>
          <p:cNvSpPr/>
          <p:nvPr/>
        </p:nvSpPr>
        <p:spPr>
          <a:xfrm>
            <a:off x="6241142" y="2728564"/>
            <a:ext cx="3942128" cy="426726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8" name="모서리가 둥근 직사각형 87"/>
          <p:cNvSpPr/>
          <p:nvPr/>
        </p:nvSpPr>
        <p:spPr>
          <a:xfrm>
            <a:off x="6241142" y="3487457"/>
            <a:ext cx="5188858" cy="730394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89" name="모서리가 둥근 직사각형 88"/>
          <p:cNvSpPr/>
          <p:nvPr/>
        </p:nvSpPr>
        <p:spPr>
          <a:xfrm>
            <a:off x="6241142" y="4374392"/>
            <a:ext cx="3942128" cy="616866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6241142" y="5142205"/>
            <a:ext cx="3942128" cy="609601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91" name="모서리가 둥근 직사각형 90"/>
          <p:cNvSpPr/>
          <p:nvPr/>
        </p:nvSpPr>
        <p:spPr>
          <a:xfrm>
            <a:off x="6241142" y="5900945"/>
            <a:ext cx="3942128" cy="820529"/>
          </a:xfrm>
          <a:prstGeom prst="roundRect">
            <a:avLst>
              <a:gd name="adj" fmla="val 9941"/>
            </a:avLst>
          </a:prstGeom>
          <a:solidFill>
            <a:schemeClr val="accent5">
              <a:lumMod val="40000"/>
              <a:lumOff val="60000"/>
            </a:schemeClr>
          </a:solidFill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Softmax</a:t>
            </a:r>
            <a:r>
              <a:rPr lang="en-US" altLang="ko-KR" dirty="0" smtClean="0"/>
              <a:t> </a:t>
            </a:r>
            <a:r>
              <a:rPr lang="ko-KR" altLang="en-US" dirty="0" smtClean="0"/>
              <a:t>다중 클래스 학습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자유형: 도형 9">
                <a:extLst>
                  <a:ext uri="{FF2B5EF4-FFF2-40B4-BE49-F238E27FC236}">
                    <a16:creationId xmlns:a16="http://schemas.microsoft.com/office/drawing/2014/main" xmlns="" id="{9826E289-C3DA-4743-A7AE-EF688568A379}"/>
                  </a:ext>
                </a:extLst>
              </p:cNvPr>
              <p:cNvSpPr/>
              <p:nvPr/>
            </p:nvSpPr>
            <p:spPr>
              <a:xfrm>
                <a:off x="7015582" y="4395336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2000">
                          <a:latin typeface="Cambria Math"/>
                          <a:sym typeface="Cambria Math"/>
                        </a:rPr>
                        <m:t>𝑚𝑖𝑛𝑖𝑚𝑖𝑧𝑒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 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𝑐𝑜𝑠𝑡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𝑏</m:t>
                      </m:r>
                      <m:r>
                        <a:rPr sz="2000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0" name="자유형: 도형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826E289-C3DA-4743-A7AE-EF688568A3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582" y="4395336"/>
                <a:ext cx="2731808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3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자유형: 도형 10">
                <a:extLst>
                  <a:ext uri="{FF2B5EF4-FFF2-40B4-BE49-F238E27FC236}">
                    <a16:creationId xmlns:a16="http://schemas.microsoft.com/office/drawing/2014/main" xmlns="" id="{E58C9755-30CD-45D6-B1EE-956F77007B8B}"/>
                  </a:ext>
                </a:extLst>
              </p:cNvPr>
              <p:cNvSpPr/>
              <p:nvPr/>
            </p:nvSpPr>
            <p:spPr>
              <a:xfrm>
                <a:off x="8036799" y="4671585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  <a:sym typeface="Cambria Math"/>
                        </a:rPr>
                        <m:t>𝑤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,</m:t>
                      </m:r>
                      <m:r>
                        <a:rPr sz="1600">
                          <a:latin typeface="Cambria Math"/>
                          <a:sym typeface="Cambria Math"/>
                        </a:rPr>
                        <m:t>𝑏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81" name="자유형: 도형 10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E58C9755-30CD-45D6-B1EE-956F77007B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6799" y="4671585"/>
                <a:ext cx="580484" cy="4095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937271" y="1581552"/>
            <a:ext cx="4113700" cy="4724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데이터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학습데이터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x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와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one-hot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코딩 레이블</a:t>
            </a:r>
            <a:endParaRPr lang="en-US" altLang="ko-KR" sz="28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 모델 정의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en-US" altLang="ko-KR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endParaRPr lang="en-US" altLang="ko-KR" sz="24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학습방법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크로스 엔트로피 기반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cost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함수 정의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비용이 최소화 되도록 최적화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ko-KR" altLang="en-US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경사하강법을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이용한 </a:t>
            </a: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 b 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추정</a:t>
            </a:r>
            <a:endParaRPr lang="en-US" altLang="ko-KR" sz="2400" dirty="0" smtClean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spcAft>
                <a:spcPts val="1800"/>
              </a:spcAft>
              <a:buSzPct val="80000"/>
              <a:buBlip>
                <a:blip r:embed="rId5"/>
              </a:buBlip>
            </a:pPr>
            <a:r>
              <a:rPr lang="en-US" altLang="ko-KR" sz="2800" dirty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예측</a:t>
            </a:r>
            <a: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/>
            </a:r>
            <a:br>
              <a:rPr lang="en-US" altLang="ko-KR" sz="28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altLang="ko-KR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  &gt; </a:t>
            </a:r>
            <a:r>
              <a:rPr lang="en-US" altLang="ko-KR" sz="2400" dirty="0" err="1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w,b</a:t>
            </a:r>
            <a:r>
              <a:rPr lang="ko-KR" altLang="en-US" sz="2400" dirty="0" smtClean="0">
                <a:solidFill>
                  <a:srgbClr val="173F95"/>
                </a:solidFill>
                <a:latin typeface="스웨거 TTF" panose="020B0600000101010101" pitchFamily="50" charset="-127"/>
                <a:ea typeface="스웨거 TTF" panose="020B0600000101010101" pitchFamily="50" charset="-127"/>
              </a:rPr>
              <a:t>를 사용해 함수의 최대값 위치</a:t>
            </a:r>
            <a:endParaRPr lang="en-US" altLang="ko-KR" sz="24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cxnSp>
        <p:nvCxnSpPr>
          <p:cNvPr id="7" name="직선 화살표 연결선 6"/>
          <p:cNvCxnSpPr/>
          <p:nvPr/>
        </p:nvCxnSpPr>
        <p:spPr>
          <a:xfrm>
            <a:off x="5050971" y="2218756"/>
            <a:ext cx="119017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endCxn id="27" idx="1"/>
          </p:cNvCxnSpPr>
          <p:nvPr/>
        </p:nvCxnSpPr>
        <p:spPr>
          <a:xfrm>
            <a:off x="4053840" y="5220566"/>
            <a:ext cx="2199809" cy="309257"/>
          </a:xfrm>
          <a:prstGeom prst="bentConnector3">
            <a:avLst>
              <a:gd name="adj1" fmla="val 812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endCxn id="91" idx="1"/>
          </p:cNvCxnSpPr>
          <p:nvPr/>
        </p:nvCxnSpPr>
        <p:spPr>
          <a:xfrm>
            <a:off x="4602480" y="6052364"/>
            <a:ext cx="1638662" cy="258846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AA3A637B-7B31-4D1E-9FB1-B37DE88E933B}"/>
                  </a:ext>
                </a:extLst>
              </p:cNvPr>
              <p:cNvSpPr txBox="1"/>
              <p:nvPr/>
            </p:nvSpPr>
            <p:spPr>
              <a:xfrm>
                <a:off x="6253649" y="5132535"/>
                <a:ext cx="3960440" cy="794576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800" b="0" i="1" smtClean="0">
                          <a:latin typeface="Cambria Math" panose="02040503050406030204" pitchFamily="18" charset="0"/>
                        </a:rPr>
                        <m:t>𝛼</m:t>
                      </m:r>
                      <m:f>
                        <m:fPr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800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ko-KR" altLang="en-US" sz="1800" i="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𝑐𝑜𝑠𝑡</m:t>
                      </m:r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18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A3A637B-7B31-4D1E-9FB1-B37DE88E9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649" y="5132535"/>
                <a:ext cx="3960440" cy="794576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xmlns="" id="{CA7332D1-C612-4E64-9DA6-33E17FADEDD7}"/>
                  </a:ext>
                </a:extLst>
              </p:cNvPr>
              <p:cNvSpPr/>
              <p:nvPr/>
            </p:nvSpPr>
            <p:spPr>
              <a:xfrm>
                <a:off x="6966471" y="2767794"/>
                <a:ext cx="253479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)=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7332D1-C612-4E64-9DA6-33E17FADE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471" y="2767794"/>
                <a:ext cx="2534796" cy="338554"/>
              </a:xfrm>
              <a:prstGeom prst="rect">
                <a:avLst/>
              </a:prstGeom>
              <a:blipFill rotWithShape="0"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자유형: 도형 17">
                <a:extLst>
                  <a:ext uri="{FF2B5EF4-FFF2-40B4-BE49-F238E27FC236}">
                    <a16:creationId xmlns:a16="http://schemas.microsoft.com/office/drawing/2014/main" xmlns="" id="{AFA9DF9D-45A7-4BA8-8E77-8C510F8509AC}"/>
                  </a:ext>
                </a:extLst>
              </p:cNvPr>
              <p:cNvSpPr/>
              <p:nvPr/>
            </p:nvSpPr>
            <p:spPr>
              <a:xfrm>
                <a:off x="7078113" y="6321194"/>
                <a:ext cx="2143125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  <a:sym typeface="Cambria Math"/>
                        </a:rPr>
                        <m:t>𝑦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sym typeface="Cambria Math"/>
                        </a:rPr>
                        <m:t>=</m:t>
                      </m:r>
                      <m:r>
                        <a:rPr lang="ar-AE" sz="1600" i="1">
                          <a:latin typeface="Cambria Math"/>
                          <a:sym typeface="Cambria Math"/>
                        </a:rPr>
                        <m:t>𝑎𝑟𝑔𝑚𝑎𝑥</m:t>
                      </m:r>
                      <m:r>
                        <a:rPr lang="ar-AE" sz="16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lang="ar-AE" sz="1600" i="1">
                          <a:latin typeface="Cambria Math"/>
                          <a:sym typeface="Cambria Math"/>
                        </a:rPr>
                        <m:t>h</m:t>
                      </m:r>
                      <m:r>
                        <a:rPr lang="ar-AE" sz="1600" i="1">
                          <a:latin typeface="Cambria Math"/>
                          <a:sym typeface="Cambria Math"/>
                        </a:rPr>
                        <m:t>)</m:t>
                      </m:r>
                    </m:oMath>
                  </m:oMathPara>
                </a14:m>
                <a:endParaRPr sz="1200" dirty="0"/>
              </a:p>
            </p:txBody>
          </p:sp>
        </mc:Choice>
        <mc:Fallback xmlns="">
          <p:sp>
            <p:nvSpPr>
              <p:cNvPr id="30" name="자유형: 도형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A9DF9D-45A7-4BA8-8E77-8C510F850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8113" y="6321194"/>
                <a:ext cx="2143125" cy="4667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xmlns="" id="{8E3832F7-D977-472F-91A5-A658323408EC}"/>
                  </a:ext>
                </a:extLst>
              </p:cNvPr>
              <p:cNvSpPr/>
              <p:nvPr/>
            </p:nvSpPr>
            <p:spPr>
              <a:xfrm>
                <a:off x="7015582" y="5948761"/>
                <a:ext cx="226818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E3832F7-D977-472F-91A5-A658323408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582" y="5948761"/>
                <a:ext cx="2268185" cy="338554"/>
              </a:xfrm>
              <a:prstGeom prst="rect">
                <a:avLst/>
              </a:prstGeom>
              <a:blipFill rotWithShape="0">
                <a:blip r:embed="rId9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="" id="{06FE5AA3-2A75-471A-959D-5ADE88C6FAEC}"/>
                  </a:ext>
                </a:extLst>
              </p:cNvPr>
              <p:cNvSpPr txBox="1"/>
              <p:nvPr/>
            </p:nvSpPr>
            <p:spPr>
              <a:xfrm>
                <a:off x="8801979" y="3546692"/>
                <a:ext cx="2966355" cy="688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6FE5AA3-2A75-471A-959D-5ADE88C6FA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979" y="3546692"/>
                <a:ext cx="2966355" cy="688586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xmlns="" id="{ADB18094-0240-45CE-8672-935B0414CCAF}"/>
                  </a:ext>
                </a:extLst>
              </p:cNvPr>
              <p:cNvSpPr/>
              <p:nvPr/>
            </p:nvSpPr>
            <p:spPr>
              <a:xfrm>
                <a:off x="6203489" y="3559208"/>
                <a:ext cx="3017749" cy="689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),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ko-KR" sz="1600">
                              <a:latin typeface="Cambria Math" panose="02040503050406030204" pitchFamily="18" charset="0"/>
                            </a:rPr>
                            <m:t>log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B18094-0240-45CE-8672-935B0414CC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3489" y="3559208"/>
                <a:ext cx="3017749" cy="689804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/>
          <p:cNvCxnSpPr/>
          <p:nvPr/>
        </p:nvCxnSpPr>
        <p:spPr>
          <a:xfrm>
            <a:off x="4434840" y="4671585"/>
            <a:ext cx="1806302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endCxn id="88" idx="1"/>
          </p:cNvCxnSpPr>
          <p:nvPr/>
        </p:nvCxnSpPr>
        <p:spPr>
          <a:xfrm flipV="1">
            <a:off x="4602480" y="3852654"/>
            <a:ext cx="1638662" cy="43183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endCxn id="87" idx="1"/>
          </p:cNvCxnSpPr>
          <p:nvPr/>
        </p:nvCxnSpPr>
        <p:spPr>
          <a:xfrm flipV="1">
            <a:off x="2994121" y="2941927"/>
            <a:ext cx="3247021" cy="352477"/>
          </a:xfrm>
          <a:prstGeom prst="bentConnector3">
            <a:avLst>
              <a:gd name="adj1" fmla="val 50000"/>
            </a:avLst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xmlns="" id="{CA7332D1-C612-4E64-9DA6-33E17FADEDD7}"/>
                  </a:ext>
                </a:extLst>
              </p:cNvPr>
              <p:cNvSpPr/>
              <p:nvPr/>
            </p:nvSpPr>
            <p:spPr>
              <a:xfrm>
                <a:off x="7431313" y="2071259"/>
                <a:ext cx="1713611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A7332D1-C612-4E64-9DA6-33E17FADED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1313" y="2071259"/>
                <a:ext cx="1713611" cy="338554"/>
              </a:xfrm>
              <a:prstGeom prst="rect">
                <a:avLst/>
              </a:prstGeom>
              <a:blipFill rotWithShape="0">
                <a:blip r:embed="rId12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20684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TensorFlow</a:t>
            </a:r>
            <a:r>
              <a:rPr lang="en-US" altLang="ko-KR" dirty="0" smtClean="0"/>
              <a:t> 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4032EFA2-320E-4454-952D-AE602BBB7FEB}"/>
              </a:ext>
            </a:extLst>
          </p:cNvPr>
          <p:cNvSpPr txBox="1"/>
          <p:nvPr/>
        </p:nvSpPr>
        <p:spPr>
          <a:xfrm>
            <a:off x="1555111" y="1808679"/>
            <a:ext cx="914983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행렬을 이용한 멀티 클래스 표현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정규화와 크로스 엔트로피</a:t>
            </a:r>
            <a:endParaRPr lang="en-US" altLang="ko-KR" sz="3200" dirty="0" smtClean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en-US" altLang="ko-KR" sz="3200" dirty="0" err="1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Softmax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를 이용한 클래스 분류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붓꽃 분류하기</a:t>
            </a:r>
            <a:endParaRPr lang="en-US" altLang="ko-KR" sz="3200" dirty="0">
              <a:ln w="25400" cap="flat">
                <a:noFill/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  <a:p>
            <a:pPr marL="265113" indent="-250825">
              <a:lnSpc>
                <a:spcPct val="150000"/>
              </a:lnSpc>
              <a:spcAft>
                <a:spcPts val="1800"/>
              </a:spcAft>
              <a:buSzPct val="80000"/>
              <a:buBlip>
                <a:blip r:embed="rId3"/>
              </a:buBlip>
            </a:pPr>
            <a:r>
              <a:rPr lang="en-US" altLang="ko-KR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 </a:t>
            </a:r>
            <a:r>
              <a:rPr lang="ko-KR" altLang="en-US" sz="3200" dirty="0" smtClean="0">
                <a:ln w="25400" cap="flat">
                  <a:noFill/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와인 종류 분류 및 학습 결과 시각화</a:t>
            </a:r>
            <a:endParaRPr lang="ko-KR" altLang="en-US" sz="2800" dirty="0">
              <a:solidFill>
                <a:srgbClr val="173F95"/>
              </a:solidFill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D90BF1A-F6CD-4C5D-8A10-50CE1AC8E46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32994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2703</TotalTime>
  <Words>999</Words>
  <Application>Microsoft Office PowerPoint</Application>
  <PresentationFormat>와이드스크린</PresentationFormat>
  <Paragraphs>387</Paragraphs>
  <Slides>27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40" baseType="lpstr">
      <vt:lpstr>나눔바른고딕</vt:lpstr>
      <vt:lpstr>Cambria Math</vt:lpstr>
      <vt:lpstr>굴림</vt:lpstr>
      <vt:lpstr>Impact</vt:lpstr>
      <vt:lpstr>나눔스퀘어 Bold</vt:lpstr>
      <vt:lpstr>휴먼모음T</vt:lpstr>
      <vt:lpstr>Times New Roman</vt:lpstr>
      <vt:lpstr>스웨거 TTF</vt:lpstr>
      <vt:lpstr>Arial</vt:lpstr>
      <vt:lpstr>맑은 고딕</vt:lpstr>
      <vt:lpstr>Arail</vt:lpstr>
      <vt:lpstr>Courier New</vt:lpstr>
      <vt:lpstr>1_Office 테마</vt:lpstr>
      <vt:lpstr>PowerPoint 프레젠테이션</vt:lpstr>
      <vt:lpstr>PowerPoint 프레젠테이션</vt:lpstr>
      <vt:lpstr>붓꽃 분류</vt:lpstr>
      <vt:lpstr>와인 분류</vt:lpstr>
      <vt:lpstr>숫자 인식</vt:lpstr>
      <vt:lpstr>영상 인식</vt:lpstr>
      <vt:lpstr>다중 클래스(Multinomial Classification)</vt:lpstr>
      <vt:lpstr>다중 클래스(Multinomial Classification)</vt:lpstr>
      <vt:lpstr>다중 클래스(Multinomial Classification)</vt:lpstr>
      <vt:lpstr>행렬 표현으로 바꾸기(y=wx+b)</vt:lpstr>
      <vt:lpstr>행렬 표현으로 바꾸기(y=wx+b)</vt:lpstr>
      <vt:lpstr>행렬 표현으로 바꾸기(y=xw+b)</vt:lpstr>
      <vt:lpstr>One-hot 인코딩</vt:lpstr>
      <vt:lpstr>다중 클래스 예측</vt:lpstr>
      <vt:lpstr>다중 클래스 예측</vt:lpstr>
      <vt:lpstr>다중 클래스 예측</vt:lpstr>
      <vt:lpstr>Softmax 정규화</vt:lpstr>
      <vt:lpstr>Softmax 정규화</vt:lpstr>
      <vt:lpstr>다중 클래스에서 cost함수 정의</vt:lpstr>
      <vt:lpstr>다중 클래스에서 cost함수 정의</vt:lpstr>
      <vt:lpstr>다중 클래스에서 cost함수 정의</vt:lpstr>
      <vt:lpstr>다중 클래스에서 cost함수 정의</vt:lpstr>
      <vt:lpstr>다중 클래스에서 cost함수 정의</vt:lpstr>
      <vt:lpstr>오차 함수 직접 계산하기</vt:lpstr>
      <vt:lpstr>클래스 레이블 예측</vt:lpstr>
      <vt:lpstr>Softmax 다중 클래스 학습</vt:lpstr>
      <vt:lpstr>TensorFlow 실습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690</cp:revision>
  <dcterms:created xsi:type="dcterms:W3CDTF">2019-01-19T08:23:23Z</dcterms:created>
  <dcterms:modified xsi:type="dcterms:W3CDTF">2020-03-10T06:49:06Z</dcterms:modified>
</cp:coreProperties>
</file>