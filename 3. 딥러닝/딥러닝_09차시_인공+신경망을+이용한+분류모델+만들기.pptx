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5" r:id="rId1"/>
  </p:sldMasterIdLst>
  <p:notesMasterIdLst>
    <p:notesMasterId r:id="rId19"/>
  </p:notesMasterIdLst>
  <p:handoutMasterIdLst>
    <p:handoutMasterId r:id="rId20"/>
  </p:handoutMasterIdLst>
  <p:sldIdLst>
    <p:sldId id="314" r:id="rId2"/>
    <p:sldId id="261" r:id="rId3"/>
    <p:sldId id="354" r:id="rId4"/>
    <p:sldId id="355" r:id="rId5"/>
    <p:sldId id="356" r:id="rId6"/>
    <p:sldId id="357" r:id="rId7"/>
    <p:sldId id="430" r:id="rId8"/>
    <p:sldId id="409" r:id="rId9"/>
    <p:sldId id="424" r:id="rId10"/>
    <p:sldId id="431" r:id="rId11"/>
    <p:sldId id="410" r:id="rId12"/>
    <p:sldId id="425" r:id="rId13"/>
    <p:sldId id="426" r:id="rId14"/>
    <p:sldId id="411" r:id="rId15"/>
    <p:sldId id="419" r:id="rId16"/>
    <p:sldId id="427" r:id="rId17"/>
    <p:sldId id="404" r:id="rId18"/>
  </p:sldIdLst>
  <p:sldSz cx="12192000" cy="6858000"/>
  <p:notesSz cx="6858000" cy="9144000"/>
  <p:embeddedFontLst>
    <p:embeddedFont>
      <p:font typeface="나눔바른고딕" panose="020B0603020101020101" pitchFamily="50" charset="-127"/>
      <p:regular r:id="rId21"/>
      <p:bold r:id="rId22"/>
    </p:embeddedFont>
    <p:embeddedFont>
      <p:font typeface="Cambria Math" panose="02040503050406030204" pitchFamily="18" charset="0"/>
      <p:regular r:id="rId23"/>
    </p:embeddedFont>
    <p:embeddedFont>
      <p:font typeface="Impact" panose="020B0806030902050204" pitchFamily="34" charset="0"/>
      <p:regular r:id="rId24"/>
    </p:embeddedFont>
    <p:embeddedFont>
      <p:font typeface="나눔스퀘어 Bold" panose="020B0600000101010101" pitchFamily="50" charset="-127"/>
      <p:bold r:id="rId25"/>
    </p:embeddedFont>
    <p:embeddedFont>
      <p:font typeface="휴먼모음T" panose="02030504000101010101" pitchFamily="18" charset="-127"/>
      <p:regular r:id="rId26"/>
    </p:embeddedFont>
    <p:embeddedFont>
      <p:font typeface="스웨거 TTF" panose="020B0600000101010101" pitchFamily="50" charset="-127"/>
      <p:regular r:id="rId27"/>
    </p:embeddedFont>
    <p:embeddedFont>
      <p:font typeface="맑은 고딕" panose="020B0503020000020004" pitchFamily="50" charset="-127"/>
      <p:regular r:id="rId28"/>
      <p:bold r:id="rId2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F95"/>
    <a:srgbClr val="CC0099"/>
    <a:srgbClr val="37AADA"/>
    <a:srgbClr val="95D5E1"/>
    <a:srgbClr val="99CCFF"/>
    <a:srgbClr val="66CCFF"/>
    <a:srgbClr val="3399FF"/>
    <a:srgbClr val="36AAD9"/>
    <a:srgbClr val="5AA8CF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306" y="78"/>
      </p:cViewPr>
      <p:guideLst>
        <p:guide orient="horz" pos="1162"/>
        <p:guide pos="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722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540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240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133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201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203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046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32401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815630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583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4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="" xmlns:a16="http://schemas.microsoft.com/office/drawing/2014/main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="" xmlns:a16="http://schemas.microsoft.com/office/drawing/2014/main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="" xmlns:a16="http://schemas.microsoft.com/office/drawing/2014/main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9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adiostudent.si/znanost/znanstveni-britoff/%C5%BEi%C4%8Dke-v-celicah-in-zdravilo-nusinersen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0750" y="2852777"/>
            <a:ext cx="107668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9.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인공 신경망을 이용한 분류 모델 만들기</a:t>
            </a:r>
          </a:p>
        </p:txBody>
      </p:sp>
    </p:spTree>
    <p:extLst>
      <p:ext uri="{BB962C8B-B14F-4D97-AF65-F5344CB8AC3E}">
        <p14:creationId xmlns:p14="http://schemas.microsoft.com/office/powerpoint/2010/main" val="416606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그룹 24"/>
          <p:cNvGrpSpPr/>
          <p:nvPr/>
        </p:nvGrpSpPr>
        <p:grpSpPr>
          <a:xfrm>
            <a:off x="1986130" y="1082980"/>
            <a:ext cx="8345735" cy="539110"/>
            <a:chOff x="1986130" y="1509700"/>
            <a:chExt cx="8345735" cy="539110"/>
          </a:xfrm>
        </p:grpSpPr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9" y="1518179"/>
              <a:ext cx="7764786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다층 신경망의 구조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1509700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1" name="그룹 10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3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4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9906000" y="1509700"/>
              <a:ext cx="3369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3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1986130" y="2155376"/>
            <a:ext cx="8345735" cy="542649"/>
            <a:chOff x="1986130" y="2630163"/>
            <a:chExt cx="8345735" cy="542649"/>
          </a:xfrm>
        </p:grpSpPr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2649592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선형 활성화 함수의 문제점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263016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6" name="그룹 15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8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9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9906001" y="2646054"/>
              <a:ext cx="3369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9</a:t>
              </a:r>
              <a:endParaRPr lang="ko-KR" altLang="en-US" sz="2800" b="1" spc="-30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986130" y="3231311"/>
            <a:ext cx="8345735" cy="553652"/>
            <a:chOff x="1986130" y="3736085"/>
            <a:chExt cx="8345735" cy="553652"/>
          </a:xfrm>
        </p:grpSpPr>
        <p:sp>
          <p:nvSpPr>
            <p:cNvPr id="6" name="TextBox 5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3736085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비선형 활성화 함수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3750627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1" name="그룹 20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3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4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9753714" y="3736085"/>
              <a:ext cx="489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12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1986130" y="4318249"/>
            <a:ext cx="8345735" cy="553652"/>
            <a:chOff x="1986130" y="4856549"/>
            <a:chExt cx="8345735" cy="553652"/>
          </a:xfrm>
        </p:grpSpPr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다층 신경망에서 </a:t>
              </a: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경사하강법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8" name="그룹 27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0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1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9" name="TextBox 28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9753716" y="4856635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14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1986130" y="5405189"/>
            <a:ext cx="8345735" cy="553652"/>
            <a:chOff x="1986130" y="4856549"/>
            <a:chExt cx="8345735" cy="553652"/>
          </a:xfrm>
        </p:grpSpPr>
        <p:sp>
          <p:nvSpPr>
            <p:cNvPr id="36" name="TextBox 35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TensorFlow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를 이용한 실습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9" name="그룹 38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1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2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5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9753716" y="4856635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17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922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신경망 구조</a:t>
            </a:r>
            <a:endParaRPr lang="ko-KR" altLang="en-US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39341" y="2408914"/>
            <a:ext cx="6193180" cy="3444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직사각형 18"/>
          <p:cNvSpPr/>
          <p:nvPr/>
        </p:nvSpPr>
        <p:spPr>
          <a:xfrm>
            <a:off x="2945552" y="6261913"/>
            <a:ext cx="742952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맑은 고딕" pitchFamily="50" charset="-127"/>
                <a:ea typeface="맑은 고딕" pitchFamily="50" charset="-127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https://radiostudent.si/znanost/znanstveni-britoff/%C5%BEi%C4%8Dke-v-celicah-in-zdravilo-nusinersen</a:t>
            </a:r>
            <a:endParaRPr lang="ko-KR" altLang="en-US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897352" y="1705910"/>
            <a:ext cx="7786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인간의 신경망 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1000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억 개 수준의 대규모 네트웍 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구조적으로 복잡함</a:t>
            </a:r>
            <a:endParaRPr lang="en-US" altLang="ko-KR" sz="2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2716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단층신경망과 다층신경망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grpSp>
        <p:nvGrpSpPr>
          <p:cNvPr id="41" name="그룹 40"/>
          <p:cNvGrpSpPr/>
          <p:nvPr/>
        </p:nvGrpSpPr>
        <p:grpSpPr>
          <a:xfrm>
            <a:off x="2937978" y="3004416"/>
            <a:ext cx="3214710" cy="2369596"/>
            <a:chOff x="500034" y="2000240"/>
            <a:chExt cx="3214710" cy="2369596"/>
          </a:xfrm>
        </p:grpSpPr>
        <p:grpSp>
          <p:nvGrpSpPr>
            <p:cNvPr id="42" name="그룹 41"/>
            <p:cNvGrpSpPr/>
            <p:nvPr/>
          </p:nvGrpSpPr>
          <p:grpSpPr>
            <a:xfrm>
              <a:off x="500034" y="2000240"/>
              <a:ext cx="2286016" cy="2369368"/>
              <a:chOff x="495569" y="1000108"/>
              <a:chExt cx="2428892" cy="2448346"/>
            </a:xfrm>
          </p:grpSpPr>
          <p:sp>
            <p:nvSpPr>
              <p:cNvPr id="44" name="직사각형 43"/>
              <p:cNvSpPr/>
              <p:nvPr/>
            </p:nvSpPr>
            <p:spPr bwMode="auto">
              <a:xfrm>
                <a:off x="2143108" y="1590662"/>
                <a:ext cx="642942" cy="714379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 bwMode="auto">
              <a:xfrm>
                <a:off x="642910" y="1000108"/>
                <a:ext cx="785818" cy="185738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46" name="타원 45"/>
              <p:cNvSpPr/>
              <p:nvPr/>
            </p:nvSpPr>
            <p:spPr bwMode="auto">
              <a:xfrm>
                <a:off x="785786" y="1126700"/>
                <a:ext cx="475869" cy="444912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47" name="타원 46"/>
              <p:cNvSpPr/>
              <p:nvPr/>
            </p:nvSpPr>
            <p:spPr bwMode="auto">
              <a:xfrm>
                <a:off x="2214546" y="1736304"/>
                <a:ext cx="475869" cy="444912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cxnSp>
            <p:nvCxnSpPr>
              <p:cNvPr id="48" name="직선 화살표 연결선 47"/>
              <p:cNvCxnSpPr>
                <a:stCxn id="46" idx="6"/>
                <a:endCxn id="47" idx="1"/>
              </p:cNvCxnSpPr>
              <p:nvPr/>
            </p:nvCxnSpPr>
            <p:spPr bwMode="auto">
              <a:xfrm>
                <a:off x="1261655" y="1349156"/>
                <a:ext cx="1022581" cy="4523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49" name="타원 48"/>
              <p:cNvSpPr/>
              <p:nvPr/>
            </p:nvSpPr>
            <p:spPr bwMode="auto">
              <a:xfrm>
                <a:off x="785786" y="1714488"/>
                <a:ext cx="475869" cy="444912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cxnSp>
            <p:nvCxnSpPr>
              <p:cNvPr id="50" name="직선 화살표 연결선 49"/>
              <p:cNvCxnSpPr>
                <a:stCxn id="49" idx="6"/>
                <a:endCxn id="47" idx="2"/>
              </p:cNvCxnSpPr>
              <p:nvPr/>
            </p:nvCxnSpPr>
            <p:spPr bwMode="auto">
              <a:xfrm>
                <a:off x="1261655" y="1936944"/>
                <a:ext cx="952891" cy="21817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51" name="타원 50"/>
              <p:cNvSpPr/>
              <p:nvPr/>
            </p:nvSpPr>
            <p:spPr bwMode="auto">
              <a:xfrm>
                <a:off x="785786" y="2285992"/>
                <a:ext cx="475869" cy="444912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cxnSp>
            <p:nvCxnSpPr>
              <p:cNvPr id="52" name="직선 화살표 연결선 51"/>
              <p:cNvCxnSpPr>
                <a:stCxn id="51" idx="6"/>
                <a:endCxn id="47" idx="3"/>
              </p:cNvCxnSpPr>
              <p:nvPr/>
            </p:nvCxnSpPr>
            <p:spPr bwMode="auto">
              <a:xfrm flipV="1">
                <a:off x="1261655" y="2116060"/>
                <a:ext cx="1022581" cy="3923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53" name="TextBox 52"/>
              <p:cNvSpPr txBox="1"/>
              <p:nvPr/>
            </p:nvSpPr>
            <p:spPr>
              <a:xfrm>
                <a:off x="495569" y="3066811"/>
                <a:ext cx="2428892" cy="38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Input layer</a:t>
                </a:r>
                <a:endParaRPr lang="ko-KR" altLang="en-US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1928794" y="4000504"/>
              <a:ext cx="17859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output layer</a:t>
              </a:r>
              <a:endPara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6825046" y="1828579"/>
            <a:ext cx="3178991" cy="2213784"/>
            <a:chOff x="4679157" y="1142984"/>
            <a:chExt cx="3178991" cy="2213784"/>
          </a:xfrm>
        </p:grpSpPr>
        <p:cxnSp>
          <p:nvCxnSpPr>
            <p:cNvPr id="55" name="직선 연결선 54"/>
            <p:cNvCxnSpPr/>
            <p:nvPr/>
          </p:nvCxnSpPr>
          <p:spPr bwMode="auto">
            <a:xfrm rot="5400000" flipH="1" flipV="1">
              <a:off x="5679289" y="1393017"/>
              <a:ext cx="1785950" cy="157163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56" name="TextBox 55"/>
            <p:cNvSpPr txBox="1"/>
            <p:nvPr/>
          </p:nvSpPr>
          <p:spPr>
            <a:xfrm>
              <a:off x="4679157" y="2027270"/>
              <a:ext cx="13573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분류</a:t>
              </a:r>
            </a:p>
          </p:txBody>
        </p:sp>
        <p:cxnSp>
          <p:nvCxnSpPr>
            <p:cNvPr id="57" name="직선 화살표 연결선 56"/>
            <p:cNvCxnSpPr/>
            <p:nvPr/>
          </p:nvCxnSpPr>
          <p:spPr bwMode="auto">
            <a:xfrm rot="16200000" flipV="1">
              <a:off x="4536281" y="2249479"/>
              <a:ext cx="2213784" cy="7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58" name="직선 화살표 연결선 57"/>
            <p:cNvCxnSpPr/>
            <p:nvPr/>
          </p:nvCxnSpPr>
          <p:spPr bwMode="auto">
            <a:xfrm flipV="1">
              <a:off x="5500694" y="3213098"/>
              <a:ext cx="2357454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sp>
          <p:nvSpPr>
            <p:cNvPr id="59" name="타원 58"/>
            <p:cNvSpPr/>
            <p:nvPr/>
          </p:nvSpPr>
          <p:spPr bwMode="auto">
            <a:xfrm>
              <a:off x="6143636" y="1785926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0" name="타원 59"/>
            <p:cNvSpPr/>
            <p:nvPr/>
          </p:nvSpPr>
          <p:spPr bwMode="auto">
            <a:xfrm>
              <a:off x="6296036" y="1571612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1" name="타원 60"/>
            <p:cNvSpPr/>
            <p:nvPr/>
          </p:nvSpPr>
          <p:spPr bwMode="auto">
            <a:xfrm>
              <a:off x="6715140" y="1428736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2" name="타원 61"/>
            <p:cNvSpPr/>
            <p:nvPr/>
          </p:nvSpPr>
          <p:spPr bwMode="auto">
            <a:xfrm>
              <a:off x="6572264" y="1714488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3" name="타원 62"/>
            <p:cNvSpPr/>
            <p:nvPr/>
          </p:nvSpPr>
          <p:spPr bwMode="auto">
            <a:xfrm>
              <a:off x="5857884" y="2071678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4" name="타원 63"/>
            <p:cNvSpPr/>
            <p:nvPr/>
          </p:nvSpPr>
          <p:spPr bwMode="auto">
            <a:xfrm>
              <a:off x="6010284" y="2487427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5" name="타원 64"/>
            <p:cNvSpPr/>
            <p:nvPr/>
          </p:nvSpPr>
          <p:spPr bwMode="auto">
            <a:xfrm>
              <a:off x="5857884" y="1357298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6" name="타원 65"/>
            <p:cNvSpPr/>
            <p:nvPr/>
          </p:nvSpPr>
          <p:spPr bwMode="auto">
            <a:xfrm>
              <a:off x="6010284" y="1571612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7" name="이등변 삼각형 66"/>
            <p:cNvSpPr/>
            <p:nvPr/>
          </p:nvSpPr>
          <p:spPr bwMode="auto">
            <a:xfrm>
              <a:off x="6643702" y="2285992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rgbClr val="7030A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8" name="이등변 삼각형 67"/>
            <p:cNvSpPr/>
            <p:nvPr/>
          </p:nvSpPr>
          <p:spPr bwMode="auto">
            <a:xfrm>
              <a:off x="6786578" y="2071678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rgbClr val="7030A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9" name="이등변 삼각형 68"/>
            <p:cNvSpPr/>
            <p:nvPr/>
          </p:nvSpPr>
          <p:spPr bwMode="auto">
            <a:xfrm>
              <a:off x="6938978" y="2285992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rgbClr val="7030A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70" name="이등변 삼각형 69"/>
            <p:cNvSpPr/>
            <p:nvPr/>
          </p:nvSpPr>
          <p:spPr bwMode="auto">
            <a:xfrm>
              <a:off x="7091378" y="2451271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rgbClr val="7030A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71" name="이등변 삼각형 70"/>
            <p:cNvSpPr/>
            <p:nvPr/>
          </p:nvSpPr>
          <p:spPr bwMode="auto">
            <a:xfrm>
              <a:off x="6858016" y="2500306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rgbClr val="7030A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72" name="이등변 삼각형 71"/>
            <p:cNvSpPr/>
            <p:nvPr/>
          </p:nvSpPr>
          <p:spPr bwMode="auto">
            <a:xfrm>
              <a:off x="7072330" y="2071678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rgbClr val="7030A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73" name="이등변 삼각형 72"/>
            <p:cNvSpPr/>
            <p:nvPr/>
          </p:nvSpPr>
          <p:spPr bwMode="auto">
            <a:xfrm>
              <a:off x="7286644" y="2224078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rgbClr val="7030A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74" name="이등변 삼각형 73"/>
            <p:cNvSpPr/>
            <p:nvPr/>
          </p:nvSpPr>
          <p:spPr bwMode="auto">
            <a:xfrm>
              <a:off x="7358082" y="2571744"/>
              <a:ext cx="142876" cy="142876"/>
            </a:xfrm>
            <a:prstGeom prst="triangle">
              <a:avLst/>
            </a:prstGeom>
            <a:solidFill>
              <a:srgbClr val="7030A0"/>
            </a:solidFill>
            <a:ln w="9525" cap="flat" cmpd="sng" algn="ctr">
              <a:solidFill>
                <a:srgbClr val="7030A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6838871" y="4462030"/>
            <a:ext cx="3165166" cy="2213784"/>
            <a:chOff x="4692982" y="3858422"/>
            <a:chExt cx="3165166" cy="2213784"/>
          </a:xfrm>
        </p:grpSpPr>
        <p:cxnSp>
          <p:nvCxnSpPr>
            <p:cNvPr id="76" name="직선 연결선 75"/>
            <p:cNvCxnSpPr/>
            <p:nvPr/>
          </p:nvCxnSpPr>
          <p:spPr bwMode="auto">
            <a:xfrm rot="5400000" flipH="1" flipV="1">
              <a:off x="5715008" y="4071942"/>
              <a:ext cx="1857388" cy="157163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77" name="TextBox 76"/>
            <p:cNvSpPr txBox="1"/>
            <p:nvPr/>
          </p:nvSpPr>
          <p:spPr>
            <a:xfrm>
              <a:off x="4692982" y="4831945"/>
              <a:ext cx="13573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회귀</a:t>
              </a:r>
            </a:p>
          </p:txBody>
        </p:sp>
        <p:cxnSp>
          <p:nvCxnSpPr>
            <p:cNvPr id="78" name="직선 화살표 연결선 77"/>
            <p:cNvCxnSpPr/>
            <p:nvPr/>
          </p:nvCxnSpPr>
          <p:spPr bwMode="auto">
            <a:xfrm rot="16200000" flipV="1">
              <a:off x="4537075" y="4964917"/>
              <a:ext cx="2213784" cy="7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79" name="직선 화살표 연결선 78"/>
            <p:cNvCxnSpPr/>
            <p:nvPr/>
          </p:nvCxnSpPr>
          <p:spPr bwMode="auto">
            <a:xfrm flipV="1">
              <a:off x="5500694" y="5927742"/>
              <a:ext cx="2357454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sp>
          <p:nvSpPr>
            <p:cNvPr id="80" name="타원 79"/>
            <p:cNvSpPr/>
            <p:nvPr/>
          </p:nvSpPr>
          <p:spPr bwMode="auto">
            <a:xfrm>
              <a:off x="6162684" y="4714884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81" name="타원 80"/>
            <p:cNvSpPr/>
            <p:nvPr/>
          </p:nvSpPr>
          <p:spPr bwMode="auto">
            <a:xfrm>
              <a:off x="6315084" y="4929198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82" name="타원 81"/>
            <p:cNvSpPr/>
            <p:nvPr/>
          </p:nvSpPr>
          <p:spPr bwMode="auto">
            <a:xfrm>
              <a:off x="6467484" y="5130633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83" name="타원 82"/>
            <p:cNvSpPr/>
            <p:nvPr/>
          </p:nvSpPr>
          <p:spPr bwMode="auto">
            <a:xfrm>
              <a:off x="6072198" y="5214950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84" name="타원 83"/>
            <p:cNvSpPr/>
            <p:nvPr/>
          </p:nvSpPr>
          <p:spPr bwMode="auto">
            <a:xfrm>
              <a:off x="6286512" y="5367350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85" name="타원 84"/>
            <p:cNvSpPr/>
            <p:nvPr/>
          </p:nvSpPr>
          <p:spPr bwMode="auto">
            <a:xfrm>
              <a:off x="6224598" y="5143512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86" name="타원 85"/>
            <p:cNvSpPr/>
            <p:nvPr/>
          </p:nvSpPr>
          <p:spPr bwMode="auto">
            <a:xfrm>
              <a:off x="6429388" y="4643446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87" name="타원 86"/>
            <p:cNvSpPr/>
            <p:nvPr/>
          </p:nvSpPr>
          <p:spPr bwMode="auto">
            <a:xfrm>
              <a:off x="6643702" y="4795846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88" name="타원 87"/>
            <p:cNvSpPr/>
            <p:nvPr/>
          </p:nvSpPr>
          <p:spPr bwMode="auto">
            <a:xfrm>
              <a:off x="7215206" y="4286256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89" name="타원 88"/>
            <p:cNvSpPr/>
            <p:nvPr/>
          </p:nvSpPr>
          <p:spPr bwMode="auto">
            <a:xfrm>
              <a:off x="7143768" y="4438656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90" name="타원 89"/>
            <p:cNvSpPr/>
            <p:nvPr/>
          </p:nvSpPr>
          <p:spPr bwMode="auto">
            <a:xfrm>
              <a:off x="6786578" y="4500570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91" name="타원 90"/>
            <p:cNvSpPr/>
            <p:nvPr/>
          </p:nvSpPr>
          <p:spPr bwMode="auto">
            <a:xfrm>
              <a:off x="6929454" y="4143380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92" name="타원 91"/>
            <p:cNvSpPr/>
            <p:nvPr/>
          </p:nvSpPr>
          <p:spPr bwMode="auto">
            <a:xfrm>
              <a:off x="7000892" y="4357694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93" name="타원 92"/>
            <p:cNvSpPr/>
            <p:nvPr/>
          </p:nvSpPr>
          <p:spPr bwMode="auto">
            <a:xfrm>
              <a:off x="6929454" y="4643446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94" name="타원 93"/>
            <p:cNvSpPr/>
            <p:nvPr/>
          </p:nvSpPr>
          <p:spPr bwMode="auto">
            <a:xfrm>
              <a:off x="6572264" y="4357694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95" name="타원 94"/>
            <p:cNvSpPr/>
            <p:nvPr/>
          </p:nvSpPr>
          <p:spPr bwMode="auto">
            <a:xfrm>
              <a:off x="6786578" y="5214950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96" name="타원 95"/>
            <p:cNvSpPr/>
            <p:nvPr/>
          </p:nvSpPr>
          <p:spPr bwMode="auto">
            <a:xfrm>
              <a:off x="6429388" y="3929066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97" name="타원 96"/>
            <p:cNvSpPr/>
            <p:nvPr/>
          </p:nvSpPr>
          <p:spPr bwMode="auto">
            <a:xfrm>
              <a:off x="7358082" y="4714884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98" name="타원 97"/>
            <p:cNvSpPr/>
            <p:nvPr/>
          </p:nvSpPr>
          <p:spPr bwMode="auto">
            <a:xfrm>
              <a:off x="7429520" y="4000504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99" name="타원 98"/>
            <p:cNvSpPr/>
            <p:nvPr/>
          </p:nvSpPr>
          <p:spPr bwMode="auto">
            <a:xfrm>
              <a:off x="7581920" y="4152904"/>
              <a:ext cx="142876" cy="14287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645920" y="1641082"/>
            <a:ext cx="8839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단층신경망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복잡한 데이터의 경우 오류 가능성이 큰 한계를 지님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32221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단층신경망과 다층신경망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645920" y="1641082"/>
            <a:ext cx="8839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다층신경망은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은닉층을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추가하는 구조변경을 통해 복잡한 문제 해결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다층 신경망의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은닉층은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입력층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노드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수보다 클 수도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작을 수도 있음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54" name="그룹 133"/>
          <p:cNvGrpSpPr/>
          <p:nvPr/>
        </p:nvGrpSpPr>
        <p:grpSpPr>
          <a:xfrm>
            <a:off x="2102445" y="3197770"/>
            <a:ext cx="4017778" cy="2542350"/>
            <a:chOff x="4134005" y="1704964"/>
            <a:chExt cx="5235764" cy="2878958"/>
          </a:xfrm>
        </p:grpSpPr>
        <p:sp>
          <p:nvSpPr>
            <p:cNvPr id="55" name="직사각형 54"/>
            <p:cNvSpPr/>
            <p:nvPr/>
          </p:nvSpPr>
          <p:spPr bwMode="auto">
            <a:xfrm>
              <a:off x="6189861" y="1704964"/>
              <a:ext cx="739593" cy="2428892"/>
            </a:xfrm>
            <a:prstGeom prst="rect">
              <a:avLst/>
            </a:prstGeom>
            <a:solidFill>
              <a:srgbClr val="FFE5EE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56" name="그룹 42"/>
            <p:cNvGrpSpPr/>
            <p:nvPr/>
          </p:nvGrpSpPr>
          <p:grpSpPr>
            <a:xfrm>
              <a:off x="4134005" y="2000240"/>
              <a:ext cx="4079796" cy="2455180"/>
              <a:chOff x="333811" y="1000108"/>
              <a:chExt cx="4334790" cy="2537017"/>
            </a:xfrm>
          </p:grpSpPr>
          <p:sp>
            <p:nvSpPr>
              <p:cNvPr id="77" name="직사각형 76"/>
              <p:cNvSpPr/>
              <p:nvPr/>
            </p:nvSpPr>
            <p:spPr bwMode="auto">
              <a:xfrm>
                <a:off x="4025657" y="1496195"/>
                <a:ext cx="642944" cy="649976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78" name="직사각형 77"/>
              <p:cNvSpPr/>
              <p:nvPr/>
            </p:nvSpPr>
            <p:spPr bwMode="auto">
              <a:xfrm>
                <a:off x="642910" y="1000108"/>
                <a:ext cx="785818" cy="1857388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79" name="타원 78"/>
              <p:cNvSpPr/>
              <p:nvPr/>
            </p:nvSpPr>
            <p:spPr bwMode="auto">
              <a:xfrm>
                <a:off x="785786" y="1126700"/>
                <a:ext cx="475869" cy="444912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80" name="직선 화살표 연결선 79"/>
              <p:cNvCxnSpPr>
                <a:stCxn id="79" idx="6"/>
                <a:endCxn id="57" idx="2"/>
              </p:cNvCxnSpPr>
              <p:nvPr/>
            </p:nvCxnSpPr>
            <p:spPr bwMode="auto">
              <a:xfrm flipV="1">
                <a:off x="1261654" y="1065084"/>
                <a:ext cx="1414649" cy="28407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81" name="타원 80"/>
              <p:cNvSpPr/>
              <p:nvPr/>
            </p:nvSpPr>
            <p:spPr bwMode="auto">
              <a:xfrm>
                <a:off x="785786" y="1714488"/>
                <a:ext cx="475869" cy="444912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82" name="직선 화살표 연결선 81"/>
              <p:cNvCxnSpPr>
                <a:stCxn id="81" idx="6"/>
                <a:endCxn id="57" idx="2"/>
              </p:cNvCxnSpPr>
              <p:nvPr/>
            </p:nvCxnSpPr>
            <p:spPr bwMode="auto">
              <a:xfrm flipV="1">
                <a:off x="1261654" y="1065084"/>
                <a:ext cx="1414649" cy="87185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83" name="타원 82"/>
              <p:cNvSpPr/>
              <p:nvPr/>
            </p:nvSpPr>
            <p:spPr bwMode="auto">
              <a:xfrm>
                <a:off x="785786" y="2285992"/>
                <a:ext cx="475869" cy="444912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84" name="직선 화살표 연결선 83"/>
              <p:cNvCxnSpPr>
                <a:stCxn id="83" idx="6"/>
                <a:endCxn id="57" idx="2"/>
              </p:cNvCxnSpPr>
              <p:nvPr/>
            </p:nvCxnSpPr>
            <p:spPr bwMode="auto">
              <a:xfrm flipV="1">
                <a:off x="1261654" y="1065084"/>
                <a:ext cx="1414649" cy="144336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85" name="TextBox 84"/>
              <p:cNvSpPr txBox="1"/>
              <p:nvPr/>
            </p:nvSpPr>
            <p:spPr>
              <a:xfrm>
                <a:off x="333811" y="3161997"/>
                <a:ext cx="2428894" cy="375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latin typeface="맑은 고딕" pitchFamily="50" charset="-127"/>
                    <a:ea typeface="맑은 고딕" pitchFamily="50" charset="-127"/>
                  </a:rPr>
                  <a:t>Input layer</a:t>
                </a:r>
                <a:endParaRPr lang="ko-KR" altLang="en-US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57" name="타원 56"/>
            <p:cNvSpPr/>
            <p:nvPr/>
          </p:nvSpPr>
          <p:spPr bwMode="auto">
            <a:xfrm>
              <a:off x="6338702" y="1847840"/>
              <a:ext cx="447876" cy="43056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8" name="타원 57"/>
            <p:cNvSpPr/>
            <p:nvPr/>
          </p:nvSpPr>
          <p:spPr bwMode="auto">
            <a:xfrm>
              <a:off x="6357950" y="2417412"/>
              <a:ext cx="447876" cy="43056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9" name="타원 58"/>
            <p:cNvSpPr/>
            <p:nvPr/>
          </p:nvSpPr>
          <p:spPr bwMode="auto">
            <a:xfrm>
              <a:off x="6357950" y="2988916"/>
              <a:ext cx="447876" cy="43056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0" name="타원 59"/>
            <p:cNvSpPr/>
            <p:nvPr/>
          </p:nvSpPr>
          <p:spPr bwMode="auto">
            <a:xfrm>
              <a:off x="6357950" y="3560420"/>
              <a:ext cx="447876" cy="43056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61" name="직선 화살표 연결선 60"/>
            <p:cNvCxnSpPr>
              <a:endCxn id="58" idx="2"/>
            </p:cNvCxnSpPr>
            <p:nvPr/>
          </p:nvCxnSpPr>
          <p:spPr bwMode="auto">
            <a:xfrm>
              <a:off x="5007269" y="2338028"/>
              <a:ext cx="1350681" cy="2946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2" name="직선 화살표 연결선 61"/>
            <p:cNvCxnSpPr>
              <a:endCxn id="59" idx="2"/>
            </p:cNvCxnSpPr>
            <p:nvPr/>
          </p:nvCxnSpPr>
          <p:spPr bwMode="auto">
            <a:xfrm>
              <a:off x="5007269" y="2338028"/>
              <a:ext cx="1350681" cy="86616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3" name="직선 화살표 연결선 62"/>
            <p:cNvCxnSpPr>
              <a:endCxn id="60" idx="2"/>
            </p:cNvCxnSpPr>
            <p:nvPr/>
          </p:nvCxnSpPr>
          <p:spPr bwMode="auto">
            <a:xfrm>
              <a:off x="5007269" y="2338028"/>
              <a:ext cx="1350681" cy="143767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4" name="직선 화살표 연결선 63"/>
            <p:cNvCxnSpPr>
              <a:endCxn id="58" idx="2"/>
            </p:cNvCxnSpPr>
            <p:nvPr/>
          </p:nvCxnSpPr>
          <p:spPr bwMode="auto">
            <a:xfrm flipV="1">
              <a:off x="5007269" y="2632692"/>
              <a:ext cx="1350681" cy="27416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5" name="직선 화살표 연결선 64"/>
            <p:cNvCxnSpPr>
              <a:endCxn id="59" idx="2"/>
            </p:cNvCxnSpPr>
            <p:nvPr/>
          </p:nvCxnSpPr>
          <p:spPr bwMode="auto">
            <a:xfrm>
              <a:off x="5007269" y="2906855"/>
              <a:ext cx="1350681" cy="29734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6" name="직선 화살표 연결선 65"/>
            <p:cNvCxnSpPr>
              <a:endCxn id="60" idx="2"/>
            </p:cNvCxnSpPr>
            <p:nvPr/>
          </p:nvCxnSpPr>
          <p:spPr bwMode="auto">
            <a:xfrm>
              <a:off x="5007269" y="2906855"/>
              <a:ext cx="1350681" cy="86884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7" name="직선 화살표 연결선 66"/>
            <p:cNvCxnSpPr>
              <a:endCxn id="58" idx="2"/>
            </p:cNvCxnSpPr>
            <p:nvPr/>
          </p:nvCxnSpPr>
          <p:spPr bwMode="auto">
            <a:xfrm flipV="1">
              <a:off x="5007269" y="2632692"/>
              <a:ext cx="1350681" cy="8272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8" name="직선 화살표 연결선 67"/>
            <p:cNvCxnSpPr>
              <a:endCxn id="59" idx="2"/>
            </p:cNvCxnSpPr>
            <p:nvPr/>
          </p:nvCxnSpPr>
          <p:spPr bwMode="auto">
            <a:xfrm flipV="1">
              <a:off x="5007269" y="3204196"/>
              <a:ext cx="1350681" cy="2557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9" name="직선 화살표 연결선 68"/>
            <p:cNvCxnSpPr>
              <a:endCxn id="60" idx="2"/>
            </p:cNvCxnSpPr>
            <p:nvPr/>
          </p:nvCxnSpPr>
          <p:spPr bwMode="auto">
            <a:xfrm>
              <a:off x="5007269" y="3459924"/>
              <a:ext cx="1350681" cy="31577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0" name="직선 화살표 연결선 69"/>
            <p:cNvCxnSpPr>
              <a:stCxn id="57" idx="6"/>
              <a:endCxn id="74" idx="2"/>
            </p:cNvCxnSpPr>
            <p:nvPr/>
          </p:nvCxnSpPr>
          <p:spPr bwMode="auto">
            <a:xfrm>
              <a:off x="6786578" y="2063120"/>
              <a:ext cx="902907" cy="714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1" name="직선 화살표 연결선 70"/>
            <p:cNvCxnSpPr>
              <a:stCxn id="58" idx="6"/>
              <a:endCxn id="74" idx="2"/>
            </p:cNvCxnSpPr>
            <p:nvPr/>
          </p:nvCxnSpPr>
          <p:spPr bwMode="auto">
            <a:xfrm>
              <a:off x="6805826" y="2632692"/>
              <a:ext cx="883660" cy="14480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2" name="직선 화살표 연결선 71"/>
            <p:cNvCxnSpPr>
              <a:stCxn id="59" idx="6"/>
              <a:endCxn id="74" idx="2"/>
            </p:cNvCxnSpPr>
            <p:nvPr/>
          </p:nvCxnSpPr>
          <p:spPr bwMode="auto">
            <a:xfrm flipV="1">
              <a:off x="6805826" y="2777500"/>
              <a:ext cx="883660" cy="42669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3" name="직선 화살표 연결선 72"/>
            <p:cNvCxnSpPr>
              <a:stCxn id="60" idx="6"/>
              <a:endCxn id="74" idx="2"/>
            </p:cNvCxnSpPr>
            <p:nvPr/>
          </p:nvCxnSpPr>
          <p:spPr bwMode="auto">
            <a:xfrm flipV="1">
              <a:off x="6805826" y="2777500"/>
              <a:ext cx="883660" cy="9982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sp>
          <p:nvSpPr>
            <p:cNvPr id="74" name="타원 73"/>
            <p:cNvSpPr/>
            <p:nvPr/>
          </p:nvSpPr>
          <p:spPr bwMode="auto">
            <a:xfrm>
              <a:off x="7689486" y="2562220"/>
              <a:ext cx="447876" cy="43056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807502" y="4214590"/>
              <a:ext cx="22860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맑은 고딕" pitchFamily="50" charset="-127"/>
                  <a:ea typeface="맑은 고딕" pitchFamily="50" charset="-127"/>
                </a:rPr>
                <a:t>hidden layer</a:t>
              </a:r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204645" y="3512405"/>
              <a:ext cx="2165124" cy="418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맑은 고딕" pitchFamily="50" charset="-127"/>
                  <a:ea typeface="맑은 고딕" pitchFamily="50" charset="-127"/>
                </a:rPr>
                <a:t>output layer</a:t>
              </a:r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86" name="그룹 85"/>
          <p:cNvGrpSpPr/>
          <p:nvPr/>
        </p:nvGrpSpPr>
        <p:grpSpPr>
          <a:xfrm>
            <a:off x="6282537" y="2770825"/>
            <a:ext cx="3410469" cy="1922264"/>
            <a:chOff x="4357686" y="1071546"/>
            <a:chExt cx="4572032" cy="2428892"/>
          </a:xfrm>
        </p:grpSpPr>
        <p:sp>
          <p:nvSpPr>
            <p:cNvPr id="87" name="직사각형 86"/>
            <p:cNvSpPr/>
            <p:nvPr/>
          </p:nvSpPr>
          <p:spPr bwMode="auto">
            <a:xfrm>
              <a:off x="5214942" y="1214422"/>
              <a:ext cx="571504" cy="2071702"/>
            </a:xfrm>
            <a:prstGeom prst="rect">
              <a:avLst/>
            </a:prstGeom>
            <a:solidFill>
              <a:srgbClr val="FFE5EE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8" name="직사각형 87"/>
            <p:cNvSpPr/>
            <p:nvPr/>
          </p:nvSpPr>
          <p:spPr bwMode="auto">
            <a:xfrm>
              <a:off x="4357686" y="1357297"/>
              <a:ext cx="571504" cy="1828691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9" name="직사각형 88"/>
            <p:cNvSpPr/>
            <p:nvPr/>
          </p:nvSpPr>
          <p:spPr bwMode="auto">
            <a:xfrm>
              <a:off x="8358214" y="2000240"/>
              <a:ext cx="571504" cy="57150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0" name="타원 89"/>
            <p:cNvSpPr/>
            <p:nvPr/>
          </p:nvSpPr>
          <p:spPr bwMode="auto">
            <a:xfrm>
              <a:off x="4429124" y="1428736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1" name="타원 90"/>
            <p:cNvSpPr/>
            <p:nvPr/>
          </p:nvSpPr>
          <p:spPr bwMode="auto">
            <a:xfrm>
              <a:off x="4429124" y="2062268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2" name="타원 91"/>
            <p:cNvSpPr/>
            <p:nvPr/>
          </p:nvSpPr>
          <p:spPr bwMode="auto">
            <a:xfrm>
              <a:off x="4429124" y="2633772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3" name="타원 92"/>
            <p:cNvSpPr/>
            <p:nvPr/>
          </p:nvSpPr>
          <p:spPr bwMode="auto">
            <a:xfrm>
              <a:off x="8429652" y="2071677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4" name="타원 93"/>
            <p:cNvSpPr/>
            <p:nvPr/>
          </p:nvSpPr>
          <p:spPr bwMode="auto">
            <a:xfrm>
              <a:off x="5319057" y="2714620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5" name="타원 94"/>
            <p:cNvSpPr/>
            <p:nvPr/>
          </p:nvSpPr>
          <p:spPr bwMode="auto">
            <a:xfrm>
              <a:off x="5319057" y="2071678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6" name="타원 95"/>
            <p:cNvSpPr/>
            <p:nvPr/>
          </p:nvSpPr>
          <p:spPr bwMode="auto">
            <a:xfrm>
              <a:off x="5319057" y="1347888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 bwMode="auto">
            <a:xfrm>
              <a:off x="6072198" y="1071546"/>
              <a:ext cx="571504" cy="2428892"/>
            </a:xfrm>
            <a:prstGeom prst="rect">
              <a:avLst/>
            </a:prstGeom>
            <a:solidFill>
              <a:srgbClr val="FFE5EE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8" name="타원 97"/>
            <p:cNvSpPr/>
            <p:nvPr/>
          </p:nvSpPr>
          <p:spPr bwMode="auto">
            <a:xfrm>
              <a:off x="6176313" y="1142984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9" name="타원 98"/>
            <p:cNvSpPr/>
            <p:nvPr/>
          </p:nvSpPr>
          <p:spPr bwMode="auto">
            <a:xfrm>
              <a:off x="6176313" y="1776516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0" name="타원 99"/>
            <p:cNvSpPr/>
            <p:nvPr/>
          </p:nvSpPr>
          <p:spPr bwMode="auto">
            <a:xfrm>
              <a:off x="6176313" y="2348020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1" name="타원 100"/>
            <p:cNvSpPr/>
            <p:nvPr/>
          </p:nvSpPr>
          <p:spPr bwMode="auto">
            <a:xfrm>
              <a:off x="6176313" y="2919524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2" name="직사각형 101"/>
            <p:cNvSpPr/>
            <p:nvPr/>
          </p:nvSpPr>
          <p:spPr bwMode="auto">
            <a:xfrm>
              <a:off x="6929454" y="1214422"/>
              <a:ext cx="571504" cy="2071702"/>
            </a:xfrm>
            <a:prstGeom prst="rect">
              <a:avLst/>
            </a:prstGeom>
            <a:solidFill>
              <a:srgbClr val="FFE5EE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3" name="타원 102"/>
            <p:cNvSpPr/>
            <p:nvPr/>
          </p:nvSpPr>
          <p:spPr bwMode="auto">
            <a:xfrm>
              <a:off x="7033569" y="2714620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4" name="타원 103"/>
            <p:cNvSpPr/>
            <p:nvPr/>
          </p:nvSpPr>
          <p:spPr bwMode="auto">
            <a:xfrm>
              <a:off x="7033569" y="2071678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5" name="타원 104"/>
            <p:cNvSpPr/>
            <p:nvPr/>
          </p:nvSpPr>
          <p:spPr bwMode="auto">
            <a:xfrm>
              <a:off x="7033569" y="1347888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6" name="직사각형 105"/>
            <p:cNvSpPr/>
            <p:nvPr/>
          </p:nvSpPr>
          <p:spPr bwMode="auto">
            <a:xfrm>
              <a:off x="7643834" y="1571612"/>
              <a:ext cx="571504" cy="1500198"/>
            </a:xfrm>
            <a:prstGeom prst="rect">
              <a:avLst/>
            </a:prstGeom>
            <a:solidFill>
              <a:srgbClr val="FFE5EE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7" name="타원 106"/>
            <p:cNvSpPr/>
            <p:nvPr/>
          </p:nvSpPr>
          <p:spPr bwMode="auto">
            <a:xfrm>
              <a:off x="7747949" y="2428868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8" name="타원 107"/>
            <p:cNvSpPr/>
            <p:nvPr/>
          </p:nvSpPr>
          <p:spPr bwMode="auto">
            <a:xfrm>
              <a:off x="7747949" y="1705078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09" name="직선 화살표 연결선 108"/>
            <p:cNvCxnSpPr>
              <a:stCxn id="90" idx="6"/>
              <a:endCxn id="96" idx="2"/>
            </p:cNvCxnSpPr>
            <p:nvPr/>
          </p:nvCxnSpPr>
          <p:spPr bwMode="auto">
            <a:xfrm flipV="1">
              <a:off x="4825075" y="1566907"/>
              <a:ext cx="493982" cy="8084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10" name="직선 화살표 연결선 109"/>
            <p:cNvCxnSpPr>
              <a:stCxn id="90" idx="6"/>
              <a:endCxn id="95" idx="2"/>
            </p:cNvCxnSpPr>
            <p:nvPr/>
          </p:nvCxnSpPr>
          <p:spPr bwMode="auto">
            <a:xfrm>
              <a:off x="4825075" y="1647755"/>
              <a:ext cx="493982" cy="64294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11" name="직선 화살표 연결선 110"/>
            <p:cNvCxnSpPr>
              <a:stCxn id="90" idx="6"/>
              <a:endCxn id="94" idx="2"/>
            </p:cNvCxnSpPr>
            <p:nvPr/>
          </p:nvCxnSpPr>
          <p:spPr bwMode="auto">
            <a:xfrm>
              <a:off x="4825075" y="1647755"/>
              <a:ext cx="493982" cy="128588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12" name="직선 화살표 연결선 111"/>
            <p:cNvCxnSpPr>
              <a:stCxn id="91" idx="6"/>
              <a:endCxn id="96" idx="2"/>
            </p:cNvCxnSpPr>
            <p:nvPr/>
          </p:nvCxnSpPr>
          <p:spPr bwMode="auto">
            <a:xfrm flipV="1">
              <a:off x="4825075" y="1566907"/>
              <a:ext cx="493982" cy="714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13" name="직선 화살표 연결선 112"/>
            <p:cNvCxnSpPr>
              <a:stCxn id="91" idx="6"/>
              <a:endCxn id="95" idx="2"/>
            </p:cNvCxnSpPr>
            <p:nvPr/>
          </p:nvCxnSpPr>
          <p:spPr bwMode="auto">
            <a:xfrm>
              <a:off x="4825075" y="2281287"/>
              <a:ext cx="493982" cy="941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14" name="직선 화살표 연결선 113"/>
            <p:cNvCxnSpPr>
              <a:stCxn id="91" idx="6"/>
              <a:endCxn id="94" idx="2"/>
            </p:cNvCxnSpPr>
            <p:nvPr/>
          </p:nvCxnSpPr>
          <p:spPr bwMode="auto">
            <a:xfrm>
              <a:off x="4825075" y="2281287"/>
              <a:ext cx="493982" cy="65235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15" name="직선 화살표 연결선 114"/>
            <p:cNvCxnSpPr>
              <a:stCxn id="92" idx="6"/>
              <a:endCxn id="96" idx="2"/>
            </p:cNvCxnSpPr>
            <p:nvPr/>
          </p:nvCxnSpPr>
          <p:spPr bwMode="auto">
            <a:xfrm flipV="1">
              <a:off x="4825075" y="1566907"/>
              <a:ext cx="493982" cy="128588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16" name="직선 화살표 연결선 115"/>
            <p:cNvCxnSpPr>
              <a:stCxn id="92" idx="6"/>
              <a:endCxn id="95" idx="2"/>
            </p:cNvCxnSpPr>
            <p:nvPr/>
          </p:nvCxnSpPr>
          <p:spPr bwMode="auto">
            <a:xfrm flipV="1">
              <a:off x="4825075" y="2290697"/>
              <a:ext cx="493982" cy="5620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17" name="직선 화살표 연결선 116"/>
            <p:cNvCxnSpPr>
              <a:stCxn id="92" idx="6"/>
              <a:endCxn id="94" idx="2"/>
            </p:cNvCxnSpPr>
            <p:nvPr/>
          </p:nvCxnSpPr>
          <p:spPr bwMode="auto">
            <a:xfrm>
              <a:off x="4825075" y="2852791"/>
              <a:ext cx="493982" cy="8084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18" name="직선 화살표 연결선 117"/>
            <p:cNvCxnSpPr>
              <a:stCxn id="96" idx="6"/>
              <a:endCxn id="98" idx="2"/>
            </p:cNvCxnSpPr>
            <p:nvPr/>
          </p:nvCxnSpPr>
          <p:spPr bwMode="auto">
            <a:xfrm flipV="1">
              <a:off x="5715008" y="1362003"/>
              <a:ext cx="461305" cy="20490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19" name="직선 화살표 연결선 118"/>
            <p:cNvCxnSpPr>
              <a:stCxn id="96" idx="6"/>
              <a:endCxn id="99" idx="2"/>
            </p:cNvCxnSpPr>
            <p:nvPr/>
          </p:nvCxnSpPr>
          <p:spPr bwMode="auto">
            <a:xfrm>
              <a:off x="5715008" y="1566907"/>
              <a:ext cx="461305" cy="4286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20" name="직선 화살표 연결선 119"/>
            <p:cNvCxnSpPr>
              <a:stCxn id="96" idx="6"/>
              <a:endCxn id="100" idx="2"/>
            </p:cNvCxnSpPr>
            <p:nvPr/>
          </p:nvCxnSpPr>
          <p:spPr bwMode="auto">
            <a:xfrm>
              <a:off x="5715008" y="1566907"/>
              <a:ext cx="461305" cy="10001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21" name="직선 화살표 연결선 120"/>
            <p:cNvCxnSpPr>
              <a:stCxn id="96" idx="6"/>
              <a:endCxn id="101" idx="2"/>
            </p:cNvCxnSpPr>
            <p:nvPr/>
          </p:nvCxnSpPr>
          <p:spPr bwMode="auto">
            <a:xfrm>
              <a:off x="5715008" y="1566907"/>
              <a:ext cx="461305" cy="15716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22" name="직선 화살표 연결선 121"/>
            <p:cNvCxnSpPr>
              <a:stCxn id="95" idx="6"/>
              <a:endCxn id="98" idx="2"/>
            </p:cNvCxnSpPr>
            <p:nvPr/>
          </p:nvCxnSpPr>
          <p:spPr bwMode="auto">
            <a:xfrm flipV="1">
              <a:off x="5715008" y="1362003"/>
              <a:ext cx="461305" cy="9286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23" name="직선 화살표 연결선 122"/>
            <p:cNvCxnSpPr>
              <a:stCxn id="95" idx="6"/>
              <a:endCxn id="99" idx="2"/>
            </p:cNvCxnSpPr>
            <p:nvPr/>
          </p:nvCxnSpPr>
          <p:spPr bwMode="auto">
            <a:xfrm flipV="1">
              <a:off x="5715008" y="1995535"/>
              <a:ext cx="461305" cy="29516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24" name="직선 화살표 연결선 123"/>
            <p:cNvCxnSpPr>
              <a:stCxn id="95" idx="6"/>
              <a:endCxn id="100" idx="2"/>
            </p:cNvCxnSpPr>
            <p:nvPr/>
          </p:nvCxnSpPr>
          <p:spPr bwMode="auto">
            <a:xfrm>
              <a:off x="5715008" y="2290697"/>
              <a:ext cx="461305" cy="27634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25" name="직선 화살표 연결선 124"/>
            <p:cNvCxnSpPr>
              <a:stCxn id="95" idx="6"/>
              <a:endCxn id="101" idx="2"/>
            </p:cNvCxnSpPr>
            <p:nvPr/>
          </p:nvCxnSpPr>
          <p:spPr bwMode="auto">
            <a:xfrm>
              <a:off x="5715008" y="2290697"/>
              <a:ext cx="461305" cy="84784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26" name="직선 화살표 연결선 125"/>
            <p:cNvCxnSpPr>
              <a:stCxn id="94" idx="6"/>
            </p:cNvCxnSpPr>
            <p:nvPr/>
          </p:nvCxnSpPr>
          <p:spPr bwMode="auto">
            <a:xfrm>
              <a:off x="5715008" y="2933639"/>
              <a:ext cx="428628" cy="20960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27" name="직선 화살표 연결선 126"/>
            <p:cNvCxnSpPr>
              <a:stCxn id="94" idx="6"/>
              <a:endCxn id="100" idx="2"/>
            </p:cNvCxnSpPr>
            <p:nvPr/>
          </p:nvCxnSpPr>
          <p:spPr bwMode="auto">
            <a:xfrm flipV="1">
              <a:off x="5715008" y="2567039"/>
              <a:ext cx="461305" cy="3666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28" name="직선 화살표 연결선 127"/>
            <p:cNvCxnSpPr>
              <a:endCxn id="99" idx="2"/>
            </p:cNvCxnSpPr>
            <p:nvPr/>
          </p:nvCxnSpPr>
          <p:spPr bwMode="auto">
            <a:xfrm rot="5400000" flipH="1" flipV="1">
              <a:off x="5479018" y="2231526"/>
              <a:ext cx="933285" cy="46130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29" name="직선 화살표 연결선 128"/>
            <p:cNvCxnSpPr>
              <a:endCxn id="98" idx="2"/>
            </p:cNvCxnSpPr>
            <p:nvPr/>
          </p:nvCxnSpPr>
          <p:spPr bwMode="auto">
            <a:xfrm rot="5400000" flipH="1" flipV="1">
              <a:off x="5197913" y="1879099"/>
              <a:ext cx="1495495" cy="46130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30" name="직선 화살표 연결선 129"/>
            <p:cNvCxnSpPr>
              <a:stCxn id="98" idx="6"/>
              <a:endCxn id="105" idx="2"/>
            </p:cNvCxnSpPr>
            <p:nvPr/>
          </p:nvCxnSpPr>
          <p:spPr bwMode="auto">
            <a:xfrm>
              <a:off x="6572264" y="1362003"/>
              <a:ext cx="461305" cy="20490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31" name="직선 화살표 연결선 130"/>
            <p:cNvCxnSpPr>
              <a:stCxn id="98" idx="6"/>
              <a:endCxn id="104" idx="2"/>
            </p:cNvCxnSpPr>
            <p:nvPr/>
          </p:nvCxnSpPr>
          <p:spPr bwMode="auto">
            <a:xfrm>
              <a:off x="6572264" y="1362003"/>
              <a:ext cx="461305" cy="9286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32" name="직선 화살표 연결선 131"/>
            <p:cNvCxnSpPr>
              <a:stCxn id="98" idx="6"/>
              <a:endCxn id="103" idx="2"/>
            </p:cNvCxnSpPr>
            <p:nvPr/>
          </p:nvCxnSpPr>
          <p:spPr bwMode="auto">
            <a:xfrm>
              <a:off x="6572264" y="1362003"/>
              <a:ext cx="461305" cy="15716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33" name="직선 화살표 연결선 132"/>
            <p:cNvCxnSpPr>
              <a:stCxn id="99" idx="6"/>
              <a:endCxn id="105" idx="2"/>
            </p:cNvCxnSpPr>
            <p:nvPr/>
          </p:nvCxnSpPr>
          <p:spPr bwMode="auto">
            <a:xfrm flipV="1">
              <a:off x="6572264" y="1566907"/>
              <a:ext cx="461305" cy="4286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34" name="직선 화살표 연결선 133"/>
            <p:cNvCxnSpPr>
              <a:stCxn id="99" idx="6"/>
              <a:endCxn id="104" idx="2"/>
            </p:cNvCxnSpPr>
            <p:nvPr/>
          </p:nvCxnSpPr>
          <p:spPr bwMode="auto">
            <a:xfrm>
              <a:off x="6572264" y="1995535"/>
              <a:ext cx="461305" cy="29516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35" name="직선 화살표 연결선 134"/>
            <p:cNvCxnSpPr>
              <a:stCxn id="99" idx="6"/>
              <a:endCxn id="103" idx="2"/>
            </p:cNvCxnSpPr>
            <p:nvPr/>
          </p:nvCxnSpPr>
          <p:spPr bwMode="auto">
            <a:xfrm>
              <a:off x="6572264" y="1995535"/>
              <a:ext cx="461305" cy="93810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36" name="직선 화살표 연결선 135"/>
            <p:cNvCxnSpPr>
              <a:stCxn id="100" idx="6"/>
              <a:endCxn id="105" idx="2"/>
            </p:cNvCxnSpPr>
            <p:nvPr/>
          </p:nvCxnSpPr>
          <p:spPr bwMode="auto">
            <a:xfrm flipV="1">
              <a:off x="6572264" y="1566907"/>
              <a:ext cx="461305" cy="10001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37" name="직선 화살표 연결선 136"/>
            <p:cNvCxnSpPr>
              <a:stCxn id="100" idx="6"/>
              <a:endCxn id="104" idx="2"/>
            </p:cNvCxnSpPr>
            <p:nvPr/>
          </p:nvCxnSpPr>
          <p:spPr bwMode="auto">
            <a:xfrm flipV="1">
              <a:off x="6572264" y="2290697"/>
              <a:ext cx="461305" cy="27634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38" name="직선 화살표 연결선 137"/>
            <p:cNvCxnSpPr>
              <a:stCxn id="100" idx="6"/>
              <a:endCxn id="103" idx="2"/>
            </p:cNvCxnSpPr>
            <p:nvPr/>
          </p:nvCxnSpPr>
          <p:spPr bwMode="auto">
            <a:xfrm>
              <a:off x="6572264" y="2567039"/>
              <a:ext cx="461305" cy="3666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39" name="직선 화살표 연결선 138"/>
            <p:cNvCxnSpPr>
              <a:stCxn id="101" idx="6"/>
            </p:cNvCxnSpPr>
            <p:nvPr/>
          </p:nvCxnSpPr>
          <p:spPr bwMode="auto">
            <a:xfrm flipV="1">
              <a:off x="6572264" y="2928934"/>
              <a:ext cx="428628" cy="20960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40" name="직선 화살표 연결선 139"/>
            <p:cNvCxnSpPr>
              <a:stCxn id="101" idx="6"/>
              <a:endCxn id="104" idx="2"/>
            </p:cNvCxnSpPr>
            <p:nvPr/>
          </p:nvCxnSpPr>
          <p:spPr bwMode="auto">
            <a:xfrm flipV="1">
              <a:off x="6572264" y="2290697"/>
              <a:ext cx="461305" cy="84784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41" name="직선 화살표 연결선 140"/>
            <p:cNvCxnSpPr>
              <a:stCxn id="101" idx="6"/>
              <a:endCxn id="105" idx="2"/>
            </p:cNvCxnSpPr>
            <p:nvPr/>
          </p:nvCxnSpPr>
          <p:spPr bwMode="auto">
            <a:xfrm flipV="1">
              <a:off x="6572264" y="1566907"/>
              <a:ext cx="461305" cy="15716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42" name="직선 화살표 연결선 141"/>
            <p:cNvCxnSpPr>
              <a:stCxn id="105" idx="6"/>
              <a:endCxn id="108" idx="2"/>
            </p:cNvCxnSpPr>
            <p:nvPr/>
          </p:nvCxnSpPr>
          <p:spPr bwMode="auto">
            <a:xfrm>
              <a:off x="7429520" y="1566907"/>
              <a:ext cx="318429" cy="35719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43" name="직선 화살표 연결선 142"/>
            <p:cNvCxnSpPr>
              <a:stCxn id="104" idx="6"/>
              <a:endCxn id="108" idx="2"/>
            </p:cNvCxnSpPr>
            <p:nvPr/>
          </p:nvCxnSpPr>
          <p:spPr bwMode="auto">
            <a:xfrm flipV="1">
              <a:off x="7429520" y="1924097"/>
              <a:ext cx="318429" cy="3666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44" name="직선 화살표 연결선 143"/>
            <p:cNvCxnSpPr>
              <a:stCxn id="103" idx="6"/>
              <a:endCxn id="108" idx="2"/>
            </p:cNvCxnSpPr>
            <p:nvPr/>
          </p:nvCxnSpPr>
          <p:spPr bwMode="auto">
            <a:xfrm flipV="1">
              <a:off x="7429520" y="1924097"/>
              <a:ext cx="318429" cy="100954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45" name="직선 화살표 연결선 144"/>
            <p:cNvCxnSpPr>
              <a:stCxn id="105" idx="6"/>
              <a:endCxn id="107" idx="2"/>
            </p:cNvCxnSpPr>
            <p:nvPr/>
          </p:nvCxnSpPr>
          <p:spPr bwMode="auto">
            <a:xfrm>
              <a:off x="7429520" y="1566907"/>
              <a:ext cx="318429" cy="10809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46" name="직선 화살표 연결선 145"/>
            <p:cNvCxnSpPr>
              <a:stCxn id="104" idx="6"/>
              <a:endCxn id="107" idx="2"/>
            </p:cNvCxnSpPr>
            <p:nvPr/>
          </p:nvCxnSpPr>
          <p:spPr bwMode="auto">
            <a:xfrm>
              <a:off x="7429520" y="2290697"/>
              <a:ext cx="318429" cy="35719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47" name="직선 화살표 연결선 146"/>
            <p:cNvCxnSpPr>
              <a:stCxn id="103" idx="6"/>
              <a:endCxn id="107" idx="2"/>
            </p:cNvCxnSpPr>
            <p:nvPr/>
          </p:nvCxnSpPr>
          <p:spPr bwMode="auto">
            <a:xfrm flipV="1">
              <a:off x="7429520" y="2647887"/>
              <a:ext cx="318429" cy="28575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48" name="직선 화살표 연결선 147"/>
            <p:cNvCxnSpPr>
              <a:endCxn id="93" idx="2"/>
            </p:cNvCxnSpPr>
            <p:nvPr/>
          </p:nvCxnSpPr>
          <p:spPr bwMode="auto">
            <a:xfrm rot="16200000" flipH="1">
              <a:off x="8125210" y="1986253"/>
              <a:ext cx="361895" cy="24698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49" name="직선 화살표 연결선 148"/>
            <p:cNvCxnSpPr>
              <a:stCxn id="107" idx="6"/>
              <a:endCxn id="93" idx="2"/>
            </p:cNvCxnSpPr>
            <p:nvPr/>
          </p:nvCxnSpPr>
          <p:spPr bwMode="auto">
            <a:xfrm flipV="1">
              <a:off x="8143900" y="2290696"/>
              <a:ext cx="285752" cy="35719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50" name="그룹 149"/>
          <p:cNvGrpSpPr/>
          <p:nvPr/>
        </p:nvGrpSpPr>
        <p:grpSpPr>
          <a:xfrm>
            <a:off x="6282537" y="4840068"/>
            <a:ext cx="3472477" cy="1860256"/>
            <a:chOff x="4429124" y="4000504"/>
            <a:chExt cx="4643470" cy="2500330"/>
          </a:xfrm>
        </p:grpSpPr>
        <p:sp>
          <p:nvSpPr>
            <p:cNvPr id="151" name="직사각형 150"/>
            <p:cNvSpPr/>
            <p:nvPr/>
          </p:nvSpPr>
          <p:spPr bwMode="auto">
            <a:xfrm>
              <a:off x="8501090" y="4786322"/>
              <a:ext cx="571504" cy="57150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2" name="직사각형 151"/>
            <p:cNvSpPr/>
            <p:nvPr/>
          </p:nvSpPr>
          <p:spPr bwMode="auto">
            <a:xfrm>
              <a:off x="4429124" y="4429132"/>
              <a:ext cx="571504" cy="150019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3" name="타원 152"/>
            <p:cNvSpPr/>
            <p:nvPr/>
          </p:nvSpPr>
          <p:spPr bwMode="auto">
            <a:xfrm>
              <a:off x="4500562" y="4643446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4" name="타원 153"/>
            <p:cNvSpPr/>
            <p:nvPr/>
          </p:nvSpPr>
          <p:spPr bwMode="auto">
            <a:xfrm>
              <a:off x="4500562" y="5286388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5" name="직사각형 154"/>
            <p:cNvSpPr/>
            <p:nvPr/>
          </p:nvSpPr>
          <p:spPr bwMode="auto">
            <a:xfrm>
              <a:off x="5357818" y="4071942"/>
              <a:ext cx="571504" cy="2428892"/>
            </a:xfrm>
            <a:prstGeom prst="rect">
              <a:avLst/>
            </a:prstGeom>
            <a:solidFill>
              <a:srgbClr val="FFE5EE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6" name="직사각형 155"/>
            <p:cNvSpPr/>
            <p:nvPr/>
          </p:nvSpPr>
          <p:spPr bwMode="auto">
            <a:xfrm>
              <a:off x="6215074" y="4572008"/>
              <a:ext cx="571504" cy="1500198"/>
            </a:xfrm>
            <a:prstGeom prst="rect">
              <a:avLst/>
            </a:prstGeom>
            <a:solidFill>
              <a:srgbClr val="FFE5EE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7" name="직사각형 156"/>
            <p:cNvSpPr/>
            <p:nvPr/>
          </p:nvSpPr>
          <p:spPr bwMode="auto">
            <a:xfrm>
              <a:off x="7000892" y="4214818"/>
              <a:ext cx="571504" cy="2071702"/>
            </a:xfrm>
            <a:prstGeom prst="rect">
              <a:avLst/>
            </a:prstGeom>
            <a:solidFill>
              <a:srgbClr val="FFE5EE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8" name="타원 157"/>
            <p:cNvSpPr/>
            <p:nvPr/>
          </p:nvSpPr>
          <p:spPr bwMode="auto">
            <a:xfrm>
              <a:off x="5429256" y="4205408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9" name="타원 158"/>
            <p:cNvSpPr/>
            <p:nvPr/>
          </p:nvSpPr>
          <p:spPr bwMode="auto">
            <a:xfrm>
              <a:off x="5429256" y="4776912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0" name="타원 159"/>
            <p:cNvSpPr/>
            <p:nvPr/>
          </p:nvSpPr>
          <p:spPr bwMode="auto">
            <a:xfrm>
              <a:off x="5429256" y="5348416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1" name="타원 160"/>
            <p:cNvSpPr/>
            <p:nvPr/>
          </p:nvSpPr>
          <p:spPr bwMode="auto">
            <a:xfrm>
              <a:off x="5429256" y="5919920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2" name="타원 161"/>
            <p:cNvSpPr/>
            <p:nvPr/>
          </p:nvSpPr>
          <p:spPr bwMode="auto">
            <a:xfrm>
              <a:off x="6319189" y="4705474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3" name="타원 162"/>
            <p:cNvSpPr/>
            <p:nvPr/>
          </p:nvSpPr>
          <p:spPr bwMode="auto">
            <a:xfrm>
              <a:off x="6319189" y="5419854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4" name="타원 163"/>
            <p:cNvSpPr/>
            <p:nvPr/>
          </p:nvSpPr>
          <p:spPr bwMode="auto">
            <a:xfrm>
              <a:off x="7105007" y="4357694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5" name="타원 164"/>
            <p:cNvSpPr/>
            <p:nvPr/>
          </p:nvSpPr>
          <p:spPr bwMode="auto">
            <a:xfrm>
              <a:off x="7105007" y="4991226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6" name="타원 165"/>
            <p:cNvSpPr/>
            <p:nvPr/>
          </p:nvSpPr>
          <p:spPr bwMode="auto">
            <a:xfrm>
              <a:off x="7105007" y="5634168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7" name="직사각형 166"/>
            <p:cNvSpPr/>
            <p:nvPr/>
          </p:nvSpPr>
          <p:spPr bwMode="auto">
            <a:xfrm>
              <a:off x="7786710" y="4000504"/>
              <a:ext cx="571504" cy="2428892"/>
            </a:xfrm>
            <a:prstGeom prst="rect">
              <a:avLst/>
            </a:prstGeom>
            <a:solidFill>
              <a:srgbClr val="FFE5EE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8" name="타원 167"/>
            <p:cNvSpPr/>
            <p:nvPr/>
          </p:nvSpPr>
          <p:spPr bwMode="auto">
            <a:xfrm>
              <a:off x="7858148" y="4133970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9" name="타원 168"/>
            <p:cNvSpPr/>
            <p:nvPr/>
          </p:nvSpPr>
          <p:spPr bwMode="auto">
            <a:xfrm>
              <a:off x="7858148" y="4705474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0" name="타원 169"/>
            <p:cNvSpPr/>
            <p:nvPr/>
          </p:nvSpPr>
          <p:spPr bwMode="auto">
            <a:xfrm>
              <a:off x="7858148" y="5276978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1" name="타원 170"/>
            <p:cNvSpPr/>
            <p:nvPr/>
          </p:nvSpPr>
          <p:spPr bwMode="auto">
            <a:xfrm>
              <a:off x="7858148" y="5848482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2" name="타원 171"/>
            <p:cNvSpPr/>
            <p:nvPr/>
          </p:nvSpPr>
          <p:spPr bwMode="auto">
            <a:xfrm>
              <a:off x="8572528" y="4848350"/>
              <a:ext cx="395951" cy="43803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73" name="직선 화살표 연결선 172"/>
            <p:cNvCxnSpPr>
              <a:stCxn id="153" idx="6"/>
              <a:endCxn id="158" idx="2"/>
            </p:cNvCxnSpPr>
            <p:nvPr/>
          </p:nvCxnSpPr>
          <p:spPr bwMode="auto">
            <a:xfrm flipV="1">
              <a:off x="4896513" y="4424427"/>
              <a:ext cx="532743" cy="43803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74" name="직선 화살표 연결선 173"/>
            <p:cNvCxnSpPr>
              <a:stCxn id="153" idx="6"/>
              <a:endCxn id="159" idx="2"/>
            </p:cNvCxnSpPr>
            <p:nvPr/>
          </p:nvCxnSpPr>
          <p:spPr bwMode="auto">
            <a:xfrm>
              <a:off x="4896513" y="4862465"/>
              <a:ext cx="532743" cy="13346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75" name="직선 화살표 연결선 174"/>
            <p:cNvCxnSpPr>
              <a:stCxn id="153" idx="6"/>
              <a:endCxn id="160" idx="2"/>
            </p:cNvCxnSpPr>
            <p:nvPr/>
          </p:nvCxnSpPr>
          <p:spPr bwMode="auto">
            <a:xfrm>
              <a:off x="4896513" y="4862465"/>
              <a:ext cx="532743" cy="70497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76" name="직선 화살표 연결선 175"/>
            <p:cNvCxnSpPr>
              <a:stCxn id="153" idx="6"/>
              <a:endCxn id="161" idx="2"/>
            </p:cNvCxnSpPr>
            <p:nvPr/>
          </p:nvCxnSpPr>
          <p:spPr bwMode="auto">
            <a:xfrm>
              <a:off x="4896513" y="4862465"/>
              <a:ext cx="532743" cy="127647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77" name="직선 화살표 연결선 176"/>
            <p:cNvCxnSpPr>
              <a:stCxn id="154" idx="6"/>
              <a:endCxn id="158" idx="2"/>
            </p:cNvCxnSpPr>
            <p:nvPr/>
          </p:nvCxnSpPr>
          <p:spPr bwMode="auto">
            <a:xfrm flipV="1">
              <a:off x="4896513" y="4424427"/>
              <a:ext cx="532743" cy="10809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78" name="직선 화살표 연결선 177"/>
            <p:cNvCxnSpPr>
              <a:stCxn id="154" idx="6"/>
              <a:endCxn id="159" idx="2"/>
            </p:cNvCxnSpPr>
            <p:nvPr/>
          </p:nvCxnSpPr>
          <p:spPr bwMode="auto">
            <a:xfrm flipV="1">
              <a:off x="4896513" y="4995931"/>
              <a:ext cx="532743" cy="50947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79" name="직선 화살표 연결선 178"/>
            <p:cNvCxnSpPr>
              <a:stCxn id="154" idx="6"/>
              <a:endCxn id="160" idx="2"/>
            </p:cNvCxnSpPr>
            <p:nvPr/>
          </p:nvCxnSpPr>
          <p:spPr bwMode="auto">
            <a:xfrm>
              <a:off x="4896513" y="5505407"/>
              <a:ext cx="532743" cy="620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80" name="직선 화살표 연결선 179"/>
            <p:cNvCxnSpPr>
              <a:stCxn id="154" idx="6"/>
              <a:endCxn id="161" idx="2"/>
            </p:cNvCxnSpPr>
            <p:nvPr/>
          </p:nvCxnSpPr>
          <p:spPr bwMode="auto">
            <a:xfrm>
              <a:off x="4896513" y="5505407"/>
              <a:ext cx="532743" cy="6335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81" name="직선 화살표 연결선 180"/>
            <p:cNvCxnSpPr>
              <a:stCxn id="158" idx="6"/>
              <a:endCxn id="162" idx="2"/>
            </p:cNvCxnSpPr>
            <p:nvPr/>
          </p:nvCxnSpPr>
          <p:spPr bwMode="auto">
            <a:xfrm>
              <a:off x="5825207" y="4424427"/>
              <a:ext cx="493982" cy="50006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82" name="직선 화살표 연결선 181"/>
            <p:cNvCxnSpPr>
              <a:stCxn id="158" idx="6"/>
            </p:cNvCxnSpPr>
            <p:nvPr/>
          </p:nvCxnSpPr>
          <p:spPr bwMode="auto">
            <a:xfrm>
              <a:off x="5825207" y="4424427"/>
              <a:ext cx="532743" cy="121915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83" name="직선 화살표 연결선 182"/>
            <p:cNvCxnSpPr>
              <a:stCxn id="159" idx="6"/>
              <a:endCxn id="162" idx="2"/>
            </p:cNvCxnSpPr>
            <p:nvPr/>
          </p:nvCxnSpPr>
          <p:spPr bwMode="auto">
            <a:xfrm flipV="1">
              <a:off x="5825207" y="4924493"/>
              <a:ext cx="493982" cy="7143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84" name="직선 화살표 연결선 183"/>
            <p:cNvCxnSpPr>
              <a:stCxn id="159" idx="6"/>
              <a:endCxn id="163" idx="2"/>
            </p:cNvCxnSpPr>
            <p:nvPr/>
          </p:nvCxnSpPr>
          <p:spPr bwMode="auto">
            <a:xfrm>
              <a:off x="5825207" y="4995931"/>
              <a:ext cx="493982" cy="64294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85" name="직선 화살표 연결선 184"/>
            <p:cNvCxnSpPr>
              <a:stCxn id="160" idx="6"/>
              <a:endCxn id="162" idx="2"/>
            </p:cNvCxnSpPr>
            <p:nvPr/>
          </p:nvCxnSpPr>
          <p:spPr bwMode="auto">
            <a:xfrm flipV="1">
              <a:off x="5825207" y="4924493"/>
              <a:ext cx="493982" cy="64294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86" name="직선 화살표 연결선 185"/>
            <p:cNvCxnSpPr>
              <a:stCxn id="160" idx="6"/>
              <a:endCxn id="163" idx="2"/>
            </p:cNvCxnSpPr>
            <p:nvPr/>
          </p:nvCxnSpPr>
          <p:spPr bwMode="auto">
            <a:xfrm>
              <a:off x="5825207" y="5567435"/>
              <a:ext cx="493982" cy="7143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87" name="직선 화살표 연결선 186"/>
            <p:cNvCxnSpPr>
              <a:stCxn id="161" idx="6"/>
              <a:endCxn id="162" idx="2"/>
            </p:cNvCxnSpPr>
            <p:nvPr/>
          </p:nvCxnSpPr>
          <p:spPr bwMode="auto">
            <a:xfrm flipV="1">
              <a:off x="5825207" y="4924493"/>
              <a:ext cx="493982" cy="121444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88" name="직선 화살표 연결선 187"/>
            <p:cNvCxnSpPr>
              <a:stCxn id="161" idx="6"/>
              <a:endCxn id="163" idx="2"/>
            </p:cNvCxnSpPr>
            <p:nvPr/>
          </p:nvCxnSpPr>
          <p:spPr bwMode="auto">
            <a:xfrm flipV="1">
              <a:off x="5825207" y="5638873"/>
              <a:ext cx="493982" cy="50006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89" name="직선 화살표 연결선 188"/>
            <p:cNvCxnSpPr>
              <a:stCxn id="162" idx="6"/>
              <a:endCxn id="164" idx="2"/>
            </p:cNvCxnSpPr>
            <p:nvPr/>
          </p:nvCxnSpPr>
          <p:spPr bwMode="auto">
            <a:xfrm flipV="1">
              <a:off x="6715140" y="4576713"/>
              <a:ext cx="389867" cy="3477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90" name="직선 화살표 연결선 189"/>
            <p:cNvCxnSpPr>
              <a:stCxn id="162" idx="6"/>
              <a:endCxn id="165" idx="2"/>
            </p:cNvCxnSpPr>
            <p:nvPr/>
          </p:nvCxnSpPr>
          <p:spPr bwMode="auto">
            <a:xfrm>
              <a:off x="6715140" y="4924493"/>
              <a:ext cx="389867" cy="28575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91" name="직선 화살표 연결선 190"/>
            <p:cNvCxnSpPr>
              <a:stCxn id="162" idx="6"/>
              <a:endCxn id="166" idx="2"/>
            </p:cNvCxnSpPr>
            <p:nvPr/>
          </p:nvCxnSpPr>
          <p:spPr bwMode="auto">
            <a:xfrm>
              <a:off x="6715140" y="4924493"/>
              <a:ext cx="389867" cy="9286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92" name="직선 화살표 연결선 191"/>
            <p:cNvCxnSpPr>
              <a:stCxn id="163" idx="6"/>
              <a:endCxn id="164" idx="2"/>
            </p:cNvCxnSpPr>
            <p:nvPr/>
          </p:nvCxnSpPr>
          <p:spPr bwMode="auto">
            <a:xfrm flipV="1">
              <a:off x="6715140" y="4576713"/>
              <a:ext cx="389867" cy="10621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93" name="직선 화살표 연결선 192"/>
            <p:cNvCxnSpPr>
              <a:stCxn id="163" idx="6"/>
              <a:endCxn id="164" idx="2"/>
            </p:cNvCxnSpPr>
            <p:nvPr/>
          </p:nvCxnSpPr>
          <p:spPr bwMode="auto">
            <a:xfrm flipV="1">
              <a:off x="6715140" y="4576713"/>
              <a:ext cx="389867" cy="10621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94" name="직선 화살표 연결선 193"/>
            <p:cNvCxnSpPr>
              <a:stCxn id="163" idx="6"/>
              <a:endCxn id="165" idx="2"/>
            </p:cNvCxnSpPr>
            <p:nvPr/>
          </p:nvCxnSpPr>
          <p:spPr bwMode="auto">
            <a:xfrm flipV="1">
              <a:off x="6715140" y="5210245"/>
              <a:ext cx="389867" cy="4286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95" name="직선 화살표 연결선 194"/>
            <p:cNvCxnSpPr>
              <a:stCxn id="163" idx="6"/>
              <a:endCxn id="166" idx="2"/>
            </p:cNvCxnSpPr>
            <p:nvPr/>
          </p:nvCxnSpPr>
          <p:spPr bwMode="auto">
            <a:xfrm>
              <a:off x="6715140" y="5638873"/>
              <a:ext cx="389867" cy="21431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96" name="직선 화살표 연결선 195"/>
            <p:cNvCxnSpPr>
              <a:stCxn id="164" idx="6"/>
              <a:endCxn id="168" idx="2"/>
            </p:cNvCxnSpPr>
            <p:nvPr/>
          </p:nvCxnSpPr>
          <p:spPr bwMode="auto">
            <a:xfrm flipV="1">
              <a:off x="7500958" y="4352989"/>
              <a:ext cx="357190" cy="22372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97" name="직선 화살표 연결선 196"/>
            <p:cNvCxnSpPr>
              <a:stCxn id="164" idx="6"/>
              <a:endCxn id="169" idx="2"/>
            </p:cNvCxnSpPr>
            <p:nvPr/>
          </p:nvCxnSpPr>
          <p:spPr bwMode="auto">
            <a:xfrm>
              <a:off x="7500958" y="4576713"/>
              <a:ext cx="357190" cy="3477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98" name="직선 화살표 연결선 197"/>
            <p:cNvCxnSpPr>
              <a:stCxn id="164" idx="6"/>
              <a:endCxn id="170" idx="2"/>
            </p:cNvCxnSpPr>
            <p:nvPr/>
          </p:nvCxnSpPr>
          <p:spPr bwMode="auto">
            <a:xfrm>
              <a:off x="7500958" y="4576713"/>
              <a:ext cx="357190" cy="91928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99" name="직선 화살표 연결선 198"/>
            <p:cNvCxnSpPr>
              <a:stCxn id="164" idx="6"/>
              <a:endCxn id="171" idx="2"/>
            </p:cNvCxnSpPr>
            <p:nvPr/>
          </p:nvCxnSpPr>
          <p:spPr bwMode="auto">
            <a:xfrm>
              <a:off x="7500958" y="4576713"/>
              <a:ext cx="357190" cy="14907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200" name="직선 화살표 연결선 199"/>
            <p:cNvCxnSpPr>
              <a:stCxn id="165" idx="6"/>
            </p:cNvCxnSpPr>
            <p:nvPr/>
          </p:nvCxnSpPr>
          <p:spPr bwMode="auto">
            <a:xfrm>
              <a:off x="7500958" y="5210245"/>
              <a:ext cx="357190" cy="86196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201" name="직선 화살표 연결선 200"/>
            <p:cNvCxnSpPr>
              <a:stCxn id="165" idx="6"/>
              <a:endCxn id="168" idx="2"/>
            </p:cNvCxnSpPr>
            <p:nvPr/>
          </p:nvCxnSpPr>
          <p:spPr bwMode="auto">
            <a:xfrm flipV="1">
              <a:off x="7500958" y="4352989"/>
              <a:ext cx="357190" cy="85725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202" name="직선 화살표 연결선 201"/>
            <p:cNvCxnSpPr>
              <a:stCxn id="165" idx="6"/>
              <a:endCxn id="169" idx="2"/>
            </p:cNvCxnSpPr>
            <p:nvPr/>
          </p:nvCxnSpPr>
          <p:spPr bwMode="auto">
            <a:xfrm flipV="1">
              <a:off x="7500958" y="4924493"/>
              <a:ext cx="357190" cy="28575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203" name="직선 화살표 연결선 202"/>
            <p:cNvCxnSpPr>
              <a:stCxn id="165" idx="6"/>
              <a:endCxn id="170" idx="2"/>
            </p:cNvCxnSpPr>
            <p:nvPr/>
          </p:nvCxnSpPr>
          <p:spPr bwMode="auto">
            <a:xfrm>
              <a:off x="7500958" y="5210245"/>
              <a:ext cx="357190" cy="28575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204" name="직선 화살표 연결선 203"/>
            <p:cNvCxnSpPr>
              <a:stCxn id="166" idx="6"/>
              <a:endCxn id="168" idx="2"/>
            </p:cNvCxnSpPr>
            <p:nvPr/>
          </p:nvCxnSpPr>
          <p:spPr bwMode="auto">
            <a:xfrm flipV="1">
              <a:off x="7500958" y="4352989"/>
              <a:ext cx="357190" cy="150019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205" name="직선 화살표 연결선 204"/>
            <p:cNvCxnSpPr>
              <a:stCxn id="166" idx="6"/>
              <a:endCxn id="169" idx="2"/>
            </p:cNvCxnSpPr>
            <p:nvPr/>
          </p:nvCxnSpPr>
          <p:spPr bwMode="auto">
            <a:xfrm flipV="1">
              <a:off x="7500958" y="4924493"/>
              <a:ext cx="357190" cy="9286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206" name="직선 화살표 연결선 205"/>
            <p:cNvCxnSpPr>
              <a:stCxn id="166" idx="6"/>
              <a:endCxn id="170" idx="2"/>
            </p:cNvCxnSpPr>
            <p:nvPr/>
          </p:nvCxnSpPr>
          <p:spPr bwMode="auto">
            <a:xfrm flipV="1">
              <a:off x="7500958" y="5495997"/>
              <a:ext cx="357190" cy="35719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207" name="직선 화살표 연결선 206"/>
            <p:cNvCxnSpPr>
              <a:stCxn id="166" idx="6"/>
              <a:endCxn id="171" idx="2"/>
            </p:cNvCxnSpPr>
            <p:nvPr/>
          </p:nvCxnSpPr>
          <p:spPr bwMode="auto">
            <a:xfrm>
              <a:off x="7500958" y="5853187"/>
              <a:ext cx="357190" cy="21431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208" name="직선 화살표 연결선 207"/>
            <p:cNvCxnSpPr>
              <a:stCxn id="168" idx="6"/>
              <a:endCxn id="172" idx="2"/>
            </p:cNvCxnSpPr>
            <p:nvPr/>
          </p:nvCxnSpPr>
          <p:spPr bwMode="auto">
            <a:xfrm>
              <a:off x="8254099" y="4352989"/>
              <a:ext cx="318429" cy="71438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209" name="직선 화살표 연결선 208"/>
            <p:cNvCxnSpPr>
              <a:stCxn id="169" idx="6"/>
              <a:endCxn id="172" idx="2"/>
            </p:cNvCxnSpPr>
            <p:nvPr/>
          </p:nvCxnSpPr>
          <p:spPr bwMode="auto">
            <a:xfrm>
              <a:off x="8254099" y="4924493"/>
              <a:ext cx="318429" cy="14287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210" name="직선 화살표 연결선 209"/>
            <p:cNvCxnSpPr>
              <a:stCxn id="170" idx="6"/>
              <a:endCxn id="172" idx="2"/>
            </p:cNvCxnSpPr>
            <p:nvPr/>
          </p:nvCxnSpPr>
          <p:spPr bwMode="auto">
            <a:xfrm flipV="1">
              <a:off x="8254099" y="5067369"/>
              <a:ext cx="318429" cy="4286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211" name="직선 화살표 연결선 210"/>
            <p:cNvCxnSpPr>
              <a:stCxn id="171" idx="6"/>
              <a:endCxn id="172" idx="2"/>
            </p:cNvCxnSpPr>
            <p:nvPr/>
          </p:nvCxnSpPr>
          <p:spPr bwMode="auto">
            <a:xfrm flipV="1">
              <a:off x="8254099" y="5067369"/>
              <a:ext cx="318429" cy="10001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804853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다층 신경망을 이용한 </a:t>
            </a:r>
            <a:r>
              <a:rPr lang="en-US" altLang="ko-KR" dirty="0" smtClean="0"/>
              <a:t>XOR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pSp>
        <p:nvGrpSpPr>
          <p:cNvPr id="58" name="그룹 57"/>
          <p:cNvGrpSpPr/>
          <p:nvPr/>
        </p:nvGrpSpPr>
        <p:grpSpPr>
          <a:xfrm>
            <a:off x="1660567" y="1445310"/>
            <a:ext cx="4019592" cy="3247129"/>
            <a:chOff x="409532" y="2214554"/>
            <a:chExt cx="4448220" cy="3391490"/>
          </a:xfrm>
        </p:grpSpPr>
        <p:grpSp>
          <p:nvGrpSpPr>
            <p:cNvPr id="59" name="그룹 58"/>
            <p:cNvGrpSpPr/>
            <p:nvPr/>
          </p:nvGrpSpPr>
          <p:grpSpPr>
            <a:xfrm>
              <a:off x="409532" y="2214554"/>
              <a:ext cx="4162468" cy="2714644"/>
              <a:chOff x="409532" y="3500438"/>
              <a:chExt cx="4162468" cy="2714644"/>
            </a:xfrm>
          </p:grpSpPr>
          <p:sp>
            <p:nvSpPr>
              <p:cNvPr id="66" name="타원 65"/>
              <p:cNvSpPr/>
              <p:nvPr/>
            </p:nvSpPr>
            <p:spPr>
              <a:xfrm>
                <a:off x="2218375" y="5507058"/>
                <a:ext cx="639113" cy="63658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67" name="타원 66"/>
              <p:cNvSpPr/>
              <p:nvPr/>
            </p:nvSpPr>
            <p:spPr>
              <a:xfrm>
                <a:off x="2218375" y="4096157"/>
                <a:ext cx="639113" cy="63658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68" name="타원 67"/>
              <p:cNvSpPr/>
              <p:nvPr/>
            </p:nvSpPr>
            <p:spPr>
              <a:xfrm>
                <a:off x="409532" y="4107660"/>
                <a:ext cx="639113" cy="63658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69" name="Text Box 61"/>
              <p:cNvSpPr txBox="1">
                <a:spLocks noChangeArrowheads="1"/>
              </p:cNvSpPr>
              <p:nvPr/>
            </p:nvSpPr>
            <p:spPr>
              <a:xfrm>
                <a:off x="558350" y="4181779"/>
                <a:ext cx="578242" cy="405004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</a:rPr>
                  <a:t>x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Times New Roman"/>
                  </a:rPr>
                  <a:t>1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70" name="타원 69"/>
              <p:cNvSpPr/>
              <p:nvPr/>
            </p:nvSpPr>
            <p:spPr>
              <a:xfrm>
                <a:off x="428596" y="5507058"/>
                <a:ext cx="639113" cy="63658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71" name="Text Box 61"/>
              <p:cNvSpPr txBox="1">
                <a:spLocks noChangeArrowheads="1"/>
              </p:cNvSpPr>
              <p:nvPr/>
            </p:nvSpPr>
            <p:spPr>
              <a:xfrm>
                <a:off x="574861" y="5600658"/>
                <a:ext cx="578242" cy="408755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</a:rPr>
                  <a:t>x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Times New Roman"/>
                  </a:rPr>
                  <a:t>2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72" name="타원 71"/>
              <p:cNvSpPr/>
              <p:nvPr/>
            </p:nvSpPr>
            <p:spPr>
              <a:xfrm>
                <a:off x="3423267" y="4649802"/>
                <a:ext cx="639113" cy="63658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73" name="Text Box 61"/>
              <p:cNvSpPr txBox="1">
                <a:spLocks noChangeArrowheads="1"/>
              </p:cNvSpPr>
              <p:nvPr/>
            </p:nvSpPr>
            <p:spPr>
              <a:xfrm>
                <a:off x="3511216" y="4743401"/>
                <a:ext cx="578242" cy="410444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</a:rPr>
                  <a:t> y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Times New Roman"/>
                  </a:rPr>
                  <a:t>1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cxnSp>
            <p:nvCxnSpPr>
              <p:cNvPr id="74" name="직선 화살표 연결선 73"/>
              <p:cNvCxnSpPr/>
              <p:nvPr/>
            </p:nvCxnSpPr>
            <p:spPr>
              <a:xfrm flipV="1">
                <a:off x="1048645" y="4414450"/>
                <a:ext cx="1169730" cy="1150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75" name="직선 화살표 연결선 74"/>
              <p:cNvCxnSpPr/>
              <p:nvPr/>
            </p:nvCxnSpPr>
            <p:spPr>
              <a:xfrm>
                <a:off x="1067709" y="5825351"/>
                <a:ext cx="1150666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76" name="직선 화살표 연결선 75"/>
              <p:cNvCxnSpPr/>
              <p:nvPr/>
            </p:nvCxnSpPr>
            <p:spPr>
              <a:xfrm flipV="1">
                <a:off x="1067709" y="4414450"/>
                <a:ext cx="1150666" cy="141090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77" name="직선 화살표 연결선 76"/>
              <p:cNvCxnSpPr/>
              <p:nvPr/>
            </p:nvCxnSpPr>
            <p:spPr>
              <a:xfrm>
                <a:off x="1048645" y="4425953"/>
                <a:ext cx="1169730" cy="139939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78" name="직선 화살표 연결선 77"/>
              <p:cNvCxnSpPr/>
              <p:nvPr/>
            </p:nvCxnSpPr>
            <p:spPr>
              <a:xfrm>
                <a:off x="2857488" y="4414450"/>
                <a:ext cx="565779" cy="55364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79" name="직선 화살표 연결선 78"/>
              <p:cNvCxnSpPr/>
              <p:nvPr/>
            </p:nvCxnSpPr>
            <p:spPr>
              <a:xfrm flipV="1">
                <a:off x="2857488" y="4968095"/>
                <a:ext cx="565779" cy="85725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sp>
            <p:nvSpPr>
              <p:cNvPr id="80" name="Text Box 61"/>
              <p:cNvSpPr txBox="1">
                <a:spLocks noChangeArrowheads="1"/>
              </p:cNvSpPr>
              <p:nvPr/>
            </p:nvSpPr>
            <p:spPr>
              <a:xfrm>
                <a:off x="2350683" y="4220253"/>
                <a:ext cx="578242" cy="406324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</a:rPr>
                  <a:t>h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Times New Roman"/>
                  </a:rPr>
                  <a:t>1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81" name="Text Box 61"/>
              <p:cNvSpPr txBox="1">
                <a:spLocks noChangeArrowheads="1"/>
              </p:cNvSpPr>
              <p:nvPr/>
            </p:nvSpPr>
            <p:spPr>
              <a:xfrm>
                <a:off x="2357421" y="5600658"/>
                <a:ext cx="578242" cy="408755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</a:rPr>
                  <a:t>h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Times New Roman"/>
                  </a:rPr>
                  <a:t>2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82" name="Text Box 61"/>
              <p:cNvSpPr txBox="1">
                <a:spLocks noChangeArrowheads="1"/>
              </p:cNvSpPr>
              <p:nvPr/>
            </p:nvSpPr>
            <p:spPr>
              <a:xfrm>
                <a:off x="1351567" y="3500437"/>
                <a:ext cx="791540" cy="409851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70C0"/>
                    </a:solidFill>
                    <a:latin typeface="Times New Roman"/>
                  </a:rPr>
                  <a:t>w</a:t>
                </a:r>
                <a:r>
                  <a:rPr lang="en-US" altLang="ko-KR" sz="2000" baseline="-25000">
                    <a:solidFill>
                      <a:srgbClr val="0070C0"/>
                    </a:solidFill>
                    <a:latin typeface="Times New Roman"/>
                  </a:rPr>
                  <a:t>1_ij</a:t>
                </a:r>
                <a:endParaRPr lang="en-US" altLang="ko-KR" sz="2000">
                  <a:solidFill>
                    <a:srgbClr val="0070C0"/>
                  </a:solidFill>
                  <a:latin typeface="Times New Roman"/>
                </a:endParaRPr>
              </a:p>
            </p:txBody>
          </p:sp>
          <p:sp>
            <p:nvSpPr>
              <p:cNvPr id="83" name="Text Box 61"/>
              <p:cNvSpPr txBox="1">
                <a:spLocks noChangeArrowheads="1"/>
              </p:cNvSpPr>
              <p:nvPr/>
            </p:nvSpPr>
            <p:spPr>
              <a:xfrm>
                <a:off x="520950" y="3571875"/>
                <a:ext cx="578243" cy="40805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FF0000"/>
                    </a:solidFill>
                    <a:latin typeface="Times New Roman"/>
                  </a:rPr>
                  <a:t>x</a:t>
                </a:r>
                <a:r>
                  <a:rPr lang="en-US" altLang="ko-KR" sz="2000" baseline="-25000">
                    <a:solidFill>
                      <a:srgbClr val="FF0000"/>
                    </a:solidFill>
                    <a:latin typeface="Times New Roman"/>
                  </a:rPr>
                  <a:t>i</a:t>
                </a:r>
                <a:endParaRPr lang="en-US" altLang="ko-KR" sz="2000">
                  <a:solidFill>
                    <a:srgbClr val="FF0000"/>
                  </a:solidFill>
                  <a:latin typeface="Times New Roman"/>
                </a:endParaRPr>
              </a:p>
            </p:txBody>
          </p:sp>
          <p:sp>
            <p:nvSpPr>
              <p:cNvPr id="84" name="Text Box 61"/>
              <p:cNvSpPr txBox="1">
                <a:spLocks noChangeArrowheads="1"/>
              </p:cNvSpPr>
              <p:nvPr/>
            </p:nvSpPr>
            <p:spPr>
              <a:xfrm>
                <a:off x="3636566" y="3571875"/>
                <a:ext cx="578243" cy="40805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FF0000"/>
                    </a:solidFill>
                    <a:latin typeface="Times New Roman"/>
                  </a:rPr>
                  <a:t>y</a:t>
                </a:r>
                <a:r>
                  <a:rPr lang="en-US" altLang="ko-KR" sz="2000" baseline="-25000">
                    <a:solidFill>
                      <a:srgbClr val="FF0000"/>
                    </a:solidFill>
                    <a:latin typeface="Times New Roman"/>
                  </a:rPr>
                  <a:t>k</a:t>
                </a:r>
                <a:endParaRPr lang="en-US" altLang="ko-KR" sz="2000">
                  <a:solidFill>
                    <a:srgbClr val="FF0000"/>
                  </a:solidFill>
                  <a:latin typeface="Times New Roman"/>
                </a:endParaRPr>
              </a:p>
            </p:txBody>
          </p:sp>
          <p:sp>
            <p:nvSpPr>
              <p:cNvPr id="85" name="Text Box 61"/>
              <p:cNvSpPr txBox="1">
                <a:spLocks noChangeArrowheads="1"/>
              </p:cNvSpPr>
              <p:nvPr/>
            </p:nvSpPr>
            <p:spPr>
              <a:xfrm>
                <a:off x="2945107" y="3571875"/>
                <a:ext cx="1055387" cy="40805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70C0"/>
                    </a:solidFill>
                    <a:latin typeface="Times New Roman"/>
                  </a:rPr>
                  <a:t>w</a:t>
                </a:r>
                <a:r>
                  <a:rPr lang="en-US" altLang="ko-KR" sz="2000" baseline="-25000">
                    <a:solidFill>
                      <a:srgbClr val="0070C0"/>
                    </a:solidFill>
                    <a:latin typeface="Times New Roman"/>
                  </a:rPr>
                  <a:t>2_jk</a:t>
                </a:r>
                <a:endParaRPr lang="en-US" altLang="ko-KR" sz="2000">
                  <a:solidFill>
                    <a:srgbClr val="0070C0"/>
                  </a:solidFill>
                  <a:latin typeface="Times New Roman"/>
                </a:endParaRPr>
              </a:p>
            </p:txBody>
          </p:sp>
          <p:sp>
            <p:nvSpPr>
              <p:cNvPr id="86" name="Text Box 61"/>
              <p:cNvSpPr txBox="1">
                <a:spLocks noChangeArrowheads="1"/>
              </p:cNvSpPr>
              <p:nvPr/>
            </p:nvSpPr>
            <p:spPr>
              <a:xfrm>
                <a:off x="2387801" y="3571875"/>
                <a:ext cx="469686" cy="40805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FF0000"/>
                    </a:solidFill>
                    <a:latin typeface="Times New Roman"/>
                  </a:rPr>
                  <a:t>h</a:t>
                </a:r>
                <a:r>
                  <a:rPr lang="en-US" altLang="ko-KR" sz="2000" baseline="-25000">
                    <a:solidFill>
                      <a:srgbClr val="FF0000"/>
                    </a:solidFill>
                    <a:latin typeface="Times New Roman"/>
                  </a:rPr>
                  <a:t>j</a:t>
                </a:r>
                <a:endParaRPr lang="en-US" altLang="ko-KR" sz="2000">
                  <a:solidFill>
                    <a:srgbClr val="FF0000"/>
                  </a:solidFill>
                  <a:latin typeface="Times New Roman"/>
                </a:endParaRPr>
              </a:p>
            </p:txBody>
          </p:sp>
          <p:sp>
            <p:nvSpPr>
              <p:cNvPr id="87" name="Text Box 61"/>
              <p:cNvSpPr txBox="1">
                <a:spLocks noChangeArrowheads="1"/>
              </p:cNvSpPr>
              <p:nvPr/>
            </p:nvSpPr>
            <p:spPr>
              <a:xfrm>
                <a:off x="1142975" y="4000503"/>
                <a:ext cx="1500198" cy="37736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w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1_11</a:t>
                </a: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 = 5</a:t>
                </a:r>
              </a:p>
            </p:txBody>
          </p:sp>
          <p:sp>
            <p:nvSpPr>
              <p:cNvPr id="88" name="Text Box 61"/>
              <p:cNvSpPr txBox="1">
                <a:spLocks noChangeArrowheads="1"/>
              </p:cNvSpPr>
              <p:nvPr/>
            </p:nvSpPr>
            <p:spPr>
              <a:xfrm>
                <a:off x="1142975" y="5845749"/>
                <a:ext cx="1500198" cy="382530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w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1_22</a:t>
                </a: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 = -7</a:t>
                </a:r>
              </a:p>
            </p:txBody>
          </p:sp>
          <p:sp>
            <p:nvSpPr>
              <p:cNvPr id="89" name="Text Box 61"/>
              <p:cNvSpPr txBox="1">
                <a:spLocks noChangeArrowheads="1"/>
              </p:cNvSpPr>
              <p:nvPr/>
            </p:nvSpPr>
            <p:spPr>
              <a:xfrm>
                <a:off x="2928925" y="4214818"/>
                <a:ext cx="1500198" cy="381914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w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2_11</a:t>
                </a: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 = -11</a:t>
                </a:r>
              </a:p>
            </p:txBody>
          </p:sp>
          <p:sp>
            <p:nvSpPr>
              <p:cNvPr id="90" name="Text Box 61"/>
              <p:cNvSpPr txBox="1">
                <a:spLocks noChangeArrowheads="1"/>
              </p:cNvSpPr>
              <p:nvPr/>
            </p:nvSpPr>
            <p:spPr>
              <a:xfrm>
                <a:off x="785785" y="5202807"/>
                <a:ext cx="1500198" cy="37882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w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1_21</a:t>
                </a: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 = 5</a:t>
                </a:r>
              </a:p>
            </p:txBody>
          </p:sp>
          <p:sp>
            <p:nvSpPr>
              <p:cNvPr id="91" name="Text Box 61"/>
              <p:cNvSpPr txBox="1">
                <a:spLocks noChangeArrowheads="1"/>
              </p:cNvSpPr>
              <p:nvPr/>
            </p:nvSpPr>
            <p:spPr>
              <a:xfrm>
                <a:off x="857223" y="4500569"/>
                <a:ext cx="1500198" cy="374720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w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1_12</a:t>
                </a: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 = -7</a:t>
                </a:r>
              </a:p>
            </p:txBody>
          </p:sp>
          <p:sp>
            <p:nvSpPr>
              <p:cNvPr id="92" name="Text Box 61"/>
              <p:cNvSpPr txBox="1">
                <a:spLocks noChangeArrowheads="1"/>
              </p:cNvSpPr>
              <p:nvPr/>
            </p:nvSpPr>
            <p:spPr>
              <a:xfrm>
                <a:off x="3071802" y="5417121"/>
                <a:ext cx="1500197" cy="383374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w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2_21</a:t>
                </a: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 = -11 </a:t>
                </a:r>
              </a:p>
            </p:txBody>
          </p:sp>
        </p:grpSp>
        <p:sp>
          <p:nvSpPr>
            <p:cNvPr id="60" name="Text Box 61"/>
            <p:cNvSpPr txBox="1">
              <a:spLocks noChangeArrowheads="1"/>
            </p:cNvSpPr>
            <p:nvPr/>
          </p:nvSpPr>
          <p:spPr>
            <a:xfrm>
              <a:off x="2143107" y="5059932"/>
              <a:ext cx="1500198" cy="385751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70C0"/>
                  </a:solidFill>
                  <a:latin typeface="Times New Roman"/>
                </a:rPr>
                <a:t> b</a:t>
              </a:r>
              <a:r>
                <a:rPr lang="en-US" altLang="ko-KR" baseline="-25000">
                  <a:solidFill>
                    <a:srgbClr val="0070C0"/>
                  </a:solidFill>
                  <a:latin typeface="Times New Roman"/>
                </a:rPr>
                <a:t>h2 </a:t>
              </a:r>
              <a:r>
                <a:rPr lang="en-US" altLang="ko-KR">
                  <a:solidFill>
                    <a:srgbClr val="0070C0"/>
                  </a:solidFill>
                  <a:latin typeface="Times New Roman"/>
                </a:rPr>
                <a:t>= 3  </a:t>
              </a:r>
            </a:p>
          </p:txBody>
        </p:sp>
        <p:cxnSp>
          <p:nvCxnSpPr>
            <p:cNvPr id="61" name="직선 화살표 연결선 60"/>
            <p:cNvCxnSpPr/>
            <p:nvPr/>
          </p:nvCxnSpPr>
          <p:spPr>
            <a:xfrm rot="16200000" flipV="1">
              <a:off x="2428860" y="3571083"/>
              <a:ext cx="284958" cy="7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type="arrow"/>
            </a:ln>
            <a:effectLst/>
          </p:spPr>
        </p:cxnSp>
        <p:sp>
          <p:nvSpPr>
            <p:cNvPr id="62" name="Text Box 61"/>
            <p:cNvSpPr txBox="1">
              <a:spLocks noChangeArrowheads="1"/>
            </p:cNvSpPr>
            <p:nvPr/>
          </p:nvSpPr>
          <p:spPr>
            <a:xfrm>
              <a:off x="2143107" y="3631171"/>
              <a:ext cx="1033375" cy="38575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70C0"/>
                  </a:solidFill>
                  <a:latin typeface="Times New Roman"/>
                </a:rPr>
                <a:t>b</a:t>
              </a:r>
              <a:r>
                <a:rPr lang="en-US" altLang="ko-KR" baseline="-25000">
                  <a:solidFill>
                    <a:srgbClr val="0070C0"/>
                  </a:solidFill>
                  <a:latin typeface="Times New Roman"/>
                </a:rPr>
                <a:t>h1 </a:t>
              </a:r>
              <a:r>
                <a:rPr lang="en-US" altLang="ko-KR">
                  <a:solidFill>
                    <a:srgbClr val="0070C0"/>
                  </a:solidFill>
                  <a:latin typeface="Times New Roman"/>
                </a:rPr>
                <a:t>= - 8</a:t>
              </a:r>
            </a:p>
          </p:txBody>
        </p:sp>
        <p:cxnSp>
          <p:nvCxnSpPr>
            <p:cNvPr id="63" name="직선 화살표 연결선 62"/>
            <p:cNvCxnSpPr/>
            <p:nvPr/>
          </p:nvCxnSpPr>
          <p:spPr>
            <a:xfrm rot="16200000" flipV="1">
              <a:off x="2428860" y="5000636"/>
              <a:ext cx="284958" cy="7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type="arrow"/>
            </a:ln>
            <a:effectLst/>
          </p:spPr>
        </p:cxnSp>
        <p:cxnSp>
          <p:nvCxnSpPr>
            <p:cNvPr id="64" name="직선 화살표 연결선 63"/>
            <p:cNvCxnSpPr/>
            <p:nvPr/>
          </p:nvCxnSpPr>
          <p:spPr>
            <a:xfrm rot="5400000" flipH="1" flipV="1">
              <a:off x="3322629" y="4392619"/>
              <a:ext cx="785818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type="arrow"/>
            </a:ln>
            <a:effectLst/>
          </p:spPr>
        </p:cxnSp>
        <p:sp>
          <p:nvSpPr>
            <p:cNvPr id="65" name="Text Box 61"/>
            <p:cNvSpPr txBox="1">
              <a:spLocks noChangeArrowheads="1"/>
            </p:cNvSpPr>
            <p:nvPr/>
          </p:nvSpPr>
          <p:spPr>
            <a:xfrm>
              <a:off x="3357554" y="4786322"/>
              <a:ext cx="1500198" cy="802724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70C0"/>
                  </a:solidFill>
                  <a:latin typeface="Times New Roman"/>
                </a:rPr>
                <a:t>b</a:t>
              </a:r>
              <a:r>
                <a:rPr lang="en-US" altLang="ko-KR" baseline="-25000">
                  <a:solidFill>
                    <a:srgbClr val="0070C0"/>
                  </a:solidFill>
                  <a:latin typeface="Times New Roman"/>
                </a:rPr>
                <a:t>y </a:t>
              </a:r>
              <a:r>
                <a:rPr lang="en-US" altLang="ko-KR">
                  <a:solidFill>
                    <a:srgbClr val="0070C0"/>
                  </a:solidFill>
                  <a:latin typeface="Times New Roman"/>
                </a:rPr>
                <a:t>= 6</a:t>
              </a:r>
            </a:p>
            <a:p>
              <a:pPr>
                <a:spcBef>
                  <a:spcPct val="50000"/>
                </a:spcBef>
                <a:defRPr/>
              </a:pPr>
              <a:endParaRPr lang="en-US" altLang="ko-KR">
                <a:solidFill>
                  <a:srgbClr val="0070C0"/>
                </a:solidFill>
                <a:latin typeface="Times New Roman"/>
              </a:endParaRPr>
            </a:p>
          </p:txBody>
        </p:sp>
      </p:grpSp>
      <p:graphicFrame>
        <p:nvGraphicFramePr>
          <p:cNvPr id="97" name="표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396132"/>
              </p:ext>
            </p:extLst>
          </p:nvPr>
        </p:nvGraphicFramePr>
        <p:xfrm>
          <a:off x="5744713" y="1919502"/>
          <a:ext cx="4714908" cy="19288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594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1594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1594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1594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1594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15941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51594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515941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58738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385765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Times New Roman"/>
                        </a:rPr>
                        <a:t>x</a:t>
                      </a:r>
                      <a:r>
                        <a:rPr lang="en-US" altLang="ko-KR" sz="1800" baseline="-25000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800">
                          <a:solidFill>
                            <a:srgbClr val="000000"/>
                          </a:solidFill>
                          <a:latin typeface="Times New Roman"/>
                        </a:rPr>
                        <a:t>x</a:t>
                      </a:r>
                      <a:r>
                        <a:rPr lang="en-US" altLang="ko-KR" sz="1800" baseline="-250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600">
                          <a:solidFill>
                            <a:srgbClr val="000000"/>
                          </a:solidFill>
                          <a:latin typeface="Times New Roman"/>
                        </a:rPr>
                        <a:t>z</a:t>
                      </a:r>
                      <a:r>
                        <a:rPr lang="en-US" altLang="ko-KR" sz="1600" baseline="-25000">
                          <a:solidFill>
                            <a:srgbClr val="000000"/>
                          </a:solidFill>
                          <a:latin typeface="Times New Roman"/>
                        </a:rPr>
                        <a:t>1_1</a:t>
                      </a:r>
                      <a:endParaRPr lang="en-US" altLang="ko-KR" sz="160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600">
                          <a:solidFill>
                            <a:srgbClr val="000000"/>
                          </a:solidFill>
                          <a:latin typeface="Times New Roman"/>
                        </a:rPr>
                        <a:t>z</a:t>
                      </a:r>
                      <a:r>
                        <a:rPr lang="en-US" altLang="ko-KR" sz="1600" baseline="-25000">
                          <a:solidFill>
                            <a:srgbClr val="000000"/>
                          </a:solidFill>
                          <a:latin typeface="Times New Roman"/>
                        </a:rPr>
                        <a:t>1_2</a:t>
                      </a:r>
                      <a:endParaRPr lang="en-US" altLang="ko-KR" sz="160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800">
                          <a:solidFill>
                            <a:srgbClr val="000000"/>
                          </a:solidFill>
                          <a:latin typeface="Times New Roman"/>
                        </a:rPr>
                        <a:t>h</a:t>
                      </a:r>
                      <a:r>
                        <a:rPr lang="en-US" altLang="ko-KR" sz="1800" baseline="-2500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lang="en-US" altLang="ko-KR" sz="180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800">
                          <a:solidFill>
                            <a:srgbClr val="000000"/>
                          </a:solidFill>
                          <a:latin typeface="Times New Roman"/>
                        </a:rPr>
                        <a:t>h</a:t>
                      </a:r>
                      <a:r>
                        <a:rPr lang="en-US" altLang="ko-KR" sz="1800" baseline="-250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lang="en-US" altLang="ko-KR" sz="180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800">
                          <a:solidFill>
                            <a:srgbClr val="000000"/>
                          </a:solidFill>
                          <a:latin typeface="Times New Roman"/>
                        </a:rPr>
                        <a:t>z</a:t>
                      </a:r>
                      <a:r>
                        <a:rPr lang="en-US" altLang="ko-KR" sz="1800" baseline="-25000">
                          <a:solidFill>
                            <a:srgbClr val="000000"/>
                          </a:solidFill>
                          <a:latin typeface="Times New Roman"/>
                        </a:rPr>
                        <a:t>2_1</a:t>
                      </a:r>
                      <a:endParaRPr lang="en-US" altLang="ko-KR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>
                          <a:solidFill>
                            <a:srgbClr val="000000"/>
                          </a:solidFill>
                          <a:latin typeface="Times New Roman"/>
                        </a:rPr>
                        <a:t>y</a:t>
                      </a:r>
                      <a:r>
                        <a:rPr lang="en-US" altLang="ko-KR" baseline="-2500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lang="en-US" altLang="ko-KR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/>
                        <a:t>XOR</a:t>
                      </a:r>
                      <a:endParaRPr lang="ko-KR" altLang="en-US" sz="14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57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-8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-5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57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-3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-4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6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857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-3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-4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6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857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2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pc="-150" dirty="0">
                          <a:solidFill>
                            <a:srgbClr val="FF0000"/>
                          </a:solidFill>
                        </a:rPr>
                        <a:t>-11</a:t>
                      </a:r>
                      <a:endParaRPr lang="ko-KR" altLang="en-US" spc="-15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-5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8" name="TextBox 97"/>
          <p:cNvSpPr txBox="1"/>
          <p:nvPr/>
        </p:nvSpPr>
        <p:spPr>
          <a:xfrm>
            <a:off x="1524000" y="4554245"/>
            <a:ext cx="8935621" cy="2215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if  </a:t>
            </a:r>
            <a:r>
              <a:rPr lang="en-US" sz="1600" dirty="0">
                <a:latin typeface="Times New Roman"/>
                <a:cs typeface="Times New Roman"/>
              </a:rPr>
              <a:t>x</a:t>
            </a:r>
            <a:r>
              <a:rPr lang="en-US" sz="1600" baseline="-25000" dirty="0">
                <a:latin typeface="Times New Roman"/>
                <a:cs typeface="Times New Roman"/>
              </a:rPr>
              <a:t>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= 0, </a:t>
            </a:r>
            <a:r>
              <a:rPr lang="en-US" sz="1600" dirty="0">
                <a:latin typeface="Times New Roman"/>
                <a:cs typeface="Times New Roman"/>
              </a:rPr>
              <a:t>x</a:t>
            </a:r>
            <a:r>
              <a:rPr lang="en-US" sz="1600" baseline="-25000" dirty="0">
                <a:latin typeface="Times New Roman"/>
                <a:cs typeface="Times New Roman"/>
              </a:rPr>
              <a:t>2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= 1</a:t>
            </a:r>
          </a:p>
          <a:p>
            <a:pPr lvl="0">
              <a:defRPr/>
            </a:pPr>
            <a:endParaRPr lang="en-US" altLang="ko-KR" sz="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lvl="0"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1_1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=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1_11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+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1_21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 +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altLang="ko-KR" sz="1600" baseline="-25000" dirty="0" smtClean="0">
                <a:solidFill>
                  <a:srgbClr val="000000"/>
                </a:solidFill>
                <a:latin typeface="Times New Roman"/>
              </a:rPr>
              <a:t>h1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= 5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0 + 5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1 -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8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=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-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3</a:t>
            </a:r>
            <a:endParaRPr lang="en-US" altLang="ko-KR" sz="1600" dirty="0">
              <a:solidFill>
                <a:srgbClr val="000000"/>
              </a:solidFill>
              <a:latin typeface="Times New Roman"/>
              <a:sym typeface="Symbol"/>
            </a:endParaRPr>
          </a:p>
          <a:p>
            <a:pPr lvl="0">
              <a:defRPr/>
            </a:pPr>
            <a:r>
              <a:rPr lang="en-US" altLang="ko-KR" sz="1600" dirty="0" smtClean="0">
                <a:solidFill>
                  <a:srgbClr val="000000"/>
                </a:solidFill>
                <a:latin typeface="Times New Roman"/>
              </a:rPr>
              <a:t>h</a:t>
            </a:r>
            <a:r>
              <a:rPr lang="en-US" altLang="ko-KR" sz="1600" baseline="-25000" dirty="0" smtClean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sym typeface="Symbol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=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sym typeface="Symbol"/>
              </a:rPr>
              <a:t>-3 &gt; 0 = 0</a:t>
            </a:r>
            <a:endParaRPr lang="en-US" altLang="ko-KR" sz="1600" dirty="0">
              <a:solidFill>
                <a:srgbClr val="000000"/>
              </a:solidFill>
              <a:latin typeface="Times New Roman"/>
              <a:sym typeface="Symbol"/>
            </a:endParaRPr>
          </a:p>
          <a:p>
            <a:pPr lvl="0">
              <a:defRPr/>
            </a:pPr>
            <a:endParaRPr lang="en-US" altLang="ko-KR" sz="800" dirty="0">
              <a:solidFill>
                <a:srgbClr val="000000"/>
              </a:solidFill>
              <a:latin typeface="Times New Roman"/>
              <a:sym typeface="Symbol"/>
            </a:endParaRPr>
          </a:p>
          <a:p>
            <a:pPr lvl="0"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1_2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=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 w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1_12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+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1_22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2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+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altLang="ko-KR" sz="1600" baseline="-25000" dirty="0" smtClean="0">
                <a:solidFill>
                  <a:srgbClr val="000000"/>
                </a:solidFill>
                <a:latin typeface="Times New Roman"/>
              </a:rPr>
              <a:t>h2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= -7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0 + -7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1 +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3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=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-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sym typeface="Symbol"/>
              </a:rPr>
              <a:t>  </a:t>
            </a:r>
            <a:endParaRPr lang="en-US" altLang="ko-KR" sz="1600" dirty="0">
              <a:solidFill>
                <a:srgbClr val="000000"/>
              </a:solidFill>
              <a:latin typeface="Times New Roman"/>
              <a:sym typeface="Symbol"/>
            </a:endParaRPr>
          </a:p>
          <a:p>
            <a:pPr lvl="0">
              <a:defRPr/>
            </a:pPr>
            <a:r>
              <a:rPr lang="en-US" altLang="ko-KR" sz="1600" dirty="0" smtClean="0">
                <a:solidFill>
                  <a:srgbClr val="000000"/>
                </a:solidFill>
                <a:latin typeface="Times New Roman"/>
              </a:rPr>
              <a:t>h</a:t>
            </a:r>
            <a:r>
              <a:rPr lang="en-US" altLang="ko-KR" sz="1600" baseline="-25000" dirty="0" smtClean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sym typeface="Symbol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=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sym typeface="Symbol"/>
              </a:rPr>
              <a:t>-4 &gt; 0 = 0</a:t>
            </a:r>
            <a:endParaRPr lang="en-US" altLang="ko-KR" sz="1600" dirty="0">
              <a:solidFill>
                <a:srgbClr val="000000"/>
              </a:solidFill>
              <a:latin typeface="Times New Roman"/>
              <a:sym typeface="Symbol"/>
            </a:endParaRPr>
          </a:p>
          <a:p>
            <a:pPr lvl="0">
              <a:defRPr/>
            </a:pPr>
            <a:endParaRPr lang="en-US" altLang="ko-KR" sz="800" dirty="0" smtClean="0">
              <a:solidFill>
                <a:srgbClr val="000000"/>
              </a:solidFill>
              <a:latin typeface="Times New Roman"/>
            </a:endParaRPr>
          </a:p>
          <a:p>
            <a:pPr lvl="0">
              <a:defRPr/>
            </a:pPr>
            <a:r>
              <a:rPr lang="en-US" altLang="ko-KR" sz="1600" dirty="0" smtClean="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 altLang="ko-KR" sz="1600" baseline="-25000" dirty="0" smtClean="0">
                <a:solidFill>
                  <a:srgbClr val="000000"/>
                </a:solidFill>
                <a:latin typeface="Times New Roman"/>
              </a:rPr>
              <a:t>2_1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=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2_11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h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+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2_21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h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 + b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y </a:t>
            </a:r>
            <a:r>
              <a:rPr lang="en-US" altLang="ko-KR" sz="1600" baseline="-25000" dirty="0" smtClean="0">
                <a:solidFill>
                  <a:srgbClr val="000000"/>
                </a:solidFill>
                <a:latin typeface="Times New Roman"/>
              </a:rPr>
              <a:t>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= -11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0 + -11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0 +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6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=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6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sym typeface="Symbol"/>
              </a:rPr>
              <a:t>  </a:t>
            </a:r>
            <a:endParaRPr lang="en-US" altLang="ko-KR" sz="1600" dirty="0">
              <a:solidFill>
                <a:srgbClr val="000000"/>
              </a:solidFill>
              <a:latin typeface="Times New Roman"/>
              <a:sym typeface="Symbol"/>
            </a:endParaRPr>
          </a:p>
          <a:p>
            <a:pPr lvl="0"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y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= 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sym typeface="Symbol"/>
              </a:rPr>
              <a:t>6 &gt; 0 = 1</a:t>
            </a:r>
            <a:endParaRPr lang="en-US" altLang="ko-KR" sz="160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583943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다층 신경망을 이용한 </a:t>
            </a:r>
            <a:r>
              <a:rPr lang="en-US" altLang="ko-KR" dirty="0" smtClean="0"/>
              <a:t>XOR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grpSp>
        <p:nvGrpSpPr>
          <p:cNvPr id="58" name="그룹 57"/>
          <p:cNvGrpSpPr/>
          <p:nvPr/>
        </p:nvGrpSpPr>
        <p:grpSpPr>
          <a:xfrm>
            <a:off x="1660567" y="1445310"/>
            <a:ext cx="4019592" cy="3247129"/>
            <a:chOff x="409532" y="2214554"/>
            <a:chExt cx="4448220" cy="3391490"/>
          </a:xfrm>
        </p:grpSpPr>
        <p:grpSp>
          <p:nvGrpSpPr>
            <p:cNvPr id="59" name="그룹 58"/>
            <p:cNvGrpSpPr/>
            <p:nvPr/>
          </p:nvGrpSpPr>
          <p:grpSpPr>
            <a:xfrm>
              <a:off x="409532" y="2214554"/>
              <a:ext cx="4162468" cy="2714644"/>
              <a:chOff x="409532" y="3500438"/>
              <a:chExt cx="4162468" cy="2714644"/>
            </a:xfrm>
          </p:grpSpPr>
          <p:sp>
            <p:nvSpPr>
              <p:cNvPr id="66" name="타원 65"/>
              <p:cNvSpPr/>
              <p:nvPr/>
            </p:nvSpPr>
            <p:spPr>
              <a:xfrm>
                <a:off x="2218375" y="5507058"/>
                <a:ext cx="639113" cy="63658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67" name="타원 66"/>
              <p:cNvSpPr/>
              <p:nvPr/>
            </p:nvSpPr>
            <p:spPr>
              <a:xfrm>
                <a:off x="2218375" y="4096157"/>
                <a:ext cx="639113" cy="63658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68" name="타원 67"/>
              <p:cNvSpPr/>
              <p:nvPr/>
            </p:nvSpPr>
            <p:spPr>
              <a:xfrm>
                <a:off x="409532" y="4107660"/>
                <a:ext cx="639113" cy="63658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69" name="Text Box 61"/>
              <p:cNvSpPr txBox="1">
                <a:spLocks noChangeArrowheads="1"/>
              </p:cNvSpPr>
              <p:nvPr/>
            </p:nvSpPr>
            <p:spPr>
              <a:xfrm>
                <a:off x="558350" y="4181779"/>
                <a:ext cx="578242" cy="405004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</a:rPr>
                  <a:t>x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Times New Roman"/>
                  </a:rPr>
                  <a:t>1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70" name="타원 69"/>
              <p:cNvSpPr/>
              <p:nvPr/>
            </p:nvSpPr>
            <p:spPr>
              <a:xfrm>
                <a:off x="428596" y="5507058"/>
                <a:ext cx="639113" cy="63658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71" name="Text Box 61"/>
              <p:cNvSpPr txBox="1">
                <a:spLocks noChangeArrowheads="1"/>
              </p:cNvSpPr>
              <p:nvPr/>
            </p:nvSpPr>
            <p:spPr>
              <a:xfrm>
                <a:off x="574861" y="5600658"/>
                <a:ext cx="578242" cy="408755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</a:rPr>
                  <a:t>x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Times New Roman"/>
                  </a:rPr>
                  <a:t>2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72" name="타원 71"/>
              <p:cNvSpPr/>
              <p:nvPr/>
            </p:nvSpPr>
            <p:spPr>
              <a:xfrm>
                <a:off x="3423267" y="4649802"/>
                <a:ext cx="639113" cy="63658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73" name="Text Box 61"/>
              <p:cNvSpPr txBox="1">
                <a:spLocks noChangeArrowheads="1"/>
              </p:cNvSpPr>
              <p:nvPr/>
            </p:nvSpPr>
            <p:spPr>
              <a:xfrm>
                <a:off x="3511216" y="4743401"/>
                <a:ext cx="578242" cy="410444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</a:rPr>
                  <a:t> y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Times New Roman"/>
                  </a:rPr>
                  <a:t>1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cxnSp>
            <p:nvCxnSpPr>
              <p:cNvPr id="74" name="직선 화살표 연결선 73"/>
              <p:cNvCxnSpPr/>
              <p:nvPr/>
            </p:nvCxnSpPr>
            <p:spPr>
              <a:xfrm flipV="1">
                <a:off x="1048645" y="4414450"/>
                <a:ext cx="1169730" cy="1150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75" name="직선 화살표 연결선 74"/>
              <p:cNvCxnSpPr/>
              <p:nvPr/>
            </p:nvCxnSpPr>
            <p:spPr>
              <a:xfrm>
                <a:off x="1067709" y="5825351"/>
                <a:ext cx="1150666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76" name="직선 화살표 연결선 75"/>
              <p:cNvCxnSpPr/>
              <p:nvPr/>
            </p:nvCxnSpPr>
            <p:spPr>
              <a:xfrm flipV="1">
                <a:off x="1067709" y="4414450"/>
                <a:ext cx="1150666" cy="141090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77" name="직선 화살표 연결선 76"/>
              <p:cNvCxnSpPr/>
              <p:nvPr/>
            </p:nvCxnSpPr>
            <p:spPr>
              <a:xfrm>
                <a:off x="1048645" y="4425953"/>
                <a:ext cx="1169730" cy="139939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78" name="직선 화살표 연결선 77"/>
              <p:cNvCxnSpPr/>
              <p:nvPr/>
            </p:nvCxnSpPr>
            <p:spPr>
              <a:xfrm>
                <a:off x="2857488" y="4414450"/>
                <a:ext cx="565779" cy="55364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79" name="직선 화살표 연결선 78"/>
              <p:cNvCxnSpPr/>
              <p:nvPr/>
            </p:nvCxnSpPr>
            <p:spPr>
              <a:xfrm flipV="1">
                <a:off x="2857488" y="4968095"/>
                <a:ext cx="565779" cy="85725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sp>
            <p:nvSpPr>
              <p:cNvPr id="80" name="Text Box 61"/>
              <p:cNvSpPr txBox="1">
                <a:spLocks noChangeArrowheads="1"/>
              </p:cNvSpPr>
              <p:nvPr/>
            </p:nvSpPr>
            <p:spPr>
              <a:xfrm>
                <a:off x="2350683" y="4220253"/>
                <a:ext cx="578242" cy="406324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</a:rPr>
                  <a:t>h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Times New Roman"/>
                  </a:rPr>
                  <a:t>1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81" name="Text Box 61"/>
              <p:cNvSpPr txBox="1">
                <a:spLocks noChangeArrowheads="1"/>
              </p:cNvSpPr>
              <p:nvPr/>
            </p:nvSpPr>
            <p:spPr>
              <a:xfrm>
                <a:off x="2357421" y="5600658"/>
                <a:ext cx="578242" cy="408755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Times New Roman"/>
                  </a:rPr>
                  <a:t>h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Times New Roman"/>
                  </a:rPr>
                  <a:t>2</a:t>
                </a:r>
                <a:endParaRPr lang="en-US" altLang="ko-KR" sz="2000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82" name="Text Box 61"/>
              <p:cNvSpPr txBox="1">
                <a:spLocks noChangeArrowheads="1"/>
              </p:cNvSpPr>
              <p:nvPr/>
            </p:nvSpPr>
            <p:spPr>
              <a:xfrm>
                <a:off x="1351567" y="3500437"/>
                <a:ext cx="791540" cy="409851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70C0"/>
                    </a:solidFill>
                    <a:latin typeface="Times New Roman"/>
                  </a:rPr>
                  <a:t>w</a:t>
                </a:r>
                <a:r>
                  <a:rPr lang="en-US" altLang="ko-KR" sz="2000" baseline="-25000">
                    <a:solidFill>
                      <a:srgbClr val="0070C0"/>
                    </a:solidFill>
                    <a:latin typeface="Times New Roman"/>
                  </a:rPr>
                  <a:t>1_ij</a:t>
                </a:r>
                <a:endParaRPr lang="en-US" altLang="ko-KR" sz="2000">
                  <a:solidFill>
                    <a:srgbClr val="0070C0"/>
                  </a:solidFill>
                  <a:latin typeface="Times New Roman"/>
                </a:endParaRPr>
              </a:p>
            </p:txBody>
          </p:sp>
          <p:sp>
            <p:nvSpPr>
              <p:cNvPr id="83" name="Text Box 61"/>
              <p:cNvSpPr txBox="1">
                <a:spLocks noChangeArrowheads="1"/>
              </p:cNvSpPr>
              <p:nvPr/>
            </p:nvSpPr>
            <p:spPr>
              <a:xfrm>
                <a:off x="520950" y="3571875"/>
                <a:ext cx="578243" cy="40805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FF0000"/>
                    </a:solidFill>
                    <a:latin typeface="Times New Roman"/>
                  </a:rPr>
                  <a:t>x</a:t>
                </a:r>
                <a:r>
                  <a:rPr lang="en-US" altLang="ko-KR" sz="2000" baseline="-25000">
                    <a:solidFill>
                      <a:srgbClr val="FF0000"/>
                    </a:solidFill>
                    <a:latin typeface="Times New Roman"/>
                  </a:rPr>
                  <a:t>i</a:t>
                </a:r>
                <a:endParaRPr lang="en-US" altLang="ko-KR" sz="2000">
                  <a:solidFill>
                    <a:srgbClr val="FF0000"/>
                  </a:solidFill>
                  <a:latin typeface="Times New Roman"/>
                </a:endParaRPr>
              </a:p>
            </p:txBody>
          </p:sp>
          <p:sp>
            <p:nvSpPr>
              <p:cNvPr id="84" name="Text Box 61"/>
              <p:cNvSpPr txBox="1">
                <a:spLocks noChangeArrowheads="1"/>
              </p:cNvSpPr>
              <p:nvPr/>
            </p:nvSpPr>
            <p:spPr>
              <a:xfrm>
                <a:off x="3636566" y="3571875"/>
                <a:ext cx="578243" cy="40805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FF0000"/>
                    </a:solidFill>
                    <a:latin typeface="Times New Roman"/>
                  </a:rPr>
                  <a:t>y</a:t>
                </a:r>
                <a:r>
                  <a:rPr lang="en-US" altLang="ko-KR" sz="2000" baseline="-25000">
                    <a:solidFill>
                      <a:srgbClr val="FF0000"/>
                    </a:solidFill>
                    <a:latin typeface="Times New Roman"/>
                  </a:rPr>
                  <a:t>k</a:t>
                </a:r>
                <a:endParaRPr lang="en-US" altLang="ko-KR" sz="2000">
                  <a:solidFill>
                    <a:srgbClr val="FF0000"/>
                  </a:solidFill>
                  <a:latin typeface="Times New Roman"/>
                </a:endParaRPr>
              </a:p>
            </p:txBody>
          </p:sp>
          <p:sp>
            <p:nvSpPr>
              <p:cNvPr id="85" name="Text Box 61"/>
              <p:cNvSpPr txBox="1">
                <a:spLocks noChangeArrowheads="1"/>
              </p:cNvSpPr>
              <p:nvPr/>
            </p:nvSpPr>
            <p:spPr>
              <a:xfrm>
                <a:off x="2945107" y="3571875"/>
                <a:ext cx="1055387" cy="40805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70C0"/>
                    </a:solidFill>
                    <a:latin typeface="Times New Roman"/>
                  </a:rPr>
                  <a:t>w</a:t>
                </a:r>
                <a:r>
                  <a:rPr lang="en-US" altLang="ko-KR" sz="2000" baseline="-25000">
                    <a:solidFill>
                      <a:srgbClr val="0070C0"/>
                    </a:solidFill>
                    <a:latin typeface="Times New Roman"/>
                  </a:rPr>
                  <a:t>2_jk</a:t>
                </a:r>
                <a:endParaRPr lang="en-US" altLang="ko-KR" sz="2000">
                  <a:solidFill>
                    <a:srgbClr val="0070C0"/>
                  </a:solidFill>
                  <a:latin typeface="Times New Roman"/>
                </a:endParaRPr>
              </a:p>
            </p:txBody>
          </p:sp>
          <p:sp>
            <p:nvSpPr>
              <p:cNvPr id="86" name="Text Box 61"/>
              <p:cNvSpPr txBox="1">
                <a:spLocks noChangeArrowheads="1"/>
              </p:cNvSpPr>
              <p:nvPr/>
            </p:nvSpPr>
            <p:spPr>
              <a:xfrm>
                <a:off x="2387801" y="3571875"/>
                <a:ext cx="469686" cy="40805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FF0000"/>
                    </a:solidFill>
                    <a:latin typeface="Times New Roman"/>
                  </a:rPr>
                  <a:t>h</a:t>
                </a:r>
                <a:r>
                  <a:rPr lang="en-US" altLang="ko-KR" sz="2000" baseline="-25000">
                    <a:solidFill>
                      <a:srgbClr val="FF0000"/>
                    </a:solidFill>
                    <a:latin typeface="Times New Roman"/>
                  </a:rPr>
                  <a:t>j</a:t>
                </a:r>
                <a:endParaRPr lang="en-US" altLang="ko-KR" sz="2000">
                  <a:solidFill>
                    <a:srgbClr val="FF0000"/>
                  </a:solidFill>
                  <a:latin typeface="Times New Roman"/>
                </a:endParaRPr>
              </a:p>
            </p:txBody>
          </p:sp>
          <p:sp>
            <p:nvSpPr>
              <p:cNvPr id="87" name="Text Box 61"/>
              <p:cNvSpPr txBox="1">
                <a:spLocks noChangeArrowheads="1"/>
              </p:cNvSpPr>
              <p:nvPr/>
            </p:nvSpPr>
            <p:spPr>
              <a:xfrm>
                <a:off x="1142975" y="4000503"/>
                <a:ext cx="1500198" cy="37736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w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1_11</a:t>
                </a: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 = 5</a:t>
                </a:r>
              </a:p>
            </p:txBody>
          </p:sp>
          <p:sp>
            <p:nvSpPr>
              <p:cNvPr id="88" name="Text Box 61"/>
              <p:cNvSpPr txBox="1">
                <a:spLocks noChangeArrowheads="1"/>
              </p:cNvSpPr>
              <p:nvPr/>
            </p:nvSpPr>
            <p:spPr>
              <a:xfrm>
                <a:off x="1142975" y="5845749"/>
                <a:ext cx="1500198" cy="382530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w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1_22</a:t>
                </a: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 = -7</a:t>
                </a:r>
              </a:p>
            </p:txBody>
          </p:sp>
          <p:sp>
            <p:nvSpPr>
              <p:cNvPr id="89" name="Text Box 61"/>
              <p:cNvSpPr txBox="1">
                <a:spLocks noChangeArrowheads="1"/>
              </p:cNvSpPr>
              <p:nvPr/>
            </p:nvSpPr>
            <p:spPr>
              <a:xfrm>
                <a:off x="2928925" y="4214818"/>
                <a:ext cx="1500198" cy="381914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w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2_11</a:t>
                </a: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 = -11</a:t>
                </a:r>
              </a:p>
            </p:txBody>
          </p:sp>
          <p:sp>
            <p:nvSpPr>
              <p:cNvPr id="90" name="Text Box 61"/>
              <p:cNvSpPr txBox="1">
                <a:spLocks noChangeArrowheads="1"/>
              </p:cNvSpPr>
              <p:nvPr/>
            </p:nvSpPr>
            <p:spPr>
              <a:xfrm>
                <a:off x="785785" y="5202807"/>
                <a:ext cx="1500198" cy="37882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w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1_21</a:t>
                </a: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 = 5</a:t>
                </a:r>
              </a:p>
            </p:txBody>
          </p:sp>
          <p:sp>
            <p:nvSpPr>
              <p:cNvPr id="91" name="Text Box 61"/>
              <p:cNvSpPr txBox="1">
                <a:spLocks noChangeArrowheads="1"/>
              </p:cNvSpPr>
              <p:nvPr/>
            </p:nvSpPr>
            <p:spPr>
              <a:xfrm>
                <a:off x="857223" y="4500569"/>
                <a:ext cx="1500198" cy="374720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w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1_12</a:t>
                </a: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 = -7</a:t>
                </a:r>
              </a:p>
            </p:txBody>
          </p:sp>
          <p:sp>
            <p:nvSpPr>
              <p:cNvPr id="92" name="Text Box 61"/>
              <p:cNvSpPr txBox="1">
                <a:spLocks noChangeArrowheads="1"/>
              </p:cNvSpPr>
              <p:nvPr/>
            </p:nvSpPr>
            <p:spPr>
              <a:xfrm>
                <a:off x="3071802" y="5417121"/>
                <a:ext cx="1500197" cy="383374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w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Times New Roman"/>
                  </a:rPr>
                  <a:t>2_21</a:t>
                </a:r>
                <a:r>
                  <a:rPr lang="en-US" altLang="ko-KR">
                    <a:solidFill>
                      <a:srgbClr val="000000"/>
                    </a:solidFill>
                    <a:latin typeface="Times New Roman"/>
                  </a:rPr>
                  <a:t> = -11 </a:t>
                </a:r>
              </a:p>
            </p:txBody>
          </p:sp>
        </p:grpSp>
        <p:sp>
          <p:nvSpPr>
            <p:cNvPr id="60" name="Text Box 61"/>
            <p:cNvSpPr txBox="1">
              <a:spLocks noChangeArrowheads="1"/>
            </p:cNvSpPr>
            <p:nvPr/>
          </p:nvSpPr>
          <p:spPr>
            <a:xfrm>
              <a:off x="2143107" y="5059932"/>
              <a:ext cx="1500198" cy="385751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70C0"/>
                  </a:solidFill>
                  <a:latin typeface="Times New Roman"/>
                </a:rPr>
                <a:t> b</a:t>
              </a:r>
              <a:r>
                <a:rPr lang="en-US" altLang="ko-KR" baseline="-25000">
                  <a:solidFill>
                    <a:srgbClr val="0070C0"/>
                  </a:solidFill>
                  <a:latin typeface="Times New Roman"/>
                </a:rPr>
                <a:t>h2 </a:t>
              </a:r>
              <a:r>
                <a:rPr lang="en-US" altLang="ko-KR">
                  <a:solidFill>
                    <a:srgbClr val="0070C0"/>
                  </a:solidFill>
                  <a:latin typeface="Times New Roman"/>
                </a:rPr>
                <a:t>= 3  </a:t>
              </a:r>
            </a:p>
          </p:txBody>
        </p:sp>
        <p:cxnSp>
          <p:nvCxnSpPr>
            <p:cNvPr id="61" name="직선 화살표 연결선 60"/>
            <p:cNvCxnSpPr/>
            <p:nvPr/>
          </p:nvCxnSpPr>
          <p:spPr>
            <a:xfrm rot="16200000" flipV="1">
              <a:off x="2428860" y="3571083"/>
              <a:ext cx="284958" cy="7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type="arrow"/>
            </a:ln>
            <a:effectLst/>
          </p:spPr>
        </p:cxnSp>
        <p:sp>
          <p:nvSpPr>
            <p:cNvPr id="62" name="Text Box 61"/>
            <p:cNvSpPr txBox="1">
              <a:spLocks noChangeArrowheads="1"/>
            </p:cNvSpPr>
            <p:nvPr/>
          </p:nvSpPr>
          <p:spPr>
            <a:xfrm>
              <a:off x="2143107" y="3631171"/>
              <a:ext cx="1033375" cy="38575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70C0"/>
                  </a:solidFill>
                  <a:latin typeface="Times New Roman"/>
                </a:rPr>
                <a:t>b</a:t>
              </a:r>
              <a:r>
                <a:rPr lang="en-US" altLang="ko-KR" baseline="-25000">
                  <a:solidFill>
                    <a:srgbClr val="0070C0"/>
                  </a:solidFill>
                  <a:latin typeface="Times New Roman"/>
                </a:rPr>
                <a:t>h1 </a:t>
              </a:r>
              <a:r>
                <a:rPr lang="en-US" altLang="ko-KR">
                  <a:solidFill>
                    <a:srgbClr val="0070C0"/>
                  </a:solidFill>
                  <a:latin typeface="Times New Roman"/>
                </a:rPr>
                <a:t>= - 8</a:t>
              </a:r>
            </a:p>
          </p:txBody>
        </p:sp>
        <p:cxnSp>
          <p:nvCxnSpPr>
            <p:cNvPr id="63" name="직선 화살표 연결선 62"/>
            <p:cNvCxnSpPr/>
            <p:nvPr/>
          </p:nvCxnSpPr>
          <p:spPr>
            <a:xfrm rot="16200000" flipV="1">
              <a:off x="2428860" y="5000636"/>
              <a:ext cx="284958" cy="7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type="arrow"/>
            </a:ln>
            <a:effectLst/>
          </p:spPr>
        </p:cxnSp>
        <p:cxnSp>
          <p:nvCxnSpPr>
            <p:cNvPr id="64" name="직선 화살표 연결선 63"/>
            <p:cNvCxnSpPr/>
            <p:nvPr/>
          </p:nvCxnSpPr>
          <p:spPr>
            <a:xfrm rot="5400000" flipH="1" flipV="1">
              <a:off x="3322629" y="4392619"/>
              <a:ext cx="785818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olid"/>
              <a:miter/>
              <a:headEnd w="med" len="med"/>
              <a:tailEnd type="arrow"/>
            </a:ln>
            <a:effectLst/>
          </p:spPr>
        </p:cxnSp>
        <p:sp>
          <p:nvSpPr>
            <p:cNvPr id="65" name="Text Box 61"/>
            <p:cNvSpPr txBox="1">
              <a:spLocks noChangeArrowheads="1"/>
            </p:cNvSpPr>
            <p:nvPr/>
          </p:nvSpPr>
          <p:spPr>
            <a:xfrm>
              <a:off x="3357554" y="4786322"/>
              <a:ext cx="1500198" cy="802724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70C0"/>
                  </a:solidFill>
                  <a:latin typeface="Times New Roman"/>
                </a:rPr>
                <a:t>b</a:t>
              </a:r>
              <a:r>
                <a:rPr lang="en-US" altLang="ko-KR" baseline="-25000">
                  <a:solidFill>
                    <a:srgbClr val="0070C0"/>
                  </a:solidFill>
                  <a:latin typeface="Times New Roman"/>
                </a:rPr>
                <a:t>y </a:t>
              </a:r>
              <a:r>
                <a:rPr lang="en-US" altLang="ko-KR">
                  <a:solidFill>
                    <a:srgbClr val="0070C0"/>
                  </a:solidFill>
                  <a:latin typeface="Times New Roman"/>
                </a:rPr>
                <a:t>= 6</a:t>
              </a:r>
            </a:p>
            <a:p>
              <a:pPr>
                <a:spcBef>
                  <a:spcPct val="50000"/>
                </a:spcBef>
                <a:defRPr/>
              </a:pPr>
              <a:endParaRPr lang="en-US" altLang="ko-KR">
                <a:solidFill>
                  <a:srgbClr val="0070C0"/>
                </a:solidFill>
                <a:latin typeface="Times New Roman"/>
              </a:endParaRPr>
            </a:p>
          </p:txBody>
        </p:sp>
      </p:grpSp>
      <p:graphicFrame>
        <p:nvGraphicFramePr>
          <p:cNvPr id="97" name="표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396132"/>
              </p:ext>
            </p:extLst>
          </p:nvPr>
        </p:nvGraphicFramePr>
        <p:xfrm>
          <a:off x="5744713" y="1919502"/>
          <a:ext cx="4714908" cy="19288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594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1594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1594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1594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1594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15941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51594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515941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58738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385765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Times New Roman"/>
                        </a:rPr>
                        <a:t>x</a:t>
                      </a:r>
                      <a:r>
                        <a:rPr lang="en-US" altLang="ko-KR" sz="1800" baseline="-25000" dirty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800">
                          <a:solidFill>
                            <a:srgbClr val="000000"/>
                          </a:solidFill>
                          <a:latin typeface="Times New Roman"/>
                        </a:rPr>
                        <a:t>x</a:t>
                      </a:r>
                      <a:r>
                        <a:rPr lang="en-US" altLang="ko-KR" sz="1800" baseline="-250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600">
                          <a:solidFill>
                            <a:srgbClr val="000000"/>
                          </a:solidFill>
                          <a:latin typeface="Times New Roman"/>
                        </a:rPr>
                        <a:t>z</a:t>
                      </a:r>
                      <a:r>
                        <a:rPr lang="en-US" altLang="ko-KR" sz="1600" baseline="-25000">
                          <a:solidFill>
                            <a:srgbClr val="000000"/>
                          </a:solidFill>
                          <a:latin typeface="Times New Roman"/>
                        </a:rPr>
                        <a:t>1_1</a:t>
                      </a:r>
                      <a:endParaRPr lang="en-US" altLang="ko-KR" sz="160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600">
                          <a:solidFill>
                            <a:srgbClr val="000000"/>
                          </a:solidFill>
                          <a:latin typeface="Times New Roman"/>
                        </a:rPr>
                        <a:t>z</a:t>
                      </a:r>
                      <a:r>
                        <a:rPr lang="en-US" altLang="ko-KR" sz="1600" baseline="-25000">
                          <a:solidFill>
                            <a:srgbClr val="000000"/>
                          </a:solidFill>
                          <a:latin typeface="Times New Roman"/>
                        </a:rPr>
                        <a:t>1_2</a:t>
                      </a:r>
                      <a:endParaRPr lang="en-US" altLang="ko-KR" sz="160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800">
                          <a:solidFill>
                            <a:srgbClr val="000000"/>
                          </a:solidFill>
                          <a:latin typeface="Times New Roman"/>
                        </a:rPr>
                        <a:t>h</a:t>
                      </a:r>
                      <a:r>
                        <a:rPr lang="en-US" altLang="ko-KR" sz="1800" baseline="-2500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lang="en-US" altLang="ko-KR" sz="180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800">
                          <a:solidFill>
                            <a:srgbClr val="000000"/>
                          </a:solidFill>
                          <a:latin typeface="Times New Roman"/>
                        </a:rPr>
                        <a:t>h</a:t>
                      </a:r>
                      <a:r>
                        <a:rPr lang="en-US" altLang="ko-KR" sz="1800" baseline="-250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lang="en-US" altLang="ko-KR" sz="180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800">
                          <a:solidFill>
                            <a:srgbClr val="000000"/>
                          </a:solidFill>
                          <a:latin typeface="Times New Roman"/>
                        </a:rPr>
                        <a:t>z</a:t>
                      </a:r>
                      <a:r>
                        <a:rPr lang="en-US" altLang="ko-KR" sz="1800" baseline="-25000">
                          <a:solidFill>
                            <a:srgbClr val="000000"/>
                          </a:solidFill>
                          <a:latin typeface="Times New Roman"/>
                        </a:rPr>
                        <a:t>2_1</a:t>
                      </a:r>
                      <a:endParaRPr lang="en-US" altLang="ko-KR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>
                          <a:solidFill>
                            <a:srgbClr val="000000"/>
                          </a:solidFill>
                          <a:latin typeface="Times New Roman"/>
                        </a:rPr>
                        <a:t>y</a:t>
                      </a:r>
                      <a:r>
                        <a:rPr lang="en-US" altLang="ko-KR" baseline="-2500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lang="en-US" altLang="ko-KR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/>
                        <a:t>XOR</a:t>
                      </a:r>
                      <a:endParaRPr lang="ko-KR" altLang="en-US" sz="14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57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-8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-5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57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-3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-4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6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857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-3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-4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6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857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2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pc="-150" dirty="0">
                          <a:solidFill>
                            <a:srgbClr val="FF0000"/>
                          </a:solidFill>
                        </a:rPr>
                        <a:t>-11</a:t>
                      </a:r>
                      <a:endParaRPr lang="ko-KR" altLang="en-US" spc="-15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-5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8" name="TextBox 97"/>
          <p:cNvSpPr txBox="1"/>
          <p:nvPr/>
        </p:nvSpPr>
        <p:spPr>
          <a:xfrm>
            <a:off x="1524000" y="4554245"/>
            <a:ext cx="8935621" cy="2215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if  </a:t>
            </a:r>
            <a:r>
              <a:rPr lang="en-US" sz="1600" dirty="0">
                <a:latin typeface="Times New Roman"/>
                <a:cs typeface="Times New Roman"/>
              </a:rPr>
              <a:t>x</a:t>
            </a:r>
            <a:r>
              <a:rPr lang="en-US" sz="1600" baseline="-25000" dirty="0">
                <a:latin typeface="Times New Roman"/>
                <a:cs typeface="Times New Roman"/>
              </a:rPr>
              <a:t>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=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1, </a:t>
            </a:r>
            <a:r>
              <a:rPr lang="en-US" sz="1600" dirty="0">
                <a:latin typeface="Times New Roman"/>
                <a:cs typeface="Times New Roman"/>
              </a:rPr>
              <a:t>x</a:t>
            </a:r>
            <a:r>
              <a:rPr lang="en-US" sz="1600" baseline="-25000" dirty="0">
                <a:latin typeface="Times New Roman"/>
                <a:cs typeface="Times New Roman"/>
              </a:rPr>
              <a:t>2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= 1</a:t>
            </a:r>
          </a:p>
          <a:p>
            <a:pPr lvl="0">
              <a:defRPr/>
            </a:pPr>
            <a:endParaRPr lang="en-US" altLang="ko-KR" sz="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lvl="0"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1_1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=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1_11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+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1_21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 +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altLang="ko-KR" sz="1600" baseline="-25000" dirty="0" smtClean="0">
                <a:solidFill>
                  <a:srgbClr val="000000"/>
                </a:solidFill>
                <a:latin typeface="Times New Roman"/>
              </a:rPr>
              <a:t>h1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= 5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1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+ 5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1 -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8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=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endParaRPr lang="en-US" altLang="ko-KR" sz="1600" dirty="0">
              <a:solidFill>
                <a:srgbClr val="000000"/>
              </a:solidFill>
              <a:latin typeface="Times New Roman"/>
              <a:sym typeface="Symbol"/>
            </a:endParaRPr>
          </a:p>
          <a:p>
            <a:pPr lvl="0">
              <a:defRPr/>
            </a:pPr>
            <a:r>
              <a:rPr lang="en-US" altLang="ko-KR" sz="1600" dirty="0" smtClean="0">
                <a:solidFill>
                  <a:srgbClr val="000000"/>
                </a:solidFill>
                <a:latin typeface="Times New Roman"/>
              </a:rPr>
              <a:t>h</a:t>
            </a:r>
            <a:r>
              <a:rPr lang="en-US" altLang="ko-KR" sz="1600" baseline="-25000" dirty="0" smtClean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sym typeface="Symbol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=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sym typeface="Symbol"/>
              </a:rPr>
              <a:t>2 &gt; 0 = 1</a:t>
            </a:r>
            <a:endParaRPr lang="en-US" altLang="ko-KR" sz="1600" dirty="0">
              <a:solidFill>
                <a:srgbClr val="000000"/>
              </a:solidFill>
              <a:latin typeface="Times New Roman"/>
              <a:sym typeface="Symbol"/>
            </a:endParaRPr>
          </a:p>
          <a:p>
            <a:pPr lvl="0">
              <a:defRPr/>
            </a:pPr>
            <a:endParaRPr lang="en-US" altLang="ko-KR" sz="800" dirty="0">
              <a:solidFill>
                <a:srgbClr val="000000"/>
              </a:solidFill>
              <a:latin typeface="Times New Roman"/>
              <a:sym typeface="Symbol"/>
            </a:endParaRPr>
          </a:p>
          <a:p>
            <a:pPr lvl="0"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1_2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=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 w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1_12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+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1_22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x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2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+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altLang="ko-KR" sz="1600" baseline="-25000" dirty="0" smtClean="0">
                <a:solidFill>
                  <a:srgbClr val="000000"/>
                </a:solidFill>
                <a:latin typeface="Times New Roman"/>
              </a:rPr>
              <a:t>h2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= -7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1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+ -7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1 +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3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=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-11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sym typeface="Symbol"/>
              </a:rPr>
              <a:t>  </a:t>
            </a:r>
            <a:endParaRPr lang="en-US" altLang="ko-KR" sz="1600" dirty="0">
              <a:solidFill>
                <a:srgbClr val="000000"/>
              </a:solidFill>
              <a:latin typeface="Times New Roman"/>
              <a:sym typeface="Symbol"/>
            </a:endParaRPr>
          </a:p>
          <a:p>
            <a:pPr lvl="0">
              <a:defRPr/>
            </a:pPr>
            <a:r>
              <a:rPr lang="en-US" altLang="ko-KR" sz="1600" dirty="0" smtClean="0">
                <a:solidFill>
                  <a:srgbClr val="000000"/>
                </a:solidFill>
                <a:latin typeface="Times New Roman"/>
              </a:rPr>
              <a:t>h</a:t>
            </a:r>
            <a:r>
              <a:rPr lang="en-US" altLang="ko-KR" sz="1600" baseline="-25000" dirty="0" smtClean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sym typeface="Symbol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=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sym typeface="Symbol"/>
              </a:rPr>
              <a:t>-11 &gt; 0 = 0</a:t>
            </a:r>
            <a:endParaRPr lang="en-US" altLang="ko-KR" sz="1600" dirty="0">
              <a:solidFill>
                <a:srgbClr val="000000"/>
              </a:solidFill>
              <a:latin typeface="Times New Roman"/>
              <a:sym typeface="Symbol"/>
            </a:endParaRPr>
          </a:p>
          <a:p>
            <a:pPr lvl="0">
              <a:defRPr/>
            </a:pPr>
            <a:endParaRPr lang="en-US" altLang="ko-KR" sz="800" dirty="0" smtClean="0">
              <a:solidFill>
                <a:srgbClr val="000000"/>
              </a:solidFill>
              <a:latin typeface="Times New Roman"/>
            </a:endParaRPr>
          </a:p>
          <a:p>
            <a:pPr lvl="0">
              <a:defRPr/>
            </a:pPr>
            <a:r>
              <a:rPr lang="en-US" altLang="ko-KR" sz="1600" dirty="0" smtClean="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 altLang="ko-KR" sz="1600" baseline="-25000" dirty="0" smtClean="0">
                <a:solidFill>
                  <a:srgbClr val="000000"/>
                </a:solidFill>
                <a:latin typeface="Times New Roman"/>
              </a:rPr>
              <a:t>2_1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=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2_11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h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+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2_21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h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 + b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y </a:t>
            </a:r>
            <a:r>
              <a:rPr lang="en-US" altLang="ko-KR" sz="1600" baseline="-25000" dirty="0" smtClean="0">
                <a:solidFill>
                  <a:srgbClr val="000000"/>
                </a:solidFill>
                <a:latin typeface="Times New Roman"/>
              </a:rPr>
              <a:t> 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= -11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1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+ -11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 0 +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6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  <a:sym typeface="Symbol"/>
              </a:rPr>
              <a:t>=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-5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sym typeface="Symbol"/>
              </a:rPr>
              <a:t>  </a:t>
            </a:r>
            <a:endParaRPr lang="en-US" altLang="ko-KR" sz="1600" dirty="0">
              <a:solidFill>
                <a:srgbClr val="000000"/>
              </a:solidFill>
              <a:latin typeface="Times New Roman"/>
              <a:sym typeface="Symbol"/>
            </a:endParaRPr>
          </a:p>
          <a:p>
            <a:pPr lvl="0">
              <a:defRPr/>
            </a:pP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y</a:t>
            </a:r>
            <a:r>
              <a:rPr lang="en-US" altLang="ko-KR" sz="1600" baseline="-25000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Times New Roman"/>
                <a:sym typeface="Symbol"/>
              </a:rPr>
              <a:t>=  </a:t>
            </a:r>
            <a:r>
              <a:rPr lang="en-US" altLang="ko-KR" sz="1600" dirty="0" smtClean="0">
                <a:solidFill>
                  <a:srgbClr val="000000"/>
                </a:solidFill>
                <a:latin typeface="Times New Roman"/>
                <a:sym typeface="Symbol"/>
              </a:rPr>
              <a:t>-5 &gt; 0 = 0</a:t>
            </a:r>
            <a:endParaRPr lang="en-US" altLang="ko-KR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1918" y="4679590"/>
            <a:ext cx="4287164" cy="34618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순방향 전파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입력층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가중치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은닉층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출력층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6583547" y="5180005"/>
            <a:ext cx="4451884" cy="67040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순방향 전파는 단순한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가중치율의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곱과 활성화 함수만 계산하므로 예측 속도가 학습에 비해 매우 빠름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86024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비선형 활성화 함수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grpSp>
        <p:nvGrpSpPr>
          <p:cNvPr id="31" name="그룹 30"/>
          <p:cNvGrpSpPr/>
          <p:nvPr/>
        </p:nvGrpSpPr>
        <p:grpSpPr>
          <a:xfrm>
            <a:off x="3701399" y="2783599"/>
            <a:ext cx="4381530" cy="1787204"/>
            <a:chOff x="1785919" y="2071678"/>
            <a:chExt cx="5429288" cy="2214578"/>
          </a:xfrm>
        </p:grpSpPr>
        <p:grpSp>
          <p:nvGrpSpPr>
            <p:cNvPr id="32" name="그룹 31"/>
            <p:cNvGrpSpPr/>
            <p:nvPr/>
          </p:nvGrpSpPr>
          <p:grpSpPr>
            <a:xfrm>
              <a:off x="1785919" y="2071678"/>
              <a:ext cx="5429288" cy="2214578"/>
              <a:chOff x="4786314" y="2841212"/>
              <a:chExt cx="4098236" cy="1659358"/>
            </a:xfrm>
          </p:grpSpPr>
          <p:sp>
            <p:nvSpPr>
              <p:cNvPr id="34" name="타원 33"/>
              <p:cNvSpPr/>
              <p:nvPr/>
            </p:nvSpPr>
            <p:spPr>
              <a:xfrm>
                <a:off x="6072198" y="2857496"/>
                <a:ext cx="1857388" cy="1643074"/>
              </a:xfrm>
              <a:prstGeom prst="ellipse">
                <a:avLst/>
              </a:prstGeom>
              <a:solidFill>
                <a:schemeClr val="dk2">
                  <a:alpha val="7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35" name="타원 34"/>
              <p:cNvSpPr/>
              <p:nvPr/>
            </p:nvSpPr>
            <p:spPr>
              <a:xfrm>
                <a:off x="4786314" y="2841212"/>
                <a:ext cx="475869" cy="44491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36" name="타원 35"/>
              <p:cNvSpPr/>
              <p:nvPr/>
            </p:nvSpPr>
            <p:spPr>
              <a:xfrm>
                <a:off x="6286512" y="3384198"/>
                <a:ext cx="475869" cy="444912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37" name="Text Box 61"/>
              <p:cNvSpPr txBox="1">
                <a:spLocks noChangeArrowheads="1"/>
              </p:cNvSpPr>
              <p:nvPr/>
            </p:nvSpPr>
            <p:spPr>
              <a:xfrm>
                <a:off x="4895008" y="2858704"/>
                <a:ext cx="430546" cy="291546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맑은 고딕"/>
                    <a:ea typeface="맑은 고딕"/>
                    <a:cs typeface="+mj-cs"/>
                  </a:rPr>
                  <a:t>x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맑은 고딕"/>
                    <a:ea typeface="맑은 고딕"/>
                    <a:cs typeface="+mj-cs"/>
                  </a:rPr>
                  <a:t>1</a:t>
                </a:r>
                <a:endParaRPr lang="en-US" altLang="ko-KR" sz="2000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endParaRPr>
              </a:p>
            </p:txBody>
          </p:sp>
          <p:cxnSp>
            <p:nvCxnSpPr>
              <p:cNvPr id="38" name="직선 화살표 연결선 37"/>
              <p:cNvCxnSpPr/>
              <p:nvPr/>
            </p:nvCxnSpPr>
            <p:spPr>
              <a:xfrm>
                <a:off x="5262183" y="3063668"/>
                <a:ext cx="1094018" cy="38568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sp>
            <p:nvSpPr>
              <p:cNvPr id="39" name="Text Box 61"/>
              <p:cNvSpPr txBox="1">
                <a:spLocks noChangeArrowheads="1"/>
              </p:cNvSpPr>
              <p:nvPr/>
            </p:nvSpPr>
            <p:spPr>
              <a:xfrm>
                <a:off x="6404886" y="3458127"/>
                <a:ext cx="430546" cy="291629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맑은 고딕"/>
                    <a:ea typeface="맑은 고딕"/>
                    <a:sym typeface="Symbol"/>
                  </a:rPr>
                  <a:t></a:t>
                </a:r>
                <a:endParaRPr lang="en-US" altLang="ko-KR" sz="2000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59" name="Text Box 61"/>
              <p:cNvSpPr txBox="1">
                <a:spLocks noChangeArrowheads="1"/>
              </p:cNvSpPr>
              <p:nvPr/>
            </p:nvSpPr>
            <p:spPr>
              <a:xfrm>
                <a:off x="5500694" y="2845353"/>
                <a:ext cx="857255" cy="269213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맑은 고딕"/>
                    <a:ea typeface="맑은 고딕"/>
                    <a:cs typeface="+mj-cs"/>
                  </a:rPr>
                  <a:t>w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맑은 고딕"/>
                    <a:ea typeface="맑은 고딕"/>
                    <a:cs typeface="+mj-cs"/>
                  </a:rPr>
                  <a:t>1</a:t>
                </a:r>
                <a:endParaRPr lang="en-US" altLang="ko-KR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60" name="타원 59"/>
              <p:cNvSpPr/>
              <p:nvPr/>
            </p:nvSpPr>
            <p:spPr>
              <a:xfrm>
                <a:off x="4795762" y="3384198"/>
                <a:ext cx="475869" cy="44491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61" name="Text Box 61"/>
              <p:cNvSpPr txBox="1">
                <a:spLocks noChangeArrowheads="1"/>
              </p:cNvSpPr>
              <p:nvPr/>
            </p:nvSpPr>
            <p:spPr>
              <a:xfrm>
                <a:off x="4895008" y="3404599"/>
                <a:ext cx="430546" cy="299797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맑은 고딕"/>
                    <a:ea typeface="맑은 고딕"/>
                    <a:cs typeface="+mj-cs"/>
                  </a:rPr>
                  <a:t>x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맑은 고딕"/>
                    <a:ea typeface="맑은 고딕"/>
                    <a:cs typeface="+mj-cs"/>
                  </a:rPr>
                  <a:t>2</a:t>
                </a:r>
                <a:endParaRPr lang="en-US" altLang="ko-KR" sz="2000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62" name="Text Box 61"/>
              <p:cNvSpPr txBox="1">
                <a:spLocks noChangeArrowheads="1"/>
              </p:cNvSpPr>
              <p:nvPr/>
            </p:nvSpPr>
            <p:spPr>
              <a:xfrm>
                <a:off x="5500694" y="3214686"/>
                <a:ext cx="857255" cy="276736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맑은 고딕"/>
                    <a:ea typeface="맑은 고딕"/>
                    <a:cs typeface="+mj-cs"/>
                  </a:rPr>
                  <a:t>w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맑은 고딕"/>
                    <a:ea typeface="맑은 고딕"/>
                    <a:cs typeface="+mj-cs"/>
                  </a:rPr>
                  <a:t>2</a:t>
                </a:r>
                <a:endParaRPr lang="en-US" altLang="ko-KR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endParaRPr>
              </a:p>
            </p:txBody>
          </p:sp>
          <p:cxnSp>
            <p:nvCxnSpPr>
              <p:cNvPr id="63" name="직선 화살표 연결선 62"/>
              <p:cNvCxnSpPr/>
              <p:nvPr/>
            </p:nvCxnSpPr>
            <p:spPr>
              <a:xfrm>
                <a:off x="5271631" y="3606654"/>
                <a:ext cx="1014880" cy="119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64" name="직선 화살표 연결선 63"/>
              <p:cNvCxnSpPr/>
              <p:nvPr/>
            </p:nvCxnSpPr>
            <p:spPr>
              <a:xfrm>
                <a:off x="6762381" y="3606655"/>
                <a:ext cx="452825" cy="1512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sp>
            <p:nvSpPr>
              <p:cNvPr id="65" name="직사각형 64"/>
              <p:cNvSpPr/>
              <p:nvPr/>
            </p:nvSpPr>
            <p:spPr>
              <a:xfrm>
                <a:off x="7215206" y="3419020"/>
                <a:ext cx="500066" cy="40551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0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66" name="타원 65"/>
              <p:cNvSpPr/>
              <p:nvPr/>
            </p:nvSpPr>
            <p:spPr>
              <a:xfrm>
                <a:off x="8330560" y="3357562"/>
                <a:ext cx="500066" cy="50006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r>
                  <a:rPr kumimoji="1" lang="en-US" altLang="ko-KR" sz="2400" b="0" i="0" u="none" strike="noStrike" cap="none" normalizeH="0" baseline="0">
                    <a:solidFill>
                      <a:schemeClr val="tx1"/>
                    </a:solidFill>
                    <a:effectLst/>
                    <a:latin typeface="맑은 고딕"/>
                    <a:ea typeface="맑은 고딕"/>
                    <a:cs typeface="+mj-cs"/>
                  </a:rPr>
                  <a:t>  </a:t>
                </a: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67" name="Text Box 61"/>
              <p:cNvSpPr txBox="1">
                <a:spLocks noChangeArrowheads="1"/>
              </p:cNvSpPr>
              <p:nvPr/>
            </p:nvSpPr>
            <p:spPr>
              <a:xfrm>
                <a:off x="8384483" y="3430015"/>
                <a:ext cx="500065" cy="291193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맑은 고딕"/>
                    <a:ea typeface="맑은 고딕"/>
                    <a:sym typeface="Symbol"/>
                  </a:rPr>
                  <a:t>  y</a:t>
                </a:r>
                <a:endParaRPr lang="en-US" altLang="ko-KR" sz="2000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endParaRPr>
              </a:p>
            </p:txBody>
          </p:sp>
          <p:cxnSp>
            <p:nvCxnSpPr>
              <p:cNvPr id="68" name="직선 화살표 연결선 67"/>
              <p:cNvCxnSpPr/>
              <p:nvPr/>
            </p:nvCxnSpPr>
            <p:spPr>
              <a:xfrm flipV="1">
                <a:off x="7715272" y="3607596"/>
                <a:ext cx="615288" cy="1418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sp>
            <p:nvSpPr>
              <p:cNvPr id="69" name="Text Box 61"/>
              <p:cNvSpPr txBox="1">
                <a:spLocks noChangeArrowheads="1"/>
              </p:cNvSpPr>
              <p:nvPr/>
            </p:nvSpPr>
            <p:spPr>
              <a:xfrm>
                <a:off x="6786578" y="3071810"/>
                <a:ext cx="857255" cy="276735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맑은 고딕"/>
                    <a:ea typeface="맑은 고딕"/>
                    <a:cs typeface="+mj-cs"/>
                  </a:rPr>
                  <a:t>z</a:t>
                </a:r>
              </a:p>
            </p:txBody>
          </p:sp>
          <p:sp>
            <p:nvSpPr>
              <p:cNvPr id="70" name="타원 69"/>
              <p:cNvSpPr/>
              <p:nvPr/>
            </p:nvSpPr>
            <p:spPr>
              <a:xfrm>
                <a:off x="4786314" y="3912782"/>
                <a:ext cx="475869" cy="44491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71" name="Text Box 61"/>
              <p:cNvSpPr txBox="1">
                <a:spLocks noChangeArrowheads="1"/>
              </p:cNvSpPr>
              <p:nvPr/>
            </p:nvSpPr>
            <p:spPr>
              <a:xfrm>
                <a:off x="4895008" y="3939876"/>
                <a:ext cx="430546" cy="299797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 eaLnBrk="1" latinLnBrk="1" hangingPunct="1"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맑은 고딕"/>
                    <a:ea typeface="맑은 고딕"/>
                    <a:cs typeface="+mj-cs"/>
                  </a:rPr>
                  <a:t>x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맑은 고딕"/>
                    <a:ea typeface="맑은 고딕"/>
                    <a:cs typeface="+mj-cs"/>
                  </a:rPr>
                  <a:t>3</a:t>
                </a:r>
                <a:endParaRPr lang="en-US" altLang="ko-KR" sz="2000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endParaRPr>
              </a:p>
            </p:txBody>
          </p:sp>
          <p:cxnSp>
            <p:nvCxnSpPr>
              <p:cNvPr id="72" name="직선 화살표 연결선 71"/>
              <p:cNvCxnSpPr/>
              <p:nvPr/>
            </p:nvCxnSpPr>
            <p:spPr>
              <a:xfrm flipV="1">
                <a:off x="5262183" y="3763954"/>
                <a:ext cx="1094018" cy="37128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sp>
            <p:nvSpPr>
              <p:cNvPr id="73" name="Text Box 61"/>
              <p:cNvSpPr txBox="1">
                <a:spLocks noChangeArrowheads="1"/>
              </p:cNvSpPr>
              <p:nvPr/>
            </p:nvSpPr>
            <p:spPr>
              <a:xfrm>
                <a:off x="5572132" y="3571875"/>
                <a:ext cx="857255" cy="276736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맑은 고딕"/>
                    <a:ea typeface="맑은 고딕"/>
                    <a:cs typeface="+mj-cs"/>
                  </a:rPr>
                  <a:t>w</a:t>
                </a:r>
                <a:r>
                  <a:rPr lang="en-US" altLang="ko-KR" baseline="-25000">
                    <a:solidFill>
                      <a:srgbClr val="000000"/>
                    </a:solidFill>
                    <a:latin typeface="맑은 고딕"/>
                    <a:ea typeface="맑은 고딕"/>
                    <a:cs typeface="+mj-cs"/>
                  </a:rPr>
                  <a:t>3</a:t>
                </a:r>
                <a:endParaRPr lang="en-US" altLang="ko-KR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endParaRPr>
              </a:p>
            </p:txBody>
          </p:sp>
        </p:grpSp>
        <p:sp>
          <p:nvSpPr>
            <p:cNvPr id="33" name="Text Box 61"/>
            <p:cNvSpPr txBox="1">
              <a:spLocks noChangeArrowheads="1"/>
            </p:cNvSpPr>
            <p:nvPr/>
          </p:nvSpPr>
          <p:spPr>
            <a:xfrm>
              <a:off x="5072066" y="2928934"/>
              <a:ext cx="570382" cy="850588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1" lang="en-US" altLang="ko-KR" sz="2000">
                  <a:latin typeface="맑은 고딕"/>
                  <a:ea typeface="맑은 고딕"/>
                  <a:cs typeface="+mj-cs"/>
                </a:rPr>
                <a:t>f(z)</a:t>
              </a:r>
            </a:p>
            <a:p>
              <a:pPr eaLnBrk="1" latinLnBrk="1" hangingPunct="1">
                <a:spcBef>
                  <a:spcPct val="50000"/>
                </a:spcBef>
                <a:defRPr/>
              </a:pPr>
              <a:endParaRPr lang="en-US" altLang="ko-KR" sz="2000">
                <a:solidFill>
                  <a:srgbClr val="000000"/>
                </a:solidFill>
                <a:latin typeface="맑은 고딕"/>
                <a:ea typeface="맑은 고딕"/>
                <a:cs typeface="+mj-cs"/>
              </a:endParaRPr>
            </a:p>
          </p:txBody>
        </p:sp>
      </p:grpSp>
      <p:grpSp>
        <p:nvGrpSpPr>
          <p:cNvPr id="74" name="그룹 73"/>
          <p:cNvGrpSpPr/>
          <p:nvPr/>
        </p:nvGrpSpPr>
        <p:grpSpPr>
          <a:xfrm>
            <a:off x="3106082" y="4625142"/>
            <a:ext cx="2143140" cy="1857390"/>
            <a:chOff x="877635" y="1146090"/>
            <a:chExt cx="1836977" cy="1776634"/>
          </a:xfrm>
        </p:grpSpPr>
        <p:cxnSp>
          <p:nvCxnSpPr>
            <p:cNvPr id="75" name="직선 연결선 74"/>
            <p:cNvCxnSpPr/>
            <p:nvPr/>
          </p:nvCxnSpPr>
          <p:spPr>
            <a:xfrm>
              <a:off x="877635" y="2034406"/>
              <a:ext cx="1653279" cy="1519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cxnSp>
          <p:nvCxnSpPr>
            <p:cNvPr id="76" name="직선 연결선 75"/>
            <p:cNvCxnSpPr/>
            <p:nvPr/>
          </p:nvCxnSpPr>
          <p:spPr>
            <a:xfrm rot="16200000" flipH="1">
              <a:off x="785343" y="2034406"/>
              <a:ext cx="1776634" cy="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cxnSp>
          <p:nvCxnSpPr>
            <p:cNvPr id="77" name="꺾인 연결선 76"/>
            <p:cNvCxnSpPr/>
            <p:nvPr/>
          </p:nvCxnSpPr>
          <p:spPr>
            <a:xfrm rot="10800000" flipV="1">
              <a:off x="1122565" y="1487717"/>
              <a:ext cx="1102186" cy="546624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sp>
          <p:nvSpPr>
            <p:cNvPr id="78" name="TextBox 77"/>
            <p:cNvSpPr txBox="1"/>
            <p:nvPr/>
          </p:nvSpPr>
          <p:spPr>
            <a:xfrm>
              <a:off x="1285852" y="1351085"/>
              <a:ext cx="428627" cy="3238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600">
                  <a:latin typeface="맑은 고딕"/>
                  <a:ea typeface="맑은 고딕"/>
                  <a:cs typeface="+mj-cs"/>
                </a:rPr>
                <a:t>+1</a:t>
              </a:r>
              <a:endParaRPr lang="ko-KR" altLang="en-US" sz="1600"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673657" y="1983866"/>
              <a:ext cx="428627" cy="3238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600">
                  <a:latin typeface="맑은 고딕"/>
                  <a:ea typeface="맑은 고딕"/>
                  <a:cs typeface="+mj-cs"/>
                </a:rPr>
                <a:t>0</a:t>
              </a:r>
              <a:endParaRPr lang="ko-KR" altLang="en-US" sz="1600"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143108" y="1983866"/>
              <a:ext cx="428627" cy="3238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600">
                  <a:latin typeface="맑은 고딕"/>
                  <a:ea typeface="맑은 고딕"/>
                  <a:sym typeface="Symbol"/>
                </a:rPr>
                <a:t></a:t>
              </a:r>
              <a:endParaRPr lang="ko-KR" altLang="en-US" sz="1600"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2071670" y="1146089"/>
              <a:ext cx="642941" cy="3238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rPr>
                <a:t>f(</a:t>
              </a:r>
              <a:r>
                <a:rPr lang="en-US" altLang="ko-KR" sz="1600">
                  <a:latin typeface="맑은 고딕"/>
                  <a:ea typeface="맑은 고딕"/>
                  <a:sym typeface="Symbol"/>
                </a:rPr>
                <a:t></a:t>
              </a:r>
              <a:r>
                <a:rPr lang="en-US" altLang="ko-KR" sz="1600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rPr>
                <a:t>)</a:t>
              </a:r>
            </a:p>
          </p:txBody>
        </p:sp>
      </p:grpSp>
      <p:grpSp>
        <p:nvGrpSpPr>
          <p:cNvPr id="82" name="그룹 49"/>
          <p:cNvGrpSpPr/>
          <p:nvPr/>
        </p:nvGrpSpPr>
        <p:grpSpPr>
          <a:xfrm>
            <a:off x="7106610" y="4553704"/>
            <a:ext cx="2143142" cy="1857337"/>
            <a:chOff x="877635" y="1146090"/>
            <a:chExt cx="1836977" cy="1776634"/>
          </a:xfrm>
        </p:grpSpPr>
        <p:cxnSp>
          <p:nvCxnSpPr>
            <p:cNvPr id="83" name="직선 연결선 82"/>
            <p:cNvCxnSpPr/>
            <p:nvPr/>
          </p:nvCxnSpPr>
          <p:spPr>
            <a:xfrm>
              <a:off x="877635" y="2034406"/>
              <a:ext cx="1653279" cy="1519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cxnSp>
          <p:nvCxnSpPr>
            <p:cNvPr id="84" name="직선 연결선 83"/>
            <p:cNvCxnSpPr/>
            <p:nvPr/>
          </p:nvCxnSpPr>
          <p:spPr>
            <a:xfrm rot="16200000" flipH="1">
              <a:off x="785343" y="2034406"/>
              <a:ext cx="1776634" cy="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sp>
          <p:nvSpPr>
            <p:cNvPr id="85" name="TextBox 84"/>
            <p:cNvSpPr txBox="1"/>
            <p:nvPr/>
          </p:nvSpPr>
          <p:spPr>
            <a:xfrm>
              <a:off x="1285852" y="1351088"/>
              <a:ext cx="428627" cy="3238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600">
                  <a:latin typeface="맑은 고딕"/>
                  <a:ea typeface="맑은 고딕"/>
                  <a:cs typeface="+mj-cs"/>
                </a:rPr>
                <a:t>+1</a:t>
              </a:r>
              <a:endParaRPr lang="ko-KR" altLang="en-US" sz="1600"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1673657" y="1983933"/>
              <a:ext cx="428627" cy="3238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600">
                  <a:latin typeface="맑은 고딕"/>
                  <a:ea typeface="맑은 고딕"/>
                  <a:cs typeface="+mj-cs"/>
                </a:rPr>
                <a:t>0</a:t>
              </a:r>
              <a:endParaRPr lang="ko-KR" altLang="en-US" sz="1600"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143108" y="1983933"/>
              <a:ext cx="428627" cy="3238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600">
                  <a:latin typeface="맑은 고딕"/>
                  <a:ea typeface="맑은 고딕"/>
                  <a:sym typeface="Symbol"/>
                </a:rPr>
                <a:t></a:t>
              </a:r>
              <a:endParaRPr lang="ko-KR" altLang="en-US" sz="1600"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2071669" y="1146092"/>
              <a:ext cx="642942" cy="3238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rPr>
                <a:t>f(</a:t>
              </a:r>
              <a:r>
                <a:rPr lang="en-US" altLang="ko-KR" sz="1600">
                  <a:latin typeface="맑은 고딕"/>
                  <a:ea typeface="맑은 고딕"/>
                  <a:sym typeface="Symbol"/>
                </a:rPr>
                <a:t></a:t>
              </a:r>
              <a:r>
                <a:rPr lang="en-US" altLang="ko-KR" sz="1600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rPr>
                <a:t>)</a:t>
              </a:r>
            </a:p>
          </p:txBody>
        </p:sp>
      </p:grpSp>
      <p:sp>
        <p:nvSpPr>
          <p:cNvPr id="89" name="자유형 88"/>
          <p:cNvSpPr/>
          <p:nvPr/>
        </p:nvSpPr>
        <p:spPr>
          <a:xfrm>
            <a:off x="7081750" y="4910928"/>
            <a:ext cx="1810810" cy="567987"/>
          </a:xfrm>
          <a:custGeom>
            <a:avLst/>
            <a:gdLst>
              <a:gd name="connsiteX0" fmla="*/ 0 w 1667934"/>
              <a:gd name="connsiteY0" fmla="*/ 500945 h 508001"/>
              <a:gd name="connsiteX1" fmla="*/ 270934 w 1667934"/>
              <a:gd name="connsiteY1" fmla="*/ 500945 h 508001"/>
              <a:gd name="connsiteX2" fmla="*/ 482600 w 1667934"/>
              <a:gd name="connsiteY2" fmla="*/ 458611 h 508001"/>
              <a:gd name="connsiteX3" fmla="*/ 685800 w 1667934"/>
              <a:gd name="connsiteY3" fmla="*/ 365478 h 508001"/>
              <a:gd name="connsiteX4" fmla="*/ 855134 w 1667934"/>
              <a:gd name="connsiteY4" fmla="*/ 221545 h 508001"/>
              <a:gd name="connsiteX5" fmla="*/ 1058334 w 1667934"/>
              <a:gd name="connsiteY5" fmla="*/ 69145 h 508001"/>
              <a:gd name="connsiteX6" fmla="*/ 1329267 w 1667934"/>
              <a:gd name="connsiteY6" fmla="*/ 9878 h 508001"/>
              <a:gd name="connsiteX7" fmla="*/ 1574800 w 1667934"/>
              <a:gd name="connsiteY7" fmla="*/ 9878 h 508001"/>
              <a:gd name="connsiteX8" fmla="*/ 1642534 w 1667934"/>
              <a:gd name="connsiteY8" fmla="*/ 18345 h 508001"/>
              <a:gd name="connsiteX9" fmla="*/ 1667934 w 1667934"/>
              <a:gd name="connsiteY9" fmla="*/ 9878 h 50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67934" h="508001">
                <a:moveTo>
                  <a:pt x="0" y="500945"/>
                </a:moveTo>
                <a:cubicBezTo>
                  <a:pt x="95250" y="504473"/>
                  <a:pt x="190501" y="508001"/>
                  <a:pt x="270934" y="500945"/>
                </a:cubicBezTo>
                <a:cubicBezTo>
                  <a:pt x="351367" y="493889"/>
                  <a:pt x="413456" y="481189"/>
                  <a:pt x="482600" y="458611"/>
                </a:cubicBezTo>
                <a:cubicBezTo>
                  <a:pt x="551744" y="436033"/>
                  <a:pt x="623711" y="404989"/>
                  <a:pt x="685800" y="365478"/>
                </a:cubicBezTo>
                <a:cubicBezTo>
                  <a:pt x="747889" y="325967"/>
                  <a:pt x="793045" y="270934"/>
                  <a:pt x="855134" y="221545"/>
                </a:cubicBezTo>
                <a:cubicBezTo>
                  <a:pt x="917223" y="172156"/>
                  <a:pt x="979312" y="104423"/>
                  <a:pt x="1058334" y="69145"/>
                </a:cubicBezTo>
                <a:cubicBezTo>
                  <a:pt x="1137356" y="33867"/>
                  <a:pt x="1243189" y="19756"/>
                  <a:pt x="1329267" y="9878"/>
                </a:cubicBezTo>
                <a:cubicBezTo>
                  <a:pt x="1415345" y="0"/>
                  <a:pt x="1522589" y="8467"/>
                  <a:pt x="1574800" y="9878"/>
                </a:cubicBezTo>
                <a:cubicBezTo>
                  <a:pt x="1627011" y="11289"/>
                  <a:pt x="1627012" y="18345"/>
                  <a:pt x="1642534" y="18345"/>
                </a:cubicBezTo>
                <a:cubicBezTo>
                  <a:pt x="1658056" y="18345"/>
                  <a:pt x="1662995" y="14111"/>
                  <a:pt x="1667934" y="9878"/>
                </a:cubicBez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맑은 고딕"/>
              <a:ea typeface="맑은 고딕"/>
              <a:cs typeface="+mj-cs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487220" y="6180633"/>
            <a:ext cx="12420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dirty="0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계단함수</a:t>
            </a:r>
            <a:endParaRPr lang="ko-KR" altLang="en-US" sz="2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535368" y="6180633"/>
            <a:ext cx="18059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Sigmoid </a:t>
            </a:r>
            <a:r>
              <a:rPr lang="ko-KR" altLang="en-US" sz="2000" dirty="0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함수</a:t>
            </a:r>
            <a:endParaRPr lang="ko-KR" altLang="en-US" sz="2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선형함수만 </a:t>
            </a: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사용해서 깊은 네트워크 구조를 만들어낼 수 없기 때문에 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비선형 함수를 사용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신경망에서는 계단함수보다는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시그모이드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함수를 주로 사용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6729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선형 함수 조합의 한계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41" name="타원 40"/>
          <p:cNvSpPr/>
          <p:nvPr/>
        </p:nvSpPr>
        <p:spPr bwMode="auto">
          <a:xfrm>
            <a:off x="3411836" y="2838556"/>
            <a:ext cx="1214446" cy="85725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타원 42"/>
          <p:cNvSpPr/>
          <p:nvPr/>
        </p:nvSpPr>
        <p:spPr bwMode="auto">
          <a:xfrm>
            <a:off x="5412100" y="2838556"/>
            <a:ext cx="1214446" cy="85725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타원 43"/>
          <p:cNvSpPr/>
          <p:nvPr/>
        </p:nvSpPr>
        <p:spPr bwMode="auto">
          <a:xfrm>
            <a:off x="7483802" y="2838556"/>
            <a:ext cx="1214446" cy="85725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5" name="직선 화살표 연결선 44"/>
          <p:cNvCxnSpPr/>
          <p:nvPr/>
        </p:nvCxnSpPr>
        <p:spPr bwMode="auto">
          <a:xfrm>
            <a:off x="2626018" y="3267184"/>
            <a:ext cx="785818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46" name="직선 화살표 연결선 45"/>
          <p:cNvCxnSpPr>
            <a:stCxn id="43" idx="6"/>
            <a:endCxn id="44" idx="2"/>
          </p:cNvCxnSpPr>
          <p:nvPr/>
        </p:nvCxnSpPr>
        <p:spPr bwMode="auto">
          <a:xfrm>
            <a:off x="6626546" y="3267184"/>
            <a:ext cx="857256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7576330" y="3107036"/>
            <a:ext cx="121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f3(x)=3x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3458300" y="3083610"/>
            <a:ext cx="11929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f1(x) = 2x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5533889" y="3107036"/>
            <a:ext cx="10246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f2(x)=4x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1870683" y="3112166"/>
            <a:ext cx="75533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x=1.7</a:t>
            </a:r>
          </a:p>
        </p:txBody>
      </p:sp>
      <p:sp>
        <p:nvSpPr>
          <p:cNvPr id="51" name="타원 50"/>
          <p:cNvSpPr/>
          <p:nvPr/>
        </p:nvSpPr>
        <p:spPr bwMode="auto">
          <a:xfrm>
            <a:off x="5442583" y="4394487"/>
            <a:ext cx="1242454" cy="85725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5414005" y="4679497"/>
            <a:ext cx="13195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f0(x) = 24x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54844" y="5894685"/>
            <a:ext cx="4857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f3( f2( f1(1.7) ) ) = f0(1.7)</a:t>
            </a:r>
            <a:endParaRPr lang="ko-KR" altLang="en-US" sz="2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769158" y="2683538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3.4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626546" y="2695680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13.6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769686" y="2767118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40.8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871475" y="4310907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40.8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514549" y="4668097"/>
            <a:ext cx="642942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40.8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1870683" y="4668097"/>
            <a:ext cx="75533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x=1.7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484066" y="3112166"/>
            <a:ext cx="642942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40.8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81" name="직선 화살표 연결선 80"/>
          <p:cNvCxnSpPr/>
          <p:nvPr/>
        </p:nvCxnSpPr>
        <p:spPr bwMode="auto">
          <a:xfrm>
            <a:off x="4626282" y="3265596"/>
            <a:ext cx="785818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82" name="직선 화살표 연결선 81"/>
          <p:cNvCxnSpPr/>
          <p:nvPr/>
        </p:nvCxnSpPr>
        <p:spPr bwMode="auto">
          <a:xfrm>
            <a:off x="8698248" y="3267184"/>
            <a:ext cx="785818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83" name="직선 화살표 연결선 82"/>
          <p:cNvCxnSpPr/>
          <p:nvPr/>
        </p:nvCxnSpPr>
        <p:spPr bwMode="auto">
          <a:xfrm>
            <a:off x="2727939" y="4823115"/>
            <a:ext cx="2571768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84" name="직선 화살표 연결선 83"/>
          <p:cNvCxnSpPr/>
          <p:nvPr/>
        </p:nvCxnSpPr>
        <p:spPr bwMode="auto">
          <a:xfrm>
            <a:off x="6799905" y="4823115"/>
            <a:ext cx="2571768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sp>
        <p:nvSpPr>
          <p:cNvPr id="85" name="TextBox 84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세 개의 선형함수를 통과하나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하나의 선형 함수를 통과하나 같은 값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68074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선형 함수 조합의 한계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세 개의 선형함수를 통과하나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하나의 선형 함수를 통과하나 같은 값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28" name="타원 27"/>
          <p:cNvSpPr/>
          <p:nvPr/>
        </p:nvSpPr>
        <p:spPr bwMode="auto">
          <a:xfrm>
            <a:off x="3283496" y="2839273"/>
            <a:ext cx="1214446" cy="85725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타원 28"/>
          <p:cNvSpPr/>
          <p:nvPr/>
        </p:nvSpPr>
        <p:spPr bwMode="auto">
          <a:xfrm>
            <a:off x="5305420" y="2839273"/>
            <a:ext cx="1214446" cy="85725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타원 29"/>
          <p:cNvSpPr/>
          <p:nvPr/>
        </p:nvSpPr>
        <p:spPr bwMode="auto">
          <a:xfrm>
            <a:off x="7377122" y="2839273"/>
            <a:ext cx="1214446" cy="85725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0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1" name="직선 화살표 연결선 30"/>
          <p:cNvCxnSpPr>
            <a:stCxn id="28" idx="6"/>
            <a:endCxn id="29" idx="2"/>
          </p:cNvCxnSpPr>
          <p:nvPr/>
        </p:nvCxnSpPr>
        <p:spPr bwMode="auto">
          <a:xfrm>
            <a:off x="4497942" y="3267901"/>
            <a:ext cx="80747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32" name="직선 화살표 연결선 31"/>
          <p:cNvCxnSpPr>
            <a:stCxn id="29" idx="6"/>
            <a:endCxn id="30" idx="2"/>
          </p:cNvCxnSpPr>
          <p:nvPr/>
        </p:nvCxnSpPr>
        <p:spPr bwMode="auto">
          <a:xfrm>
            <a:off x="6519866" y="3267901"/>
            <a:ext cx="857256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7459960" y="2901019"/>
            <a:ext cx="1500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f3(x)</a:t>
            </a:r>
          </a:p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=3x + 4 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499520" y="2901021"/>
            <a:ext cx="9693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f1(x) </a:t>
            </a:r>
          </a:p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=2x+1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5385205" y="2901020"/>
            <a:ext cx="103265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f2(x)</a:t>
            </a:r>
          </a:p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=4x + 5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1956363" y="3112883"/>
            <a:ext cx="580608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x=1</a:t>
            </a:r>
          </a:p>
        </p:txBody>
      </p:sp>
      <p:sp>
        <p:nvSpPr>
          <p:cNvPr id="37" name="타원 36"/>
          <p:cNvSpPr/>
          <p:nvPr/>
        </p:nvSpPr>
        <p:spPr bwMode="auto">
          <a:xfrm>
            <a:off x="5376858" y="4499409"/>
            <a:ext cx="1214446" cy="85725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5474063" y="4590461"/>
            <a:ext cx="112242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f0(x) </a:t>
            </a:r>
          </a:p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=24x+31</a:t>
            </a:r>
          </a:p>
          <a:p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805354" y="5723641"/>
            <a:ext cx="4857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f3(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f2(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f1(1)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24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400" dirty="0">
                <a:latin typeface="맑은 고딕" pitchFamily="50" charset="-127"/>
                <a:ea typeface="맑은 고딕" pitchFamily="50" charset="-127"/>
              </a:rPr>
              <a:t>) = f0(1)</a:t>
            </a:r>
            <a:endParaRPr lang="ko-KR" altLang="en-US" sz="2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733916" y="2696397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519866" y="2696397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  17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612088" y="2767835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  55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805750" y="4415829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  55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1947834" y="4773019"/>
            <a:ext cx="580608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x=1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48824" y="3112883"/>
            <a:ext cx="500066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55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448824" y="4773019"/>
            <a:ext cx="500066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55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3" name="직선 화살표 연결선 62"/>
          <p:cNvCxnSpPr/>
          <p:nvPr/>
        </p:nvCxnSpPr>
        <p:spPr bwMode="auto">
          <a:xfrm>
            <a:off x="2519338" y="3267901"/>
            <a:ext cx="785818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65" name="직선 화살표 연결선 64"/>
          <p:cNvCxnSpPr/>
          <p:nvPr/>
        </p:nvCxnSpPr>
        <p:spPr bwMode="auto">
          <a:xfrm>
            <a:off x="8591568" y="3267901"/>
            <a:ext cx="857256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66" name="직선 화살표 연결선 65"/>
          <p:cNvCxnSpPr/>
          <p:nvPr/>
        </p:nvCxnSpPr>
        <p:spPr bwMode="auto">
          <a:xfrm>
            <a:off x="2662214" y="4928037"/>
            <a:ext cx="2571768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67" name="직선 화살표 연결선 66"/>
          <p:cNvCxnSpPr/>
          <p:nvPr/>
        </p:nvCxnSpPr>
        <p:spPr bwMode="auto">
          <a:xfrm>
            <a:off x="6734180" y="4928037"/>
            <a:ext cx="2571768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5152971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다층신경망에서 선형 활성화 함수의 한계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grpSp>
        <p:nvGrpSpPr>
          <p:cNvPr id="52" name="그룹 117"/>
          <p:cNvGrpSpPr/>
          <p:nvPr/>
        </p:nvGrpSpPr>
        <p:grpSpPr>
          <a:xfrm>
            <a:off x="1864233" y="2242750"/>
            <a:ext cx="4194431" cy="2307357"/>
            <a:chOff x="214282" y="959694"/>
            <a:chExt cx="4194431" cy="2307357"/>
          </a:xfrm>
        </p:grpSpPr>
        <p:grpSp>
          <p:nvGrpSpPr>
            <p:cNvPr id="53" name="그룹 111"/>
            <p:cNvGrpSpPr/>
            <p:nvPr/>
          </p:nvGrpSpPr>
          <p:grpSpPr>
            <a:xfrm>
              <a:off x="214282" y="959694"/>
              <a:ext cx="4194431" cy="2307357"/>
              <a:chOff x="1734891" y="1245446"/>
              <a:chExt cx="4194431" cy="2307357"/>
            </a:xfrm>
          </p:grpSpPr>
          <p:sp>
            <p:nvSpPr>
              <p:cNvPr id="55" name="TextBox 54"/>
              <p:cNvSpPr txBox="1"/>
              <p:nvPr/>
            </p:nvSpPr>
            <p:spPr>
              <a:xfrm>
                <a:off x="1734891" y="1800439"/>
                <a:ext cx="408217" cy="414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2</a:t>
                </a:r>
                <a:endParaRPr lang="ko-KR" altLang="en-US" dirty="0"/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1734891" y="2943447"/>
                <a:ext cx="408217" cy="414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2</a:t>
                </a:r>
                <a:endParaRPr lang="ko-KR" altLang="en-US" dirty="0"/>
              </a:p>
            </p:txBody>
          </p:sp>
          <p:cxnSp>
            <p:nvCxnSpPr>
              <p:cNvPr id="57" name="직선 화살표 연결선 56"/>
              <p:cNvCxnSpPr/>
              <p:nvPr/>
            </p:nvCxnSpPr>
            <p:spPr bwMode="auto">
              <a:xfrm>
                <a:off x="2143108" y="2000240"/>
                <a:ext cx="571504" cy="178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arrow"/>
              </a:ln>
              <a:effectLst/>
            </p:spPr>
          </p:cxnSp>
          <p:cxnSp>
            <p:nvCxnSpPr>
              <p:cNvPr id="58" name="직선 화살표 연결선 57"/>
              <p:cNvCxnSpPr/>
              <p:nvPr/>
            </p:nvCxnSpPr>
            <p:spPr bwMode="auto">
              <a:xfrm>
                <a:off x="2143108" y="3143248"/>
                <a:ext cx="571504" cy="178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arrow"/>
              </a:ln>
              <a:effectLst/>
            </p:spPr>
          </p:cxnSp>
          <p:grpSp>
            <p:nvGrpSpPr>
              <p:cNvPr id="59" name="그룹 110"/>
              <p:cNvGrpSpPr/>
              <p:nvPr/>
            </p:nvGrpSpPr>
            <p:grpSpPr>
              <a:xfrm>
                <a:off x="2837077" y="1245446"/>
                <a:ext cx="3092245" cy="2307357"/>
                <a:chOff x="2837077" y="1245446"/>
                <a:chExt cx="3092245" cy="2307357"/>
              </a:xfrm>
            </p:grpSpPr>
            <p:grpSp>
              <p:nvGrpSpPr>
                <p:cNvPr id="60" name="그룹 92"/>
                <p:cNvGrpSpPr/>
                <p:nvPr/>
              </p:nvGrpSpPr>
              <p:grpSpPr>
                <a:xfrm>
                  <a:off x="2837077" y="1643050"/>
                  <a:ext cx="3070779" cy="1909753"/>
                  <a:chOff x="1265441" y="1357298"/>
                  <a:chExt cx="3070779" cy="1909753"/>
                </a:xfrm>
              </p:grpSpPr>
              <p:sp>
                <p:nvSpPr>
                  <p:cNvPr id="67" name="타원 66"/>
                  <p:cNvSpPr/>
                  <p:nvPr/>
                </p:nvSpPr>
                <p:spPr bwMode="auto">
                  <a:xfrm>
                    <a:off x="1265441" y="1500174"/>
                    <a:ext cx="478600" cy="450563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sp>
                <p:nvSpPr>
                  <p:cNvPr id="68" name="타원 67"/>
                  <p:cNvSpPr/>
                  <p:nvPr/>
                </p:nvSpPr>
                <p:spPr bwMode="auto">
                  <a:xfrm>
                    <a:off x="1265441" y="2653084"/>
                    <a:ext cx="478600" cy="450563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sp>
                <p:nvSpPr>
                  <p:cNvPr id="69" name="타원 68"/>
                  <p:cNvSpPr/>
                  <p:nvPr/>
                </p:nvSpPr>
                <p:spPr bwMode="auto">
                  <a:xfrm>
                    <a:off x="2746284" y="1500174"/>
                    <a:ext cx="478600" cy="450563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sp>
                <p:nvSpPr>
                  <p:cNvPr id="70" name="타원 69"/>
                  <p:cNvSpPr/>
                  <p:nvPr/>
                </p:nvSpPr>
                <p:spPr bwMode="auto">
                  <a:xfrm>
                    <a:off x="2746284" y="2653084"/>
                    <a:ext cx="478600" cy="450563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sp>
                <p:nvSpPr>
                  <p:cNvPr id="71" name="타원 70"/>
                  <p:cNvSpPr/>
                  <p:nvPr/>
                </p:nvSpPr>
                <p:spPr bwMode="auto">
                  <a:xfrm>
                    <a:off x="3857620" y="2049743"/>
                    <a:ext cx="478600" cy="450563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cxnSp>
                <p:nvCxnSpPr>
                  <p:cNvPr id="72" name="직선 화살표 연결선 71"/>
                  <p:cNvCxnSpPr>
                    <a:stCxn id="67" idx="6"/>
                    <a:endCxn id="69" idx="2"/>
                  </p:cNvCxnSpPr>
                  <p:nvPr/>
                </p:nvCxnSpPr>
                <p:spPr bwMode="auto">
                  <a:xfrm>
                    <a:off x="1744041" y="1725456"/>
                    <a:ext cx="1002243" cy="1588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triangle" w="med" len="med"/>
                  </a:ln>
                  <a:effectLst/>
                </p:spPr>
              </p:cxnSp>
              <p:cxnSp>
                <p:nvCxnSpPr>
                  <p:cNvPr id="73" name="직선 화살표 연결선 72"/>
                  <p:cNvCxnSpPr>
                    <a:stCxn id="67" idx="6"/>
                    <a:endCxn id="70" idx="2"/>
                  </p:cNvCxnSpPr>
                  <p:nvPr/>
                </p:nvCxnSpPr>
                <p:spPr bwMode="auto">
                  <a:xfrm>
                    <a:off x="1744041" y="1725456"/>
                    <a:ext cx="1002243" cy="1152910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triangle" w="med" len="med"/>
                  </a:ln>
                  <a:effectLst/>
                </p:spPr>
              </p:cxnSp>
              <p:cxnSp>
                <p:nvCxnSpPr>
                  <p:cNvPr id="74" name="직선 화살표 연결선 73"/>
                  <p:cNvCxnSpPr>
                    <a:stCxn id="68" idx="6"/>
                    <a:endCxn id="69" idx="2"/>
                  </p:cNvCxnSpPr>
                  <p:nvPr/>
                </p:nvCxnSpPr>
                <p:spPr bwMode="auto">
                  <a:xfrm flipV="1">
                    <a:off x="1744041" y="1725456"/>
                    <a:ext cx="1002243" cy="1152910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triangle" w="med" len="med"/>
                  </a:ln>
                  <a:effectLst/>
                </p:spPr>
              </p:cxnSp>
              <p:cxnSp>
                <p:nvCxnSpPr>
                  <p:cNvPr id="75" name="직선 화살표 연결선 74"/>
                  <p:cNvCxnSpPr>
                    <a:stCxn id="68" idx="6"/>
                    <a:endCxn id="70" idx="2"/>
                  </p:cNvCxnSpPr>
                  <p:nvPr/>
                </p:nvCxnSpPr>
                <p:spPr bwMode="auto">
                  <a:xfrm>
                    <a:off x="1744041" y="2878366"/>
                    <a:ext cx="1002243" cy="1781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triangle" w="med" len="med"/>
                  </a:ln>
                  <a:effectLst/>
                </p:spPr>
              </p:cxnSp>
              <p:cxnSp>
                <p:nvCxnSpPr>
                  <p:cNvPr id="76" name="직선 화살표 연결선 75"/>
                  <p:cNvCxnSpPr>
                    <a:stCxn id="69" idx="6"/>
                    <a:endCxn id="71" idx="2"/>
                  </p:cNvCxnSpPr>
                  <p:nvPr/>
                </p:nvCxnSpPr>
                <p:spPr bwMode="auto">
                  <a:xfrm>
                    <a:off x="3224884" y="1725456"/>
                    <a:ext cx="632736" cy="549569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triangle" w="med" len="med"/>
                  </a:ln>
                  <a:effectLst/>
                </p:spPr>
              </p:cxnSp>
              <p:cxnSp>
                <p:nvCxnSpPr>
                  <p:cNvPr id="77" name="직선 화살표 연결선 76"/>
                  <p:cNvCxnSpPr>
                    <a:stCxn id="70" idx="6"/>
                    <a:endCxn id="71" idx="2"/>
                  </p:cNvCxnSpPr>
                  <p:nvPr/>
                </p:nvCxnSpPr>
                <p:spPr bwMode="auto">
                  <a:xfrm flipV="1">
                    <a:off x="3224884" y="2275025"/>
                    <a:ext cx="632736" cy="603341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triangle" w="med" len="med"/>
                  </a:ln>
                  <a:effectLst/>
                </p:spPr>
              </p:cxnSp>
              <p:sp>
                <p:nvSpPr>
                  <p:cNvPr id="78" name="TextBox 77"/>
                  <p:cNvSpPr txBox="1"/>
                  <p:nvPr/>
                </p:nvSpPr>
                <p:spPr>
                  <a:xfrm>
                    <a:off x="2432741" y="1357298"/>
                    <a:ext cx="408217" cy="4141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dirty="0"/>
                      <a:t>2</a:t>
                    </a:r>
                    <a:endParaRPr lang="ko-KR" altLang="en-US" dirty="0"/>
                  </a:p>
                </p:txBody>
              </p:sp>
              <p:sp>
                <p:nvSpPr>
                  <p:cNvPr id="79" name="TextBox 78"/>
                  <p:cNvSpPr txBox="1"/>
                  <p:nvPr/>
                </p:nvSpPr>
                <p:spPr>
                  <a:xfrm>
                    <a:off x="3608700" y="1763524"/>
                    <a:ext cx="40821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dirty="0"/>
                      <a:t>4</a:t>
                    </a:r>
                    <a:endParaRPr lang="ko-KR" altLang="en-US" dirty="0"/>
                  </a:p>
                </p:txBody>
              </p:sp>
              <p:sp>
                <p:nvSpPr>
                  <p:cNvPr id="80" name="TextBox 79"/>
                  <p:cNvSpPr txBox="1"/>
                  <p:nvPr/>
                </p:nvSpPr>
                <p:spPr>
                  <a:xfrm>
                    <a:off x="3589429" y="2420888"/>
                    <a:ext cx="408217" cy="4141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dirty="0"/>
                      <a:t>1</a:t>
                    </a:r>
                    <a:endParaRPr lang="ko-KR" altLang="en-US" dirty="0"/>
                  </a:p>
                </p:txBody>
              </p:sp>
              <p:sp>
                <p:nvSpPr>
                  <p:cNvPr id="81" name="TextBox 80"/>
                  <p:cNvSpPr txBox="1"/>
                  <p:nvPr/>
                </p:nvSpPr>
                <p:spPr>
                  <a:xfrm>
                    <a:off x="2360733" y="2852936"/>
                    <a:ext cx="653147" cy="4141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dirty="0"/>
                      <a:t>-1</a:t>
                    </a:r>
                    <a:endParaRPr lang="ko-KR" altLang="en-US" dirty="0"/>
                  </a:p>
                </p:txBody>
              </p:sp>
              <p:sp>
                <p:nvSpPr>
                  <p:cNvPr id="82" name="TextBox 81"/>
                  <p:cNvSpPr txBox="1"/>
                  <p:nvPr/>
                </p:nvSpPr>
                <p:spPr>
                  <a:xfrm>
                    <a:off x="2432741" y="2366813"/>
                    <a:ext cx="408217" cy="4141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dirty="0"/>
                      <a:t>1</a:t>
                    </a:r>
                    <a:endParaRPr lang="ko-KR" altLang="en-US" dirty="0"/>
                  </a:p>
                </p:txBody>
              </p:sp>
              <p:sp>
                <p:nvSpPr>
                  <p:cNvPr id="83" name="TextBox 82"/>
                  <p:cNvSpPr txBox="1"/>
                  <p:nvPr/>
                </p:nvSpPr>
                <p:spPr>
                  <a:xfrm>
                    <a:off x="2432741" y="1916832"/>
                    <a:ext cx="408217" cy="4141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dirty="0"/>
                      <a:t>3</a:t>
                    </a:r>
                    <a:endParaRPr lang="ko-KR" altLang="en-US" dirty="0"/>
                  </a:p>
                </p:txBody>
              </p:sp>
            </p:grpSp>
            <p:cxnSp>
              <p:nvCxnSpPr>
                <p:cNvPr id="61" name="직선 화살표 연결선 60"/>
                <p:cNvCxnSpPr/>
                <p:nvPr/>
              </p:nvCxnSpPr>
              <p:spPr bwMode="auto">
                <a:xfrm rot="5400000">
                  <a:off x="4384007" y="2759737"/>
                  <a:ext cx="375986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  <a:headEnd type="none" w="med" len="med"/>
                  <a:tailEnd type="triangle" w="med" len="med"/>
                </a:ln>
                <a:effectLst/>
              </p:spPr>
            </p:cxnSp>
            <p:sp>
              <p:nvSpPr>
                <p:cNvPr id="62" name="TextBox 61"/>
                <p:cNvSpPr txBox="1"/>
                <p:nvPr/>
              </p:nvSpPr>
              <p:spPr>
                <a:xfrm>
                  <a:off x="4429124" y="1245446"/>
                  <a:ext cx="4082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rgbClr val="0070C0"/>
                      </a:solidFill>
                    </a:rPr>
                    <a:t>1</a:t>
                  </a:r>
                  <a:endParaRPr lang="ko-KR" altLang="en-US" dirty="0">
                    <a:solidFill>
                      <a:srgbClr val="0070C0"/>
                    </a:solidFill>
                  </a:endParaRPr>
                </a:p>
              </p:txBody>
            </p:sp>
            <p:sp>
              <p:nvSpPr>
                <p:cNvPr id="63" name="TextBox 62"/>
                <p:cNvSpPr txBox="1"/>
                <p:nvPr/>
              </p:nvSpPr>
              <p:spPr>
                <a:xfrm>
                  <a:off x="4429124" y="2202412"/>
                  <a:ext cx="4082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rgbClr val="0070C0"/>
                      </a:solidFill>
                    </a:rPr>
                    <a:t>1</a:t>
                  </a:r>
                  <a:endParaRPr lang="ko-KR" altLang="en-US" dirty="0">
                    <a:solidFill>
                      <a:srgbClr val="0070C0"/>
                    </a:solidFill>
                  </a:endParaRPr>
                </a:p>
              </p:txBody>
            </p:sp>
            <p:cxnSp>
              <p:nvCxnSpPr>
                <p:cNvPr id="64" name="직선 화살표 연결선 63"/>
                <p:cNvCxnSpPr/>
                <p:nvPr/>
              </p:nvCxnSpPr>
              <p:spPr bwMode="auto">
                <a:xfrm>
                  <a:off x="4571206" y="1529095"/>
                  <a:ext cx="794" cy="256831"/>
                </a:xfrm>
                <a:prstGeom prst="straightConnector1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  <a:headEnd type="none" w="med" len="med"/>
                  <a:tailEnd type="triangle" w="med" len="med"/>
                </a:ln>
                <a:effectLst/>
              </p:spPr>
            </p:cxnSp>
            <p:cxnSp>
              <p:nvCxnSpPr>
                <p:cNvPr id="65" name="직선 화살표 연결선 64"/>
                <p:cNvCxnSpPr/>
                <p:nvPr/>
              </p:nvCxnSpPr>
              <p:spPr bwMode="auto">
                <a:xfrm rot="5400000">
                  <a:off x="5475194" y="2168643"/>
                  <a:ext cx="375986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  <a:headEnd type="none" w="med" len="med"/>
                  <a:tailEnd type="triangle" w="med" len="med"/>
                </a:ln>
                <a:effectLst/>
              </p:spPr>
            </p:cxnSp>
            <p:sp>
              <p:nvSpPr>
                <p:cNvPr id="66" name="TextBox 65"/>
                <p:cNvSpPr txBox="1"/>
                <p:nvPr/>
              </p:nvSpPr>
              <p:spPr>
                <a:xfrm>
                  <a:off x="5521105" y="1571612"/>
                  <a:ext cx="4082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rgbClr val="0070C0"/>
                      </a:solidFill>
                    </a:rPr>
                    <a:t>1</a:t>
                  </a:r>
                  <a:endParaRPr lang="ko-KR" altLang="en-US" dirty="0">
                    <a:solidFill>
                      <a:srgbClr val="0070C0"/>
                    </a:solidFill>
                  </a:endParaRPr>
                </a:p>
              </p:txBody>
            </p:sp>
          </p:grpSp>
        </p:grpSp>
        <p:sp>
          <p:nvSpPr>
            <p:cNvPr id="54" name="TextBox 53"/>
            <p:cNvSpPr txBox="1"/>
            <p:nvPr/>
          </p:nvSpPr>
          <p:spPr>
            <a:xfrm>
              <a:off x="4000496" y="2071678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ym typeface="Symbol"/>
                </a:rPr>
                <a:t>y</a:t>
              </a:r>
            </a:p>
          </p:txBody>
        </p:sp>
      </p:grpSp>
      <p:grpSp>
        <p:nvGrpSpPr>
          <p:cNvPr id="84" name="그룹 145"/>
          <p:cNvGrpSpPr/>
          <p:nvPr/>
        </p:nvGrpSpPr>
        <p:grpSpPr>
          <a:xfrm>
            <a:off x="7345688" y="2426040"/>
            <a:ext cx="2765671" cy="1817787"/>
            <a:chOff x="1643042" y="1285860"/>
            <a:chExt cx="2765671" cy="1817787"/>
          </a:xfrm>
        </p:grpSpPr>
        <p:grpSp>
          <p:nvGrpSpPr>
            <p:cNvPr id="85" name="그룹 111"/>
            <p:cNvGrpSpPr/>
            <p:nvPr/>
          </p:nvGrpSpPr>
          <p:grpSpPr>
            <a:xfrm>
              <a:off x="1643042" y="1285860"/>
              <a:ext cx="2765671" cy="1817787"/>
              <a:chOff x="3163651" y="1571612"/>
              <a:chExt cx="2765671" cy="1817787"/>
            </a:xfrm>
          </p:grpSpPr>
          <p:sp>
            <p:nvSpPr>
              <p:cNvPr id="87" name="TextBox 86"/>
              <p:cNvSpPr txBox="1"/>
              <p:nvPr/>
            </p:nvSpPr>
            <p:spPr>
              <a:xfrm>
                <a:off x="3163651" y="1800439"/>
                <a:ext cx="408217" cy="414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2</a:t>
                </a:r>
                <a:endParaRPr lang="ko-KR" altLang="en-US" dirty="0"/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3163651" y="2943447"/>
                <a:ext cx="408217" cy="414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2</a:t>
                </a:r>
                <a:endParaRPr lang="ko-KR" altLang="en-US" dirty="0"/>
              </a:p>
            </p:txBody>
          </p:sp>
          <p:cxnSp>
            <p:nvCxnSpPr>
              <p:cNvPr id="89" name="직선 화살표 연결선 88"/>
              <p:cNvCxnSpPr/>
              <p:nvPr/>
            </p:nvCxnSpPr>
            <p:spPr bwMode="auto">
              <a:xfrm>
                <a:off x="3643306" y="2000240"/>
                <a:ext cx="571504" cy="178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arrow"/>
              </a:ln>
              <a:effectLst/>
            </p:spPr>
          </p:cxnSp>
          <p:cxnSp>
            <p:nvCxnSpPr>
              <p:cNvPr id="90" name="직선 화살표 연결선 89"/>
              <p:cNvCxnSpPr/>
              <p:nvPr/>
            </p:nvCxnSpPr>
            <p:spPr bwMode="auto">
              <a:xfrm>
                <a:off x="3643306" y="3143248"/>
                <a:ext cx="571504" cy="178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arrow"/>
              </a:ln>
              <a:effectLst/>
            </p:spPr>
          </p:cxnSp>
          <p:grpSp>
            <p:nvGrpSpPr>
              <p:cNvPr id="91" name="그룹 110"/>
              <p:cNvGrpSpPr/>
              <p:nvPr/>
            </p:nvGrpSpPr>
            <p:grpSpPr>
              <a:xfrm>
                <a:off x="4317920" y="1571612"/>
                <a:ext cx="1611402" cy="1817787"/>
                <a:chOff x="4317920" y="1571612"/>
                <a:chExt cx="1611402" cy="1817787"/>
              </a:xfrm>
            </p:grpSpPr>
            <p:grpSp>
              <p:nvGrpSpPr>
                <p:cNvPr id="92" name="그룹 92"/>
                <p:cNvGrpSpPr/>
                <p:nvPr/>
              </p:nvGrpSpPr>
              <p:grpSpPr>
                <a:xfrm>
                  <a:off x="4317920" y="1785926"/>
                  <a:ext cx="1589936" cy="1603473"/>
                  <a:chOff x="2746284" y="1500174"/>
                  <a:chExt cx="1589936" cy="1603473"/>
                </a:xfrm>
              </p:grpSpPr>
              <p:sp>
                <p:nvSpPr>
                  <p:cNvPr id="143" name="타원 142"/>
                  <p:cNvSpPr/>
                  <p:nvPr/>
                </p:nvSpPr>
                <p:spPr bwMode="auto">
                  <a:xfrm>
                    <a:off x="2746284" y="1500174"/>
                    <a:ext cx="478600" cy="450563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sp>
                <p:nvSpPr>
                  <p:cNvPr id="144" name="타원 8"/>
                  <p:cNvSpPr/>
                  <p:nvPr/>
                </p:nvSpPr>
                <p:spPr bwMode="auto">
                  <a:xfrm>
                    <a:off x="2746284" y="2653084"/>
                    <a:ext cx="478600" cy="450563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sp>
                <p:nvSpPr>
                  <p:cNvPr id="145" name="타원 9"/>
                  <p:cNvSpPr/>
                  <p:nvPr/>
                </p:nvSpPr>
                <p:spPr bwMode="auto">
                  <a:xfrm>
                    <a:off x="3857620" y="2049743"/>
                    <a:ext cx="478600" cy="450563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cxnSp>
                <p:nvCxnSpPr>
                  <p:cNvPr id="146" name="직선 화살표 연결선 145"/>
                  <p:cNvCxnSpPr>
                    <a:stCxn id="143" idx="6"/>
                  </p:cNvCxnSpPr>
                  <p:nvPr/>
                </p:nvCxnSpPr>
                <p:spPr bwMode="auto">
                  <a:xfrm>
                    <a:off x="3224884" y="1725456"/>
                    <a:ext cx="632736" cy="549569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triangle" w="med" len="med"/>
                  </a:ln>
                  <a:effectLst/>
                </p:spPr>
              </p:cxnSp>
              <p:cxnSp>
                <p:nvCxnSpPr>
                  <p:cNvPr id="147" name="직선 화살표 연결선 146"/>
                  <p:cNvCxnSpPr/>
                  <p:nvPr/>
                </p:nvCxnSpPr>
                <p:spPr bwMode="auto">
                  <a:xfrm flipV="1">
                    <a:off x="3224884" y="2275025"/>
                    <a:ext cx="632736" cy="603341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triangle" w="med" len="med"/>
                  </a:ln>
                  <a:effectLst/>
                </p:spPr>
              </p:cxnSp>
              <p:sp>
                <p:nvSpPr>
                  <p:cNvPr id="148" name="TextBox 147"/>
                  <p:cNvSpPr txBox="1"/>
                  <p:nvPr/>
                </p:nvSpPr>
                <p:spPr>
                  <a:xfrm>
                    <a:off x="3428992" y="1571612"/>
                    <a:ext cx="57150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dirty="0"/>
                      <a:t>11</a:t>
                    </a:r>
                    <a:endParaRPr lang="ko-KR" altLang="en-US" dirty="0"/>
                  </a:p>
                </p:txBody>
              </p:sp>
              <p:sp>
                <p:nvSpPr>
                  <p:cNvPr id="149" name="TextBox 148"/>
                  <p:cNvSpPr txBox="1"/>
                  <p:nvPr/>
                </p:nvSpPr>
                <p:spPr>
                  <a:xfrm>
                    <a:off x="3449403" y="2643182"/>
                    <a:ext cx="40821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dirty="0"/>
                      <a:t>3</a:t>
                    </a:r>
                    <a:endParaRPr lang="ko-KR" altLang="en-US" dirty="0"/>
                  </a:p>
                </p:txBody>
              </p:sp>
            </p:grpSp>
            <p:cxnSp>
              <p:nvCxnSpPr>
                <p:cNvPr id="141" name="직선 화살표 연결선 140"/>
                <p:cNvCxnSpPr/>
                <p:nvPr/>
              </p:nvCxnSpPr>
              <p:spPr bwMode="auto">
                <a:xfrm rot="5400000">
                  <a:off x="5475194" y="2168643"/>
                  <a:ext cx="375986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  <a:headEnd type="none" w="med" len="med"/>
                  <a:tailEnd type="triangle" w="med" len="med"/>
                </a:ln>
                <a:effectLst/>
              </p:spPr>
            </p:cxnSp>
            <p:sp>
              <p:nvSpPr>
                <p:cNvPr id="142" name="TextBox 141"/>
                <p:cNvSpPr txBox="1"/>
                <p:nvPr/>
              </p:nvSpPr>
              <p:spPr>
                <a:xfrm>
                  <a:off x="5521105" y="1571612"/>
                  <a:ext cx="4082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dirty="0">
                      <a:solidFill>
                        <a:srgbClr val="0070C0"/>
                      </a:solidFill>
                    </a:rPr>
                    <a:t>6</a:t>
                  </a:r>
                  <a:endParaRPr lang="ko-KR" altLang="en-US" dirty="0">
                    <a:solidFill>
                      <a:srgbClr val="0070C0"/>
                    </a:solidFill>
                  </a:endParaRPr>
                </a:p>
              </p:txBody>
            </p:sp>
          </p:grpSp>
        </p:grpSp>
        <p:sp>
          <p:nvSpPr>
            <p:cNvPr id="86" name="TextBox 85"/>
            <p:cNvSpPr txBox="1"/>
            <p:nvPr/>
          </p:nvSpPr>
          <p:spPr>
            <a:xfrm>
              <a:off x="4000496" y="2071678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ym typeface="Symbol"/>
                </a:rPr>
                <a:t>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="" xmlns:a16="http://schemas.microsoft.com/office/drawing/2014/main" id="{CD15804C-090A-40EF-BC32-A95DBCA7AA57}"/>
                  </a:ext>
                </a:extLst>
              </p:cNvPr>
              <p:cNvSpPr txBox="1"/>
              <p:nvPr/>
            </p:nvSpPr>
            <p:spPr>
              <a:xfrm>
                <a:off x="1844962" y="4591100"/>
                <a:ext cx="4243414" cy="5111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000" dirty="0"/>
                  <a:t>y 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ko-KR" sz="2000" dirty="0"/>
                  <a:t>1</a:t>
                </a:r>
                <a:endParaRPr lang="ko-KR" altLang="en-US" sz="2000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D15804C-090A-40EF-BC32-A95DBCA7A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962" y="4591100"/>
                <a:ext cx="4243414" cy="511166"/>
              </a:xfrm>
              <a:prstGeom prst="rect">
                <a:avLst/>
              </a:prstGeom>
              <a:blipFill rotWithShape="0">
                <a:blip r:embed="rId2"/>
                <a:stretch>
                  <a:fillRect l="-3736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="" xmlns:a16="http://schemas.microsoft.com/office/drawing/2014/main" id="{96917E33-F0B8-462A-B078-941CEB394426}"/>
                  </a:ext>
                </a:extLst>
              </p:cNvPr>
              <p:cNvSpPr txBox="1"/>
              <p:nvPr/>
            </p:nvSpPr>
            <p:spPr>
              <a:xfrm>
                <a:off x="2002760" y="5285108"/>
                <a:ext cx="4886356" cy="5111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0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ko-KR" sz="2000" dirty="0"/>
                  <a:t>1</a:t>
                </a:r>
                <a:endParaRPr lang="ko-KR" altLang="en-US" sz="2000" dirty="0"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6917E33-F0B8-462A-B078-941CEB394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760" y="5285108"/>
                <a:ext cx="4886356" cy="511166"/>
              </a:xfrm>
              <a:prstGeom prst="rect">
                <a:avLst/>
              </a:prstGeom>
              <a:blipFill rotWithShape="0">
                <a:blip r:embed="rId3"/>
                <a:stretch>
                  <a:fillRect l="-3246" b="-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="" xmlns:a16="http://schemas.microsoft.com/office/drawing/2014/main" id="{B7E70066-5E83-4977-B74F-986CB846E5B3}"/>
                  </a:ext>
                </a:extLst>
              </p:cNvPr>
              <p:cNvSpPr txBox="1"/>
              <p:nvPr/>
            </p:nvSpPr>
            <p:spPr>
              <a:xfrm>
                <a:off x="2002760" y="5987983"/>
                <a:ext cx="4886356" cy="5132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0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ko-KR" sz="2000" dirty="0"/>
                  <a:t>1</a:t>
                </a:r>
                <a:endParaRPr lang="ko-KR" altLang="en-US" sz="2000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7E70066-5E83-4977-B74F-986CB846E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760" y="5987983"/>
                <a:ext cx="4886356" cy="513217"/>
              </a:xfrm>
              <a:prstGeom prst="rect">
                <a:avLst/>
              </a:prstGeom>
              <a:blipFill rotWithShape="0">
                <a:blip r:embed="rId4"/>
                <a:stretch>
                  <a:fillRect l="-3246" b="-95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="" xmlns:a16="http://schemas.microsoft.com/office/drawing/2014/main" id="{284B984E-F8C8-48BF-85A5-D70606829F7A}"/>
                  </a:ext>
                </a:extLst>
              </p:cNvPr>
              <p:cNvSpPr txBox="1"/>
              <p:nvPr/>
            </p:nvSpPr>
            <p:spPr>
              <a:xfrm>
                <a:off x="7575395" y="4496112"/>
                <a:ext cx="2909725" cy="5132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0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84B984E-F8C8-48BF-85A5-D70606829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395" y="4496112"/>
                <a:ext cx="2909725" cy="513217"/>
              </a:xfrm>
              <a:prstGeom prst="rect">
                <a:avLst/>
              </a:prstGeom>
              <a:blipFill rotWithShape="0">
                <a:blip r:embed="rId5"/>
                <a:stretch>
                  <a:fillRect l="-5451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4" name="직선 연결선 153">
            <a:extLst>
              <a:ext uri="{FF2B5EF4-FFF2-40B4-BE49-F238E27FC236}">
                <a16:creationId xmlns="" xmlns:a16="http://schemas.microsoft.com/office/drawing/2014/main" id="{7CF4B7B5-A6DF-4FFF-A13D-B033AA556D00}"/>
              </a:ext>
            </a:extLst>
          </p:cNvPr>
          <p:cNvCxnSpPr/>
          <p:nvPr/>
        </p:nvCxnSpPr>
        <p:spPr bwMode="auto">
          <a:xfrm>
            <a:off x="2253179" y="5837267"/>
            <a:ext cx="131298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55" name="직선 연결선 154">
            <a:extLst>
              <a:ext uri="{FF2B5EF4-FFF2-40B4-BE49-F238E27FC236}">
                <a16:creationId xmlns="" xmlns:a16="http://schemas.microsoft.com/office/drawing/2014/main" id="{CB0F1E57-5B28-4C89-94A8-E371ECE54591}"/>
              </a:ext>
            </a:extLst>
          </p:cNvPr>
          <p:cNvCxnSpPr>
            <a:cxnSpLocks/>
          </p:cNvCxnSpPr>
          <p:nvPr/>
        </p:nvCxnSpPr>
        <p:spPr bwMode="auto">
          <a:xfrm>
            <a:off x="4266427" y="5837267"/>
            <a:ext cx="82840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="" xmlns:a16="http://schemas.microsoft.com/office/drawing/2014/main" id="{C5B7DFED-F0ED-4D25-A9CA-AEC4478BA8FA}"/>
                  </a:ext>
                </a:extLst>
              </p:cNvPr>
              <p:cNvSpPr txBox="1"/>
              <p:nvPr/>
            </p:nvSpPr>
            <p:spPr>
              <a:xfrm>
                <a:off x="4986523" y="5986221"/>
                <a:ext cx="314452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벡터의내적  </a:t>
                </a:r>
                <a:r>
                  <a:rPr lang="en-US" altLang="ko-KR" sz="1600" dirty="0"/>
                  <a:t>(</a:t>
                </a:r>
                <a:r>
                  <a:rPr lang="en-US" altLang="ko-KR" sz="1600" dirty="0">
                    <a:solidFill>
                      <a:schemeClr val="tx1"/>
                    </a:solidFill>
                  </a:rPr>
                  <a:t>4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sz="1600" dirty="0">
                    <a:solidFill>
                      <a:schemeClr val="tx1"/>
                    </a:solidFill>
                  </a:rPr>
                  <a:t>1)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ko-KR" sz="1600" dirty="0">
                    <a:solidFill>
                      <a:schemeClr val="tx1"/>
                    </a:solidFill>
                  </a:rPr>
                  <a:t> (1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altLang="ko-KR" sz="1600" dirty="0">
                    <a:solidFill>
                      <a:schemeClr val="tx1"/>
                    </a:solidFill>
                  </a:rPr>
                  <a:t>1)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5B7DFED-F0ED-4D25-A9CA-AEC4478BA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6523" y="5986221"/>
                <a:ext cx="3144521" cy="338554"/>
              </a:xfrm>
              <a:prstGeom prst="rect">
                <a:avLst/>
              </a:prstGeom>
              <a:blipFill rotWithShape="0">
                <a:blip r:embed="rId6"/>
                <a:stretch>
                  <a:fillRect l="-969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7" name="직선 화살표 연결선 156">
            <a:extLst>
              <a:ext uri="{FF2B5EF4-FFF2-40B4-BE49-F238E27FC236}">
                <a16:creationId xmlns="" xmlns:a16="http://schemas.microsoft.com/office/drawing/2014/main" id="{68FF7E03-718D-4826-867F-400F69BE05B1}"/>
              </a:ext>
            </a:extLst>
          </p:cNvPr>
          <p:cNvCxnSpPr>
            <a:endCxn id="156" idx="1"/>
          </p:cNvCxnSpPr>
          <p:nvPr/>
        </p:nvCxnSpPr>
        <p:spPr bwMode="auto">
          <a:xfrm>
            <a:off x="4680629" y="5837267"/>
            <a:ext cx="305894" cy="3182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58" name="TextBox 157">
            <a:extLst>
              <a:ext uri="{FF2B5EF4-FFF2-40B4-BE49-F238E27FC236}">
                <a16:creationId xmlns="" xmlns:a16="http://schemas.microsoft.com/office/drawing/2014/main" id="{4D9A22AC-7820-4309-B93C-CBA082987B1E}"/>
              </a:ext>
            </a:extLst>
          </p:cNvPr>
          <p:cNvSpPr txBox="1"/>
          <p:nvPr/>
        </p:nvSpPr>
        <p:spPr>
          <a:xfrm>
            <a:off x="6558784" y="3343904"/>
            <a:ext cx="79602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=</a:t>
            </a:r>
            <a:endParaRPr lang="ko-KR" altLang="en-US" dirty="0"/>
          </a:p>
        </p:txBody>
      </p:sp>
      <p:sp>
        <p:nvSpPr>
          <p:cNvPr id="159" name="TextBox 158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7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선형 함수로만 이루어진 경우에 다층 신경망은 단층으로 만들 수 있음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29496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비선형 분포 분류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2801114" y="2718300"/>
            <a:ext cx="6586726" cy="4224629"/>
            <a:chOff x="1672208" y="1522511"/>
            <a:chExt cx="8604448" cy="5518767"/>
          </a:xfrm>
        </p:grpSpPr>
        <p:sp>
          <p:nvSpPr>
            <p:cNvPr id="99" name="TextBox 98"/>
            <p:cNvSpPr txBox="1"/>
            <p:nvPr/>
          </p:nvSpPr>
          <p:spPr>
            <a:xfrm>
              <a:off x="2957490" y="2614602"/>
              <a:ext cx="1643074" cy="9077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비선형 사요 바운더리</a:t>
              </a:r>
            </a:p>
            <a:p>
              <a:pPr lvl="0">
                <a:defRPr/>
              </a:pPr>
              <a:r>
                <a:rPr lang="ko-KR" altLang="en-US"/>
                <a:t>그림들</a:t>
              </a:r>
            </a:p>
          </p:txBody>
        </p:sp>
        <p:grpSp>
          <p:nvGrpSpPr>
            <p:cNvPr id="100" name="그룹 99"/>
            <p:cNvGrpSpPr/>
            <p:nvPr/>
          </p:nvGrpSpPr>
          <p:grpSpPr>
            <a:xfrm>
              <a:off x="1779712" y="1616750"/>
              <a:ext cx="4071966" cy="2786082"/>
              <a:chOff x="4714876" y="3000372"/>
              <a:chExt cx="4133850" cy="2581275"/>
            </a:xfrm>
          </p:grpSpPr>
          <p:pic>
            <p:nvPicPr>
              <p:cNvPr id="101" name="Picture 2"/>
              <p:cNvPicPr>
                <a:picLocks noChangeAspect="1" noChangeArrowheads="1"/>
              </p:cNvPicPr>
              <p:nvPr/>
            </p:nvPicPr>
            <p:blipFill rotWithShape="1">
              <a:blip r:embed="rId2"/>
              <a:srcRect/>
              <a:stretch>
                <a:fillRect/>
              </a:stretch>
            </p:blipFill>
            <p:spPr>
              <a:xfrm>
                <a:off x="4714876" y="3000372"/>
                <a:ext cx="4133850" cy="2581275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</p:pic>
          <p:cxnSp>
            <p:nvCxnSpPr>
              <p:cNvPr id="102" name="직선 연결선 101"/>
              <p:cNvCxnSpPr/>
              <p:nvPr/>
            </p:nvCxnSpPr>
            <p:spPr>
              <a:xfrm>
                <a:off x="5429256" y="3429000"/>
                <a:ext cx="2786082" cy="171451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</p:grpSp>
        <p:pic>
          <p:nvPicPr>
            <p:cNvPr id="103" name="그림 10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6028184" y="1522511"/>
              <a:ext cx="4248472" cy="2832315"/>
            </a:xfrm>
            <a:prstGeom prst="rect">
              <a:avLst/>
            </a:prstGeom>
          </p:spPr>
        </p:pic>
        <p:pic>
          <p:nvPicPr>
            <p:cNvPr id="104" name="그림 103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1672208" y="4184960"/>
              <a:ext cx="4283968" cy="2855978"/>
            </a:xfrm>
            <a:prstGeom prst="rect">
              <a:avLst/>
            </a:prstGeom>
          </p:spPr>
        </p:pic>
        <p:pic>
          <p:nvPicPr>
            <p:cNvPr id="105" name="그림 104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6023948" y="4354826"/>
              <a:ext cx="4108691" cy="2686452"/>
            </a:xfrm>
            <a:prstGeom prst="rect">
              <a:avLst/>
            </a:prstGeom>
          </p:spPr>
        </p:pic>
      </p:grpSp>
      <p:sp>
        <p:nvSpPr>
          <p:cNvPr id="106" name="TextBox 105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6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비선형 함수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다수의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은닉층을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사용하면 비선형 결정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경계면을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갖게되어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복잡한 분포를 좀 더 정교하게 분류할 수 있음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90785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활성화 함수의 특성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82016" y="4244344"/>
            <a:ext cx="228598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부드럽게 연속적이다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극점에서 천천히 </a:t>
            </a:r>
            <a:r>
              <a:rPr lang="ko-KR" altLang="en-US" sz="1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함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=&gt;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학습에 적합하다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3952894" y="6251323"/>
            <a:ext cx="77867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 함수의 공통점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무한대에서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수렴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–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무한대에서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으로 수렴</a:t>
            </a:r>
          </a:p>
        </p:txBody>
      </p:sp>
      <p:grpSp>
        <p:nvGrpSpPr>
          <p:cNvPr id="59" name="그룹 58"/>
          <p:cNvGrpSpPr/>
          <p:nvPr/>
        </p:nvGrpSpPr>
        <p:grpSpPr>
          <a:xfrm>
            <a:off x="3738546" y="1744014"/>
            <a:ext cx="2143140" cy="1857390"/>
            <a:chOff x="877635" y="1146090"/>
            <a:chExt cx="1836977" cy="1776634"/>
          </a:xfrm>
        </p:grpSpPr>
        <p:cxnSp>
          <p:nvCxnSpPr>
            <p:cNvPr id="60" name="직선 연결선 59"/>
            <p:cNvCxnSpPr/>
            <p:nvPr/>
          </p:nvCxnSpPr>
          <p:spPr bwMode="auto">
            <a:xfrm>
              <a:off x="877635" y="2034406"/>
              <a:ext cx="1653279" cy="1519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직선 연결선 60"/>
            <p:cNvCxnSpPr/>
            <p:nvPr/>
          </p:nvCxnSpPr>
          <p:spPr bwMode="auto">
            <a:xfrm rot="16200000" flipH="1">
              <a:off x="785343" y="2034406"/>
              <a:ext cx="1776634" cy="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꺾인 연결선 61"/>
            <p:cNvCxnSpPr/>
            <p:nvPr/>
          </p:nvCxnSpPr>
          <p:spPr bwMode="auto">
            <a:xfrm rot="10800000" flipV="1">
              <a:off x="1122565" y="1487717"/>
              <a:ext cx="1102186" cy="546624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63" name="TextBox 62"/>
            <p:cNvSpPr txBox="1"/>
            <p:nvPr/>
          </p:nvSpPr>
          <p:spPr>
            <a:xfrm>
              <a:off x="1285852" y="1351086"/>
              <a:ext cx="428628" cy="323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맑은 고딕" pitchFamily="50" charset="-127"/>
                  <a:ea typeface="맑은 고딕" pitchFamily="50" charset="-127"/>
                </a:rPr>
                <a:t>+1</a:t>
              </a:r>
              <a:endParaRPr lang="ko-KR" altLang="en-US" sz="16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673658" y="1983867"/>
              <a:ext cx="428628" cy="323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6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143108" y="1983867"/>
              <a:ext cx="428628" cy="323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맑은 고딕" pitchFamily="50" charset="-127"/>
                  <a:ea typeface="맑은 고딕" pitchFamily="50" charset="-127"/>
                  <a:sym typeface="Symbol"/>
                </a:rPr>
                <a:t></a:t>
              </a:r>
              <a:endParaRPr lang="ko-KR" altLang="en-US" sz="16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2071670" y="1146090"/>
              <a:ext cx="642942" cy="3238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6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f(</a:t>
              </a:r>
              <a:r>
                <a:rPr lang="en-US" altLang="ko-KR" sz="1600" dirty="0">
                  <a:latin typeface="맑은 고딕" pitchFamily="50" charset="-127"/>
                  <a:ea typeface="맑은 고딕" pitchFamily="50" charset="-127"/>
                  <a:sym typeface="Symbol"/>
                </a:rPr>
                <a:t></a:t>
              </a:r>
              <a:r>
                <a:rPr lang="en-US" altLang="ko-KR" sz="16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</p:txBody>
        </p:sp>
      </p:grpSp>
      <p:grpSp>
        <p:nvGrpSpPr>
          <p:cNvPr id="67" name="그룹 66"/>
          <p:cNvGrpSpPr/>
          <p:nvPr/>
        </p:nvGrpSpPr>
        <p:grpSpPr>
          <a:xfrm>
            <a:off x="5881686" y="1601138"/>
            <a:ext cx="2143140" cy="1857390"/>
            <a:chOff x="3643306" y="1071544"/>
            <a:chExt cx="2143140" cy="1857390"/>
          </a:xfrm>
        </p:grpSpPr>
        <p:grpSp>
          <p:nvGrpSpPr>
            <p:cNvPr id="68" name="그룹 67"/>
            <p:cNvGrpSpPr/>
            <p:nvPr/>
          </p:nvGrpSpPr>
          <p:grpSpPr>
            <a:xfrm>
              <a:off x="3643306" y="1071544"/>
              <a:ext cx="2143140" cy="1857390"/>
              <a:chOff x="877635" y="1146090"/>
              <a:chExt cx="1836977" cy="1776634"/>
            </a:xfrm>
          </p:grpSpPr>
          <p:cxnSp>
            <p:nvCxnSpPr>
              <p:cNvPr id="72" name="직선 연결선 71"/>
              <p:cNvCxnSpPr/>
              <p:nvPr/>
            </p:nvCxnSpPr>
            <p:spPr bwMode="auto">
              <a:xfrm>
                <a:off x="877635" y="2034406"/>
                <a:ext cx="1653279" cy="1519"/>
              </a:xfrm>
              <a:prstGeom prst="line">
                <a:avLst/>
              </a:prstGeom>
              <a:solidFill>
                <a:schemeClr val="accent1"/>
              </a:solidFill>
              <a:ln w="635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3" name="직선 연결선 72"/>
              <p:cNvCxnSpPr/>
              <p:nvPr/>
            </p:nvCxnSpPr>
            <p:spPr bwMode="auto">
              <a:xfrm rot="16200000" flipH="1">
                <a:off x="785343" y="2034406"/>
                <a:ext cx="1776634" cy="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4" name="TextBox 73"/>
              <p:cNvSpPr txBox="1"/>
              <p:nvPr/>
            </p:nvSpPr>
            <p:spPr>
              <a:xfrm>
                <a:off x="1285852" y="1351088"/>
                <a:ext cx="428628" cy="323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latin typeface="맑은 고딕" pitchFamily="50" charset="-127"/>
                    <a:ea typeface="맑은 고딕" pitchFamily="50" charset="-127"/>
                  </a:rPr>
                  <a:t>+1</a:t>
                </a:r>
                <a:endParaRPr lang="ko-KR" altLang="en-US" sz="1600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1673658" y="1983869"/>
                <a:ext cx="428628" cy="323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latin typeface="맑은 고딕" pitchFamily="50" charset="-127"/>
                    <a:ea typeface="맑은 고딕" pitchFamily="50" charset="-127"/>
                  </a:rPr>
                  <a:t>0</a:t>
                </a:r>
                <a:endParaRPr lang="ko-KR" altLang="en-US" sz="1600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2143108" y="1983869"/>
                <a:ext cx="428628" cy="323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latin typeface="맑은 고딕" pitchFamily="50" charset="-127"/>
                    <a:ea typeface="맑은 고딕" pitchFamily="50" charset="-127"/>
                    <a:sym typeface="Symbol"/>
                  </a:rPr>
                  <a:t></a:t>
                </a:r>
                <a:endParaRPr lang="ko-KR" altLang="en-US" sz="1600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77" name="직사각형 76"/>
              <p:cNvSpPr/>
              <p:nvPr/>
            </p:nvSpPr>
            <p:spPr>
              <a:xfrm>
                <a:off x="2071670" y="1146092"/>
                <a:ext cx="642942" cy="3238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1600" dirty="0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</a:rPr>
                  <a:t>f(</a:t>
                </a:r>
                <a:r>
                  <a:rPr lang="en-US" altLang="ko-KR" sz="1600" dirty="0">
                    <a:latin typeface="맑은 고딕" pitchFamily="50" charset="-127"/>
                    <a:ea typeface="맑은 고딕" pitchFamily="50" charset="-127"/>
                    <a:sym typeface="Symbol"/>
                  </a:rPr>
                  <a:t></a:t>
                </a:r>
                <a:r>
                  <a:rPr lang="en-US" altLang="ko-KR" sz="1600" dirty="0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</a:rPr>
                  <a:t>)</a:t>
                </a:r>
              </a:p>
            </p:txBody>
          </p:sp>
        </p:grpSp>
        <p:cxnSp>
          <p:nvCxnSpPr>
            <p:cNvPr id="69" name="직선 연결선 68"/>
            <p:cNvCxnSpPr/>
            <p:nvPr/>
          </p:nvCxnSpPr>
          <p:spPr bwMode="auto">
            <a:xfrm>
              <a:off x="4071934" y="2000240"/>
              <a:ext cx="500066" cy="158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직선 연결선 69"/>
            <p:cNvCxnSpPr/>
            <p:nvPr/>
          </p:nvCxnSpPr>
          <p:spPr bwMode="auto">
            <a:xfrm>
              <a:off x="4857752" y="1428736"/>
              <a:ext cx="500066" cy="158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직선 연결선 70"/>
            <p:cNvCxnSpPr/>
            <p:nvPr/>
          </p:nvCxnSpPr>
          <p:spPr bwMode="auto">
            <a:xfrm rot="5400000">
              <a:off x="4429124" y="1571612"/>
              <a:ext cx="571504" cy="28575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8" name="그룹 49"/>
          <p:cNvGrpSpPr/>
          <p:nvPr/>
        </p:nvGrpSpPr>
        <p:grpSpPr>
          <a:xfrm>
            <a:off x="8167702" y="1672576"/>
            <a:ext cx="2143142" cy="1857337"/>
            <a:chOff x="877635" y="1146090"/>
            <a:chExt cx="1836977" cy="1776634"/>
          </a:xfrm>
        </p:grpSpPr>
        <p:cxnSp>
          <p:nvCxnSpPr>
            <p:cNvPr id="79" name="직선 연결선 78"/>
            <p:cNvCxnSpPr/>
            <p:nvPr/>
          </p:nvCxnSpPr>
          <p:spPr bwMode="auto">
            <a:xfrm>
              <a:off x="877635" y="2034406"/>
              <a:ext cx="1653279" cy="1519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직선 연결선 79"/>
            <p:cNvCxnSpPr/>
            <p:nvPr/>
          </p:nvCxnSpPr>
          <p:spPr bwMode="auto">
            <a:xfrm rot="16200000" flipH="1">
              <a:off x="785343" y="2034406"/>
              <a:ext cx="1776634" cy="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81" name="TextBox 80"/>
            <p:cNvSpPr txBox="1"/>
            <p:nvPr/>
          </p:nvSpPr>
          <p:spPr>
            <a:xfrm>
              <a:off x="1285852" y="1351088"/>
              <a:ext cx="428628" cy="323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맑은 고딕" pitchFamily="50" charset="-127"/>
                  <a:ea typeface="맑은 고딕" pitchFamily="50" charset="-127"/>
                </a:rPr>
                <a:t>+1</a:t>
              </a:r>
              <a:endParaRPr lang="ko-KR" altLang="en-US" sz="16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673658" y="1983933"/>
              <a:ext cx="428628" cy="323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6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2143108" y="1983933"/>
              <a:ext cx="428628" cy="323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맑은 고딕" pitchFamily="50" charset="-127"/>
                  <a:ea typeface="맑은 고딕" pitchFamily="50" charset="-127"/>
                  <a:sym typeface="Symbol"/>
                </a:rPr>
                <a:t></a:t>
              </a:r>
              <a:endParaRPr lang="ko-KR" altLang="en-US" sz="16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2071670" y="1146092"/>
              <a:ext cx="642942" cy="3238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6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f(</a:t>
              </a:r>
              <a:r>
                <a:rPr lang="en-US" altLang="ko-KR" sz="1600" dirty="0">
                  <a:latin typeface="맑은 고딕" pitchFamily="50" charset="-127"/>
                  <a:ea typeface="맑은 고딕" pitchFamily="50" charset="-127"/>
                  <a:sym typeface="Symbol"/>
                </a:rPr>
                <a:t></a:t>
              </a:r>
              <a:r>
                <a:rPr lang="en-US" altLang="ko-KR" sz="16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</p:txBody>
        </p:sp>
      </p:grpSp>
      <p:sp>
        <p:nvSpPr>
          <p:cNvPr id="85" name="자유형 84"/>
          <p:cNvSpPr/>
          <p:nvPr/>
        </p:nvSpPr>
        <p:spPr bwMode="auto">
          <a:xfrm>
            <a:off x="8142842" y="2029800"/>
            <a:ext cx="1810810" cy="567987"/>
          </a:xfrm>
          <a:custGeom>
            <a:avLst/>
            <a:gdLst>
              <a:gd name="connsiteX0" fmla="*/ 0 w 1667934"/>
              <a:gd name="connsiteY0" fmla="*/ 500945 h 508001"/>
              <a:gd name="connsiteX1" fmla="*/ 270934 w 1667934"/>
              <a:gd name="connsiteY1" fmla="*/ 500945 h 508001"/>
              <a:gd name="connsiteX2" fmla="*/ 482600 w 1667934"/>
              <a:gd name="connsiteY2" fmla="*/ 458611 h 508001"/>
              <a:gd name="connsiteX3" fmla="*/ 685800 w 1667934"/>
              <a:gd name="connsiteY3" fmla="*/ 365478 h 508001"/>
              <a:gd name="connsiteX4" fmla="*/ 855134 w 1667934"/>
              <a:gd name="connsiteY4" fmla="*/ 221545 h 508001"/>
              <a:gd name="connsiteX5" fmla="*/ 1058334 w 1667934"/>
              <a:gd name="connsiteY5" fmla="*/ 69145 h 508001"/>
              <a:gd name="connsiteX6" fmla="*/ 1329267 w 1667934"/>
              <a:gd name="connsiteY6" fmla="*/ 9878 h 508001"/>
              <a:gd name="connsiteX7" fmla="*/ 1574800 w 1667934"/>
              <a:gd name="connsiteY7" fmla="*/ 9878 h 508001"/>
              <a:gd name="connsiteX8" fmla="*/ 1642534 w 1667934"/>
              <a:gd name="connsiteY8" fmla="*/ 18345 h 508001"/>
              <a:gd name="connsiteX9" fmla="*/ 1667934 w 1667934"/>
              <a:gd name="connsiteY9" fmla="*/ 9878 h 50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67934" h="508001">
                <a:moveTo>
                  <a:pt x="0" y="500945"/>
                </a:moveTo>
                <a:cubicBezTo>
                  <a:pt x="95250" y="504473"/>
                  <a:pt x="190501" y="508001"/>
                  <a:pt x="270934" y="500945"/>
                </a:cubicBezTo>
                <a:cubicBezTo>
                  <a:pt x="351367" y="493889"/>
                  <a:pt x="413456" y="481189"/>
                  <a:pt x="482600" y="458611"/>
                </a:cubicBezTo>
                <a:cubicBezTo>
                  <a:pt x="551744" y="436033"/>
                  <a:pt x="623711" y="404989"/>
                  <a:pt x="685800" y="365478"/>
                </a:cubicBezTo>
                <a:cubicBezTo>
                  <a:pt x="747889" y="325967"/>
                  <a:pt x="793045" y="270934"/>
                  <a:pt x="855134" y="221545"/>
                </a:cubicBezTo>
                <a:cubicBezTo>
                  <a:pt x="917223" y="172156"/>
                  <a:pt x="979312" y="104423"/>
                  <a:pt x="1058334" y="69145"/>
                </a:cubicBezTo>
                <a:cubicBezTo>
                  <a:pt x="1137356" y="33867"/>
                  <a:pt x="1243189" y="19756"/>
                  <a:pt x="1329267" y="9878"/>
                </a:cubicBezTo>
                <a:cubicBezTo>
                  <a:pt x="1415345" y="0"/>
                  <a:pt x="1522589" y="8467"/>
                  <a:pt x="1574800" y="9878"/>
                </a:cubicBezTo>
                <a:cubicBezTo>
                  <a:pt x="1627011" y="11289"/>
                  <a:pt x="1627012" y="18345"/>
                  <a:pt x="1642534" y="18345"/>
                </a:cubicBezTo>
                <a:cubicBezTo>
                  <a:pt x="1658056" y="18345"/>
                  <a:pt x="1662995" y="14111"/>
                  <a:pt x="1667934" y="9878"/>
                </a:cubicBez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881422" y="4244344"/>
            <a:ext cx="221457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0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이나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출력 </a:t>
            </a:r>
            <a:r>
              <a:rPr lang="ko-KR" altLang="en-US" sz="1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값이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단순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출력 범위 제한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불연속적이다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극점에서 급격히 변한다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미분 값이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아닌 구간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거의 한 점으로 좁다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미분  값이 너무 단순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024562" y="4244344"/>
            <a:ext cx="214314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입력 값이 커질 수록 출력 </a:t>
            </a:r>
            <a:r>
              <a:rPr lang="ko-KR" altLang="en-US" sz="1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값은 </a:t>
            </a:r>
            <a:r>
              <a:rPr lang="en-US" altLang="ko-KR" sz="1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가까워지고  출력 값이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사이의 값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다양한 미분 값 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극점에서 급격히 변한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1524000" y="4315782"/>
            <a:ext cx="22701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출력 범위 제한이 없음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모든 구간에서 미분 값 존재</a:t>
            </a:r>
          </a:p>
        </p:txBody>
      </p:sp>
      <p:grpSp>
        <p:nvGrpSpPr>
          <p:cNvPr id="92" name="그룹 91"/>
          <p:cNvGrpSpPr/>
          <p:nvPr/>
        </p:nvGrpSpPr>
        <p:grpSpPr>
          <a:xfrm>
            <a:off x="1524000" y="1672576"/>
            <a:ext cx="2428892" cy="1910225"/>
            <a:chOff x="785786" y="1142984"/>
            <a:chExt cx="2428892" cy="1910225"/>
          </a:xfrm>
        </p:grpSpPr>
        <p:grpSp>
          <p:nvGrpSpPr>
            <p:cNvPr id="141" name="그룹 30"/>
            <p:cNvGrpSpPr/>
            <p:nvPr/>
          </p:nvGrpSpPr>
          <p:grpSpPr>
            <a:xfrm>
              <a:off x="785786" y="1142953"/>
              <a:ext cx="2428894" cy="1910171"/>
              <a:chOff x="877635" y="1095552"/>
              <a:chExt cx="2081907" cy="1827172"/>
            </a:xfrm>
          </p:grpSpPr>
          <p:cxnSp>
            <p:nvCxnSpPr>
              <p:cNvPr id="144" name="직선 연결선 143"/>
              <p:cNvCxnSpPr/>
              <p:nvPr/>
            </p:nvCxnSpPr>
            <p:spPr bwMode="auto">
              <a:xfrm>
                <a:off x="877635" y="2034406"/>
                <a:ext cx="1653279" cy="1519"/>
              </a:xfrm>
              <a:prstGeom prst="line">
                <a:avLst/>
              </a:prstGeom>
              <a:solidFill>
                <a:schemeClr val="accent1"/>
              </a:solidFill>
              <a:ln w="635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5" name="직선 연결선 144"/>
              <p:cNvCxnSpPr/>
              <p:nvPr/>
            </p:nvCxnSpPr>
            <p:spPr bwMode="auto">
              <a:xfrm rot="16200000" flipH="1">
                <a:off x="785343" y="2034406"/>
                <a:ext cx="1776634" cy="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6" name="TextBox 145"/>
              <p:cNvSpPr txBox="1"/>
              <p:nvPr/>
            </p:nvSpPr>
            <p:spPr>
              <a:xfrm>
                <a:off x="1285852" y="1351086"/>
                <a:ext cx="428628" cy="323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latin typeface="맑은 고딕" pitchFamily="50" charset="-127"/>
                    <a:ea typeface="맑은 고딕" pitchFamily="50" charset="-127"/>
                  </a:rPr>
                  <a:t>+1</a:t>
                </a:r>
                <a:endParaRPr lang="ko-KR" altLang="en-US" sz="1600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47" name="TextBox 146"/>
              <p:cNvSpPr txBox="1"/>
              <p:nvPr/>
            </p:nvSpPr>
            <p:spPr>
              <a:xfrm>
                <a:off x="1673658" y="1983868"/>
                <a:ext cx="428628" cy="323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latin typeface="맑은 고딕" pitchFamily="50" charset="-127"/>
                    <a:ea typeface="맑은 고딕" pitchFamily="50" charset="-127"/>
                  </a:rPr>
                  <a:t>0</a:t>
                </a:r>
                <a:endParaRPr lang="ko-KR" altLang="en-US" sz="1600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48" name="TextBox 147"/>
              <p:cNvSpPr txBox="1"/>
              <p:nvPr/>
            </p:nvSpPr>
            <p:spPr>
              <a:xfrm>
                <a:off x="2143108" y="1966042"/>
                <a:ext cx="428628" cy="323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latin typeface="맑은 고딕" pitchFamily="50" charset="-127"/>
                    <a:ea typeface="맑은 고딕" pitchFamily="50" charset="-127"/>
                    <a:sym typeface="Symbol"/>
                  </a:rPr>
                  <a:t></a:t>
                </a:r>
                <a:endParaRPr lang="ko-KR" altLang="en-US" sz="1600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49" name="직사각형 148"/>
              <p:cNvSpPr/>
              <p:nvPr/>
            </p:nvSpPr>
            <p:spPr>
              <a:xfrm>
                <a:off x="2071670" y="1095552"/>
                <a:ext cx="887872" cy="6771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1600" dirty="0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</a:rPr>
                  <a:t>f (</a:t>
                </a:r>
                <a:r>
                  <a:rPr lang="en-US" altLang="ko-KR" sz="1600" dirty="0">
                    <a:latin typeface="맑은 고딕" pitchFamily="50" charset="-127"/>
                    <a:ea typeface="맑은 고딕" pitchFamily="50" charset="-127"/>
                    <a:sym typeface="Symbol"/>
                  </a:rPr>
                  <a:t></a:t>
                </a:r>
                <a:r>
                  <a:rPr lang="en-US" altLang="ko-KR" sz="1600" dirty="0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</a:rPr>
                  <a:t>) = </a:t>
                </a:r>
                <a:r>
                  <a:rPr lang="en-US" altLang="ko-KR" sz="1600" dirty="0">
                    <a:latin typeface="맑은 고딕" pitchFamily="50" charset="-127"/>
                    <a:ea typeface="맑은 고딕" pitchFamily="50" charset="-127"/>
                    <a:sym typeface="Symbol"/>
                  </a:rPr>
                  <a:t></a:t>
                </a:r>
                <a:endParaRPr lang="ko-KR" altLang="en-US" sz="1600" dirty="0">
                  <a:latin typeface="맑은 고딕" pitchFamily="50" charset="-127"/>
                  <a:ea typeface="맑은 고딕" pitchFamily="50" charset="-127"/>
                </a:endParaRPr>
              </a:p>
              <a:p>
                <a:pPr>
                  <a:spcBef>
                    <a:spcPct val="50000"/>
                  </a:spcBef>
                </a:pPr>
                <a:endParaRPr lang="en-US" altLang="ko-KR" sz="16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cxnSp>
          <p:nvCxnSpPr>
            <p:cNvPr id="142" name="직선 연결선 141"/>
            <p:cNvCxnSpPr/>
            <p:nvPr/>
          </p:nvCxnSpPr>
          <p:spPr bwMode="auto">
            <a:xfrm flipV="1">
              <a:off x="1000100" y="1500174"/>
              <a:ext cx="1428760" cy="121444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143" name="TextBox 142"/>
            <p:cNvSpPr txBox="1"/>
            <p:nvPr/>
          </p:nvSpPr>
          <p:spPr>
            <a:xfrm>
              <a:off x="1785918" y="2518942"/>
              <a:ext cx="5000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맑은 고딕" pitchFamily="50" charset="-127"/>
                  <a:ea typeface="맑은 고딕" pitchFamily="50" charset="-127"/>
                </a:rPr>
                <a:t>-1</a:t>
              </a:r>
              <a:endParaRPr lang="ko-KR" altLang="en-US" sz="16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56" name="모서리가 둥근 직사각형 155"/>
          <p:cNvSpPr/>
          <p:nvPr/>
        </p:nvSpPr>
        <p:spPr>
          <a:xfrm>
            <a:off x="1845475" y="3691493"/>
            <a:ext cx="1285875" cy="366125"/>
          </a:xfrm>
          <a:prstGeom prst="roundRect">
            <a:avLst>
              <a:gd name="adj" fmla="val 50000"/>
            </a:avLst>
          </a:prstGeom>
          <a:solidFill>
            <a:srgbClr val="173F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항등</a:t>
            </a:r>
            <a:r>
              <a:rPr lang="ko-KR" altLang="en-US" sz="2400" dirty="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 함수</a:t>
            </a:r>
            <a:endParaRPr lang="ko-KR" altLang="en-US" sz="2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3988607" y="3691493"/>
            <a:ext cx="1285875" cy="366125"/>
          </a:xfrm>
          <a:prstGeom prst="roundRect">
            <a:avLst>
              <a:gd name="adj" fmla="val 50000"/>
            </a:avLst>
          </a:prstGeom>
          <a:solidFill>
            <a:srgbClr val="173F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계단 함수</a:t>
            </a:r>
            <a:endParaRPr lang="ko-KR" altLang="en-US" sz="2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6057666" y="3691493"/>
            <a:ext cx="1534009" cy="366125"/>
          </a:xfrm>
          <a:prstGeom prst="roundRect">
            <a:avLst>
              <a:gd name="adj" fmla="val 50000"/>
            </a:avLst>
          </a:prstGeom>
          <a:solidFill>
            <a:srgbClr val="173F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임계논리 함수</a:t>
            </a:r>
            <a:endParaRPr lang="ko-KR" altLang="en-US" sz="2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8329391" y="3691493"/>
            <a:ext cx="1534009" cy="366125"/>
          </a:xfrm>
          <a:prstGeom prst="roundRect">
            <a:avLst>
              <a:gd name="adj" fmla="val 50000"/>
            </a:avLst>
          </a:prstGeom>
          <a:solidFill>
            <a:srgbClr val="173F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시그모이드</a:t>
            </a:r>
            <a:r>
              <a:rPr lang="ko-KR" altLang="en-US" sz="2400" dirty="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 함수</a:t>
            </a:r>
            <a:endParaRPr lang="ko-KR" altLang="en-US" sz="2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44669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활성화 함수에 따른 </a:t>
            </a:r>
            <a:r>
              <a:rPr lang="ko-KR" altLang="en-US" dirty="0" err="1" smtClean="0"/>
              <a:t>경사하강법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1216180" y="3182475"/>
            <a:ext cx="5328592" cy="2438459"/>
            <a:chOff x="1546051" y="1628800"/>
            <a:chExt cx="5328592" cy="2438459"/>
          </a:xfrm>
        </p:grpSpPr>
        <p:sp>
          <p:nvSpPr>
            <p:cNvPr id="67" name="TextBox 66">
              <a:extLst>
                <a:ext uri="{FF2B5EF4-FFF2-40B4-BE49-F238E27FC236}">
                  <a16:creationId xmlns="" xmlns:a16="http://schemas.microsoft.com/office/drawing/2014/main" id="{D29F7C3E-02DC-4CC1-B72C-E0A1B087255F}"/>
                </a:ext>
              </a:extLst>
            </p:cNvPr>
            <p:cNvSpPr txBox="1"/>
            <p:nvPr/>
          </p:nvSpPr>
          <p:spPr>
            <a:xfrm>
              <a:off x="1546051" y="1628800"/>
              <a:ext cx="53285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1)</a:t>
              </a:r>
              <a:r>
                <a:rPr lang="ko-KR" altLang="en-US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계단함수를 사용할 때 가중치 업데이트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/>
                <p:cNvSpPr txBox="1"/>
                <p:nvPr/>
              </p:nvSpPr>
              <p:spPr>
                <a:xfrm>
                  <a:off x="1738762" y="2050809"/>
                  <a:ext cx="4082918" cy="10082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400" b="0" i="0" spc="-300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y</m:t>
                        </m:r>
                        <m:r>
                          <a:rPr lang="en-US" altLang="ko-KR" sz="2400" b="0" i="0" spc="-300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=</m:t>
                        </m:r>
                        <m:d>
                          <m:dPr>
                            <m:ctrlPr>
                              <a:rPr lang="en-US" altLang="ko-KR" sz="2400" b="0" i="1" spc="-300" smtClean="0">
                                <a:ln w="25400" cap="flat">
                                  <a:noFill/>
                                  <a:miter lim="800000"/>
                                </a:ln>
                                <a:solidFill>
                                  <a:schemeClr val="tx1"/>
                                </a:solidFill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ko-KR" sz="2400" i="1" spc="-30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ko-KR" sz="2400" i="1" spc="-30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𝑖</m:t>
                                </m:r>
                                <m:r>
                                  <a:rPr lang="en-US" altLang="ko-KR" sz="2400" i="1" spc="-30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2400" i="1" spc="-30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𝑛</m:t>
                                </m:r>
                              </m:sup>
                              <m:e>
                                <m:d>
                                  <m:dPr>
                                    <m:ctrlPr>
                                      <a:rPr lang="en-US" altLang="ko-KR" sz="2400" i="1" spc="-30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2400" i="1" spc="-300">
                                            <a:ln w="25400" cap="flat">
                                              <a:noFill/>
                                              <a:miter lim="800000"/>
                                            </a:ln>
                                            <a:effectLst>
                                              <a:glow>
                                                <a:schemeClr val="bg1"/>
                                              </a:glow>
                                            </a:effectLst>
                                            <a:latin typeface="Cambria Math" panose="02040503050406030204" pitchFamily="18" charset="0"/>
                                            <a:ea typeface="휴먼모음T" panose="02030504000101010101" pitchFamily="18" charset="-127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400" i="1" spc="-300">
                                            <a:ln w="25400" cap="flat">
                                              <a:noFill/>
                                              <a:miter lim="800000"/>
                                            </a:ln>
                                            <a:effectLst>
                                              <a:glow>
                                                <a:schemeClr val="bg1"/>
                                              </a:glow>
                                            </a:effectLst>
                                            <a:latin typeface="Cambria Math" panose="02040503050406030204" pitchFamily="18" charset="0"/>
                                            <a:ea typeface="휴먼모음T" panose="02030504000101010101" pitchFamily="18" charset="-127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ko-KR" sz="2400" i="1" spc="-300">
                                            <a:ln w="25400" cap="flat">
                                              <a:noFill/>
                                              <a:miter lim="800000"/>
                                            </a:ln>
                                            <a:effectLst>
                                              <a:glow>
                                                <a:schemeClr val="bg1"/>
                                              </a:glow>
                                            </a:effectLst>
                                            <a:latin typeface="Cambria Math" panose="02040503050406030204" pitchFamily="18" charset="0"/>
                                            <a:ea typeface="휴먼모음T" panose="02030504000101010101" pitchFamily="18" charset="-127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2400" i="1" spc="-300">
                                            <a:ln w="25400" cap="flat">
                                              <a:noFill/>
                                              <a:miter lim="800000"/>
                                            </a:ln>
                                            <a:effectLst>
                                              <a:glow>
                                                <a:schemeClr val="bg1"/>
                                              </a:glow>
                                            </a:effectLst>
                                            <a:latin typeface="Cambria Math" panose="02040503050406030204" pitchFamily="18" charset="0"/>
                                            <a:ea typeface="휴먼모음T" panose="02030504000101010101" pitchFamily="18" charset="-127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400" i="1" spc="-300">
                                            <a:ln w="25400" cap="flat">
                                              <a:noFill/>
                                              <a:miter lim="800000"/>
                                            </a:ln>
                                            <a:effectLst>
                                              <a:glow>
                                                <a:schemeClr val="bg1"/>
                                              </a:glow>
                                            </a:effectLst>
                                            <a:latin typeface="Cambria Math" panose="02040503050406030204" pitchFamily="18" charset="0"/>
                                            <a:ea typeface="휴먼모음T" panose="02030504000101010101" pitchFamily="18" charset="-127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2400" i="1" spc="-300">
                                            <a:ln w="25400" cap="flat">
                                              <a:noFill/>
                                              <a:miter lim="800000"/>
                                            </a:ln>
                                            <a:effectLst>
                                              <a:glow>
                                                <a:schemeClr val="bg1"/>
                                              </a:glow>
                                            </a:effectLst>
                                            <a:latin typeface="Cambria Math" panose="02040503050406030204" pitchFamily="18" charset="0"/>
                                            <a:ea typeface="휴먼모음T" panose="02030504000101010101" pitchFamily="18" charset="-127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2400" i="1" spc="-30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+</m:t>
                                    </m:r>
                                    <m:r>
                                      <a:rPr lang="en-US" altLang="ko-KR" sz="2400" i="1" spc="-30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𝑏</m:t>
                                    </m:r>
                                  </m:e>
                                </m:d>
                              </m:e>
                            </m:nary>
                          </m:e>
                        </m:d>
                        <m:r>
                          <a:rPr lang="en-US" altLang="ko-KR" sz="2400" b="0" i="0" spc="-300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&gt;0</m:t>
                        </m:r>
                      </m:oMath>
                    </m:oMathPara>
                  </a14:m>
                  <a:endParaRPr lang="ko-KR" altLang="en-US" sz="2400" spc="-300" dirty="0" smtClean="0">
                    <a:ln w="25400" cap="flat">
                      <a:noFill/>
                      <a:miter lim="800000"/>
                    </a:ln>
                    <a:solidFill>
                      <a:schemeClr val="tx1"/>
                    </a:solidFill>
                    <a:effectLst>
                      <a:glow>
                        <a:schemeClr val="bg1"/>
                      </a:glow>
                    </a:effectLst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8762" y="2050809"/>
                  <a:ext cx="4082918" cy="1008225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/>
                <p:cNvSpPr txBox="1"/>
                <p:nvPr/>
              </p:nvSpPr>
              <p:spPr>
                <a:xfrm>
                  <a:off x="1814962" y="3059034"/>
                  <a:ext cx="4082918" cy="10082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400" b="0" i="1" spc="-300" smtClean="0">
                                <a:ln w="25400" cap="flat">
                                  <a:noFill/>
                                  <a:miter lim="800000"/>
                                </a:ln>
                                <a:solidFill>
                                  <a:schemeClr val="tx1"/>
                                </a:solidFill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400" b="0" i="1" spc="-300" smtClean="0">
                                <a:ln w="25400" cap="flat">
                                  <a:noFill/>
                                  <a:miter lim="800000"/>
                                </a:ln>
                                <a:solidFill>
                                  <a:schemeClr val="tx1"/>
                                </a:solidFill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400" b="0" i="1" spc="-300" smtClean="0">
                                <a:ln w="25400" cap="flat">
                                  <a:noFill/>
                                  <a:miter lim="800000"/>
                                </a:ln>
                                <a:solidFill>
                                  <a:schemeClr val="tx1"/>
                                </a:solidFill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2400" b="0" i="0" spc="-300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2400" i="1" spc="-30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 spc="-30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400" i="1" spc="-30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2400" b="0" i="0" spc="-300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ko-KR" sz="2400" i="1" spc="-30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α</m:t>
                        </m:r>
                        <m:nary>
                          <m:naryPr>
                            <m:chr m:val="∑"/>
                            <m:ctrlPr>
                              <a:rPr lang="en-US" altLang="ko-KR" sz="2400" i="1" spc="-300" smtClean="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</m:ctrlPr>
                          </m:naryPr>
                          <m:sub>
                            <m:r>
                              <a:rPr lang="en-US" altLang="ko-KR" sz="2400" b="0" i="1" spc="-300" smtClean="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𝑘</m:t>
                            </m:r>
                            <m:r>
                              <a:rPr lang="en-US" altLang="ko-KR" sz="2400" i="1" spc="-30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2400" b="0" i="1" spc="-300" smtClean="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𝑚</m:t>
                            </m:r>
                          </m:sup>
                          <m:e>
                            <m:d>
                              <m:dPr>
                                <m:ctrlPr>
                                  <a:rPr lang="en-US" altLang="ko-KR" sz="2400" i="1" spc="-30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400" i="1" spc="-30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b="0" i="1" spc="-300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ko-KR" sz="2400" b="0" i="1" spc="-300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ko-KR" sz="2400" b="0" i="1" spc="-300" smtClean="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400" b="0" i="1" spc="-300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b="0" i="1" spc="-300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400" b="0" i="1" spc="-300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sSub>
                              <m:sSubPr>
                                <m:ctrlPr>
                                  <a:rPr lang="en-US" altLang="ko-KR" sz="2400" i="1" spc="-300" smtClean="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pc="-300" smtClean="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400" b="0" i="1" spc="-300" smtClean="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ko-KR" altLang="en-US" sz="2400" spc="-300" dirty="0" smtClean="0">
                    <a:ln w="25400" cap="flat">
                      <a:noFill/>
                      <a:miter lim="800000"/>
                    </a:ln>
                    <a:solidFill>
                      <a:schemeClr val="tx1"/>
                    </a:solidFill>
                    <a:effectLst>
                      <a:glow>
                        <a:schemeClr val="bg1"/>
                      </a:glow>
                    </a:effectLst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4962" y="3059034"/>
                  <a:ext cx="4082918" cy="100822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그룹 4"/>
          <p:cNvGrpSpPr/>
          <p:nvPr/>
        </p:nvGrpSpPr>
        <p:grpSpPr>
          <a:xfrm>
            <a:off x="5644209" y="3176592"/>
            <a:ext cx="5328592" cy="2523168"/>
            <a:chOff x="1583258" y="4258632"/>
            <a:chExt cx="5328592" cy="2523168"/>
          </a:xfrm>
        </p:grpSpPr>
        <p:sp>
          <p:nvSpPr>
            <p:cNvPr id="68" name="TextBox 67">
              <a:extLst>
                <a:ext uri="{FF2B5EF4-FFF2-40B4-BE49-F238E27FC236}">
                  <a16:creationId xmlns="" xmlns:a16="http://schemas.microsoft.com/office/drawing/2014/main" id="{6636E51C-737A-4B93-896B-EE5D45C9D3B9}"/>
                </a:ext>
              </a:extLst>
            </p:cNvPr>
            <p:cNvSpPr txBox="1"/>
            <p:nvPr/>
          </p:nvSpPr>
          <p:spPr>
            <a:xfrm>
              <a:off x="1583258" y="4258632"/>
              <a:ext cx="53285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2) </a:t>
              </a:r>
              <a:r>
                <a:rPr lang="ko-KR" altLang="en-US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시그모이드</a:t>
              </a:r>
              <a:r>
                <a:rPr lang="ko-KR" altLang="en-US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함수를 사용할 때 가중치 업데이트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/>
                <p:cNvSpPr txBox="1"/>
                <p:nvPr/>
              </p:nvSpPr>
              <p:spPr>
                <a:xfrm>
                  <a:off x="1953525" y="4738288"/>
                  <a:ext cx="4082918" cy="10082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400" b="0" i="0" spc="-300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y</m:t>
                        </m:r>
                        <m:r>
                          <a:rPr lang="en-US" altLang="ko-KR" sz="2400" b="0" i="0" spc="-300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ko-KR" sz="2400" b="0" i="0" spc="-300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sigmoid</m:t>
                        </m:r>
                        <m:d>
                          <m:dPr>
                            <m:ctrlPr>
                              <a:rPr lang="en-US" altLang="ko-KR" sz="2400" b="0" i="1" spc="-300" smtClean="0">
                                <a:ln w="25400" cap="flat">
                                  <a:noFill/>
                                  <a:miter lim="800000"/>
                                </a:ln>
                                <a:solidFill>
                                  <a:schemeClr val="tx1"/>
                                </a:solidFill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ko-KR" sz="2400" i="1" spc="-30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ko-KR" sz="2400" i="1" spc="-30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𝑖</m:t>
                                </m:r>
                                <m:r>
                                  <a:rPr lang="en-US" altLang="ko-KR" sz="2400" i="1" spc="-30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sz="2400" i="1" spc="-30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𝑛</m:t>
                                </m:r>
                              </m:sup>
                              <m:e>
                                <m:d>
                                  <m:dPr>
                                    <m:ctrlPr>
                                      <a:rPr lang="en-US" altLang="ko-KR" sz="2400" i="1" spc="-30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2400" i="1" spc="-300">
                                            <a:ln w="25400" cap="flat">
                                              <a:noFill/>
                                              <a:miter lim="800000"/>
                                            </a:ln>
                                            <a:effectLst>
                                              <a:glow>
                                                <a:schemeClr val="bg1"/>
                                              </a:glow>
                                            </a:effectLst>
                                            <a:latin typeface="Cambria Math" panose="02040503050406030204" pitchFamily="18" charset="0"/>
                                            <a:ea typeface="휴먼모음T" panose="02030504000101010101" pitchFamily="18" charset="-127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400" i="1" spc="-300">
                                            <a:ln w="25400" cap="flat">
                                              <a:noFill/>
                                              <a:miter lim="800000"/>
                                            </a:ln>
                                            <a:effectLst>
                                              <a:glow>
                                                <a:schemeClr val="bg1"/>
                                              </a:glow>
                                            </a:effectLst>
                                            <a:latin typeface="Cambria Math" panose="02040503050406030204" pitchFamily="18" charset="0"/>
                                            <a:ea typeface="휴먼모음T" panose="02030504000101010101" pitchFamily="18" charset="-127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ko-KR" sz="2400" i="1" spc="-300">
                                            <a:ln w="25400" cap="flat">
                                              <a:noFill/>
                                              <a:miter lim="800000"/>
                                            </a:ln>
                                            <a:effectLst>
                                              <a:glow>
                                                <a:schemeClr val="bg1"/>
                                              </a:glow>
                                            </a:effectLst>
                                            <a:latin typeface="Cambria Math" panose="02040503050406030204" pitchFamily="18" charset="0"/>
                                            <a:ea typeface="휴먼모음T" panose="02030504000101010101" pitchFamily="18" charset="-127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2400" i="1" spc="-300">
                                            <a:ln w="25400" cap="flat">
                                              <a:noFill/>
                                              <a:miter lim="800000"/>
                                            </a:ln>
                                            <a:effectLst>
                                              <a:glow>
                                                <a:schemeClr val="bg1"/>
                                              </a:glow>
                                            </a:effectLst>
                                            <a:latin typeface="Cambria Math" panose="02040503050406030204" pitchFamily="18" charset="0"/>
                                            <a:ea typeface="휴먼모음T" panose="02030504000101010101" pitchFamily="18" charset="-127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400" i="1" spc="-300">
                                            <a:ln w="25400" cap="flat">
                                              <a:noFill/>
                                              <a:miter lim="800000"/>
                                            </a:ln>
                                            <a:effectLst>
                                              <a:glow>
                                                <a:schemeClr val="bg1"/>
                                              </a:glow>
                                            </a:effectLst>
                                            <a:latin typeface="Cambria Math" panose="02040503050406030204" pitchFamily="18" charset="0"/>
                                            <a:ea typeface="휴먼모음T" panose="02030504000101010101" pitchFamily="18" charset="-127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2400" i="1" spc="-300">
                                            <a:ln w="25400" cap="flat">
                                              <a:noFill/>
                                              <a:miter lim="800000"/>
                                            </a:ln>
                                            <a:effectLst>
                                              <a:glow>
                                                <a:schemeClr val="bg1"/>
                                              </a:glow>
                                            </a:effectLst>
                                            <a:latin typeface="Cambria Math" panose="02040503050406030204" pitchFamily="18" charset="0"/>
                                            <a:ea typeface="휴먼모음T" panose="02030504000101010101" pitchFamily="18" charset="-127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2400" i="1" spc="-30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+</m:t>
                                    </m:r>
                                    <m:r>
                                      <a:rPr lang="en-US" altLang="ko-KR" sz="2400" i="1" spc="-30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𝑏</m:t>
                                    </m:r>
                                  </m:e>
                                </m:d>
                              </m:e>
                            </m:nary>
                          </m:e>
                        </m:d>
                      </m:oMath>
                    </m:oMathPara>
                  </a14:m>
                  <a:endParaRPr lang="ko-KR" altLang="en-US" sz="2400" spc="-300" dirty="0" smtClean="0">
                    <a:ln w="25400" cap="flat">
                      <a:noFill/>
                      <a:miter lim="800000"/>
                    </a:ln>
                    <a:solidFill>
                      <a:schemeClr val="tx1"/>
                    </a:solidFill>
                    <a:effectLst>
                      <a:glow>
                        <a:schemeClr val="bg1"/>
                      </a:glow>
                    </a:effectLst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mc:Choice>
          <mc:Fallback xmlns="">
            <p:sp>
              <p:nvSpPr>
                <p:cNvPr id="74" name="TextBox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3525" y="4738288"/>
                  <a:ext cx="4082918" cy="100822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/>
                <p:cNvSpPr txBox="1"/>
                <p:nvPr/>
              </p:nvSpPr>
              <p:spPr>
                <a:xfrm>
                  <a:off x="2029725" y="5773575"/>
                  <a:ext cx="4875398" cy="10082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400" b="0" i="1" spc="-300" smtClean="0">
                                <a:ln w="25400" cap="flat">
                                  <a:noFill/>
                                  <a:miter lim="800000"/>
                                </a:ln>
                                <a:solidFill>
                                  <a:schemeClr val="tx1"/>
                                </a:solidFill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400" b="0" i="1" spc="-300" smtClean="0">
                                <a:ln w="25400" cap="flat">
                                  <a:noFill/>
                                  <a:miter lim="800000"/>
                                </a:ln>
                                <a:solidFill>
                                  <a:schemeClr val="tx1"/>
                                </a:solidFill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400" b="0" i="1" spc="-300" smtClean="0">
                                <a:ln w="25400" cap="flat">
                                  <a:noFill/>
                                  <a:miter lim="800000"/>
                                </a:ln>
                                <a:solidFill>
                                  <a:schemeClr val="tx1"/>
                                </a:solidFill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2400" b="0" i="0" spc="-300" smtClean="0">
                            <a:ln w="25400" cap="flat">
                              <a:noFill/>
                              <a:miter lim="800000"/>
                            </a:ln>
                            <a:solidFill>
                              <a:schemeClr val="tx1"/>
                            </a:solidFill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2400" i="1" spc="-30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400" i="1" spc="-30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400" i="1" spc="-30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2400" b="0" i="0" spc="-300" smtClean="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ko-KR" sz="2400" i="1" spc="-300">
                            <a:ln w="25400" cap="flat">
                              <a:noFill/>
                              <a:miter lim="800000"/>
                            </a:ln>
                            <a:effectLst>
                              <a:glow>
                                <a:schemeClr val="bg1"/>
                              </a:glow>
                            </a:effectLst>
                            <a:latin typeface="Cambria Math" panose="02040503050406030204" pitchFamily="18" charset="0"/>
                            <a:ea typeface="휴먼모음T" panose="02030504000101010101" pitchFamily="18" charset="-127"/>
                          </a:rPr>
                          <m:t>α</m:t>
                        </m:r>
                        <m:nary>
                          <m:naryPr>
                            <m:chr m:val="∑"/>
                            <m:ctrlPr>
                              <a:rPr lang="en-US" altLang="ko-KR" sz="2400" i="1" spc="-300" smtClean="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</m:ctrlPr>
                          </m:naryPr>
                          <m:sub>
                            <m:r>
                              <a:rPr lang="en-US" altLang="ko-KR" sz="2400" b="0" i="1" spc="-300" smtClean="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𝑘</m:t>
                            </m:r>
                            <m:r>
                              <a:rPr lang="en-US" altLang="ko-KR" sz="2400" i="1" spc="-30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2400" b="0" i="1" spc="-300" smtClean="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𝑚</m:t>
                            </m:r>
                          </m:sup>
                          <m:e>
                            <m:d>
                              <m:dPr>
                                <m:ctrlPr>
                                  <a:rPr lang="en-US" altLang="ko-KR" sz="2400" i="1" spc="-30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400" i="1" spc="-30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b="0" i="1" spc="-300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ko-KR" sz="2400" b="0" i="1" spc="-300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ko-KR" sz="2400" b="0" i="1" spc="-300" smtClean="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400" b="0" i="1" spc="-300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b="0" i="1" spc="-300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400" b="0" i="1" spc="-300" smtClean="0">
                                        <a:ln w="25400" cap="flat">
                                          <a:noFill/>
                                          <a:miter lim="800000"/>
                                        </a:ln>
                                        <a:effectLst>
                                          <a:glow>
                                            <a:schemeClr val="bg1"/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  <a:ea typeface="휴먼모음T" panose="02030504000101010101" pitchFamily="18" charset="-127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sSub>
                          <m:sSubPr>
                            <m:ctrlPr>
                              <a:rPr lang="en-US" altLang="ko-KR" sz="2400" i="1" spc="-30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400" b="0" i="1" spc="-300" smtClean="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2400" b="0" i="1" spc="-300" smtClean="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400" i="1" spc="-30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400" b="0" i="1" spc="-300" smtClean="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(1−</m:t>
                            </m:r>
                            <m:sSub>
                              <m:sSubPr>
                                <m:ctrlPr>
                                  <a:rPr lang="en-US" altLang="ko-KR" sz="2400" i="1" spc="-30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pc="-300" smtClean="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sz="2400" b="0" i="1" spc="-300" smtClean="0">
                                    <a:ln w="25400" cap="flat">
                                      <a:noFill/>
                                      <a:miter lim="800000"/>
                                    </a:ln>
                                    <a:effectLst>
                                      <a:glow>
                                        <a:schemeClr val="bg1"/>
                                      </a:glow>
                                    </a:effectLst>
                                    <a:latin typeface="Cambria Math" panose="02040503050406030204" pitchFamily="18" charset="0"/>
                                    <a:ea typeface="휴먼모음T" panose="02030504000101010101" pitchFamily="18" charset="-127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ko-KR" sz="2400" b="0" i="1" spc="-300" smtClean="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)</m:t>
                            </m:r>
                            <m:r>
                              <a:rPr lang="en-US" altLang="ko-KR" sz="2400" i="1" spc="-30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i="1" spc="-300">
                                <a:ln w="25400" cap="flat">
                                  <a:noFill/>
                                  <a:miter lim="800000"/>
                                </a:ln>
                                <a:effectLst>
                                  <a:glow>
                                    <a:schemeClr val="bg1"/>
                                  </a:glow>
                                </a:effectLst>
                                <a:latin typeface="Cambria Math" panose="02040503050406030204" pitchFamily="18" charset="0"/>
                                <a:ea typeface="휴먼모음T" panose="02030504000101010101" pitchFamily="18" charset="-127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ko-KR" altLang="en-US" sz="2400" spc="-300" dirty="0" smtClean="0">
                    <a:ln w="25400" cap="flat">
                      <a:noFill/>
                      <a:miter lim="800000"/>
                    </a:ln>
                    <a:solidFill>
                      <a:schemeClr val="tx1"/>
                    </a:solidFill>
                    <a:effectLst>
                      <a:glow>
                        <a:schemeClr val="bg1"/>
                      </a:glow>
                    </a:effectLst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mc:Choice>
          <mc:Fallback xmlns="">
            <p:sp>
              <p:nvSpPr>
                <p:cNvPr id="75" name="TextBox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9725" y="5773575"/>
                  <a:ext cx="4875398" cy="100822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6" name="TextBox 75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6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새로운 가중치는 이전 가중치의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cost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함수를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w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에 대해서 미분한 값을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반대방향으로 일정 부분 반영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81279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다층 신경망 학습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오차를 계산할 수 없기 때문에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w1, b1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은 학습시킬 수 없음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41" name="그룹 40"/>
          <p:cNvGrpSpPr/>
          <p:nvPr/>
        </p:nvGrpSpPr>
        <p:grpSpPr>
          <a:xfrm>
            <a:off x="2620184" y="3473976"/>
            <a:ext cx="6399041" cy="1643074"/>
            <a:chOff x="1071538" y="3929066"/>
            <a:chExt cx="6399041" cy="1643074"/>
          </a:xfrm>
        </p:grpSpPr>
        <p:grpSp>
          <p:nvGrpSpPr>
            <p:cNvPr id="46" name="그룹 66"/>
            <p:cNvGrpSpPr/>
            <p:nvPr/>
          </p:nvGrpSpPr>
          <p:grpSpPr>
            <a:xfrm>
              <a:off x="1071538" y="4000504"/>
              <a:ext cx="3918614" cy="714380"/>
              <a:chOff x="-305687" y="1285860"/>
              <a:chExt cx="3918614" cy="714380"/>
            </a:xfrm>
          </p:grpSpPr>
          <p:grpSp>
            <p:nvGrpSpPr>
              <p:cNvPr id="63" name="그룹 63"/>
              <p:cNvGrpSpPr/>
              <p:nvPr/>
            </p:nvGrpSpPr>
            <p:grpSpPr>
              <a:xfrm>
                <a:off x="-305687" y="1357298"/>
                <a:ext cx="3918614" cy="642942"/>
                <a:chOff x="-305687" y="1357298"/>
                <a:chExt cx="3918614" cy="642942"/>
              </a:xfrm>
            </p:grpSpPr>
            <p:sp>
              <p:nvSpPr>
                <p:cNvPr id="65" name="타원 64"/>
                <p:cNvSpPr/>
                <p:nvPr/>
              </p:nvSpPr>
              <p:spPr>
                <a:xfrm>
                  <a:off x="2623271" y="1357298"/>
                  <a:ext cx="551601" cy="642942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  <p:txBody>
                <a:bodyPr vert="horz" wrap="non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FontTx/>
                    <a:buNone/>
                    <a:defRPr/>
                  </a:pPr>
                  <a:endParaRPr kumimoji="1" lang="ko-KR" altLang="en-US" sz="2400" b="0" i="0" u="none" strike="noStrike" cap="none" normalizeH="0" baseline="0" dirty="0">
                    <a:solidFill>
                      <a:schemeClr val="tx1"/>
                    </a:solidFill>
                    <a:effectLst/>
                    <a:latin typeface="맑은 고딕"/>
                    <a:ea typeface="맑은 고딕"/>
                    <a:cs typeface="+mj-cs"/>
                  </a:endParaRPr>
                </a:p>
              </p:txBody>
            </p:sp>
            <p:sp>
              <p:nvSpPr>
                <p:cNvPr id="66" name="타원 65"/>
                <p:cNvSpPr/>
                <p:nvPr/>
              </p:nvSpPr>
              <p:spPr>
                <a:xfrm>
                  <a:off x="-305687" y="1500174"/>
                  <a:ext cx="448531" cy="42862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  <p:txBody>
                <a:bodyPr vert="horz" wrap="non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FontTx/>
                    <a:buNone/>
                    <a:defRPr/>
                  </a:pPr>
                  <a:endParaRPr kumimoji="1" lang="ko-KR" altLang="en-US" sz="2400" b="0" i="0" u="none" strike="noStrike" cap="none" normalizeH="0" baseline="0">
                    <a:solidFill>
                      <a:schemeClr val="tx1"/>
                    </a:solidFill>
                    <a:effectLst/>
                    <a:latin typeface="맑은 고딕"/>
                    <a:ea typeface="맑은 고딕"/>
                    <a:cs typeface="+mj-cs"/>
                  </a:endParaRPr>
                </a:p>
              </p:txBody>
            </p:sp>
            <p:sp>
              <p:nvSpPr>
                <p:cNvPr id="67" name="Text Box 61"/>
                <p:cNvSpPr txBox="1">
                  <a:spLocks noChangeArrowheads="1"/>
                </p:cNvSpPr>
                <p:nvPr/>
              </p:nvSpPr>
              <p:spPr>
                <a:xfrm>
                  <a:off x="-203870" y="1500174"/>
                  <a:ext cx="469687" cy="388623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1" latinLnBrk="1" hangingPunct="1">
                    <a:spcBef>
                      <a:spcPct val="50000"/>
                    </a:spcBef>
                    <a:defRPr/>
                  </a:pPr>
                  <a:r>
                    <a:rPr lang="en-US" altLang="ko-KR" sz="2000">
                      <a:solidFill>
                        <a:srgbClr val="000000"/>
                      </a:solidFill>
                      <a:latin typeface="맑은 고딕"/>
                      <a:ea typeface="맑은 고딕"/>
                      <a:cs typeface="+mj-cs"/>
                    </a:rPr>
                    <a:t>x</a:t>
                  </a:r>
                </a:p>
              </p:txBody>
            </p:sp>
            <p:cxnSp>
              <p:nvCxnSpPr>
                <p:cNvPr id="68" name="직선 화살표 연결선 67"/>
                <p:cNvCxnSpPr>
                  <a:stCxn id="70" idx="3"/>
                  <a:endCxn id="65" idx="2"/>
                </p:cNvCxnSpPr>
                <p:nvPr/>
              </p:nvCxnSpPr>
              <p:spPr>
                <a:xfrm>
                  <a:off x="2123205" y="1678769"/>
                  <a:ext cx="500066" cy="158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sp>
              <p:nvSpPr>
                <p:cNvPr id="69" name="Text Box 61"/>
                <p:cNvSpPr txBox="1">
                  <a:spLocks noChangeArrowheads="1"/>
                </p:cNvSpPr>
                <p:nvPr/>
              </p:nvSpPr>
              <p:spPr>
                <a:xfrm>
                  <a:off x="3143240" y="1488032"/>
                  <a:ext cx="469687" cy="369332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맑은 고딕"/>
                      <a:ea typeface="맑은 고딕"/>
                      <a:cs typeface="+mj-cs"/>
                    </a:rPr>
                    <a:t> </a:t>
                  </a:r>
                </a:p>
              </p:txBody>
            </p:sp>
            <p:sp>
              <p:nvSpPr>
                <p:cNvPr id="70" name="직사각형 69"/>
                <p:cNvSpPr/>
                <p:nvPr/>
              </p:nvSpPr>
              <p:spPr>
                <a:xfrm>
                  <a:off x="1500166" y="1357298"/>
                  <a:ext cx="623039" cy="642942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  <p:txBody>
                <a:bodyPr vert="horz" wrap="non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FontTx/>
                    <a:buNone/>
                    <a:defRPr/>
                  </a:pPr>
                  <a:endParaRPr kumimoji="1" lang="ko-KR" altLang="en-US" sz="2400" b="0" i="0" u="none" strike="noStrike" cap="none" normalizeH="0" baseline="0">
                    <a:solidFill>
                      <a:schemeClr val="tx1"/>
                    </a:solidFill>
                    <a:effectLst/>
                    <a:latin typeface="맑은 고딕"/>
                    <a:ea typeface="맑은 고딕"/>
                    <a:cs typeface="+mj-cs"/>
                  </a:endParaRPr>
                </a:p>
              </p:txBody>
            </p:sp>
            <p:cxnSp>
              <p:nvCxnSpPr>
                <p:cNvPr id="71" name="직선 화살표 연결선 70"/>
                <p:cNvCxnSpPr>
                  <a:stCxn id="66" idx="6"/>
                  <a:endCxn id="70" idx="1"/>
                </p:cNvCxnSpPr>
                <p:nvPr/>
              </p:nvCxnSpPr>
              <p:spPr>
                <a:xfrm flipV="1">
                  <a:off x="142844" y="1678769"/>
                  <a:ext cx="1357322" cy="35719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</p:grpSp>
          <p:sp>
            <p:nvSpPr>
              <p:cNvPr id="64" name="Text Box 61"/>
              <p:cNvSpPr txBox="1">
                <a:spLocks noChangeArrowheads="1"/>
              </p:cNvSpPr>
              <p:nvPr/>
            </p:nvSpPr>
            <p:spPr>
              <a:xfrm>
                <a:off x="480131" y="1285860"/>
                <a:ext cx="857256" cy="400110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 sz="2000">
                    <a:solidFill>
                      <a:srgbClr val="000000"/>
                    </a:solidFill>
                    <a:latin typeface="맑은 고딕"/>
                    <a:ea typeface="맑은 고딕"/>
                    <a:cs typeface="+mj-cs"/>
                  </a:rPr>
                  <a:t>w</a:t>
                </a:r>
                <a:r>
                  <a:rPr lang="en-US" altLang="ko-KR" sz="2000" baseline="-25000">
                    <a:solidFill>
                      <a:srgbClr val="000000"/>
                    </a:solidFill>
                    <a:latin typeface="맑은 고딕"/>
                    <a:ea typeface="맑은 고딕"/>
                    <a:cs typeface="+mj-cs"/>
                  </a:rPr>
                  <a:t>1</a:t>
                </a:r>
                <a:endParaRPr lang="en-US" altLang="ko-KR" sz="2000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endParaRPr>
              </a:p>
            </p:txBody>
          </p:sp>
        </p:grpSp>
        <p:grpSp>
          <p:nvGrpSpPr>
            <p:cNvPr id="47" name="그룹 63"/>
            <p:cNvGrpSpPr/>
            <p:nvPr/>
          </p:nvGrpSpPr>
          <p:grpSpPr>
            <a:xfrm>
              <a:off x="6357950" y="4202676"/>
              <a:ext cx="1112629" cy="440770"/>
              <a:chOff x="1908891" y="845090"/>
              <a:chExt cx="1112629" cy="440770"/>
            </a:xfrm>
          </p:grpSpPr>
          <p:sp>
            <p:nvSpPr>
              <p:cNvPr id="60" name="타원 59"/>
              <p:cNvSpPr/>
              <p:nvPr/>
            </p:nvSpPr>
            <p:spPr>
              <a:xfrm>
                <a:off x="2531930" y="857232"/>
                <a:ext cx="448531" cy="42862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cxnSp>
            <p:nvCxnSpPr>
              <p:cNvPr id="61" name="직선 화살표 연결선 60"/>
              <p:cNvCxnSpPr>
                <a:stCxn id="55" idx="3"/>
                <a:endCxn id="62" idx="1"/>
              </p:cNvCxnSpPr>
              <p:nvPr/>
            </p:nvCxnSpPr>
            <p:spPr>
              <a:xfrm flipV="1">
                <a:off x="1908891" y="1029756"/>
                <a:ext cx="642942" cy="607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sp>
            <p:nvSpPr>
              <p:cNvPr id="62" name="Text Box 61"/>
              <p:cNvSpPr txBox="1">
                <a:spLocks noChangeArrowheads="1"/>
              </p:cNvSpPr>
              <p:nvPr/>
            </p:nvSpPr>
            <p:spPr>
              <a:xfrm>
                <a:off x="2551833" y="845090"/>
                <a:ext cx="469687" cy="369332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맑은 고딕"/>
                    <a:ea typeface="맑은 고딕"/>
                    <a:cs typeface="+mj-cs"/>
                  </a:rPr>
                  <a:t> y</a:t>
                </a:r>
              </a:p>
            </p:txBody>
          </p:sp>
        </p:grpSp>
        <p:cxnSp>
          <p:nvCxnSpPr>
            <p:cNvPr id="48" name="직선 화살표 연결선 47"/>
            <p:cNvCxnSpPr>
              <a:stCxn id="65" idx="6"/>
              <a:endCxn id="55" idx="1"/>
            </p:cNvCxnSpPr>
            <p:nvPr/>
          </p:nvCxnSpPr>
          <p:spPr>
            <a:xfrm>
              <a:off x="4552097" y="4393413"/>
              <a:ext cx="1182814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49" name="Text Box 61"/>
            <p:cNvSpPr txBox="1">
              <a:spLocks noChangeArrowheads="1"/>
            </p:cNvSpPr>
            <p:nvPr/>
          </p:nvSpPr>
          <p:spPr>
            <a:xfrm>
              <a:off x="2071670" y="4929198"/>
              <a:ext cx="572467" cy="36933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rPr>
                <a:t>b</a:t>
              </a:r>
              <a:r>
                <a:rPr lang="en-US" altLang="ko-KR" baseline="-25000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rPr>
                <a:t>1</a:t>
              </a:r>
              <a:r>
                <a:rPr lang="en-US" altLang="ko-KR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rPr>
                <a:t>  </a:t>
              </a:r>
            </a:p>
          </p:txBody>
        </p:sp>
        <p:sp>
          <p:nvSpPr>
            <p:cNvPr id="50" name="Text Box 61"/>
            <p:cNvSpPr txBox="1">
              <a:spLocks noChangeArrowheads="1"/>
            </p:cNvSpPr>
            <p:nvPr/>
          </p:nvSpPr>
          <p:spPr>
            <a:xfrm>
              <a:off x="5214942" y="5000636"/>
              <a:ext cx="857256" cy="36933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rPr>
                <a:t>b</a:t>
              </a:r>
              <a:r>
                <a:rPr lang="en-US" altLang="ko-KR" baseline="-25000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rPr>
                <a:t>2</a:t>
              </a:r>
              <a:endParaRPr lang="en-US" altLang="ko-KR">
                <a:solidFill>
                  <a:srgbClr val="000000"/>
                </a:solidFill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51" name="타원 50"/>
            <p:cNvSpPr/>
            <p:nvPr/>
          </p:nvSpPr>
          <p:spPr>
            <a:xfrm>
              <a:off x="1142976" y="5143512"/>
              <a:ext cx="428628" cy="428628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52" name="Text Box 61"/>
            <p:cNvSpPr txBox="1">
              <a:spLocks noChangeArrowheads="1"/>
            </p:cNvSpPr>
            <p:nvPr/>
          </p:nvSpPr>
          <p:spPr>
            <a:xfrm>
              <a:off x="1214414" y="5143512"/>
              <a:ext cx="477223" cy="36933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rPr>
                <a:t>1  </a:t>
              </a:r>
            </a:p>
          </p:txBody>
        </p:sp>
        <p:cxnSp>
          <p:nvCxnSpPr>
            <p:cNvPr id="53" name="직선 화살표 연결선 52"/>
            <p:cNvCxnSpPr>
              <a:stCxn id="51" idx="7"/>
              <a:endCxn id="70" idx="1"/>
            </p:cNvCxnSpPr>
            <p:nvPr/>
          </p:nvCxnSpPr>
          <p:spPr>
            <a:xfrm rot="5400000" flipH="1" flipV="1">
              <a:off x="1786677" y="4115569"/>
              <a:ext cx="812870" cy="136855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54" name="자유형 53"/>
            <p:cNvSpPr/>
            <p:nvPr/>
          </p:nvSpPr>
          <p:spPr>
            <a:xfrm>
              <a:off x="4107372" y="4286256"/>
              <a:ext cx="357190" cy="214314"/>
            </a:xfrm>
            <a:custGeom>
              <a:avLst/>
              <a:gdLst>
                <a:gd name="connsiteX0" fmla="*/ 0 w 1667934"/>
                <a:gd name="connsiteY0" fmla="*/ 500945 h 508001"/>
                <a:gd name="connsiteX1" fmla="*/ 270934 w 1667934"/>
                <a:gd name="connsiteY1" fmla="*/ 500945 h 508001"/>
                <a:gd name="connsiteX2" fmla="*/ 482600 w 1667934"/>
                <a:gd name="connsiteY2" fmla="*/ 458611 h 508001"/>
                <a:gd name="connsiteX3" fmla="*/ 685800 w 1667934"/>
                <a:gd name="connsiteY3" fmla="*/ 365478 h 508001"/>
                <a:gd name="connsiteX4" fmla="*/ 855134 w 1667934"/>
                <a:gd name="connsiteY4" fmla="*/ 221545 h 508001"/>
                <a:gd name="connsiteX5" fmla="*/ 1058334 w 1667934"/>
                <a:gd name="connsiteY5" fmla="*/ 69145 h 508001"/>
                <a:gd name="connsiteX6" fmla="*/ 1329267 w 1667934"/>
                <a:gd name="connsiteY6" fmla="*/ 9878 h 508001"/>
                <a:gd name="connsiteX7" fmla="*/ 1574800 w 1667934"/>
                <a:gd name="connsiteY7" fmla="*/ 9878 h 508001"/>
                <a:gd name="connsiteX8" fmla="*/ 1642534 w 1667934"/>
                <a:gd name="connsiteY8" fmla="*/ 18345 h 508001"/>
                <a:gd name="connsiteX9" fmla="*/ 1667934 w 1667934"/>
                <a:gd name="connsiteY9" fmla="*/ 9878 h 50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67934" h="508001">
                  <a:moveTo>
                    <a:pt x="0" y="500945"/>
                  </a:moveTo>
                  <a:cubicBezTo>
                    <a:pt x="95250" y="504473"/>
                    <a:pt x="190501" y="508001"/>
                    <a:pt x="270934" y="500945"/>
                  </a:cubicBezTo>
                  <a:cubicBezTo>
                    <a:pt x="351367" y="493889"/>
                    <a:pt x="413456" y="481189"/>
                    <a:pt x="482600" y="458611"/>
                  </a:cubicBezTo>
                  <a:cubicBezTo>
                    <a:pt x="551744" y="436033"/>
                    <a:pt x="623711" y="404989"/>
                    <a:pt x="685800" y="365478"/>
                  </a:cubicBezTo>
                  <a:cubicBezTo>
                    <a:pt x="747889" y="325967"/>
                    <a:pt x="793045" y="270934"/>
                    <a:pt x="855134" y="221545"/>
                  </a:cubicBezTo>
                  <a:cubicBezTo>
                    <a:pt x="917223" y="172156"/>
                    <a:pt x="979312" y="104423"/>
                    <a:pt x="1058334" y="69145"/>
                  </a:cubicBezTo>
                  <a:cubicBezTo>
                    <a:pt x="1137356" y="33867"/>
                    <a:pt x="1243189" y="19756"/>
                    <a:pt x="1329267" y="9878"/>
                  </a:cubicBezTo>
                  <a:cubicBezTo>
                    <a:pt x="1415345" y="0"/>
                    <a:pt x="1522589" y="8467"/>
                    <a:pt x="1574800" y="9878"/>
                  </a:cubicBezTo>
                  <a:cubicBezTo>
                    <a:pt x="1627011" y="11289"/>
                    <a:pt x="1627012" y="18345"/>
                    <a:pt x="1642534" y="18345"/>
                  </a:cubicBezTo>
                  <a:cubicBezTo>
                    <a:pt x="1658056" y="18345"/>
                    <a:pt x="1662995" y="14111"/>
                    <a:pt x="1667934" y="9878"/>
                  </a:cubicBezTo>
                </a:path>
              </a:pathLst>
            </a:custGeom>
            <a:noFill/>
            <a:ln w="2857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5734911" y="4071942"/>
              <a:ext cx="623039" cy="64294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56" name="Text Box 61"/>
            <p:cNvSpPr txBox="1">
              <a:spLocks noChangeArrowheads="1"/>
            </p:cNvSpPr>
            <p:nvPr/>
          </p:nvSpPr>
          <p:spPr>
            <a:xfrm>
              <a:off x="4929190" y="3929066"/>
              <a:ext cx="857256" cy="388625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sz="2000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rPr>
                <a:t>w</a:t>
              </a:r>
              <a:r>
                <a:rPr lang="en-US" altLang="ko-KR" sz="2000" baseline="-25000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rPr>
                <a:t>2</a:t>
              </a:r>
              <a:endParaRPr lang="en-US" altLang="ko-KR" sz="2000">
                <a:solidFill>
                  <a:srgbClr val="000000"/>
                </a:solidFill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57" name="Text Box 61"/>
            <p:cNvSpPr txBox="1">
              <a:spLocks noChangeArrowheads="1"/>
            </p:cNvSpPr>
            <p:nvPr/>
          </p:nvSpPr>
          <p:spPr>
            <a:xfrm>
              <a:off x="4572000" y="5143512"/>
              <a:ext cx="472437" cy="36933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rPr>
                <a:t>1  </a:t>
              </a:r>
            </a:p>
          </p:txBody>
        </p:sp>
        <p:cxnSp>
          <p:nvCxnSpPr>
            <p:cNvPr id="58" name="직선 화살표 연결선 57"/>
            <p:cNvCxnSpPr>
              <a:stCxn id="59" idx="7"/>
            </p:cNvCxnSpPr>
            <p:nvPr/>
          </p:nvCxnSpPr>
          <p:spPr>
            <a:xfrm rot="5400000" flipH="1" flipV="1">
              <a:off x="4902139" y="4393413"/>
              <a:ext cx="777151" cy="84859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59" name="타원 58"/>
            <p:cNvSpPr/>
            <p:nvPr/>
          </p:nvSpPr>
          <p:spPr>
            <a:xfrm>
              <a:off x="4500562" y="5143512"/>
              <a:ext cx="428628" cy="428628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맑은 고딕"/>
                <a:ea typeface="맑은 고딕"/>
                <a:cs typeface="+mj-cs"/>
              </a:endParaRP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="" xmlns:a16="http://schemas.microsoft.com/office/drawing/2014/main" id="{FBEF017C-D051-400B-BC5D-C348553098B1}"/>
              </a:ext>
            </a:extLst>
          </p:cNvPr>
          <p:cNvSpPr txBox="1"/>
          <p:nvPr/>
        </p:nvSpPr>
        <p:spPr>
          <a:xfrm>
            <a:off x="7516728" y="3113936"/>
            <a:ext cx="203294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err =  | d – </a:t>
            </a:r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y |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="" xmlns:a16="http://schemas.microsoft.com/office/drawing/2014/main" id="{FBEF017C-D051-400B-BC5D-C348553098B1}"/>
              </a:ext>
            </a:extLst>
          </p:cNvPr>
          <p:cNvSpPr txBox="1"/>
          <p:nvPr/>
        </p:nvSpPr>
        <p:spPr>
          <a:xfrm>
            <a:off x="3406002" y="3113936"/>
            <a:ext cx="203294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err = </a:t>
            </a:r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5575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다층 신경망 학습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4"/>
              <p:cNvSpPr txBox="1"/>
              <p:nvPr/>
            </p:nvSpPr>
            <p:spPr>
              <a:xfrm>
                <a:off x="3702854" y="2345992"/>
                <a:ext cx="1789658" cy="8745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dirty="0"/>
                  <a:t>0.6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ko-KR" dirty="0"/>
                  <a:t>=0.3</a:t>
                </a:r>
              </a:p>
              <a:p>
                <a:pPr lvl="0">
                  <a:defRPr/>
                </a:pPr>
                <a:r>
                  <a:rPr lang="en-US" altLang="ko-KR" dirty="0"/>
                  <a:t>+0.2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ko-KR" dirty="0"/>
                  <a:t>=0.05</a:t>
                </a:r>
              </a:p>
            </p:txBody>
          </p:sp>
        </mc:Choice>
        <mc:Fallback xmlns="">
          <p:sp>
            <p:nvSpPr>
              <p:cNvPr id="34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854" y="2345992"/>
                <a:ext cx="1789658" cy="874598"/>
              </a:xfrm>
              <a:prstGeom prst="rect">
                <a:avLst/>
              </a:prstGeom>
              <a:blipFill rotWithShape="0">
                <a:blip r:embed="rId2"/>
                <a:stretch>
                  <a:fillRect l="-2721" b="-27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타원 5"/>
          <p:cNvSpPr/>
          <p:nvPr/>
        </p:nvSpPr>
        <p:spPr>
          <a:xfrm>
            <a:off x="4590831" y="3164079"/>
            <a:ext cx="609037" cy="637143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36" name="타원 6"/>
          <p:cNvSpPr/>
          <p:nvPr/>
        </p:nvSpPr>
        <p:spPr>
          <a:xfrm>
            <a:off x="4590831" y="4794416"/>
            <a:ext cx="609037" cy="637143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37" name="타원 7"/>
          <p:cNvSpPr/>
          <p:nvPr/>
        </p:nvSpPr>
        <p:spPr>
          <a:xfrm>
            <a:off x="6475261" y="3164079"/>
            <a:ext cx="609037" cy="637143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38" name="타원 8"/>
          <p:cNvSpPr/>
          <p:nvPr/>
        </p:nvSpPr>
        <p:spPr>
          <a:xfrm>
            <a:off x="6475261" y="4794416"/>
            <a:ext cx="609037" cy="637143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39" name="타원 9"/>
          <p:cNvSpPr/>
          <p:nvPr/>
        </p:nvSpPr>
        <p:spPr>
          <a:xfrm>
            <a:off x="7889479" y="3941228"/>
            <a:ext cx="609037" cy="637143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cxnSp>
        <p:nvCxnSpPr>
          <p:cNvPr id="40" name="직선 화살표 연결선 11"/>
          <p:cNvCxnSpPr/>
          <p:nvPr/>
        </p:nvCxnSpPr>
        <p:spPr>
          <a:xfrm>
            <a:off x="5199868" y="3482652"/>
            <a:ext cx="1275393" cy="22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 w="med" len="med"/>
          </a:ln>
          <a:effectLst/>
        </p:spPr>
      </p:cxnSp>
      <p:cxnSp>
        <p:nvCxnSpPr>
          <p:cNvPr id="41" name="직선 화살표 연결선 12"/>
          <p:cNvCxnSpPr/>
          <p:nvPr/>
        </p:nvCxnSpPr>
        <p:spPr>
          <a:xfrm>
            <a:off x="5199868" y="3482652"/>
            <a:ext cx="1275393" cy="16303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 w="med" len="med"/>
          </a:ln>
          <a:effectLst/>
        </p:spPr>
      </p:cxnSp>
      <p:cxnSp>
        <p:nvCxnSpPr>
          <p:cNvPr id="42" name="직선 화살표 연결선 15"/>
          <p:cNvCxnSpPr/>
          <p:nvPr/>
        </p:nvCxnSpPr>
        <p:spPr>
          <a:xfrm flipV="1">
            <a:off x="5199868" y="3482652"/>
            <a:ext cx="1275393" cy="16303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 w="med" len="med"/>
          </a:ln>
          <a:effectLst/>
        </p:spPr>
      </p:cxnSp>
      <p:cxnSp>
        <p:nvCxnSpPr>
          <p:cNvPr id="43" name="직선 화살표 연결선 18"/>
          <p:cNvCxnSpPr/>
          <p:nvPr/>
        </p:nvCxnSpPr>
        <p:spPr>
          <a:xfrm>
            <a:off x="5199868" y="5112988"/>
            <a:ext cx="1275393" cy="25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 w="med" len="med"/>
          </a:ln>
          <a:effectLst/>
        </p:spPr>
      </p:cxnSp>
      <p:cxnSp>
        <p:nvCxnSpPr>
          <p:cNvPr id="44" name="직선 화살표 연결선 21"/>
          <p:cNvCxnSpPr/>
          <p:nvPr/>
        </p:nvCxnSpPr>
        <p:spPr>
          <a:xfrm>
            <a:off x="7084298" y="3482651"/>
            <a:ext cx="805181" cy="7771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 w="med" len="med"/>
          </a:ln>
          <a:effectLst/>
        </p:spPr>
      </p:cxnSp>
      <p:cxnSp>
        <p:nvCxnSpPr>
          <p:cNvPr id="75" name="직선 화살표 연결선 24"/>
          <p:cNvCxnSpPr/>
          <p:nvPr/>
        </p:nvCxnSpPr>
        <p:spPr>
          <a:xfrm flipV="1">
            <a:off x="7084298" y="4259800"/>
            <a:ext cx="805181" cy="8531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 w="med" len="med"/>
          </a:ln>
          <a:effectLst/>
        </p:spPr>
      </p:cxnSp>
      <p:sp>
        <p:nvSpPr>
          <p:cNvPr id="76" name="TextBox 28"/>
          <p:cNvSpPr txBox="1"/>
          <p:nvPr/>
        </p:nvSpPr>
        <p:spPr>
          <a:xfrm>
            <a:off x="6125168" y="3155648"/>
            <a:ext cx="519472" cy="36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/>
              <a:t>1</a:t>
            </a:r>
          </a:p>
        </p:txBody>
      </p:sp>
      <p:sp>
        <p:nvSpPr>
          <p:cNvPr id="77" name="TextBox 29"/>
          <p:cNvSpPr txBox="1"/>
          <p:nvPr/>
        </p:nvSpPr>
        <p:spPr>
          <a:xfrm>
            <a:off x="7580744" y="3726316"/>
            <a:ext cx="519472" cy="36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3</a:t>
            </a:r>
          </a:p>
        </p:txBody>
      </p:sp>
      <p:sp>
        <p:nvSpPr>
          <p:cNvPr id="78" name="TextBox 30"/>
          <p:cNvSpPr txBox="1"/>
          <p:nvPr/>
        </p:nvSpPr>
        <p:spPr>
          <a:xfrm>
            <a:off x="7580744" y="4451792"/>
            <a:ext cx="519472" cy="364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9" name="TextBox 31"/>
          <p:cNvSpPr txBox="1"/>
          <p:nvPr/>
        </p:nvSpPr>
        <p:spPr>
          <a:xfrm>
            <a:off x="6173525" y="5100033"/>
            <a:ext cx="831155" cy="367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3</a:t>
            </a:r>
          </a:p>
        </p:txBody>
      </p:sp>
      <p:sp>
        <p:nvSpPr>
          <p:cNvPr id="80" name="TextBox 32"/>
          <p:cNvSpPr txBox="1"/>
          <p:nvPr/>
        </p:nvSpPr>
        <p:spPr>
          <a:xfrm>
            <a:off x="6125168" y="3731712"/>
            <a:ext cx="519472" cy="363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81" name="TextBox 33"/>
          <p:cNvSpPr txBox="1"/>
          <p:nvPr/>
        </p:nvSpPr>
        <p:spPr>
          <a:xfrm>
            <a:off x="6197176" y="4595808"/>
            <a:ext cx="519472" cy="361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99"/>
              <p:cNvSpPr txBox="1"/>
              <p:nvPr/>
            </p:nvSpPr>
            <p:spPr>
              <a:xfrm>
                <a:off x="6284600" y="2723600"/>
                <a:ext cx="1972085" cy="4840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0.8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=0.6</a:t>
                </a:r>
              </a:p>
            </p:txBody>
          </p:sp>
        </mc:Choice>
        <mc:Fallback xmlns="">
          <p:sp>
            <p:nvSpPr>
              <p:cNvPr id="82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600" y="2723600"/>
                <a:ext cx="1972085" cy="484043"/>
              </a:xfrm>
              <a:prstGeom prst="rect">
                <a:avLst/>
              </a:prstGeom>
              <a:blipFill rotWithShape="0">
                <a:blip r:embed="rId3"/>
                <a:stretch>
                  <a:fillRect l="-2786" b="-63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99"/>
              <p:cNvSpPr txBox="1"/>
              <p:nvPr/>
            </p:nvSpPr>
            <p:spPr>
              <a:xfrm>
                <a:off x="6328739" y="5460073"/>
                <a:ext cx="1972085" cy="483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0.8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=0.2</a:t>
                </a:r>
              </a:p>
            </p:txBody>
          </p:sp>
        </mc:Choice>
        <mc:Fallback xmlns="">
          <p:sp>
            <p:nvSpPr>
              <p:cNvPr id="83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739" y="5460073"/>
                <a:ext cx="1972085" cy="483466"/>
              </a:xfrm>
              <a:prstGeom prst="rect">
                <a:avLst/>
              </a:prstGeom>
              <a:blipFill rotWithShape="0">
                <a:blip r:embed="rId4"/>
                <a:stretch>
                  <a:fillRect l="-2469" b="-63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34"/>
              <p:cNvSpPr txBox="1"/>
              <p:nvPr/>
            </p:nvSpPr>
            <p:spPr>
              <a:xfrm>
                <a:off x="3836328" y="5456104"/>
                <a:ext cx="1789658" cy="900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dirty="0"/>
                  <a:t>0.6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=0.3</a:t>
                </a:r>
              </a:p>
              <a:p>
                <a:pPr lvl="0">
                  <a:defRPr/>
                </a:pPr>
                <a:r>
                  <a:rPr lang="en-US" altLang="ko-KR" dirty="0"/>
                  <a:t>+0.2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ko-KR" dirty="0"/>
                  <a:t> =0.15</a:t>
                </a:r>
              </a:p>
            </p:txBody>
          </p:sp>
        </mc:Choice>
        <mc:Fallback xmlns="">
          <p:sp>
            <p:nvSpPr>
              <p:cNvPr id="84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328" y="5456104"/>
                <a:ext cx="1789658" cy="900246"/>
              </a:xfrm>
              <a:prstGeom prst="rect">
                <a:avLst/>
              </a:prstGeom>
              <a:blipFill rotWithShape="0">
                <a:blip r:embed="rId5"/>
                <a:stretch>
                  <a:fillRect l="-27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99"/>
          <p:cNvSpPr txBox="1"/>
          <p:nvPr/>
        </p:nvSpPr>
        <p:spPr>
          <a:xfrm>
            <a:off x="6500624" y="3155648"/>
            <a:ext cx="5760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solidFill>
                  <a:schemeClr val="tx1"/>
                </a:solidFill>
              </a:rPr>
              <a:t>e</a:t>
            </a:r>
            <a:r>
              <a:rPr lang="en-US" altLang="ko-KR" baseline="-25000" dirty="0">
                <a:solidFill>
                  <a:schemeClr val="tx1"/>
                </a:solidFill>
              </a:rPr>
              <a:t>1=</a:t>
            </a:r>
            <a:r>
              <a:rPr lang="en-US" altLang="ko-KR" dirty="0">
                <a:solidFill>
                  <a:schemeClr val="tx1"/>
                </a:solidFill>
              </a:rPr>
              <a:t>0.6</a:t>
            </a:r>
          </a:p>
        </p:txBody>
      </p:sp>
      <p:sp>
        <p:nvSpPr>
          <p:cNvPr id="86" name="TextBox 99">
            <a:extLst>
              <a:ext uri="{FF2B5EF4-FFF2-40B4-BE49-F238E27FC236}">
                <a16:creationId xmlns="" xmlns:a16="http://schemas.microsoft.com/office/drawing/2014/main" id="{B6CA255A-2EAD-46C8-9784-C82BC05A0C5F}"/>
              </a:ext>
            </a:extLst>
          </p:cNvPr>
          <p:cNvSpPr txBox="1"/>
          <p:nvPr/>
        </p:nvSpPr>
        <p:spPr>
          <a:xfrm>
            <a:off x="6500624" y="4739824"/>
            <a:ext cx="5760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solidFill>
                  <a:schemeClr val="tx1"/>
                </a:solidFill>
              </a:rPr>
              <a:t>e</a:t>
            </a:r>
            <a:r>
              <a:rPr lang="en-US" altLang="ko-KR" baseline="-25000" dirty="0"/>
              <a:t>2</a:t>
            </a:r>
            <a:r>
              <a:rPr lang="en-US" altLang="ko-KR" baseline="-25000" dirty="0">
                <a:solidFill>
                  <a:schemeClr val="tx1"/>
                </a:solidFill>
              </a:rPr>
              <a:t>=</a:t>
            </a:r>
            <a:r>
              <a:rPr lang="en-US" altLang="ko-KR" dirty="0">
                <a:solidFill>
                  <a:schemeClr val="tx1"/>
                </a:solidFill>
              </a:rPr>
              <a:t>0.2</a:t>
            </a:r>
          </a:p>
        </p:txBody>
      </p:sp>
      <p:sp>
        <p:nvSpPr>
          <p:cNvPr id="87" name="TextBox 99">
            <a:extLst>
              <a:ext uri="{FF2B5EF4-FFF2-40B4-BE49-F238E27FC236}">
                <a16:creationId xmlns="" xmlns:a16="http://schemas.microsoft.com/office/drawing/2014/main" id="{9663727D-69C4-4147-A098-C06EA84A3EC4}"/>
              </a:ext>
            </a:extLst>
          </p:cNvPr>
          <p:cNvSpPr txBox="1"/>
          <p:nvPr/>
        </p:nvSpPr>
        <p:spPr>
          <a:xfrm>
            <a:off x="7940784" y="3875728"/>
            <a:ext cx="5760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solidFill>
                  <a:schemeClr val="tx1"/>
                </a:solidFill>
              </a:rPr>
              <a:t>e</a:t>
            </a:r>
            <a:r>
              <a:rPr lang="en-US" altLang="ko-KR" baseline="-25000" dirty="0">
                <a:solidFill>
                  <a:schemeClr val="tx1"/>
                </a:solidFill>
              </a:rPr>
              <a:t>=</a:t>
            </a:r>
          </a:p>
          <a:p>
            <a:pPr lvl="0">
              <a:defRPr/>
            </a:pPr>
            <a:r>
              <a:rPr lang="en-US" altLang="ko-KR" dirty="0">
                <a:solidFill>
                  <a:schemeClr val="tx1"/>
                </a:solidFill>
              </a:rPr>
              <a:t>0.8</a:t>
            </a:r>
          </a:p>
        </p:txBody>
      </p:sp>
      <p:sp>
        <p:nvSpPr>
          <p:cNvPr id="88" name="TextBox 99">
            <a:extLst>
              <a:ext uri="{FF2B5EF4-FFF2-40B4-BE49-F238E27FC236}">
                <a16:creationId xmlns="" xmlns:a16="http://schemas.microsoft.com/office/drawing/2014/main" id="{08A55F44-B2F4-4F8B-8DA0-C2DB515A3115}"/>
              </a:ext>
            </a:extLst>
          </p:cNvPr>
          <p:cNvSpPr txBox="1"/>
          <p:nvPr/>
        </p:nvSpPr>
        <p:spPr>
          <a:xfrm>
            <a:off x="4556408" y="3155648"/>
            <a:ext cx="7621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solidFill>
                  <a:schemeClr val="tx1"/>
                </a:solidFill>
              </a:rPr>
              <a:t>e</a:t>
            </a:r>
            <a:r>
              <a:rPr lang="en-US" altLang="ko-KR" baseline="-25000" dirty="0">
                <a:solidFill>
                  <a:schemeClr val="tx1"/>
                </a:solidFill>
              </a:rPr>
              <a:t>1=</a:t>
            </a:r>
          </a:p>
          <a:p>
            <a:pPr lvl="0">
              <a:defRPr/>
            </a:pPr>
            <a:r>
              <a:rPr lang="en-US" altLang="ko-KR" dirty="0">
                <a:solidFill>
                  <a:schemeClr val="tx1"/>
                </a:solidFill>
              </a:rPr>
              <a:t>0.35</a:t>
            </a:r>
          </a:p>
        </p:txBody>
      </p:sp>
      <p:sp>
        <p:nvSpPr>
          <p:cNvPr id="89" name="TextBox 99">
            <a:extLst>
              <a:ext uri="{FF2B5EF4-FFF2-40B4-BE49-F238E27FC236}">
                <a16:creationId xmlns="" xmlns:a16="http://schemas.microsoft.com/office/drawing/2014/main" id="{6A5DB8B6-82E2-45C0-AE42-B01066DCDE93}"/>
              </a:ext>
            </a:extLst>
          </p:cNvPr>
          <p:cNvSpPr txBox="1"/>
          <p:nvPr/>
        </p:nvSpPr>
        <p:spPr>
          <a:xfrm>
            <a:off x="4556408" y="4813573"/>
            <a:ext cx="7621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solidFill>
                  <a:schemeClr val="tx1"/>
                </a:solidFill>
              </a:rPr>
              <a:t>e</a:t>
            </a:r>
            <a:r>
              <a:rPr lang="en-US" altLang="ko-KR" baseline="-25000" dirty="0"/>
              <a:t>2</a:t>
            </a:r>
            <a:r>
              <a:rPr lang="en-US" altLang="ko-KR" baseline="-25000" dirty="0">
                <a:solidFill>
                  <a:schemeClr val="tx1"/>
                </a:solidFill>
              </a:rPr>
              <a:t>=</a:t>
            </a:r>
          </a:p>
          <a:p>
            <a:pPr lvl="0">
              <a:defRPr/>
            </a:pPr>
            <a:r>
              <a:rPr lang="en-US" altLang="ko-KR" dirty="0">
                <a:solidFill>
                  <a:schemeClr val="tx1"/>
                </a:solidFill>
              </a:rPr>
              <a:t>0.45</a:t>
            </a: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="" xmlns:a16="http://schemas.microsoft.com/office/drawing/2014/main" id="{CB05F809-E7D9-44DF-93A8-B74AE6117D60}"/>
              </a:ext>
            </a:extLst>
          </p:cNvPr>
          <p:cNvCxnSpPr/>
          <p:nvPr/>
        </p:nvCxnSpPr>
        <p:spPr>
          <a:xfrm flipH="1">
            <a:off x="4293722" y="6356350"/>
            <a:ext cx="407003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/>
          </a:ln>
          <a:effectLst/>
        </p:spPr>
      </p:cxnSp>
      <p:sp>
        <p:nvSpPr>
          <p:cNvPr id="91" name="TextBox 90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6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역전파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오류법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출력층에서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입력층까지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거꾸로 오류를 계산해가며 모든 계층을 학습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="" xmlns:a16="http://schemas.microsoft.com/office/drawing/2014/main" id="{FBEF017C-D051-400B-BC5D-C348553098B1}"/>
              </a:ext>
            </a:extLst>
          </p:cNvPr>
          <p:cNvSpPr txBox="1"/>
          <p:nvPr/>
        </p:nvSpPr>
        <p:spPr>
          <a:xfrm>
            <a:off x="4530282" y="6444553"/>
            <a:ext cx="4228716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역전파</a:t>
            </a:r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오류법</a:t>
            </a:r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(Back Propagation)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32558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TensorFlow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808679"/>
            <a:ext cx="914983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XOR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논리 소자 학습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다층신경망 구성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선형 활성화 함수의 문제점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비선형 분포 분류하기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유방암 진단</a:t>
            </a:r>
            <a:endParaRPr lang="ko-KR" altLang="en-US" sz="28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32994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3026</TotalTime>
  <Words>1034</Words>
  <Application>Microsoft Office PowerPoint</Application>
  <PresentationFormat>와이드스크린</PresentationFormat>
  <Paragraphs>377</Paragraphs>
  <Slides>17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8" baseType="lpstr">
      <vt:lpstr>나눔바른고딕</vt:lpstr>
      <vt:lpstr>Symbol</vt:lpstr>
      <vt:lpstr>Cambria Math</vt:lpstr>
      <vt:lpstr>Impact</vt:lpstr>
      <vt:lpstr>나눔스퀘어 Bold</vt:lpstr>
      <vt:lpstr>휴먼모음T</vt:lpstr>
      <vt:lpstr>Times New Roman</vt:lpstr>
      <vt:lpstr>스웨거 TTF</vt:lpstr>
      <vt:lpstr>Arial</vt:lpstr>
      <vt:lpstr>맑은 고딕</vt:lpstr>
      <vt:lpstr>1_Office 테마</vt:lpstr>
      <vt:lpstr>PowerPoint 프레젠테이션</vt:lpstr>
      <vt:lpstr>PowerPoint 프레젠테이션</vt:lpstr>
      <vt:lpstr>신경망 구조</vt:lpstr>
      <vt:lpstr>단층신경망과 다층신경망</vt:lpstr>
      <vt:lpstr>단층신경망과 다층신경망</vt:lpstr>
      <vt:lpstr>다층 신경망을 이용한 XOR</vt:lpstr>
      <vt:lpstr>다층 신경망을 이용한 XOR</vt:lpstr>
      <vt:lpstr>비선형 활성화 함수</vt:lpstr>
      <vt:lpstr>선형 함수 조합의 한계</vt:lpstr>
      <vt:lpstr>선형 함수 조합의 한계</vt:lpstr>
      <vt:lpstr>다층신경망에서 선형 활성화 함수의 한계</vt:lpstr>
      <vt:lpstr>비선형 분포 분류</vt:lpstr>
      <vt:lpstr>활성화 함수의 특성</vt:lpstr>
      <vt:lpstr>활성화 함수에 따른 경사하강법</vt:lpstr>
      <vt:lpstr>다층 신경망 학습</vt:lpstr>
      <vt:lpstr>다층 신경망 학습</vt:lpstr>
      <vt:lpstr>TensorFlow 실습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768</cp:revision>
  <dcterms:created xsi:type="dcterms:W3CDTF">2019-01-19T08:23:23Z</dcterms:created>
  <dcterms:modified xsi:type="dcterms:W3CDTF">2020-03-10T06:49:48Z</dcterms:modified>
</cp:coreProperties>
</file>