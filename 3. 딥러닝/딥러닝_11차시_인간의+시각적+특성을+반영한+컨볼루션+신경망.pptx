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21"/>
  </p:notesMasterIdLst>
  <p:handoutMasterIdLst>
    <p:handoutMasterId r:id="rId22"/>
  </p:handoutMasterIdLst>
  <p:sldIdLst>
    <p:sldId id="314" r:id="rId2"/>
    <p:sldId id="261" r:id="rId3"/>
    <p:sldId id="354" r:id="rId4"/>
    <p:sldId id="355" r:id="rId5"/>
    <p:sldId id="356" r:id="rId6"/>
    <p:sldId id="357" r:id="rId7"/>
    <p:sldId id="430" r:id="rId8"/>
    <p:sldId id="409" r:id="rId9"/>
    <p:sldId id="439" r:id="rId10"/>
    <p:sldId id="424" r:id="rId11"/>
    <p:sldId id="431" r:id="rId12"/>
    <p:sldId id="410" r:id="rId13"/>
    <p:sldId id="425" r:id="rId14"/>
    <p:sldId id="440" r:id="rId15"/>
    <p:sldId id="426" r:id="rId16"/>
    <p:sldId id="411" r:id="rId17"/>
    <p:sldId id="432" r:id="rId18"/>
    <p:sldId id="419" r:id="rId19"/>
    <p:sldId id="404" r:id="rId20"/>
  </p:sldIdLst>
  <p:sldSz cx="12192000" cy="6858000"/>
  <p:notesSz cx="6858000" cy="9144000"/>
  <p:embeddedFontLst>
    <p:embeddedFont>
      <p:font typeface="나눔바른고딕" panose="020B0603020101020101" pitchFamily="50" charset="-127"/>
      <p:regular r:id="rId23"/>
      <p:bold r:id="rId24"/>
    </p:embeddedFont>
    <p:embeddedFont>
      <p:font typeface="Impact" panose="020B0806030902050204" pitchFamily="34" charset="0"/>
      <p:regular r:id="rId25"/>
    </p:embeddedFont>
    <p:embeddedFont>
      <p:font typeface="ＭＳ Ｐゴシック" panose="020B0600070205080204" pitchFamily="34" charset="-128"/>
      <p:regular r:id="rId26"/>
    </p:embeddedFont>
    <p:embeddedFont>
      <p:font typeface="나눔스퀘어 Bold" panose="020B0600000101010101" pitchFamily="50" charset="-127"/>
      <p:bold r:id="rId27"/>
    </p:embeddedFont>
    <p:embeddedFont>
      <p:font typeface="휴먼모음T" panose="02030504000101010101" pitchFamily="18" charset="-127"/>
      <p:regular r:id="rId28"/>
    </p:embeddedFont>
    <p:embeddedFont>
      <p:font typeface="스웨거 TTF" panose="020B0600000101010101" pitchFamily="50" charset="-127"/>
      <p:regular r:id="rId29"/>
    </p:embeddedFont>
    <p:embeddedFont>
      <p:font typeface="맑은 고딕" panose="020B0503020000020004" pitchFamily="50" charset="-127"/>
      <p:regular r:id="rId30"/>
      <p:bold r:id="rId3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F95"/>
    <a:srgbClr val="CC0099"/>
    <a:srgbClr val="37AADA"/>
    <a:srgbClr val="95D5E1"/>
    <a:srgbClr val="99CCFF"/>
    <a:srgbClr val="66CCFF"/>
    <a:srgbClr val="3399FF"/>
    <a:srgbClr val="36AAD9"/>
    <a:srgbClr val="5AA8CF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72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540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40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3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46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="" xmlns:a16="http://schemas.microsoft.com/office/drawing/2014/main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="" xmlns:a16="http://schemas.microsoft.com/office/drawing/2014/main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Winner-results-of-the-ImageNet-large-scale-visual-recognition-challenge-LSVRC-of-the_fig7_324476862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0750" y="2852777"/>
            <a:ext cx="107668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11.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인간의 시각적 특성을 반영한 </a:t>
            </a:r>
            <a:r>
              <a:rPr lang="ko-KR" altLang="en-US" sz="6600" b="1" spc="-300" dirty="0" err="1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신경망</a:t>
            </a: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/>
          <p:cNvGrpSpPr/>
          <p:nvPr/>
        </p:nvGrpSpPr>
        <p:grpSpPr>
          <a:xfrm>
            <a:off x="1986130" y="1082980"/>
            <a:ext cx="8345735" cy="539110"/>
            <a:chOff x="1986130" y="1509700"/>
            <a:chExt cx="8345735" cy="539110"/>
          </a:xfrm>
        </p:grpSpPr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9" y="1518179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컨볼루션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신경망에 대한 개념 이해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150970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9906000" y="1509700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986130" y="2155376"/>
            <a:ext cx="8345735" cy="542649"/>
            <a:chOff x="1986130" y="2630163"/>
            <a:chExt cx="8345735" cy="542649"/>
          </a:xfrm>
        </p:grpSpPr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2649592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컨볼루션과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풀링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계층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263016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6" name="그룹 15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8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9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9906001" y="2646054"/>
              <a:ext cx="3369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5</a:t>
              </a:r>
              <a:endParaRPr lang="ko-KR" altLang="en-US" sz="28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986130" y="3231311"/>
            <a:ext cx="8345735" cy="553652"/>
            <a:chOff x="1986130" y="3736085"/>
            <a:chExt cx="8345735" cy="553652"/>
          </a:xfrm>
        </p:grpSpPr>
        <p:sp>
          <p:nvSpPr>
            <p:cNvPr id="6" name="TextBox 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3736085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다층 신경망 계층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375062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1" name="그룹 2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9753716" y="373608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12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986130" y="4318249"/>
            <a:ext cx="8345735" cy="553652"/>
            <a:chOff x="1986130" y="4856549"/>
            <a:chExt cx="8345735" cy="553652"/>
          </a:xfrm>
        </p:grpSpPr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컨볼루션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신경망 응용 분야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8" name="그룹 27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0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1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9753716" y="485663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15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986130" y="5405189"/>
            <a:ext cx="8345735" cy="553652"/>
            <a:chOff x="1986130" y="4856549"/>
            <a:chExt cx="8345735" cy="553652"/>
          </a:xfrm>
        </p:grpSpPr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TensorFlow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를 이용한 실습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9" name="그룹 38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1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2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9753716" y="485663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19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컨볼루션</a:t>
            </a:r>
            <a:r>
              <a:rPr lang="ko-KR" altLang="en-US" dirty="0" smtClean="0"/>
              <a:t> 신경망이란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645920" y="1641082"/>
            <a:ext cx="8839200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신경망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물체의 방향과 크기가 바뀌어도 어려움 없이 물체를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인식할 수 있다는 생물학적 근거에 기반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이미지로부터 직접 공간적 특징을 학습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7889" y="3830727"/>
            <a:ext cx="1428760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직사각형 13"/>
          <p:cNvSpPr/>
          <p:nvPr/>
        </p:nvSpPr>
        <p:spPr bwMode="auto">
          <a:xfrm>
            <a:off x="2269393" y="4116479"/>
            <a:ext cx="571504" cy="57150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cxnSp>
        <p:nvCxnSpPr>
          <p:cNvPr id="15" name="직선 화살표 연결선 14"/>
          <p:cNvCxnSpPr>
            <a:cxnSpLocks/>
            <a:endCxn id="20" idx="1"/>
          </p:cNvCxnSpPr>
          <p:nvPr/>
        </p:nvCxnSpPr>
        <p:spPr bwMode="auto">
          <a:xfrm>
            <a:off x="2871538" y="4116479"/>
            <a:ext cx="857256" cy="3214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17" name="직선 화살표 연결선 16"/>
          <p:cNvCxnSpPr>
            <a:cxnSpLocks/>
            <a:endCxn id="20" idx="1"/>
          </p:cNvCxnSpPr>
          <p:nvPr/>
        </p:nvCxnSpPr>
        <p:spPr bwMode="auto">
          <a:xfrm flipV="1">
            <a:off x="2871506" y="4437950"/>
            <a:ext cx="857288" cy="1785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18" name="오른쪽 화살표 17"/>
          <p:cNvSpPr/>
          <p:nvPr/>
        </p:nvSpPr>
        <p:spPr bwMode="auto">
          <a:xfrm>
            <a:off x="5551519" y="4330793"/>
            <a:ext cx="357190" cy="214314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19" name="오른쪽 화살표 18"/>
          <p:cNvSpPr/>
          <p:nvPr/>
        </p:nvSpPr>
        <p:spPr bwMode="auto">
          <a:xfrm>
            <a:off x="7999791" y="4330793"/>
            <a:ext cx="357190" cy="214314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3728794" y="4045041"/>
            <a:ext cx="1699876" cy="78581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6055575" y="4045041"/>
            <a:ext cx="1872208" cy="78581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8413028" y="4045041"/>
            <a:ext cx="2072091" cy="78581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="" xmlns:a16="http://schemas.microsoft.com/office/drawing/2014/main" id="{51A74F91-FA79-471F-91BE-0C11E0CEF585}"/>
              </a:ext>
            </a:extLst>
          </p:cNvPr>
          <p:cNvSpPr/>
          <p:nvPr/>
        </p:nvSpPr>
        <p:spPr>
          <a:xfrm>
            <a:off x="3919310" y="4178691"/>
            <a:ext cx="13837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2D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신경망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4299AC99-D839-4DEC-9849-AF33646AEC16}"/>
              </a:ext>
            </a:extLst>
          </p:cNvPr>
          <p:cNvSpPr/>
          <p:nvPr/>
        </p:nvSpPr>
        <p:spPr>
          <a:xfrm>
            <a:off x="6271599" y="4171398"/>
            <a:ext cx="13003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필터 학습</a:t>
            </a:r>
            <a:endParaRPr lang="ko-KR" altLang="en-US" sz="2000" dirty="0"/>
          </a:p>
        </p:txBody>
      </p:sp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35638A75-C94D-407D-B03E-68A6E6ACB8CC}"/>
              </a:ext>
            </a:extLst>
          </p:cNvPr>
          <p:cNvSpPr/>
          <p:nvPr/>
        </p:nvSpPr>
        <p:spPr>
          <a:xfrm>
            <a:off x="8325554" y="4178691"/>
            <a:ext cx="21595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신경망 기반 분류</a:t>
            </a:r>
          </a:p>
        </p:txBody>
      </p:sp>
    </p:spTree>
    <p:extLst>
      <p:ext uri="{BB962C8B-B14F-4D97-AF65-F5344CB8AC3E}">
        <p14:creationId xmlns:p14="http://schemas.microsoft.com/office/powerpoint/2010/main" val="902716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컨볼루션</a:t>
            </a:r>
            <a:r>
              <a:rPr lang="ko-KR" altLang="en-US" dirty="0" smtClean="0"/>
              <a:t> 신경망 구조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051560" y="1641082"/>
            <a:ext cx="100279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3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계층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이미지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필터링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풀링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계층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이미지 크기 축소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기존 신경망을 통해 이미지 분류</a:t>
            </a:r>
            <a:endParaRPr lang="en-US" altLang="ko-KR" sz="24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4480" y="4928021"/>
            <a:ext cx="1571636" cy="54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입력 이미지</a:t>
            </a:r>
          </a:p>
        </p:txBody>
      </p:sp>
      <p:sp>
        <p:nvSpPr>
          <p:cNvPr id="29" name="오른쪽 화살표 28"/>
          <p:cNvSpPr/>
          <p:nvPr/>
        </p:nvSpPr>
        <p:spPr bwMode="auto">
          <a:xfrm>
            <a:off x="3080364" y="3993057"/>
            <a:ext cx="500066" cy="28575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30" name="오른쪽 화살표 29"/>
          <p:cNvSpPr/>
          <p:nvPr/>
        </p:nvSpPr>
        <p:spPr bwMode="auto">
          <a:xfrm>
            <a:off x="8152462" y="3957927"/>
            <a:ext cx="500066" cy="28575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8846388" y="4928021"/>
            <a:ext cx="1882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800" b="1" dirty="0" smtClean="0">
                <a:latin typeface="맑은 고딕" pitchFamily="50" charset="-127"/>
                <a:ea typeface="맑은 고딕" pitchFamily="50" charset="-127"/>
              </a:rPr>
              <a:t>다층신경망 계층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2" name="그룹 70"/>
          <p:cNvGrpSpPr/>
          <p:nvPr/>
        </p:nvGrpSpPr>
        <p:grpSpPr>
          <a:xfrm>
            <a:off x="8795404" y="3386423"/>
            <a:ext cx="1500198" cy="1428760"/>
            <a:chOff x="7000892" y="2500306"/>
            <a:chExt cx="1500198" cy="1428760"/>
          </a:xfrm>
        </p:grpSpPr>
        <p:sp>
          <p:nvSpPr>
            <p:cNvPr id="33" name="순서도: 처리 32"/>
            <p:cNvSpPr/>
            <p:nvPr/>
          </p:nvSpPr>
          <p:spPr bwMode="auto">
            <a:xfrm>
              <a:off x="7000892" y="2500306"/>
              <a:ext cx="214314" cy="1428760"/>
            </a:xfrm>
            <a:prstGeom prst="flowChartProcess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34" name="타원 33"/>
            <p:cNvSpPr/>
            <p:nvPr/>
          </p:nvSpPr>
          <p:spPr bwMode="auto">
            <a:xfrm>
              <a:off x="7715272" y="2714620"/>
              <a:ext cx="214314" cy="2143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35" name="타원 34"/>
            <p:cNvSpPr/>
            <p:nvPr/>
          </p:nvSpPr>
          <p:spPr bwMode="auto">
            <a:xfrm>
              <a:off x="8286776" y="3071810"/>
              <a:ext cx="214314" cy="2143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36" name="타원 35"/>
            <p:cNvSpPr/>
            <p:nvPr/>
          </p:nvSpPr>
          <p:spPr bwMode="auto">
            <a:xfrm>
              <a:off x="7715272" y="3357562"/>
              <a:ext cx="214314" cy="21431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37" name="직선 연결선 36"/>
            <p:cNvCxnSpPr>
              <a:endCxn id="34" idx="2"/>
            </p:cNvCxnSpPr>
            <p:nvPr/>
          </p:nvCxnSpPr>
          <p:spPr bwMode="auto">
            <a:xfrm flipV="1">
              <a:off x="7215206" y="2821777"/>
              <a:ext cx="500066" cy="3571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직선 연결선 37"/>
            <p:cNvCxnSpPr>
              <a:endCxn id="36" idx="2"/>
            </p:cNvCxnSpPr>
            <p:nvPr/>
          </p:nvCxnSpPr>
          <p:spPr bwMode="auto">
            <a:xfrm>
              <a:off x="7215206" y="3429000"/>
              <a:ext cx="500066" cy="3571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직선 연결선 38"/>
            <p:cNvCxnSpPr>
              <a:endCxn id="36" idx="2"/>
            </p:cNvCxnSpPr>
            <p:nvPr/>
          </p:nvCxnSpPr>
          <p:spPr bwMode="auto">
            <a:xfrm rot="16200000" flipH="1">
              <a:off x="7161628" y="2911074"/>
              <a:ext cx="607223" cy="50006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직선 연결선 39"/>
            <p:cNvCxnSpPr>
              <a:endCxn id="34" idx="2"/>
            </p:cNvCxnSpPr>
            <p:nvPr/>
          </p:nvCxnSpPr>
          <p:spPr bwMode="auto">
            <a:xfrm rot="5400000" flipH="1" flipV="1">
              <a:off x="7161628" y="2875356"/>
              <a:ext cx="607223" cy="50006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직선 연결선 40"/>
            <p:cNvCxnSpPr>
              <a:stCxn id="34" idx="6"/>
              <a:endCxn id="35" idx="2"/>
            </p:cNvCxnSpPr>
            <p:nvPr/>
          </p:nvCxnSpPr>
          <p:spPr bwMode="auto">
            <a:xfrm>
              <a:off x="7929586" y="2821777"/>
              <a:ext cx="357190" cy="35719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직선 연결선 41"/>
            <p:cNvCxnSpPr>
              <a:stCxn id="36" idx="6"/>
              <a:endCxn id="35" idx="2"/>
            </p:cNvCxnSpPr>
            <p:nvPr/>
          </p:nvCxnSpPr>
          <p:spPr bwMode="auto">
            <a:xfrm flipV="1">
              <a:off x="7929586" y="3178967"/>
              <a:ext cx="357190" cy="2857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3" name="그룹 120"/>
          <p:cNvGrpSpPr/>
          <p:nvPr/>
        </p:nvGrpSpPr>
        <p:grpSpPr>
          <a:xfrm>
            <a:off x="3866178" y="2778611"/>
            <a:ext cx="4555752" cy="2822390"/>
            <a:chOff x="2214542" y="722392"/>
            <a:chExt cx="4555752" cy="3127507"/>
          </a:xfrm>
        </p:grpSpPr>
        <p:grpSp>
          <p:nvGrpSpPr>
            <p:cNvPr id="44" name="그룹 69"/>
            <p:cNvGrpSpPr/>
            <p:nvPr/>
          </p:nvGrpSpPr>
          <p:grpSpPr>
            <a:xfrm>
              <a:off x="2214542" y="1000108"/>
              <a:ext cx="4143403" cy="2849791"/>
              <a:chOff x="2212082" y="2227205"/>
              <a:chExt cx="4071966" cy="3130622"/>
            </a:xfrm>
          </p:grpSpPr>
          <p:sp>
            <p:nvSpPr>
              <p:cNvPr id="48" name="액자 47"/>
              <p:cNvSpPr/>
              <p:nvPr/>
            </p:nvSpPr>
            <p:spPr bwMode="auto">
              <a:xfrm>
                <a:off x="2212082" y="2227205"/>
                <a:ext cx="4071966" cy="3130622"/>
              </a:xfrm>
              <a:prstGeom prst="frame">
                <a:avLst>
                  <a:gd name="adj1" fmla="val 204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2317693" y="4512514"/>
                <a:ext cx="1810092" cy="449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800" b="1" dirty="0" err="1" smtClean="0">
                    <a:latin typeface="맑은 고딕" pitchFamily="50" charset="-127"/>
                    <a:ea typeface="맑은 고딕" pitchFamily="50" charset="-127"/>
                  </a:rPr>
                  <a:t>컨볼루션</a:t>
                </a:r>
                <a:r>
                  <a:rPr lang="ko-KR" altLang="en-US" sz="1800" b="1" dirty="0" smtClean="0">
                    <a:latin typeface="맑은 고딕" pitchFamily="50" charset="-127"/>
                    <a:ea typeface="맑은 고딕" pitchFamily="50" charset="-127"/>
                  </a:rPr>
                  <a:t> 계층</a:t>
                </a:r>
                <a:endParaRPr lang="ko-KR" altLang="en-US" sz="1800" b="1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50" name="오른쪽 화살표 49"/>
              <p:cNvSpPr/>
              <p:nvPr/>
            </p:nvSpPr>
            <p:spPr bwMode="auto">
              <a:xfrm>
                <a:off x="3405593" y="3400471"/>
                <a:ext cx="491444" cy="347847"/>
              </a:xfrm>
              <a:prstGeom prst="rightArrow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4373505" y="4527295"/>
                <a:ext cx="1450758" cy="449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800" b="1" smtClean="0">
                    <a:latin typeface="맑은 고딕" pitchFamily="50" charset="-127"/>
                    <a:ea typeface="맑은 고딕" pitchFamily="50" charset="-127"/>
                  </a:rPr>
                  <a:t>풀링</a:t>
                </a:r>
                <a:r>
                  <a:rPr lang="ko-KR" altLang="en-US" sz="1800" b="1" dirty="0" smtClean="0">
                    <a:latin typeface="맑은 고딕" pitchFamily="50" charset="-127"/>
                    <a:ea typeface="맑은 고딕" pitchFamily="50" charset="-127"/>
                  </a:rPr>
                  <a:t> 계층</a:t>
                </a:r>
                <a:endParaRPr lang="ko-KR" altLang="en-US" sz="1800" b="1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cxnSp>
            <p:nvCxnSpPr>
              <p:cNvPr id="52" name="직선 화살표 연결선 51"/>
              <p:cNvCxnSpPr/>
              <p:nvPr/>
            </p:nvCxnSpPr>
            <p:spPr bwMode="auto">
              <a:xfrm>
                <a:off x="4964363" y="3572806"/>
                <a:ext cx="184640" cy="1589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arrow"/>
              </a:ln>
              <a:effectLst/>
            </p:spPr>
          </p:cxnSp>
          <p:sp>
            <p:nvSpPr>
              <p:cNvPr id="53" name="액자 52"/>
              <p:cNvSpPr/>
              <p:nvPr/>
            </p:nvSpPr>
            <p:spPr bwMode="auto">
              <a:xfrm>
                <a:off x="3979617" y="2897243"/>
                <a:ext cx="1907945" cy="1285884"/>
              </a:xfrm>
              <a:prstGeom prst="frame">
                <a:avLst>
                  <a:gd name="adj1" fmla="val 1598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</p:grpSp>
        <p:pic>
          <p:nvPicPr>
            <p:cNvPr id="45" name="그림 44" descr="그림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14810" y="1848023"/>
              <a:ext cx="731110" cy="695069"/>
            </a:xfrm>
            <a:prstGeom prst="rect">
              <a:avLst/>
            </a:prstGeom>
          </p:spPr>
        </p:pic>
        <p:pic>
          <p:nvPicPr>
            <p:cNvPr id="46" name="그림 45" descr="그림4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86380" y="1909805"/>
              <a:ext cx="500066" cy="477770"/>
            </a:xfrm>
            <a:prstGeom prst="rect">
              <a:avLst/>
            </a:prstGeom>
          </p:spPr>
        </p:pic>
        <p:sp>
          <p:nvSpPr>
            <p:cNvPr id="47" name="아래로 구부러진 화살표 46"/>
            <p:cNvSpPr/>
            <p:nvPr/>
          </p:nvSpPr>
          <p:spPr bwMode="auto">
            <a:xfrm rot="2132614">
              <a:off x="6341666" y="722392"/>
              <a:ext cx="428628" cy="214314"/>
            </a:xfrm>
            <a:prstGeom prst="curvedDownArrow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2008794" y="3778742"/>
            <a:ext cx="857256" cy="785819"/>
            <a:chOff x="428596" y="3000372"/>
            <a:chExt cx="1714512" cy="1714512"/>
          </a:xfrm>
        </p:grpSpPr>
        <p:sp>
          <p:nvSpPr>
            <p:cNvPr id="55" name="직사각형 54"/>
            <p:cNvSpPr/>
            <p:nvPr/>
          </p:nvSpPr>
          <p:spPr bwMode="auto">
            <a:xfrm>
              <a:off x="428596" y="3000372"/>
              <a:ext cx="1714512" cy="171451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6" name="직사각형 55"/>
            <p:cNvSpPr/>
            <p:nvPr/>
          </p:nvSpPr>
          <p:spPr bwMode="auto">
            <a:xfrm>
              <a:off x="500034" y="3643314"/>
              <a:ext cx="1571636" cy="428628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softEdge rad="63500"/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57" name="그룹 56"/>
          <p:cNvGrpSpPr/>
          <p:nvPr/>
        </p:nvGrpSpPr>
        <p:grpSpPr>
          <a:xfrm>
            <a:off x="4151934" y="3707306"/>
            <a:ext cx="785818" cy="785817"/>
            <a:chOff x="2428860" y="5072075"/>
            <a:chExt cx="3000396" cy="1071570"/>
          </a:xfrm>
        </p:grpSpPr>
        <p:grpSp>
          <p:nvGrpSpPr>
            <p:cNvPr id="58" name="그룹 57"/>
            <p:cNvGrpSpPr/>
            <p:nvPr/>
          </p:nvGrpSpPr>
          <p:grpSpPr>
            <a:xfrm>
              <a:off x="2428860" y="5072075"/>
              <a:ext cx="3000396" cy="1071570"/>
              <a:chOff x="2786050" y="4572008"/>
              <a:chExt cx="857256" cy="776295"/>
            </a:xfrm>
          </p:grpSpPr>
          <p:sp>
            <p:nvSpPr>
              <p:cNvPr id="60" name="직사각형 59"/>
              <p:cNvSpPr/>
              <p:nvPr/>
            </p:nvSpPr>
            <p:spPr bwMode="auto">
              <a:xfrm>
                <a:off x="2786050" y="4572008"/>
                <a:ext cx="857256" cy="77629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1" name="직사각형 60"/>
              <p:cNvSpPr/>
              <p:nvPr/>
            </p:nvSpPr>
            <p:spPr bwMode="auto">
              <a:xfrm>
                <a:off x="2821769" y="4848237"/>
                <a:ext cx="785818" cy="66079"/>
              </a:xfrm>
              <a:prstGeom prst="rect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>
                <a:softEdge rad="31750"/>
              </a:effectLst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59" name="직사각형 58"/>
            <p:cNvSpPr/>
            <p:nvPr/>
          </p:nvSpPr>
          <p:spPr bwMode="auto">
            <a:xfrm>
              <a:off x="2571738" y="5643578"/>
              <a:ext cx="2750364" cy="91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softEdge rad="31750"/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3222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컨볼루션</a:t>
            </a:r>
            <a:r>
              <a:rPr lang="ko-KR" altLang="en-US" dirty="0" smtClean="0"/>
              <a:t> 신경망에서의 필터 학습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97932" y="2724053"/>
            <a:ext cx="7482538" cy="3997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7" name="TextBox 46"/>
          <p:cNvSpPr txBox="1"/>
          <p:nvPr/>
        </p:nvSpPr>
        <p:spPr>
          <a:xfrm>
            <a:off x="4293612" y="2192301"/>
            <a:ext cx="16430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low-level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filter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6508354" y="2192301"/>
            <a:ext cx="15766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mid-level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filter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8579892" y="2192301"/>
            <a:ext cx="16391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high-level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filter</a:t>
            </a:r>
          </a:p>
        </p:txBody>
      </p:sp>
      <p:cxnSp>
        <p:nvCxnSpPr>
          <p:cNvPr id="50" name="직선 화살표 연결선 49"/>
          <p:cNvCxnSpPr/>
          <p:nvPr/>
        </p:nvCxnSpPr>
        <p:spPr>
          <a:xfrm rot="16200000" flipH="1">
            <a:off x="6998897" y="2701644"/>
            <a:ext cx="304388" cy="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cxnSp>
        <p:nvCxnSpPr>
          <p:cNvPr id="51" name="직선 화살표 연결선 50"/>
          <p:cNvCxnSpPr/>
          <p:nvPr/>
        </p:nvCxnSpPr>
        <p:spPr>
          <a:xfrm rot="16200000" flipH="1">
            <a:off x="4855757" y="2701645"/>
            <a:ext cx="304388" cy="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cxnSp>
        <p:nvCxnSpPr>
          <p:cNvPr id="53" name="직선 화살표 연결선 52"/>
          <p:cNvCxnSpPr/>
          <p:nvPr/>
        </p:nvCxnSpPr>
        <p:spPr>
          <a:xfrm rot="16200000" flipH="1">
            <a:off x="9142037" y="2701645"/>
            <a:ext cx="304388" cy="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645920" y="1641082"/>
            <a:ext cx="883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신경망은 일반적으로 다층의 필터로 구성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853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컨볼루션</a:t>
            </a:r>
            <a:r>
              <a:rPr lang="ko-KR" altLang="en-US" dirty="0" smtClean="0"/>
              <a:t> 계층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38" name="그룹 37"/>
          <p:cNvGrpSpPr/>
          <p:nvPr/>
        </p:nvGrpSpPr>
        <p:grpSpPr>
          <a:xfrm>
            <a:off x="8361060" y="2967806"/>
            <a:ext cx="1785950" cy="2000264"/>
            <a:chOff x="5143504" y="2000240"/>
            <a:chExt cx="1785950" cy="2000264"/>
          </a:xfrm>
        </p:grpSpPr>
        <p:sp>
          <p:nvSpPr>
            <p:cNvPr id="39" name="정육면체 38"/>
            <p:cNvSpPr/>
            <p:nvPr/>
          </p:nvSpPr>
          <p:spPr bwMode="auto">
            <a:xfrm>
              <a:off x="5143504" y="2000240"/>
              <a:ext cx="500066" cy="1928826"/>
            </a:xfrm>
            <a:prstGeom prst="cube">
              <a:avLst>
                <a:gd name="adj" fmla="val 87861"/>
              </a:avLst>
            </a:prstGeom>
            <a:solidFill>
              <a:schemeClr val="tx2">
                <a:lumMod val="90000"/>
              </a:schemeClr>
            </a:solidFill>
            <a:ln w="9525" cap="flat" cmpd="sng" algn="ctr">
              <a:solidFill>
                <a:schemeClr val="tx2">
                  <a:lumMod val="7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0" name="정육면체 39"/>
            <p:cNvSpPr/>
            <p:nvPr/>
          </p:nvSpPr>
          <p:spPr bwMode="auto">
            <a:xfrm>
              <a:off x="5357818" y="2000240"/>
              <a:ext cx="500066" cy="1928826"/>
            </a:xfrm>
            <a:prstGeom prst="cube">
              <a:avLst>
                <a:gd name="adj" fmla="val 87861"/>
              </a:avLst>
            </a:prstGeom>
            <a:solidFill>
              <a:schemeClr val="accent1">
                <a:lumMod val="75000"/>
              </a:schemeClr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8" name="정육면체 57"/>
            <p:cNvSpPr/>
            <p:nvPr/>
          </p:nvSpPr>
          <p:spPr bwMode="auto">
            <a:xfrm>
              <a:off x="5643570" y="2000240"/>
              <a:ext cx="500066" cy="1928826"/>
            </a:xfrm>
            <a:prstGeom prst="cube">
              <a:avLst>
                <a:gd name="adj" fmla="val 87861"/>
              </a:avLst>
            </a:prstGeom>
            <a:solidFill>
              <a:schemeClr val="accent2">
                <a:lumMod val="90000"/>
              </a:schemeClr>
            </a:solidFill>
            <a:ln w="952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9" name="정육면체 58"/>
            <p:cNvSpPr/>
            <p:nvPr/>
          </p:nvSpPr>
          <p:spPr bwMode="auto">
            <a:xfrm>
              <a:off x="5929322" y="2000240"/>
              <a:ext cx="500066" cy="1928826"/>
            </a:xfrm>
            <a:prstGeom prst="cube">
              <a:avLst>
                <a:gd name="adj" fmla="val 87861"/>
              </a:avLst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0" name="정육면체 59"/>
            <p:cNvSpPr/>
            <p:nvPr/>
          </p:nvSpPr>
          <p:spPr bwMode="auto">
            <a:xfrm>
              <a:off x="6215074" y="2071678"/>
              <a:ext cx="500066" cy="1928826"/>
            </a:xfrm>
            <a:prstGeom prst="cube">
              <a:avLst>
                <a:gd name="adj" fmla="val 87861"/>
              </a:avLst>
            </a:prstGeom>
            <a:solidFill>
              <a:srgbClr val="FFFF00"/>
            </a:solidFill>
            <a:ln w="9525" cap="flat" cmpd="sng" algn="ctr">
              <a:solidFill>
                <a:srgbClr val="FFFF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1" name="정육면체 60"/>
            <p:cNvSpPr/>
            <p:nvPr/>
          </p:nvSpPr>
          <p:spPr bwMode="auto">
            <a:xfrm>
              <a:off x="6429388" y="2071678"/>
              <a:ext cx="500066" cy="1928826"/>
            </a:xfrm>
            <a:prstGeom prst="cube">
              <a:avLst>
                <a:gd name="adj" fmla="val 87861"/>
              </a:avLst>
            </a:prstGeom>
            <a:solidFill>
              <a:srgbClr val="FFC000"/>
            </a:solidFill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2288830" y="2884226"/>
            <a:ext cx="1428760" cy="2286016"/>
            <a:chOff x="1000100" y="1785926"/>
            <a:chExt cx="1428760" cy="2286016"/>
          </a:xfrm>
        </p:grpSpPr>
        <p:sp>
          <p:nvSpPr>
            <p:cNvPr id="63" name="정육면체 62"/>
            <p:cNvSpPr/>
            <p:nvPr/>
          </p:nvSpPr>
          <p:spPr bwMode="auto">
            <a:xfrm>
              <a:off x="1000100" y="1785926"/>
              <a:ext cx="928694" cy="2286016"/>
            </a:xfrm>
            <a:prstGeom prst="cube">
              <a:avLst>
                <a:gd name="adj" fmla="val 76166"/>
              </a:avLst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4" name="정육면체 63"/>
            <p:cNvSpPr/>
            <p:nvPr/>
          </p:nvSpPr>
          <p:spPr bwMode="auto">
            <a:xfrm>
              <a:off x="1357290" y="2428868"/>
              <a:ext cx="285752" cy="357190"/>
            </a:xfrm>
            <a:prstGeom prst="cube">
              <a:avLst>
                <a:gd name="adj" fmla="val 43640"/>
              </a:avLst>
            </a:prstGeom>
            <a:solidFill>
              <a:srgbClr val="FF6969"/>
            </a:solidFill>
            <a:ln w="9525" cap="flat" cmpd="sng" algn="ctr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65" name="직선 연결선 64"/>
            <p:cNvCxnSpPr>
              <a:endCxn id="67" idx="2"/>
            </p:cNvCxnSpPr>
            <p:nvPr/>
          </p:nvCxnSpPr>
          <p:spPr bwMode="auto">
            <a:xfrm flipV="1">
              <a:off x="1643042" y="2536025"/>
              <a:ext cx="714380" cy="10715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직선 연결선 65"/>
            <p:cNvCxnSpPr>
              <a:endCxn id="67" idx="2"/>
            </p:cNvCxnSpPr>
            <p:nvPr/>
          </p:nvCxnSpPr>
          <p:spPr bwMode="auto">
            <a:xfrm flipV="1">
              <a:off x="1500166" y="2536025"/>
              <a:ext cx="857256" cy="25003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67" name="타원 66"/>
            <p:cNvSpPr/>
            <p:nvPr/>
          </p:nvSpPr>
          <p:spPr bwMode="auto">
            <a:xfrm>
              <a:off x="2357422" y="2500306"/>
              <a:ext cx="71438" cy="71438"/>
            </a:xfrm>
            <a:prstGeom prst="ellipse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68" name="직선 연결선 67"/>
            <p:cNvCxnSpPr>
              <a:endCxn id="67" idx="2"/>
            </p:cNvCxnSpPr>
            <p:nvPr/>
          </p:nvCxnSpPr>
          <p:spPr bwMode="auto">
            <a:xfrm>
              <a:off x="1643042" y="2428868"/>
              <a:ext cx="714380" cy="10715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직선 연결선 68"/>
            <p:cNvCxnSpPr>
              <a:endCxn id="67" idx="2"/>
            </p:cNvCxnSpPr>
            <p:nvPr/>
          </p:nvCxnSpPr>
          <p:spPr bwMode="auto">
            <a:xfrm flipV="1">
              <a:off x="1500166" y="2536025"/>
              <a:ext cx="857256" cy="1754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70" name="TextBox 69"/>
          <p:cNvSpPr txBox="1"/>
          <p:nvPr/>
        </p:nvSpPr>
        <p:spPr>
          <a:xfrm>
            <a:off x="1645920" y="5253822"/>
            <a:ext cx="1643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이미지</a:t>
            </a:r>
            <a:r>
              <a:rPr lang="en-US" altLang="ko-KR" sz="18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(32, 32)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360400" y="2682054"/>
            <a:ext cx="1643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필터</a:t>
            </a:r>
            <a:r>
              <a:rPr lang="en-US" altLang="ko-KR" sz="18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6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</a:t>
            </a:r>
            <a:endParaRPr lang="en-US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(5, </a:t>
            </a:r>
            <a:r>
              <a:rPr lang="en-US" altLang="ko-KR" sz="18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5, 6)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2" name="직선 화살표 연결선 71"/>
          <p:cNvCxnSpPr/>
          <p:nvPr/>
        </p:nvCxnSpPr>
        <p:spPr bwMode="auto">
          <a:xfrm>
            <a:off x="3789028" y="3894912"/>
            <a:ext cx="571504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73" name="TextBox 72"/>
          <p:cNvSpPr txBox="1"/>
          <p:nvPr/>
        </p:nvSpPr>
        <p:spPr>
          <a:xfrm>
            <a:off x="4551033" y="3678196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컨볼루션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4" name="직선 화살표 연결선 73"/>
          <p:cNvCxnSpPr/>
          <p:nvPr/>
        </p:nvCxnSpPr>
        <p:spPr bwMode="auto">
          <a:xfrm>
            <a:off x="6003606" y="3896500"/>
            <a:ext cx="571504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75" name="TextBox 74"/>
          <p:cNvSpPr txBox="1"/>
          <p:nvPr/>
        </p:nvSpPr>
        <p:spPr>
          <a:xfrm>
            <a:off x="6646548" y="3741482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sigmoid</a:t>
            </a:r>
          </a:p>
        </p:txBody>
      </p:sp>
      <p:cxnSp>
        <p:nvCxnSpPr>
          <p:cNvPr id="76" name="직선 화살표 연결선 75"/>
          <p:cNvCxnSpPr/>
          <p:nvPr/>
        </p:nvCxnSpPr>
        <p:spPr bwMode="auto">
          <a:xfrm>
            <a:off x="7503804" y="3896500"/>
            <a:ext cx="571504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7754786" y="5178995"/>
            <a:ext cx="2855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특징 </a:t>
            </a:r>
            <a:r>
              <a:rPr lang="ko-KR" altLang="en-US" sz="18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맵</a:t>
            </a:r>
            <a:r>
              <a:rPr lang="en-US" altLang="ko-KR" sz="18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feature</a:t>
            </a:r>
            <a:r>
              <a:rPr lang="en-US" altLang="ko-KR" sz="18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maps)</a:t>
            </a:r>
            <a:endParaRPr lang="en-US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(32, 32, 6)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="" xmlns:a16="http://schemas.microsoft.com/office/drawing/2014/main" id="{23CDFF66-951B-495D-BAC8-CD8EC9ED537B}"/>
              </a:ext>
            </a:extLst>
          </p:cNvPr>
          <p:cNvSpPr txBox="1"/>
          <p:nvPr/>
        </p:nvSpPr>
        <p:spPr>
          <a:xfrm>
            <a:off x="9932696" y="4734979"/>
            <a:ext cx="67771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출력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="" xmlns:a16="http://schemas.microsoft.com/office/drawing/2014/main" id="{57B837BD-03E7-4E08-902D-F19296F8B69A}"/>
              </a:ext>
            </a:extLst>
          </p:cNvPr>
          <p:cNvSpPr txBox="1"/>
          <p:nvPr/>
        </p:nvSpPr>
        <p:spPr>
          <a:xfrm>
            <a:off x="1702518" y="4960677"/>
            <a:ext cx="928694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24583943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필터 연산 시 외각 픽셀 처리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005840" y="1641082"/>
            <a:ext cx="10119360" cy="1205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0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가장자리 픽셀들은 이웃하는 픽셀 정보가 없기 때문에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연산을 수행할 수 없음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000"/>
              </a:spcAft>
              <a:buSzPct val="80000"/>
              <a:buBlip>
                <a:blip r:embed="rId2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계층을 여러 번 거쳐도 영상의 크기를 유지할 수 있는 방법 필요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50647" y="5546891"/>
            <a:ext cx="1785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3X3 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필터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0251" y="5546891"/>
            <a:ext cx="200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5</a:t>
            </a: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5 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입력이미지</a:t>
            </a:r>
          </a:p>
        </p:txBody>
      </p:sp>
      <p:sp>
        <p:nvSpPr>
          <p:cNvPr id="29" name="타원 28"/>
          <p:cNvSpPr/>
          <p:nvPr/>
        </p:nvSpPr>
        <p:spPr bwMode="auto">
          <a:xfrm>
            <a:off x="4264829" y="4118131"/>
            <a:ext cx="285752" cy="285752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*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104353"/>
              </p:ext>
            </p:extLst>
          </p:nvPr>
        </p:nvGraphicFramePr>
        <p:xfrm>
          <a:off x="1907375" y="3273017"/>
          <a:ext cx="2071700" cy="205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3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43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43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143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143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119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 1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19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9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5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19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80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19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20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91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479407" y="3930076"/>
            <a:ext cx="17145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1x0 + 10x1 +1x0 +</a:t>
            </a:r>
          </a:p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10x0 + 50x1 + 0x0 +</a:t>
            </a:r>
          </a:p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10x0+ 50x1 + 50x0 </a:t>
            </a:r>
          </a:p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=110</a:t>
            </a:r>
            <a:endParaRPr lang="ko-KR" altLang="en-US" sz="1200" dirty="0">
              <a:latin typeface="맑은 고딕"/>
              <a:ea typeface="맑은 고딕"/>
              <a:cs typeface="+mj-cs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907375" y="3260875"/>
            <a:ext cx="1214446" cy="121444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693985" y="3689503"/>
            <a:ext cx="428628" cy="42862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51109" y="5546891"/>
            <a:ext cx="1785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3X3 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출력 영상</a:t>
            </a:r>
          </a:p>
        </p:txBody>
      </p: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035865"/>
              </p:ext>
            </p:extLst>
          </p:nvPr>
        </p:nvGraphicFramePr>
        <p:xfrm>
          <a:off x="8693986" y="3689503"/>
          <a:ext cx="1357320" cy="1285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24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24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24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32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110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65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65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525392"/>
              </p:ext>
            </p:extLst>
          </p:nvPr>
        </p:nvGraphicFramePr>
        <p:xfrm>
          <a:off x="4764895" y="3689503"/>
          <a:ext cx="1357320" cy="1285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24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24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24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32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65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65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6024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패딩을</a:t>
            </a:r>
            <a:r>
              <a:rPr lang="ko-KR" altLang="en-US" dirty="0" smtClean="0"/>
              <a:t> 이용한 외각 픽셀 처리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패딩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(padding)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데이터의 외부에 일정한 값의 계층을 덧대는 것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입력 영상의 가장자리에 </a:t>
            </a: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0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으로 </a:t>
            </a: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padding 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수행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2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패딩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수행 시 여러 번의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계층을 사용해 신경망을 구성해도 영상 크기가 줄어들지 않음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358564"/>
              </p:ext>
            </p:extLst>
          </p:nvPr>
        </p:nvGraphicFramePr>
        <p:xfrm>
          <a:off x="6998976" y="3438245"/>
          <a:ext cx="3429024" cy="2918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35357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357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73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 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007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225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255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286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5357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5357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5357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867876"/>
              </p:ext>
            </p:extLst>
          </p:nvPr>
        </p:nvGraphicFramePr>
        <p:xfrm>
          <a:off x="1712564" y="3498830"/>
          <a:ext cx="1714512" cy="16430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1076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 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076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225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255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076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076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2141192" y="3927458"/>
            <a:ext cx="857256" cy="78581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118741"/>
              </p:ext>
            </p:extLst>
          </p:nvPr>
        </p:nvGraphicFramePr>
        <p:xfrm>
          <a:off x="3927142" y="3498831"/>
          <a:ext cx="2571768" cy="23574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37974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449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 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92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225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255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449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974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974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직사각형 13"/>
          <p:cNvSpPr/>
          <p:nvPr/>
        </p:nvSpPr>
        <p:spPr>
          <a:xfrm>
            <a:off x="8284860" y="4509813"/>
            <a:ext cx="857256" cy="78581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784398" y="4284648"/>
            <a:ext cx="857256" cy="78581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12564" y="2998764"/>
            <a:ext cx="1785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padding 1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55704" y="2998764"/>
            <a:ext cx="1785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padding 2</a:t>
            </a:r>
            <a:endParaRPr lang="ko-KR" altLang="en-US" sz="180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27538" y="2986622"/>
            <a:ext cx="1785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padding 3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12564" y="6171684"/>
            <a:ext cx="3929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8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출력 영상 크기 </a:t>
            </a:r>
            <a:r>
              <a:rPr lang="en-US" altLang="ko-KR" sz="18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= (2p+n) x (2p+n)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06729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스트라이드</a:t>
            </a:r>
            <a:r>
              <a:rPr lang="en-US" altLang="ko-KR" dirty="0" smtClean="0"/>
              <a:t>(Stride)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스트라이드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연산 시 이동하는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x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방향과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y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방향의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이동량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보폭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b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일반적으로 </a:t>
            </a: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을 사용</a:t>
            </a:r>
            <a:endParaRPr lang="en-US" altLang="ko-KR" sz="24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759160"/>
              </p:ext>
            </p:extLst>
          </p:nvPr>
        </p:nvGraphicFramePr>
        <p:xfrm>
          <a:off x="1916397" y="2910561"/>
          <a:ext cx="1714515" cy="1643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 1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9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80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20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1916400" y="2910560"/>
            <a:ext cx="1000132" cy="98799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5745" y="3571445"/>
            <a:ext cx="1785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Stride 1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5745" y="5488652"/>
            <a:ext cx="1785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Stride 2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02350" y="3325917"/>
            <a:ext cx="17145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1x0 + 10x1 +1x0 +</a:t>
            </a:r>
          </a:p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10x0 + 50x1 + 0x0 +</a:t>
            </a:r>
          </a:p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10x0+ 50x1 + 50x0 </a:t>
            </a:r>
          </a:p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=110</a:t>
            </a:r>
            <a:endParaRPr lang="ko-KR" altLang="en-US" sz="1200" dirty="0">
              <a:latin typeface="맑은 고딕"/>
              <a:ea typeface="맑은 고딕"/>
              <a:cs typeface="+mj-cs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365675"/>
              </p:ext>
            </p:extLst>
          </p:nvPr>
        </p:nvGraphicFramePr>
        <p:xfrm>
          <a:off x="5416859" y="2910561"/>
          <a:ext cx="1714515" cy="1643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 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9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80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20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 dirty="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939343"/>
              </p:ext>
            </p:extLst>
          </p:nvPr>
        </p:nvGraphicFramePr>
        <p:xfrm>
          <a:off x="9131638" y="3041294"/>
          <a:ext cx="1285884" cy="1285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32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65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65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 dirty="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274250" y="3339188"/>
            <a:ext cx="1714512" cy="819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10x0 + 1x1 +10x0 +</a:t>
            </a:r>
          </a:p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50x0 + 0x1 + 9x0 +</a:t>
            </a:r>
          </a:p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50x0+ 50x1 + 80x0 </a:t>
            </a:r>
          </a:p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=51</a:t>
            </a:r>
            <a:endParaRPr lang="ko-KR" altLang="en-US" sz="1200" dirty="0">
              <a:latin typeface="맑은 고딕"/>
              <a:ea typeface="맑은 고딕"/>
              <a:cs typeface="+mj-cs"/>
            </a:endParaRP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818636"/>
              </p:ext>
            </p:extLst>
          </p:nvPr>
        </p:nvGraphicFramePr>
        <p:xfrm>
          <a:off x="1926878" y="4849153"/>
          <a:ext cx="1714515" cy="1643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 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9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80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20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1926879" y="4849152"/>
            <a:ext cx="1000132" cy="100013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12829" y="5264509"/>
            <a:ext cx="1714512" cy="816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맑은 고딕"/>
                <a:ea typeface="맑은 고딕"/>
                <a:cs typeface="+mj-cs"/>
              </a:rPr>
              <a:t>1x0 + 10x1 +1x0 +</a:t>
            </a:r>
          </a:p>
          <a:p>
            <a:pPr lvl="0">
              <a:defRPr/>
            </a:pPr>
            <a:r>
              <a:rPr lang="en-US" altLang="ko-KR" sz="1200">
                <a:latin typeface="맑은 고딕"/>
                <a:ea typeface="맑은 고딕"/>
                <a:cs typeface="+mj-cs"/>
              </a:rPr>
              <a:t>10x0 + 50x1 + 0x0 +</a:t>
            </a:r>
          </a:p>
          <a:p>
            <a:pPr lvl="0">
              <a:defRPr/>
            </a:pPr>
            <a:r>
              <a:rPr lang="en-US" altLang="ko-KR" sz="1200">
                <a:latin typeface="맑은 고딕"/>
                <a:ea typeface="맑은 고딕"/>
                <a:cs typeface="+mj-cs"/>
              </a:rPr>
              <a:t>10x0+ 50x1 + 50x0 </a:t>
            </a:r>
          </a:p>
          <a:p>
            <a:pPr lvl="0">
              <a:defRPr/>
            </a:pPr>
            <a:r>
              <a:rPr lang="en-US" altLang="ko-KR" sz="1200">
                <a:latin typeface="맑은 고딕"/>
                <a:ea typeface="맑은 고딕"/>
                <a:cs typeface="+mj-cs"/>
              </a:rPr>
              <a:t>=110</a:t>
            </a:r>
            <a:endParaRPr lang="ko-KR" altLang="en-US" sz="1200">
              <a:latin typeface="맑은 고딕"/>
              <a:ea typeface="맑은 고딕"/>
              <a:cs typeface="+mj-cs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04459"/>
              </p:ext>
            </p:extLst>
          </p:nvPr>
        </p:nvGraphicFramePr>
        <p:xfrm>
          <a:off x="5427338" y="4849153"/>
          <a:ext cx="1714515" cy="1643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42903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 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9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80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20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286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50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직사각형 31"/>
          <p:cNvSpPr/>
          <p:nvPr/>
        </p:nvSpPr>
        <p:spPr>
          <a:xfrm>
            <a:off x="6141720" y="4849152"/>
            <a:ext cx="1000132" cy="1000132"/>
          </a:xfrm>
          <a:prstGeom prst="rect">
            <a:avLst/>
          </a:prstGeom>
          <a:noFill/>
          <a:ln w="28575" cap="flat" cmpd="sng" algn="ctr">
            <a:solidFill>
              <a:schemeClr val="accent5">
                <a:lumMod val="50000"/>
              </a:schemeClr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rgbClr val="FF0000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468167"/>
              </p:ext>
            </p:extLst>
          </p:nvPr>
        </p:nvGraphicFramePr>
        <p:xfrm>
          <a:off x="9284992" y="4979886"/>
          <a:ext cx="857256" cy="859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86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2862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32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110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100">
                          <a:latin typeface="맑은 고딕"/>
                          <a:ea typeface="맑은 고딕"/>
                          <a:cs typeface="+mj-cs"/>
                        </a:rPr>
                        <a:t>99</a:t>
                      </a: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6522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>
                        <a:latin typeface="맑은 고딕"/>
                        <a:ea typeface="맑은 고딕"/>
                        <a:cs typeface="+mj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7284728" y="5277780"/>
            <a:ext cx="17145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1x0 + 10x1 +1x0 +</a:t>
            </a:r>
          </a:p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0x0 + 9x1 + 5x0 +</a:t>
            </a:r>
          </a:p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50x0+ 80x1 + 10x0 </a:t>
            </a:r>
          </a:p>
          <a:p>
            <a:pPr lvl="0"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= 99</a:t>
            </a:r>
            <a:endParaRPr lang="ko-KR" altLang="en-US" sz="1200" dirty="0">
              <a:latin typeface="맑은 고딕"/>
              <a:ea typeface="맑은 고딕"/>
              <a:cs typeface="+mj-cs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9560266" y="3062960"/>
            <a:ext cx="428628" cy="406962"/>
          </a:xfrm>
          <a:prstGeom prst="rect">
            <a:avLst/>
          </a:prstGeom>
          <a:noFill/>
          <a:ln w="28575" cap="flat" cmpd="sng" algn="ctr">
            <a:solidFill>
              <a:schemeClr val="accent5">
                <a:lumMod val="50000"/>
              </a:schemeClr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9713619" y="4992030"/>
            <a:ext cx="428628" cy="406962"/>
          </a:xfrm>
          <a:prstGeom prst="rect">
            <a:avLst/>
          </a:prstGeom>
          <a:noFill/>
          <a:ln w="28575" cap="flat" cmpd="sng" algn="ctr">
            <a:solidFill>
              <a:schemeClr val="accent5">
                <a:lumMod val="50000"/>
              </a:schemeClr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9131638" y="3062960"/>
            <a:ext cx="428628" cy="40696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9284991" y="4992030"/>
            <a:ext cx="428628" cy="40696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774052" y="2898418"/>
            <a:ext cx="1000132" cy="1000132"/>
          </a:xfrm>
          <a:prstGeom prst="rect">
            <a:avLst/>
          </a:prstGeom>
          <a:noFill/>
          <a:ln w="28575" cap="flat" cmpd="sng" algn="ctr">
            <a:solidFill>
              <a:schemeClr val="accent5">
                <a:lumMod val="50000"/>
              </a:schemeClr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rgbClr val="FF0000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13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풀링</a:t>
            </a:r>
            <a:r>
              <a:rPr lang="ko-KR" altLang="en-US" dirty="0" smtClean="0"/>
              <a:t> 계층</a:t>
            </a:r>
            <a:r>
              <a:rPr lang="en-US" altLang="ko-KR" dirty="0" smtClean="0"/>
              <a:t>(Pooling Layer)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풀링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계층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입력 영상의 크기를 줄이는 역할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대략적인 정보 특성만 남김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b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영상의 크기를 반감해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계산량을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줄이고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데이터에 치중된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과적합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방지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685885" y="2823048"/>
            <a:ext cx="2214554" cy="2214554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614819" y="3251700"/>
            <a:ext cx="1428736" cy="1428736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5" cstate="print"/>
          <a:srcRect/>
          <a:stretch>
            <a:fillRect/>
          </a:stretch>
        </p:blipFill>
        <p:spPr>
          <a:xfrm>
            <a:off x="7186587" y="3608866"/>
            <a:ext cx="714380" cy="714380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2043051" y="5311236"/>
            <a:ext cx="1928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128 X 128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29133" y="5311236"/>
            <a:ext cx="1928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64 X 64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15149" y="5311236"/>
            <a:ext cx="1928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32 X 32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3971877" y="3964468"/>
            <a:ext cx="571504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1828737" y="5819636"/>
            <a:ext cx="1928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100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필터 사용 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 algn="ctr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128 X 128 X 100</a:t>
            </a:r>
          </a:p>
          <a:p>
            <a:pPr lvl="0" algn="ctr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=163840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57629" y="5819636"/>
            <a:ext cx="20717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100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필터 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</a:t>
            </a:r>
            <a:endParaRPr lang="en-US" altLang="ko-KR" sz="16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 algn="ctr">
              <a:defRPr/>
            </a:pP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64 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 64 X 100</a:t>
            </a:r>
          </a:p>
          <a:p>
            <a:pPr lvl="0" algn="ctr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=409600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72207" y="5819636"/>
            <a:ext cx="21431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100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필터 사용  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 algn="ctr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32 X 32 X 100</a:t>
            </a:r>
          </a:p>
          <a:p>
            <a:pPr lvl="0" algn="ctr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=102400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 rotWithShape="1">
          <a:blip r:embed="rId6" cstate="print"/>
          <a:srcRect/>
          <a:stretch>
            <a:fillRect/>
          </a:stretch>
        </p:blipFill>
        <p:spPr>
          <a:xfrm>
            <a:off x="9254275" y="3747752"/>
            <a:ext cx="504056" cy="504056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sp>
        <p:nvSpPr>
          <p:cNvPr id="22" name="TextBox 13"/>
          <p:cNvSpPr txBox="1"/>
          <p:nvPr/>
        </p:nvSpPr>
        <p:spPr>
          <a:xfrm>
            <a:off x="9043975" y="5323378"/>
            <a:ext cx="1928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16 X 16</a:t>
            </a:r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6329331" y="3966056"/>
            <a:ext cx="571504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cxnSp>
        <p:nvCxnSpPr>
          <p:cNvPr id="24" name="직선 화살표 연결선 23"/>
          <p:cNvCxnSpPr/>
          <p:nvPr/>
        </p:nvCxnSpPr>
        <p:spPr>
          <a:xfrm>
            <a:off x="8329595" y="3966056"/>
            <a:ext cx="571504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8472503" y="5819636"/>
            <a:ext cx="21431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100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필터 사용  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 algn="ctr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16 X 16 X 100</a:t>
            </a:r>
          </a:p>
          <a:p>
            <a:pPr lvl="0" algn="ctr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=25600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68074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최대 </a:t>
            </a:r>
            <a:r>
              <a:rPr lang="ko-KR" altLang="en-US" dirty="0" err="1" smtClean="0"/>
              <a:t>풀링</a:t>
            </a:r>
            <a:r>
              <a:rPr lang="en-US" altLang="ko-KR" dirty="0" smtClean="0"/>
              <a:t>(Max Pooling)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영상의 크기를 줄이는 여러 방법 중 일반적으로 최대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풀링을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활용함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4014774" y="3027901"/>
            <a:ext cx="656798" cy="14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sp>
        <p:nvSpPr>
          <p:cNvPr id="27" name="직사각형 26"/>
          <p:cNvSpPr/>
          <p:nvPr/>
        </p:nvSpPr>
        <p:spPr>
          <a:xfrm>
            <a:off x="5370091" y="2589057"/>
            <a:ext cx="1317606" cy="1377498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 cap="flat" cmpd="sng" algn="ctr">
            <a:solidFill>
              <a:srgbClr val="FF0000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807045" y="2871193"/>
            <a:ext cx="658804" cy="598912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cxnSp>
        <p:nvCxnSpPr>
          <p:cNvPr id="29" name="직선 화살표 연결선 28"/>
          <p:cNvCxnSpPr/>
          <p:nvPr/>
        </p:nvCxnSpPr>
        <p:spPr>
          <a:xfrm>
            <a:off x="7515236" y="3027901"/>
            <a:ext cx="656798" cy="14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3436387" y="3722950"/>
            <a:ext cx="17368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6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컨볼루션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계층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36019" y="3650698"/>
            <a:ext cx="12577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풀링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계층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41881" y="4104427"/>
            <a:ext cx="11978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64 X 64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85153" y="4092285"/>
            <a:ext cx="11978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32 X 32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직사각형 12"/>
          <p:cNvSpPr/>
          <p:nvPr/>
        </p:nvSpPr>
        <p:spPr>
          <a:xfrm>
            <a:off x="5651283" y="2451311"/>
            <a:ext cx="1317606" cy="1377498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 cap="flat" cmpd="sng" algn="ctr">
            <a:solidFill>
              <a:srgbClr val="FF0000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35" name="직사각형 13"/>
          <p:cNvSpPr/>
          <p:nvPr/>
        </p:nvSpPr>
        <p:spPr>
          <a:xfrm>
            <a:off x="8978421" y="2656879"/>
            <a:ext cx="658804" cy="598912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593379"/>
              </p:ext>
            </p:extLst>
          </p:nvPr>
        </p:nvGraphicFramePr>
        <p:xfrm>
          <a:off x="2427083" y="4668926"/>
          <a:ext cx="1796736" cy="16769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18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491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918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4918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149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3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5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0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8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80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0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67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50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0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225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40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7099069" y="5750460"/>
            <a:ext cx="1617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Max Pooling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203513"/>
              </p:ext>
            </p:extLst>
          </p:nvPr>
        </p:nvGraphicFramePr>
        <p:xfrm>
          <a:off x="5926837" y="4779993"/>
          <a:ext cx="898368" cy="8413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18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491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20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3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0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350494"/>
              </p:ext>
            </p:extLst>
          </p:nvPr>
        </p:nvGraphicFramePr>
        <p:xfrm>
          <a:off x="7225887" y="4783429"/>
          <a:ext cx="898368" cy="8413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18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491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20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100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5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0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225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50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8" name="표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560900"/>
              </p:ext>
            </p:extLst>
          </p:nvPr>
        </p:nvGraphicFramePr>
        <p:xfrm>
          <a:off x="8490065" y="4783429"/>
          <a:ext cx="898368" cy="8413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18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491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20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52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0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98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/>
                        <a:t>25</a:t>
                      </a:r>
                      <a:endParaRPr lang="ko-KR" altLang="en-US" sz="1300" dirty="0"/>
                    </a:p>
                  </a:txBody>
                  <a:tcPr marL="76660" marR="76660" marT="38330" marB="38330"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9" name="직선 화살표 연결선 58"/>
          <p:cNvCxnSpPr/>
          <p:nvPr/>
        </p:nvCxnSpPr>
        <p:spPr bwMode="auto">
          <a:xfrm>
            <a:off x="4663160" y="5434505"/>
            <a:ext cx="591118" cy="14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60" name="액자 59"/>
          <p:cNvSpPr/>
          <p:nvPr/>
        </p:nvSpPr>
        <p:spPr bwMode="auto">
          <a:xfrm>
            <a:off x="5525722" y="4668926"/>
            <a:ext cx="4197398" cy="1661160"/>
          </a:xfrm>
          <a:prstGeom prst="frame">
            <a:avLst>
              <a:gd name="adj1" fmla="val 355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285159" y="6425642"/>
            <a:ext cx="16170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 X 2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920014" y="6445151"/>
            <a:ext cx="16170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 X 4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942543" y="5750461"/>
            <a:ext cx="1258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Left-Top</a:t>
            </a:r>
          </a:p>
          <a:p>
            <a:r>
              <a:rPr lang="en-US" altLang="ko-KR" sz="1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Pooling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512483" y="5750460"/>
            <a:ext cx="928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Average</a:t>
            </a:r>
          </a:p>
          <a:p>
            <a:r>
              <a:rPr lang="en-US" altLang="ko-KR" sz="1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Pooling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2430462" y="2473054"/>
            <a:ext cx="1669098" cy="1865306"/>
            <a:chOff x="460681" y="1000108"/>
            <a:chExt cx="2045554" cy="2286016"/>
          </a:xfrm>
        </p:grpSpPr>
        <p:grpSp>
          <p:nvGrpSpPr>
            <p:cNvPr id="76" name="그룹 75"/>
            <p:cNvGrpSpPr/>
            <p:nvPr/>
          </p:nvGrpSpPr>
          <p:grpSpPr>
            <a:xfrm>
              <a:off x="460681" y="1000108"/>
              <a:ext cx="2045554" cy="2286016"/>
              <a:chOff x="619338" y="1785926"/>
              <a:chExt cx="2045554" cy="2286016"/>
            </a:xfrm>
          </p:grpSpPr>
          <p:sp>
            <p:nvSpPr>
              <p:cNvPr id="77" name="정육면체 76"/>
              <p:cNvSpPr/>
              <p:nvPr/>
            </p:nvSpPr>
            <p:spPr>
              <a:xfrm>
                <a:off x="1142975" y="1785926"/>
                <a:ext cx="944476" cy="2286016"/>
              </a:xfrm>
              <a:prstGeom prst="cube">
                <a:avLst>
                  <a:gd name="adj" fmla="val 76166"/>
                </a:avLst>
              </a:prstGeom>
              <a:solidFill>
                <a:schemeClr val="bg1">
                  <a:lumMod val="7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lang="ko-KR" altLang="en-US"/>
              </a:p>
            </p:txBody>
          </p:sp>
          <p:sp>
            <p:nvSpPr>
              <p:cNvPr id="78" name="평행 사변형 77"/>
              <p:cNvSpPr/>
              <p:nvPr/>
            </p:nvSpPr>
            <p:spPr>
              <a:xfrm rot="8128714">
                <a:off x="619338" y="2364717"/>
                <a:ext cx="2045554" cy="1132588"/>
              </a:xfrm>
              <a:prstGeom prst="parallelogram">
                <a:avLst>
                  <a:gd name="adj" fmla="val 96079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</p:grpSp>
        <p:cxnSp>
          <p:nvCxnSpPr>
            <p:cNvPr id="79" name="직선 연결선 78"/>
            <p:cNvCxnSpPr/>
            <p:nvPr/>
          </p:nvCxnSpPr>
          <p:spPr>
            <a:xfrm rot="5400000" flipH="1" flipV="1">
              <a:off x="1000097" y="2571741"/>
              <a:ext cx="714385" cy="71438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cxnSp>
          <p:nvCxnSpPr>
            <p:cNvPr id="80" name="직선 연결선 79"/>
            <p:cNvCxnSpPr/>
            <p:nvPr/>
          </p:nvCxnSpPr>
          <p:spPr>
            <a:xfrm>
              <a:off x="1698058" y="2571744"/>
              <a:ext cx="230736" cy="1588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cxnSp>
          <p:nvCxnSpPr>
            <p:cNvPr id="81" name="직선 연결선 80"/>
            <p:cNvCxnSpPr/>
            <p:nvPr/>
          </p:nvCxnSpPr>
          <p:spPr>
            <a:xfrm rot="5400000">
              <a:off x="927868" y="1785132"/>
              <a:ext cx="1571636" cy="1588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515297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다층 신경망 계층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939663"/>
              </p:ext>
            </p:extLst>
          </p:nvPr>
        </p:nvGraphicFramePr>
        <p:xfrm>
          <a:off x="2772682" y="3664542"/>
          <a:ext cx="994302" cy="1083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15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971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043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-1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3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  0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文字方塊 16"/>
          <p:cNvSpPr txBox="1">
            <a:spLocks noChangeArrowheads="1"/>
          </p:cNvSpPr>
          <p:nvPr/>
        </p:nvSpPr>
        <p:spPr bwMode="auto">
          <a:xfrm>
            <a:off x="3539128" y="4714488"/>
            <a:ext cx="152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ko-KR" altLang="en-US" sz="20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플래튼</a:t>
            </a:r>
            <a:endParaRPr lang="en-US" altLang="zh-TW" sz="20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zh-TW" sz="2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(flatten)</a:t>
            </a:r>
            <a:endParaRPr lang="zh-TW" altLang="en-US" sz="2000" dirty="0">
              <a:latin typeface="나눔스퀘어 Bold" panose="020B0600000101010101" pitchFamily="50" charset="-127"/>
              <a:ea typeface="맑은 고딕" pitchFamily="50" charset="-127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984184"/>
              </p:ext>
            </p:extLst>
          </p:nvPr>
        </p:nvGraphicFramePr>
        <p:xfrm>
          <a:off x="2098646" y="4115218"/>
          <a:ext cx="994302" cy="959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715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971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796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96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886377"/>
              </p:ext>
            </p:extLst>
          </p:nvPr>
        </p:nvGraphicFramePr>
        <p:xfrm>
          <a:off x="5216834" y="2450800"/>
          <a:ext cx="642942" cy="4088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294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5110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10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10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10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110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-1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110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110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110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" name="文字方塊 16"/>
          <p:cNvSpPr txBox="1">
            <a:spLocks noChangeArrowheads="1"/>
          </p:cNvSpPr>
          <p:nvPr/>
        </p:nvSpPr>
        <p:spPr bwMode="auto">
          <a:xfrm>
            <a:off x="6742475" y="5282977"/>
            <a:ext cx="39085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다층 신경망</a:t>
            </a:r>
            <a:endParaRPr lang="zh-TW" altLang="en-US" sz="2000" dirty="0">
              <a:latin typeface="나눔스퀘어 Bold" panose="020B0600000101010101" pitchFamily="50" charset="-127"/>
              <a:ea typeface="맑은 고딕" pitchFamily="50" charset="-127"/>
            </a:endParaRPr>
          </a:p>
        </p:txBody>
      </p:sp>
      <p:sp>
        <p:nvSpPr>
          <p:cNvPr id="34" name="오른쪽 화살표 33"/>
          <p:cNvSpPr/>
          <p:nvPr/>
        </p:nvSpPr>
        <p:spPr>
          <a:xfrm>
            <a:off x="6213149" y="4168082"/>
            <a:ext cx="650179" cy="400110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grpSp>
        <p:nvGrpSpPr>
          <p:cNvPr id="35" name="그룹 34"/>
          <p:cNvGrpSpPr/>
          <p:nvPr/>
        </p:nvGrpSpPr>
        <p:grpSpPr>
          <a:xfrm>
            <a:off x="7217098" y="3282308"/>
            <a:ext cx="3643338" cy="1714512"/>
            <a:chOff x="5357818" y="2428868"/>
            <a:chExt cx="3643338" cy="1714512"/>
          </a:xfrm>
        </p:grpSpPr>
        <p:grpSp>
          <p:nvGrpSpPr>
            <p:cNvPr id="36" name="그룹 224"/>
            <p:cNvGrpSpPr/>
            <p:nvPr/>
          </p:nvGrpSpPr>
          <p:grpSpPr>
            <a:xfrm>
              <a:off x="5357818" y="2428868"/>
              <a:ext cx="3429024" cy="1714512"/>
              <a:chOff x="1214414" y="3857628"/>
              <a:chExt cx="5214974" cy="2000264"/>
            </a:xfrm>
          </p:grpSpPr>
          <p:sp>
            <p:nvSpPr>
              <p:cNvPr id="39" name="타원 38"/>
              <p:cNvSpPr/>
              <p:nvPr/>
            </p:nvSpPr>
            <p:spPr bwMode="auto">
              <a:xfrm>
                <a:off x="1214414" y="421481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0" name="타원 39"/>
              <p:cNvSpPr/>
              <p:nvPr/>
            </p:nvSpPr>
            <p:spPr bwMode="auto">
              <a:xfrm>
                <a:off x="1214414" y="4714884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1" name="타원 40"/>
              <p:cNvSpPr/>
              <p:nvPr/>
            </p:nvSpPr>
            <p:spPr bwMode="auto">
              <a:xfrm>
                <a:off x="1214414" y="5214950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2" name="타원 41"/>
              <p:cNvSpPr/>
              <p:nvPr/>
            </p:nvSpPr>
            <p:spPr bwMode="auto">
              <a:xfrm>
                <a:off x="2285984" y="385762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3" name="타원 42"/>
              <p:cNvSpPr/>
              <p:nvPr/>
            </p:nvSpPr>
            <p:spPr bwMode="auto">
              <a:xfrm>
                <a:off x="2285984" y="442913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4" name="타원 43"/>
              <p:cNvSpPr/>
              <p:nvPr/>
            </p:nvSpPr>
            <p:spPr bwMode="auto">
              <a:xfrm>
                <a:off x="2285984" y="492919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5" name="타원 44"/>
              <p:cNvSpPr/>
              <p:nvPr/>
            </p:nvSpPr>
            <p:spPr bwMode="auto">
              <a:xfrm>
                <a:off x="2285984" y="550070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6" name="타원 45"/>
              <p:cNvSpPr/>
              <p:nvPr/>
            </p:nvSpPr>
            <p:spPr bwMode="auto">
              <a:xfrm>
                <a:off x="3286116" y="385762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7" name="타원 46"/>
              <p:cNvSpPr/>
              <p:nvPr/>
            </p:nvSpPr>
            <p:spPr bwMode="auto">
              <a:xfrm>
                <a:off x="3286116" y="442913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8" name="타원 47"/>
              <p:cNvSpPr/>
              <p:nvPr/>
            </p:nvSpPr>
            <p:spPr bwMode="auto">
              <a:xfrm>
                <a:off x="3286116" y="492919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9" name="타원 48"/>
              <p:cNvSpPr/>
              <p:nvPr/>
            </p:nvSpPr>
            <p:spPr bwMode="auto">
              <a:xfrm>
                <a:off x="3286116" y="550070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0" name="타원 49"/>
              <p:cNvSpPr/>
              <p:nvPr/>
            </p:nvSpPr>
            <p:spPr bwMode="auto">
              <a:xfrm>
                <a:off x="6072198" y="442913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1" name="타원 50"/>
              <p:cNvSpPr/>
              <p:nvPr/>
            </p:nvSpPr>
            <p:spPr bwMode="auto">
              <a:xfrm>
                <a:off x="6072198" y="492919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cxnSp>
            <p:nvCxnSpPr>
              <p:cNvPr id="52" name="직선 화살표 연결선 51"/>
              <p:cNvCxnSpPr>
                <a:stCxn id="39" idx="6"/>
                <a:endCxn id="42" idx="2"/>
              </p:cNvCxnSpPr>
              <p:nvPr/>
            </p:nvCxnSpPr>
            <p:spPr bwMode="auto">
              <a:xfrm flipV="1">
                <a:off x="1571604" y="4036223"/>
                <a:ext cx="714380" cy="35719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53" name="직선 화살표 연결선 52"/>
              <p:cNvCxnSpPr>
                <a:stCxn id="39" idx="6"/>
                <a:endCxn id="43" idx="2"/>
              </p:cNvCxnSpPr>
              <p:nvPr/>
            </p:nvCxnSpPr>
            <p:spPr bwMode="auto">
              <a:xfrm>
                <a:off x="1571604" y="4393413"/>
                <a:ext cx="714380" cy="21431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54" name="직선 화살표 연결선 53"/>
              <p:cNvCxnSpPr>
                <a:stCxn id="39" idx="6"/>
                <a:endCxn id="44" idx="2"/>
              </p:cNvCxnSpPr>
              <p:nvPr/>
            </p:nvCxnSpPr>
            <p:spPr bwMode="auto">
              <a:xfrm>
                <a:off x="1571604" y="4393413"/>
                <a:ext cx="714380" cy="71438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55" name="직선 화살표 연결선 54"/>
              <p:cNvCxnSpPr>
                <a:stCxn id="39" idx="6"/>
                <a:endCxn id="45" idx="2"/>
              </p:cNvCxnSpPr>
              <p:nvPr/>
            </p:nvCxnSpPr>
            <p:spPr bwMode="auto">
              <a:xfrm>
                <a:off x="1571604" y="4393413"/>
                <a:ext cx="714380" cy="128588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56" name="직선 화살표 연결선 55"/>
              <p:cNvCxnSpPr>
                <a:stCxn id="40" idx="6"/>
                <a:endCxn id="42" idx="2"/>
              </p:cNvCxnSpPr>
              <p:nvPr/>
            </p:nvCxnSpPr>
            <p:spPr bwMode="auto">
              <a:xfrm flipV="1">
                <a:off x="1571604" y="4036223"/>
                <a:ext cx="714380" cy="85725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57" name="직선 화살표 연결선 56"/>
              <p:cNvCxnSpPr>
                <a:stCxn id="40" idx="6"/>
                <a:endCxn id="43" idx="2"/>
              </p:cNvCxnSpPr>
              <p:nvPr/>
            </p:nvCxnSpPr>
            <p:spPr bwMode="auto">
              <a:xfrm flipV="1">
                <a:off x="1571604" y="4607727"/>
                <a:ext cx="714380" cy="28575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58" name="직선 화살표 연결선 57"/>
              <p:cNvCxnSpPr>
                <a:stCxn id="40" idx="6"/>
                <a:endCxn id="44" idx="2"/>
              </p:cNvCxnSpPr>
              <p:nvPr/>
            </p:nvCxnSpPr>
            <p:spPr bwMode="auto">
              <a:xfrm>
                <a:off x="1571604" y="4893479"/>
                <a:ext cx="714380" cy="21431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59" name="직선 화살표 연결선 58"/>
              <p:cNvCxnSpPr>
                <a:stCxn id="40" idx="6"/>
                <a:endCxn id="45" idx="2"/>
              </p:cNvCxnSpPr>
              <p:nvPr/>
            </p:nvCxnSpPr>
            <p:spPr bwMode="auto">
              <a:xfrm>
                <a:off x="1571604" y="4893479"/>
                <a:ext cx="714380" cy="78581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60" name="직선 화살표 연결선 59"/>
              <p:cNvCxnSpPr>
                <a:stCxn id="41" idx="6"/>
                <a:endCxn id="42" idx="2"/>
              </p:cNvCxnSpPr>
              <p:nvPr/>
            </p:nvCxnSpPr>
            <p:spPr bwMode="auto">
              <a:xfrm flipV="1">
                <a:off x="1571604" y="4036223"/>
                <a:ext cx="714380" cy="135732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61" name="직선 화살표 연결선 60"/>
              <p:cNvCxnSpPr>
                <a:stCxn id="41" idx="6"/>
                <a:endCxn id="43" idx="2"/>
              </p:cNvCxnSpPr>
              <p:nvPr/>
            </p:nvCxnSpPr>
            <p:spPr bwMode="auto">
              <a:xfrm flipV="1">
                <a:off x="1571604" y="4607727"/>
                <a:ext cx="714380" cy="78581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62" name="직선 화살표 연결선 61"/>
              <p:cNvCxnSpPr>
                <a:stCxn id="41" idx="6"/>
                <a:endCxn id="44" idx="2"/>
              </p:cNvCxnSpPr>
              <p:nvPr/>
            </p:nvCxnSpPr>
            <p:spPr bwMode="auto">
              <a:xfrm flipV="1">
                <a:off x="1571604" y="5107793"/>
                <a:ext cx="714380" cy="28575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63" name="직선 화살표 연결선 62"/>
              <p:cNvCxnSpPr>
                <a:stCxn id="41" idx="6"/>
                <a:endCxn id="45" idx="2"/>
              </p:cNvCxnSpPr>
              <p:nvPr/>
            </p:nvCxnSpPr>
            <p:spPr bwMode="auto">
              <a:xfrm>
                <a:off x="1571604" y="5393545"/>
                <a:ext cx="714380" cy="28575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64" name="직선 화살표 연결선 63"/>
              <p:cNvCxnSpPr>
                <a:stCxn id="42" idx="6"/>
                <a:endCxn id="46" idx="2"/>
              </p:cNvCxnSpPr>
              <p:nvPr/>
            </p:nvCxnSpPr>
            <p:spPr bwMode="auto">
              <a:xfrm>
                <a:off x="2643174" y="4036223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65" name="직선 화살표 연결선 64"/>
              <p:cNvCxnSpPr>
                <a:stCxn id="43" idx="6"/>
                <a:endCxn id="47" idx="2"/>
              </p:cNvCxnSpPr>
              <p:nvPr/>
            </p:nvCxnSpPr>
            <p:spPr bwMode="auto">
              <a:xfrm>
                <a:off x="2643174" y="4607727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66" name="직선 화살표 연결선 65"/>
              <p:cNvCxnSpPr>
                <a:stCxn id="44" idx="6"/>
                <a:endCxn id="48" idx="2"/>
              </p:cNvCxnSpPr>
              <p:nvPr/>
            </p:nvCxnSpPr>
            <p:spPr bwMode="auto">
              <a:xfrm>
                <a:off x="2643174" y="5107793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67" name="직선 화살표 연결선 66"/>
              <p:cNvCxnSpPr>
                <a:stCxn id="45" idx="6"/>
                <a:endCxn id="49" idx="2"/>
              </p:cNvCxnSpPr>
              <p:nvPr/>
            </p:nvCxnSpPr>
            <p:spPr bwMode="auto">
              <a:xfrm>
                <a:off x="2643174" y="5679297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68" name="직선 화살표 연결선 67"/>
              <p:cNvCxnSpPr>
                <a:stCxn id="42" idx="6"/>
                <a:endCxn id="47" idx="2"/>
              </p:cNvCxnSpPr>
              <p:nvPr/>
            </p:nvCxnSpPr>
            <p:spPr bwMode="auto">
              <a:xfrm>
                <a:off x="2643174" y="403622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69" name="직선 화살표 연결선 68"/>
              <p:cNvCxnSpPr>
                <a:stCxn id="42" idx="6"/>
                <a:endCxn id="48" idx="2"/>
              </p:cNvCxnSpPr>
              <p:nvPr/>
            </p:nvCxnSpPr>
            <p:spPr bwMode="auto">
              <a:xfrm>
                <a:off x="2643174" y="4036223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70" name="직선 화살표 연결선 69"/>
              <p:cNvCxnSpPr>
                <a:stCxn id="42" idx="6"/>
                <a:endCxn id="49" idx="2"/>
              </p:cNvCxnSpPr>
              <p:nvPr/>
            </p:nvCxnSpPr>
            <p:spPr bwMode="auto">
              <a:xfrm>
                <a:off x="2643174" y="4036223"/>
                <a:ext cx="642942" cy="164307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71" name="직선 화살표 연결선 70"/>
              <p:cNvCxnSpPr>
                <a:stCxn id="43" idx="6"/>
                <a:endCxn id="46" idx="2"/>
              </p:cNvCxnSpPr>
              <p:nvPr/>
            </p:nvCxnSpPr>
            <p:spPr bwMode="auto">
              <a:xfrm flipV="1">
                <a:off x="2643174" y="403622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72" name="직선 화살표 연결선 71"/>
              <p:cNvCxnSpPr>
                <a:stCxn id="43" idx="6"/>
                <a:endCxn id="48" idx="2"/>
              </p:cNvCxnSpPr>
              <p:nvPr/>
            </p:nvCxnSpPr>
            <p:spPr bwMode="auto">
              <a:xfrm>
                <a:off x="2643174" y="4607727"/>
                <a:ext cx="642942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73" name="직선 화살표 연결선 72"/>
              <p:cNvCxnSpPr>
                <a:stCxn id="43" idx="6"/>
                <a:endCxn id="49" idx="2"/>
              </p:cNvCxnSpPr>
              <p:nvPr/>
            </p:nvCxnSpPr>
            <p:spPr bwMode="auto">
              <a:xfrm>
                <a:off x="2643174" y="4607727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74" name="직선 화살표 연결선 73"/>
              <p:cNvCxnSpPr>
                <a:stCxn id="44" idx="6"/>
                <a:endCxn id="46" idx="2"/>
              </p:cNvCxnSpPr>
              <p:nvPr/>
            </p:nvCxnSpPr>
            <p:spPr bwMode="auto">
              <a:xfrm flipV="1">
                <a:off x="2643174" y="4036223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75" name="직선 화살표 연결선 74"/>
              <p:cNvCxnSpPr>
                <a:stCxn id="44" idx="6"/>
                <a:endCxn id="47" idx="2"/>
              </p:cNvCxnSpPr>
              <p:nvPr/>
            </p:nvCxnSpPr>
            <p:spPr bwMode="auto">
              <a:xfrm flipV="1">
                <a:off x="2643174" y="4607727"/>
                <a:ext cx="642942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76" name="직선 화살표 연결선 75"/>
              <p:cNvCxnSpPr>
                <a:stCxn id="44" idx="6"/>
                <a:endCxn id="49" idx="2"/>
              </p:cNvCxnSpPr>
              <p:nvPr/>
            </p:nvCxnSpPr>
            <p:spPr bwMode="auto">
              <a:xfrm>
                <a:off x="2643174" y="510779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77" name="직선 화살표 연결선 76"/>
              <p:cNvCxnSpPr>
                <a:stCxn id="45" idx="6"/>
                <a:endCxn id="48" idx="2"/>
              </p:cNvCxnSpPr>
              <p:nvPr/>
            </p:nvCxnSpPr>
            <p:spPr bwMode="auto">
              <a:xfrm flipV="1">
                <a:off x="2643174" y="510779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78" name="직선 화살표 연결선 77"/>
              <p:cNvCxnSpPr>
                <a:stCxn id="45" idx="6"/>
                <a:endCxn id="47" idx="2"/>
              </p:cNvCxnSpPr>
              <p:nvPr/>
            </p:nvCxnSpPr>
            <p:spPr bwMode="auto">
              <a:xfrm flipV="1">
                <a:off x="2643174" y="4607727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79" name="직선 화살표 연결선 78"/>
              <p:cNvCxnSpPr>
                <a:endCxn id="46" idx="2"/>
              </p:cNvCxnSpPr>
              <p:nvPr/>
            </p:nvCxnSpPr>
            <p:spPr bwMode="auto">
              <a:xfrm rot="5400000" flipH="1" flipV="1">
                <a:off x="2232405" y="4518431"/>
                <a:ext cx="1535918" cy="57150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80" name="타원 79"/>
              <p:cNvSpPr/>
              <p:nvPr/>
            </p:nvSpPr>
            <p:spPr bwMode="auto">
              <a:xfrm>
                <a:off x="4143372" y="385762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81" name="타원 80"/>
              <p:cNvSpPr/>
              <p:nvPr/>
            </p:nvSpPr>
            <p:spPr bwMode="auto">
              <a:xfrm>
                <a:off x="4143372" y="442913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82" name="타원 81"/>
              <p:cNvSpPr/>
              <p:nvPr/>
            </p:nvSpPr>
            <p:spPr bwMode="auto">
              <a:xfrm>
                <a:off x="4143372" y="492919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83" name="타원 82"/>
              <p:cNvSpPr/>
              <p:nvPr/>
            </p:nvSpPr>
            <p:spPr bwMode="auto">
              <a:xfrm>
                <a:off x="4143372" y="550070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84" name="타원 83"/>
              <p:cNvSpPr/>
              <p:nvPr/>
            </p:nvSpPr>
            <p:spPr bwMode="auto">
              <a:xfrm>
                <a:off x="5143504" y="385762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85" name="타원 84"/>
              <p:cNvSpPr/>
              <p:nvPr/>
            </p:nvSpPr>
            <p:spPr bwMode="auto">
              <a:xfrm>
                <a:off x="5143504" y="442913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86" name="타원 85"/>
              <p:cNvSpPr/>
              <p:nvPr/>
            </p:nvSpPr>
            <p:spPr bwMode="auto">
              <a:xfrm>
                <a:off x="5143504" y="492919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87" name="타원 86"/>
              <p:cNvSpPr/>
              <p:nvPr/>
            </p:nvSpPr>
            <p:spPr bwMode="auto">
              <a:xfrm>
                <a:off x="5143504" y="550070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cxnSp>
            <p:nvCxnSpPr>
              <p:cNvPr id="88" name="직선 화살표 연결선 87"/>
              <p:cNvCxnSpPr>
                <a:stCxn id="80" idx="6"/>
                <a:endCxn id="84" idx="2"/>
              </p:cNvCxnSpPr>
              <p:nvPr/>
            </p:nvCxnSpPr>
            <p:spPr bwMode="auto">
              <a:xfrm>
                <a:off x="4500562" y="4036223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89" name="직선 화살표 연결선 88"/>
              <p:cNvCxnSpPr>
                <a:stCxn id="81" idx="6"/>
                <a:endCxn id="85" idx="2"/>
              </p:cNvCxnSpPr>
              <p:nvPr/>
            </p:nvCxnSpPr>
            <p:spPr bwMode="auto">
              <a:xfrm>
                <a:off x="4500562" y="4607727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0" name="직선 화살표 연결선 89"/>
              <p:cNvCxnSpPr>
                <a:stCxn id="82" idx="6"/>
                <a:endCxn id="86" idx="2"/>
              </p:cNvCxnSpPr>
              <p:nvPr/>
            </p:nvCxnSpPr>
            <p:spPr bwMode="auto">
              <a:xfrm>
                <a:off x="4500562" y="5107793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1" name="직선 화살표 연결선 90"/>
              <p:cNvCxnSpPr>
                <a:stCxn id="83" idx="6"/>
                <a:endCxn id="87" idx="2"/>
              </p:cNvCxnSpPr>
              <p:nvPr/>
            </p:nvCxnSpPr>
            <p:spPr bwMode="auto">
              <a:xfrm>
                <a:off x="4500562" y="5679297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2" name="직선 화살표 연결선 91"/>
              <p:cNvCxnSpPr>
                <a:stCxn id="80" idx="6"/>
                <a:endCxn id="85" idx="2"/>
              </p:cNvCxnSpPr>
              <p:nvPr/>
            </p:nvCxnSpPr>
            <p:spPr bwMode="auto">
              <a:xfrm>
                <a:off x="4500562" y="403622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3" name="직선 화살표 연결선 92"/>
              <p:cNvCxnSpPr>
                <a:stCxn id="80" idx="6"/>
                <a:endCxn id="86" idx="2"/>
              </p:cNvCxnSpPr>
              <p:nvPr/>
            </p:nvCxnSpPr>
            <p:spPr bwMode="auto">
              <a:xfrm>
                <a:off x="4500562" y="4036223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4" name="직선 화살표 연결선 93"/>
              <p:cNvCxnSpPr>
                <a:stCxn id="80" idx="6"/>
                <a:endCxn id="87" idx="2"/>
              </p:cNvCxnSpPr>
              <p:nvPr/>
            </p:nvCxnSpPr>
            <p:spPr bwMode="auto">
              <a:xfrm>
                <a:off x="4500562" y="4036223"/>
                <a:ext cx="642942" cy="164307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5" name="직선 화살표 연결선 94"/>
              <p:cNvCxnSpPr>
                <a:stCxn id="81" idx="6"/>
                <a:endCxn id="84" idx="2"/>
              </p:cNvCxnSpPr>
              <p:nvPr/>
            </p:nvCxnSpPr>
            <p:spPr bwMode="auto">
              <a:xfrm flipV="1">
                <a:off x="4500562" y="403622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6" name="직선 화살표 연결선 95"/>
              <p:cNvCxnSpPr>
                <a:stCxn id="81" idx="6"/>
                <a:endCxn id="86" idx="2"/>
              </p:cNvCxnSpPr>
              <p:nvPr/>
            </p:nvCxnSpPr>
            <p:spPr bwMode="auto">
              <a:xfrm>
                <a:off x="4500562" y="4607727"/>
                <a:ext cx="642942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7" name="직선 화살표 연결선 96"/>
              <p:cNvCxnSpPr>
                <a:stCxn id="81" idx="6"/>
                <a:endCxn id="87" idx="2"/>
              </p:cNvCxnSpPr>
              <p:nvPr/>
            </p:nvCxnSpPr>
            <p:spPr bwMode="auto">
              <a:xfrm>
                <a:off x="4500562" y="4607727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8" name="직선 화살표 연결선 97"/>
              <p:cNvCxnSpPr>
                <a:stCxn id="82" idx="6"/>
                <a:endCxn id="84" idx="2"/>
              </p:cNvCxnSpPr>
              <p:nvPr/>
            </p:nvCxnSpPr>
            <p:spPr bwMode="auto">
              <a:xfrm flipV="1">
                <a:off x="4500562" y="4036223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99" name="직선 화살표 연결선 98"/>
              <p:cNvCxnSpPr>
                <a:stCxn id="82" idx="6"/>
                <a:endCxn id="85" idx="2"/>
              </p:cNvCxnSpPr>
              <p:nvPr/>
            </p:nvCxnSpPr>
            <p:spPr bwMode="auto">
              <a:xfrm flipV="1">
                <a:off x="4500562" y="4607727"/>
                <a:ext cx="642942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00" name="직선 화살표 연결선 99"/>
              <p:cNvCxnSpPr>
                <a:stCxn id="82" idx="6"/>
                <a:endCxn id="87" idx="2"/>
              </p:cNvCxnSpPr>
              <p:nvPr/>
            </p:nvCxnSpPr>
            <p:spPr bwMode="auto">
              <a:xfrm>
                <a:off x="4500562" y="510779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01" name="직선 화살표 연결선 100"/>
              <p:cNvCxnSpPr>
                <a:stCxn id="83" idx="6"/>
                <a:endCxn id="86" idx="2"/>
              </p:cNvCxnSpPr>
              <p:nvPr/>
            </p:nvCxnSpPr>
            <p:spPr bwMode="auto">
              <a:xfrm flipV="1">
                <a:off x="4500562" y="510779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02" name="직선 화살표 연결선 101"/>
              <p:cNvCxnSpPr>
                <a:stCxn id="83" idx="6"/>
                <a:endCxn id="85" idx="2"/>
              </p:cNvCxnSpPr>
              <p:nvPr/>
            </p:nvCxnSpPr>
            <p:spPr bwMode="auto">
              <a:xfrm flipV="1">
                <a:off x="4500562" y="4607727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03" name="직선 화살표 연결선 102"/>
              <p:cNvCxnSpPr>
                <a:endCxn id="84" idx="2"/>
              </p:cNvCxnSpPr>
              <p:nvPr/>
            </p:nvCxnSpPr>
            <p:spPr bwMode="auto">
              <a:xfrm rot="5400000" flipH="1" flipV="1">
                <a:off x="4089793" y="4518431"/>
                <a:ext cx="1535918" cy="57150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04" name="직선 화살표 연결선 103"/>
              <p:cNvCxnSpPr>
                <a:stCxn id="46" idx="6"/>
                <a:endCxn id="80" idx="2"/>
              </p:cNvCxnSpPr>
              <p:nvPr/>
            </p:nvCxnSpPr>
            <p:spPr bwMode="auto">
              <a:xfrm>
                <a:off x="3643306" y="4036223"/>
                <a:ext cx="500066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05" name="직선 화살표 연결선 104"/>
              <p:cNvCxnSpPr>
                <a:stCxn id="46" idx="6"/>
                <a:endCxn id="81" idx="2"/>
              </p:cNvCxnSpPr>
              <p:nvPr/>
            </p:nvCxnSpPr>
            <p:spPr bwMode="auto">
              <a:xfrm>
                <a:off x="3643306" y="4036223"/>
                <a:ext cx="500066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06" name="직선 화살표 연결선 105"/>
              <p:cNvCxnSpPr>
                <a:stCxn id="46" idx="6"/>
                <a:endCxn id="82" idx="2"/>
              </p:cNvCxnSpPr>
              <p:nvPr/>
            </p:nvCxnSpPr>
            <p:spPr bwMode="auto">
              <a:xfrm>
                <a:off x="3643306" y="4036223"/>
                <a:ext cx="500066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07" name="직선 화살표 연결선 106"/>
              <p:cNvCxnSpPr>
                <a:stCxn id="46" idx="6"/>
                <a:endCxn id="83" idx="2"/>
              </p:cNvCxnSpPr>
              <p:nvPr/>
            </p:nvCxnSpPr>
            <p:spPr bwMode="auto">
              <a:xfrm>
                <a:off x="3643306" y="4036223"/>
                <a:ext cx="500066" cy="164307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08" name="직선 화살표 연결선 107"/>
              <p:cNvCxnSpPr>
                <a:stCxn id="47" idx="6"/>
                <a:endCxn id="80" idx="2"/>
              </p:cNvCxnSpPr>
              <p:nvPr/>
            </p:nvCxnSpPr>
            <p:spPr bwMode="auto">
              <a:xfrm flipV="1">
                <a:off x="3643306" y="4036223"/>
                <a:ext cx="500066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09" name="직선 화살표 연결선 108"/>
              <p:cNvCxnSpPr>
                <a:stCxn id="47" idx="6"/>
                <a:endCxn id="81" idx="2"/>
              </p:cNvCxnSpPr>
              <p:nvPr/>
            </p:nvCxnSpPr>
            <p:spPr bwMode="auto">
              <a:xfrm>
                <a:off x="3643306" y="4607727"/>
                <a:ext cx="500066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0" name="직선 화살표 연결선 109"/>
              <p:cNvCxnSpPr>
                <a:stCxn id="47" idx="6"/>
                <a:endCxn id="82" idx="2"/>
              </p:cNvCxnSpPr>
              <p:nvPr/>
            </p:nvCxnSpPr>
            <p:spPr bwMode="auto">
              <a:xfrm>
                <a:off x="3643306" y="4607727"/>
                <a:ext cx="500066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1" name="직선 화살표 연결선 110"/>
              <p:cNvCxnSpPr>
                <a:stCxn id="47" idx="6"/>
                <a:endCxn id="83" idx="2"/>
              </p:cNvCxnSpPr>
              <p:nvPr/>
            </p:nvCxnSpPr>
            <p:spPr bwMode="auto">
              <a:xfrm>
                <a:off x="3643306" y="4607727"/>
                <a:ext cx="500066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2" name="직선 화살표 연결선 111"/>
              <p:cNvCxnSpPr>
                <a:stCxn id="48" idx="6"/>
                <a:endCxn id="80" idx="2"/>
              </p:cNvCxnSpPr>
              <p:nvPr/>
            </p:nvCxnSpPr>
            <p:spPr bwMode="auto">
              <a:xfrm flipV="1">
                <a:off x="3643306" y="4036223"/>
                <a:ext cx="500066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3" name="직선 화살표 연결선 112"/>
              <p:cNvCxnSpPr>
                <a:stCxn id="48" idx="6"/>
                <a:endCxn id="81" idx="2"/>
              </p:cNvCxnSpPr>
              <p:nvPr/>
            </p:nvCxnSpPr>
            <p:spPr bwMode="auto">
              <a:xfrm flipV="1">
                <a:off x="3643306" y="4607727"/>
                <a:ext cx="500066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4" name="직선 화살표 연결선 113"/>
              <p:cNvCxnSpPr>
                <a:stCxn id="48" idx="6"/>
                <a:endCxn id="82" idx="2"/>
              </p:cNvCxnSpPr>
              <p:nvPr/>
            </p:nvCxnSpPr>
            <p:spPr bwMode="auto">
              <a:xfrm>
                <a:off x="3643306" y="5107793"/>
                <a:ext cx="500066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5" name="직선 화살표 연결선 114"/>
              <p:cNvCxnSpPr>
                <a:stCxn id="48" idx="6"/>
                <a:endCxn id="83" idx="2"/>
              </p:cNvCxnSpPr>
              <p:nvPr/>
            </p:nvCxnSpPr>
            <p:spPr bwMode="auto">
              <a:xfrm>
                <a:off x="3643306" y="5107793"/>
                <a:ext cx="500066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6" name="직선 화살표 연결선 115"/>
              <p:cNvCxnSpPr>
                <a:stCxn id="49" idx="6"/>
                <a:endCxn id="83" idx="2"/>
              </p:cNvCxnSpPr>
              <p:nvPr/>
            </p:nvCxnSpPr>
            <p:spPr bwMode="auto">
              <a:xfrm>
                <a:off x="3643306" y="5679297"/>
                <a:ext cx="500066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17" name="직선 화살표 연결선 116"/>
              <p:cNvCxnSpPr>
                <a:stCxn id="49" idx="6"/>
                <a:endCxn id="82" idx="2"/>
              </p:cNvCxnSpPr>
              <p:nvPr/>
            </p:nvCxnSpPr>
            <p:spPr bwMode="auto">
              <a:xfrm flipV="1">
                <a:off x="3643306" y="5107793"/>
                <a:ext cx="500066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1" name="직선 화살표 연결선 140"/>
              <p:cNvCxnSpPr>
                <a:stCxn id="49" idx="6"/>
                <a:endCxn id="81" idx="2"/>
              </p:cNvCxnSpPr>
              <p:nvPr/>
            </p:nvCxnSpPr>
            <p:spPr bwMode="auto">
              <a:xfrm flipV="1">
                <a:off x="3643306" y="4607727"/>
                <a:ext cx="500066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2" name="직선 화살표 연결선 141"/>
              <p:cNvCxnSpPr>
                <a:stCxn id="49" idx="6"/>
                <a:endCxn id="81" idx="2"/>
              </p:cNvCxnSpPr>
              <p:nvPr/>
            </p:nvCxnSpPr>
            <p:spPr bwMode="auto">
              <a:xfrm flipV="1">
                <a:off x="3643306" y="4607727"/>
                <a:ext cx="500066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3" name="직선 화살표 연결선 142"/>
              <p:cNvCxnSpPr>
                <a:stCxn id="49" idx="6"/>
                <a:endCxn id="80" idx="2"/>
              </p:cNvCxnSpPr>
              <p:nvPr/>
            </p:nvCxnSpPr>
            <p:spPr bwMode="auto">
              <a:xfrm flipV="1">
                <a:off x="3643306" y="4036223"/>
                <a:ext cx="500066" cy="164307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4" name="직선 화살표 연결선 143"/>
              <p:cNvCxnSpPr>
                <a:stCxn id="84" idx="6"/>
                <a:endCxn id="50" idx="2"/>
              </p:cNvCxnSpPr>
              <p:nvPr/>
            </p:nvCxnSpPr>
            <p:spPr bwMode="auto">
              <a:xfrm>
                <a:off x="5500694" y="4036223"/>
                <a:ext cx="571504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5" name="직선 화살표 연결선 144"/>
              <p:cNvCxnSpPr>
                <a:stCxn id="84" idx="6"/>
                <a:endCxn id="51" idx="2"/>
              </p:cNvCxnSpPr>
              <p:nvPr/>
            </p:nvCxnSpPr>
            <p:spPr bwMode="auto">
              <a:xfrm>
                <a:off x="5500694" y="4036223"/>
                <a:ext cx="571504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6" name="직선 화살표 연결선 145"/>
              <p:cNvCxnSpPr>
                <a:stCxn id="85" idx="6"/>
                <a:endCxn id="50" idx="2"/>
              </p:cNvCxnSpPr>
              <p:nvPr/>
            </p:nvCxnSpPr>
            <p:spPr bwMode="auto">
              <a:xfrm>
                <a:off x="5500694" y="4607727"/>
                <a:ext cx="571504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7" name="직선 화살표 연결선 146"/>
              <p:cNvCxnSpPr>
                <a:stCxn id="85" idx="6"/>
                <a:endCxn id="51" idx="2"/>
              </p:cNvCxnSpPr>
              <p:nvPr/>
            </p:nvCxnSpPr>
            <p:spPr bwMode="auto">
              <a:xfrm>
                <a:off x="5500694" y="4607727"/>
                <a:ext cx="571504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8" name="직선 화살표 연결선 147"/>
              <p:cNvCxnSpPr>
                <a:stCxn id="86" idx="6"/>
                <a:endCxn id="50" idx="2"/>
              </p:cNvCxnSpPr>
              <p:nvPr/>
            </p:nvCxnSpPr>
            <p:spPr bwMode="auto">
              <a:xfrm flipV="1">
                <a:off x="5500694" y="4607727"/>
                <a:ext cx="571504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49" name="직선 화살표 연결선 148"/>
              <p:cNvCxnSpPr>
                <a:stCxn id="86" idx="6"/>
                <a:endCxn id="51" idx="2"/>
              </p:cNvCxnSpPr>
              <p:nvPr/>
            </p:nvCxnSpPr>
            <p:spPr bwMode="auto">
              <a:xfrm>
                <a:off x="5500694" y="5107793"/>
                <a:ext cx="571504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50" name="직선 화살표 연결선 149"/>
              <p:cNvCxnSpPr>
                <a:stCxn id="87" idx="6"/>
                <a:endCxn id="51" idx="2"/>
              </p:cNvCxnSpPr>
              <p:nvPr/>
            </p:nvCxnSpPr>
            <p:spPr bwMode="auto">
              <a:xfrm flipV="1">
                <a:off x="5500694" y="5107793"/>
                <a:ext cx="571504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151" name="직선 화살표 연결선 150"/>
              <p:cNvCxnSpPr>
                <a:stCxn id="87" idx="6"/>
                <a:endCxn id="50" idx="2"/>
              </p:cNvCxnSpPr>
              <p:nvPr/>
            </p:nvCxnSpPr>
            <p:spPr bwMode="auto">
              <a:xfrm flipV="1">
                <a:off x="5500694" y="4607727"/>
                <a:ext cx="571504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  <a:effectLst/>
            </p:spPr>
          </p:cxnSp>
        </p:grpSp>
        <p:cxnSp>
          <p:nvCxnSpPr>
            <p:cNvPr id="37" name="직선 화살표 연결선 36"/>
            <p:cNvCxnSpPr>
              <a:stCxn id="50" idx="6"/>
            </p:cNvCxnSpPr>
            <p:nvPr/>
          </p:nvCxnSpPr>
          <p:spPr>
            <a:xfrm flipV="1">
              <a:off x="8786842" y="3071810"/>
              <a:ext cx="214314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/>
              <a:headEnd type="none" w="med" len="med"/>
              <a:tailEnd type="triangle" w="med" len="med"/>
            </a:ln>
            <a:effectLst/>
          </p:spPr>
        </p:cxnSp>
        <p:cxnSp>
          <p:nvCxnSpPr>
            <p:cNvPr id="38" name="직선 화살표 연결선 37"/>
            <p:cNvCxnSpPr>
              <a:stCxn id="51" idx="6"/>
            </p:cNvCxnSpPr>
            <p:nvPr/>
          </p:nvCxnSpPr>
          <p:spPr>
            <a:xfrm flipV="1">
              <a:off x="8786842" y="3500438"/>
              <a:ext cx="214314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52" name="오른쪽 화살표 151"/>
          <p:cNvSpPr/>
          <p:nvPr/>
        </p:nvSpPr>
        <p:spPr>
          <a:xfrm>
            <a:off x="3998571" y="4168082"/>
            <a:ext cx="650179" cy="400110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153" name="文字方塊 16">
            <a:extLst>
              <a:ext uri="{FF2B5EF4-FFF2-40B4-BE49-F238E27FC236}">
                <a16:creationId xmlns="" xmlns:a16="http://schemas.microsoft.com/office/drawing/2014/main" id="{2FF5632A-1A89-47D2-A485-F8D211C60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021" y="5083763"/>
            <a:ext cx="1524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Filter 1</a:t>
            </a:r>
            <a:endParaRPr lang="zh-TW" altLang="en-US" sz="1600" dirty="0">
              <a:latin typeface="나눔스퀘어 Bold" panose="020B0600000101010101" pitchFamily="50" charset="-127"/>
              <a:ea typeface="맑은 고딕" pitchFamily="50" charset="-127"/>
            </a:endParaRPr>
          </a:p>
        </p:txBody>
      </p:sp>
      <p:sp>
        <p:nvSpPr>
          <p:cNvPr id="154" name="文字方塊 16">
            <a:extLst>
              <a:ext uri="{FF2B5EF4-FFF2-40B4-BE49-F238E27FC236}">
                <a16:creationId xmlns="" xmlns:a16="http://schemas.microsoft.com/office/drawing/2014/main" id="{C68AD38A-BC7B-4888-AFD8-7480384E3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382" y="3305329"/>
            <a:ext cx="1524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Filter 2</a:t>
            </a:r>
            <a:endParaRPr lang="zh-TW" altLang="en-US" sz="1600" dirty="0">
              <a:latin typeface="나눔스퀘어 Bold" panose="020B0600000101010101" pitchFamily="50" charset="-127"/>
              <a:ea typeface="맑은 고딕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플래튼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(Flatten) :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이전 계층의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차원 형태의 데이터를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차원 형태로 변환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7370175" y="5829703"/>
            <a:ext cx="2926220" cy="68128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복잡한 분포를 갖는 문제 해결을 위해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마지막 계층을 다층 신경망으로 구성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29496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컨볼루션</a:t>
            </a:r>
            <a:r>
              <a:rPr lang="ko-KR" altLang="en-US" dirty="0" smtClean="0"/>
              <a:t> 신경망 정리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컨볼루션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계층와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Max Pooling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계층으로 묶여진 과정은 반복될 수 있음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38" name="文字方塊 32"/>
          <p:cNvSpPr txBox="1"/>
          <p:nvPr/>
        </p:nvSpPr>
        <p:spPr>
          <a:xfrm>
            <a:off x="5391144" y="6440058"/>
            <a:ext cx="1556991" cy="40011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1D </a:t>
            </a:r>
            <a:r>
              <a:rPr lang="ko-KR" altLang="en-US" sz="2000" dirty="0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특징</a:t>
            </a:r>
            <a:endParaRPr lang="zh-TW" altLang="en-US" sz="2000" dirty="0">
              <a:solidFill>
                <a:srgbClr val="000000"/>
              </a:solidFill>
              <a:latin typeface="나눔스퀘어 Bold" panose="020B0600000101010101" pitchFamily="50" charset="-127"/>
              <a:ea typeface="ＭＳ Ｐゴシック" pitchFamily="34" charset="-128"/>
            </a:endParaRPr>
          </a:p>
        </p:txBody>
      </p:sp>
      <p:grpSp>
        <p:nvGrpSpPr>
          <p:cNvPr id="39" name="그룹 140"/>
          <p:cNvGrpSpPr/>
          <p:nvPr/>
        </p:nvGrpSpPr>
        <p:grpSpPr>
          <a:xfrm>
            <a:off x="6891342" y="2305626"/>
            <a:ext cx="3167058" cy="3791643"/>
            <a:chOff x="285720" y="1426107"/>
            <a:chExt cx="3102424" cy="4288908"/>
          </a:xfrm>
        </p:grpSpPr>
        <p:sp>
          <p:nvSpPr>
            <p:cNvPr id="40" name="文字方塊 41"/>
            <p:cNvSpPr txBox="1">
              <a:spLocks noChangeArrowheads="1"/>
            </p:cNvSpPr>
            <p:nvPr/>
          </p:nvSpPr>
          <p:spPr bwMode="auto">
            <a:xfrm>
              <a:off x="714348" y="1426108"/>
              <a:ext cx="2046288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TW" sz="2400" b="1" dirty="0">
                  <a:latin typeface="맑은 고딕" pitchFamily="50" charset="-127"/>
                  <a:ea typeface="맑은 고딕" pitchFamily="50" charset="-127"/>
                </a:rPr>
                <a:t>Input</a:t>
              </a:r>
              <a:endParaRPr lang="zh-TW" altLang="en-US" sz="2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1" name="직사각형 40"/>
            <p:cNvSpPr/>
            <p:nvPr/>
          </p:nvSpPr>
          <p:spPr bwMode="auto">
            <a:xfrm>
              <a:off x="285720" y="1426107"/>
              <a:ext cx="3102424" cy="4288908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42" name="오른쪽 화살표 41"/>
            <p:cNvSpPr/>
            <p:nvPr/>
          </p:nvSpPr>
          <p:spPr>
            <a:xfrm rot="5400000">
              <a:off x="1500166" y="2046847"/>
              <a:ext cx="428627" cy="428628"/>
            </a:xfrm>
            <a:prstGeom prst="rightArrow">
              <a:avLst/>
            </a:prstGeom>
            <a:solidFill>
              <a:schemeClr val="bg2"/>
            </a:solidFill>
            <a:ln w="9525" cap="flat" cmpd="sng" algn="ctr">
              <a:solidFill>
                <a:schemeClr val="bg2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3" name="矩形 28"/>
            <p:cNvSpPr/>
            <p:nvPr/>
          </p:nvSpPr>
          <p:spPr>
            <a:xfrm>
              <a:off x="906450" y="2420990"/>
              <a:ext cx="1736724" cy="41966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TW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Convolution</a:t>
              </a:r>
              <a:endParaRPr lang="zh-TW" altLang="en-US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矩形 29"/>
            <p:cNvSpPr/>
            <p:nvPr/>
          </p:nvSpPr>
          <p:spPr>
            <a:xfrm>
              <a:off x="906450" y="3320173"/>
              <a:ext cx="1736724" cy="41966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TW" dirty="0">
                  <a:solidFill>
                    <a:srgbClr val="000000"/>
                  </a:solidFill>
                  <a:ea typeface="ＭＳ Ｐゴシック" pitchFamily="34" charset="-128"/>
                </a:rPr>
                <a:t>Max Pooling</a:t>
              </a:r>
              <a:endParaRPr lang="zh-TW" altLang="en-US" dirty="0">
                <a:solidFill>
                  <a:srgbClr val="000000"/>
                </a:solidFill>
                <a:ea typeface="ＭＳ Ｐゴシック" pitchFamily="34" charset="-128"/>
              </a:endParaRPr>
            </a:p>
          </p:txBody>
        </p:sp>
        <p:sp>
          <p:nvSpPr>
            <p:cNvPr id="45" name="矩形 28"/>
            <p:cNvSpPr/>
            <p:nvPr/>
          </p:nvSpPr>
          <p:spPr>
            <a:xfrm>
              <a:off x="906450" y="4219356"/>
              <a:ext cx="1736724" cy="41966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TW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Convolution</a:t>
              </a:r>
              <a:endParaRPr lang="zh-TW" altLang="en-US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오른쪽 화살표 45"/>
            <p:cNvSpPr/>
            <p:nvPr/>
          </p:nvSpPr>
          <p:spPr>
            <a:xfrm rot="5400000">
              <a:off x="1500167" y="2877075"/>
              <a:ext cx="428627" cy="428628"/>
            </a:xfrm>
            <a:prstGeom prst="rightArrow">
              <a:avLst/>
            </a:prstGeom>
            <a:solidFill>
              <a:schemeClr val="bg2"/>
            </a:solidFill>
            <a:ln w="9525" cap="flat" cmpd="sng" algn="ctr">
              <a:solidFill>
                <a:schemeClr val="bg2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7" name="오른쪽 화살표 46"/>
            <p:cNvSpPr/>
            <p:nvPr/>
          </p:nvSpPr>
          <p:spPr>
            <a:xfrm rot="5400000">
              <a:off x="1500167" y="3776258"/>
              <a:ext cx="428627" cy="428628"/>
            </a:xfrm>
            <a:prstGeom prst="rightArrow">
              <a:avLst/>
            </a:prstGeom>
            <a:solidFill>
              <a:schemeClr val="bg2"/>
            </a:solidFill>
            <a:ln w="9525" cap="flat" cmpd="sng" algn="ctr">
              <a:solidFill>
                <a:schemeClr val="bg2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8" name="矩形 29"/>
            <p:cNvSpPr/>
            <p:nvPr/>
          </p:nvSpPr>
          <p:spPr>
            <a:xfrm>
              <a:off x="928662" y="5084062"/>
              <a:ext cx="1736724" cy="41966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TW" dirty="0">
                  <a:solidFill>
                    <a:srgbClr val="000000"/>
                  </a:solidFill>
                  <a:ea typeface="ＭＳ Ｐゴシック" pitchFamily="34" charset="-128"/>
                </a:rPr>
                <a:t>Max Pooling</a:t>
              </a:r>
              <a:endParaRPr lang="zh-TW" altLang="en-US" dirty="0">
                <a:solidFill>
                  <a:srgbClr val="000000"/>
                </a:solidFill>
                <a:ea typeface="ＭＳ Ｐゴシック" pitchFamily="34" charset="-128"/>
              </a:endParaRPr>
            </a:p>
          </p:txBody>
        </p:sp>
        <p:sp>
          <p:nvSpPr>
            <p:cNvPr id="49" name="오른쪽 화살표 48"/>
            <p:cNvSpPr/>
            <p:nvPr/>
          </p:nvSpPr>
          <p:spPr>
            <a:xfrm rot="5400000">
              <a:off x="1522379" y="4675442"/>
              <a:ext cx="428627" cy="428628"/>
            </a:xfrm>
            <a:prstGeom prst="rightArrow">
              <a:avLst/>
            </a:prstGeom>
            <a:solidFill>
              <a:schemeClr val="bg2"/>
            </a:solidFill>
            <a:ln w="9525" cap="flat" cmpd="sng" algn="ctr">
              <a:solidFill>
                <a:schemeClr val="bg2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</p:grpSp>
      <p:sp>
        <p:nvSpPr>
          <p:cNvPr id="50" name="직사각형 49"/>
          <p:cNvSpPr/>
          <p:nvPr/>
        </p:nvSpPr>
        <p:spPr bwMode="auto">
          <a:xfrm>
            <a:off x="2176434" y="2298670"/>
            <a:ext cx="3500462" cy="37986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2808898" y="2870174"/>
            <a:ext cx="2143140" cy="3000396"/>
            <a:chOff x="1214414" y="1571612"/>
            <a:chExt cx="2091185" cy="2586231"/>
          </a:xfrm>
        </p:grpSpPr>
        <p:sp>
          <p:nvSpPr>
            <p:cNvPr id="52" name="타원 51"/>
            <p:cNvSpPr/>
            <p:nvPr/>
          </p:nvSpPr>
          <p:spPr bwMode="auto">
            <a:xfrm rot="16200000">
              <a:off x="1650136" y="3846715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3" name="타원 52"/>
            <p:cNvSpPr/>
            <p:nvPr/>
          </p:nvSpPr>
          <p:spPr bwMode="auto">
            <a:xfrm rot="16200000">
              <a:off x="2172932" y="3846715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4" name="타원 53"/>
            <p:cNvSpPr/>
            <p:nvPr/>
          </p:nvSpPr>
          <p:spPr bwMode="auto">
            <a:xfrm rot="16200000">
              <a:off x="2695728" y="3846715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5" name="타원 54"/>
            <p:cNvSpPr/>
            <p:nvPr/>
          </p:nvSpPr>
          <p:spPr bwMode="auto">
            <a:xfrm rot="16200000">
              <a:off x="1276711" y="3100221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6" name="타원 55"/>
            <p:cNvSpPr/>
            <p:nvPr/>
          </p:nvSpPr>
          <p:spPr bwMode="auto">
            <a:xfrm rot="16200000">
              <a:off x="1874192" y="3100221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7" name="타원 56"/>
            <p:cNvSpPr/>
            <p:nvPr/>
          </p:nvSpPr>
          <p:spPr bwMode="auto">
            <a:xfrm rot="16200000">
              <a:off x="2396988" y="3100221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8" name="타원 57"/>
            <p:cNvSpPr/>
            <p:nvPr/>
          </p:nvSpPr>
          <p:spPr bwMode="auto">
            <a:xfrm rot="16200000">
              <a:off x="2994469" y="3100221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9" name="타원 58"/>
            <p:cNvSpPr/>
            <p:nvPr/>
          </p:nvSpPr>
          <p:spPr bwMode="auto">
            <a:xfrm rot="16200000">
              <a:off x="1874195" y="1736366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0" name="타원 59"/>
            <p:cNvSpPr/>
            <p:nvPr/>
          </p:nvSpPr>
          <p:spPr bwMode="auto">
            <a:xfrm rot="16200000">
              <a:off x="2396990" y="1736366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61" name="직선 화살표 연결선 60"/>
            <p:cNvCxnSpPr>
              <a:stCxn id="52" idx="6"/>
              <a:endCxn id="55" idx="2"/>
            </p:cNvCxnSpPr>
            <p:nvPr/>
          </p:nvCxnSpPr>
          <p:spPr bwMode="auto">
            <a:xfrm rot="16200000" flipV="1">
              <a:off x="1339008" y="3473467"/>
              <a:ext cx="497662" cy="37342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2" name="직선 화살표 연결선 61"/>
            <p:cNvCxnSpPr>
              <a:stCxn id="52" idx="6"/>
              <a:endCxn id="56" idx="2"/>
            </p:cNvCxnSpPr>
            <p:nvPr/>
          </p:nvCxnSpPr>
          <p:spPr bwMode="auto">
            <a:xfrm rot="16200000">
              <a:off x="1637748" y="3548153"/>
              <a:ext cx="497662" cy="22405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3" name="직선 화살표 연결선 62"/>
            <p:cNvCxnSpPr>
              <a:stCxn id="52" idx="6"/>
              <a:endCxn id="57" idx="2"/>
            </p:cNvCxnSpPr>
            <p:nvPr/>
          </p:nvCxnSpPr>
          <p:spPr bwMode="auto">
            <a:xfrm rot="16200000">
              <a:off x="1899147" y="3286755"/>
              <a:ext cx="497662" cy="74685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4" name="직선 화살표 연결선 63"/>
            <p:cNvCxnSpPr>
              <a:stCxn id="52" idx="6"/>
              <a:endCxn id="58" idx="2"/>
            </p:cNvCxnSpPr>
            <p:nvPr/>
          </p:nvCxnSpPr>
          <p:spPr bwMode="auto">
            <a:xfrm rot="16200000">
              <a:off x="2197887" y="2988015"/>
              <a:ext cx="497662" cy="13443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5" name="직선 화살표 연결선 64"/>
            <p:cNvCxnSpPr>
              <a:stCxn id="53" idx="6"/>
              <a:endCxn id="55" idx="2"/>
            </p:cNvCxnSpPr>
            <p:nvPr/>
          </p:nvCxnSpPr>
          <p:spPr bwMode="auto">
            <a:xfrm rot="16200000" flipV="1">
              <a:off x="1600406" y="3212070"/>
              <a:ext cx="497662" cy="89622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6" name="직선 화살표 연결선 65"/>
            <p:cNvCxnSpPr>
              <a:stCxn id="53" idx="6"/>
              <a:endCxn id="56" idx="2"/>
            </p:cNvCxnSpPr>
            <p:nvPr/>
          </p:nvCxnSpPr>
          <p:spPr bwMode="auto">
            <a:xfrm rot="16200000" flipV="1">
              <a:off x="1899147" y="3510811"/>
              <a:ext cx="497662" cy="29874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7" name="직선 화살표 연결선 66"/>
            <p:cNvCxnSpPr>
              <a:stCxn id="53" idx="6"/>
              <a:endCxn id="57" idx="2"/>
            </p:cNvCxnSpPr>
            <p:nvPr/>
          </p:nvCxnSpPr>
          <p:spPr bwMode="auto">
            <a:xfrm rot="16200000">
              <a:off x="2160544" y="3548153"/>
              <a:ext cx="497662" cy="22405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8" name="직선 화살표 연결선 67"/>
            <p:cNvCxnSpPr>
              <a:stCxn id="53" idx="6"/>
              <a:endCxn id="58" idx="2"/>
            </p:cNvCxnSpPr>
            <p:nvPr/>
          </p:nvCxnSpPr>
          <p:spPr bwMode="auto">
            <a:xfrm rot="16200000">
              <a:off x="2459285" y="3249412"/>
              <a:ext cx="497662" cy="8215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9" name="직선 화살표 연결선 68"/>
            <p:cNvCxnSpPr>
              <a:stCxn id="54" idx="6"/>
              <a:endCxn id="55" idx="2"/>
            </p:cNvCxnSpPr>
            <p:nvPr/>
          </p:nvCxnSpPr>
          <p:spPr bwMode="auto">
            <a:xfrm rot="16200000" flipV="1">
              <a:off x="1861803" y="2950672"/>
              <a:ext cx="497662" cy="141901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직선 화살표 연결선 69"/>
            <p:cNvCxnSpPr>
              <a:stCxn id="54" idx="6"/>
              <a:endCxn id="56" idx="2"/>
            </p:cNvCxnSpPr>
            <p:nvPr/>
          </p:nvCxnSpPr>
          <p:spPr bwMode="auto">
            <a:xfrm rot="16200000" flipV="1">
              <a:off x="2160544" y="3249412"/>
              <a:ext cx="497662" cy="8215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직선 화살표 연결선 70"/>
            <p:cNvCxnSpPr>
              <a:stCxn id="54" idx="6"/>
              <a:endCxn id="57" idx="2"/>
            </p:cNvCxnSpPr>
            <p:nvPr/>
          </p:nvCxnSpPr>
          <p:spPr bwMode="auto">
            <a:xfrm rot="16200000" flipV="1">
              <a:off x="2421943" y="3510811"/>
              <a:ext cx="497662" cy="29874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직선 화살표 연결선 71"/>
            <p:cNvCxnSpPr>
              <a:stCxn id="54" idx="6"/>
              <a:endCxn id="58" idx="2"/>
            </p:cNvCxnSpPr>
            <p:nvPr/>
          </p:nvCxnSpPr>
          <p:spPr bwMode="auto">
            <a:xfrm rot="16200000">
              <a:off x="2720683" y="3510811"/>
              <a:ext cx="497662" cy="29874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직선 화살표 연결선 72"/>
            <p:cNvCxnSpPr>
              <a:stCxn id="55" idx="6"/>
            </p:cNvCxnSpPr>
            <p:nvPr/>
          </p:nvCxnSpPr>
          <p:spPr bwMode="auto">
            <a:xfrm rot="16200000">
              <a:off x="1178008" y="2937740"/>
              <a:ext cx="447897" cy="16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4" name="직선 화살표 연결선 73"/>
            <p:cNvCxnSpPr>
              <a:stCxn id="56" idx="6"/>
            </p:cNvCxnSpPr>
            <p:nvPr/>
          </p:nvCxnSpPr>
          <p:spPr bwMode="auto">
            <a:xfrm rot="16200000">
              <a:off x="1775490" y="2937740"/>
              <a:ext cx="447897" cy="16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5" name="직선 화살표 연결선 74"/>
            <p:cNvCxnSpPr>
              <a:stCxn id="57" idx="6"/>
            </p:cNvCxnSpPr>
            <p:nvPr/>
          </p:nvCxnSpPr>
          <p:spPr bwMode="auto">
            <a:xfrm rot="16200000">
              <a:off x="2298286" y="2937740"/>
              <a:ext cx="447897" cy="16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6" name="직선 화살표 연결선 75"/>
            <p:cNvCxnSpPr>
              <a:stCxn id="58" idx="6"/>
            </p:cNvCxnSpPr>
            <p:nvPr/>
          </p:nvCxnSpPr>
          <p:spPr bwMode="auto">
            <a:xfrm rot="16200000">
              <a:off x="2895766" y="2937740"/>
              <a:ext cx="447897" cy="16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직선 화살표 연결선 76"/>
            <p:cNvCxnSpPr>
              <a:stCxn id="55" idx="6"/>
            </p:cNvCxnSpPr>
            <p:nvPr/>
          </p:nvCxnSpPr>
          <p:spPr bwMode="auto">
            <a:xfrm rot="16200000">
              <a:off x="1475919" y="2639830"/>
              <a:ext cx="447897" cy="59748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직선 화살표 연결선 77"/>
            <p:cNvCxnSpPr>
              <a:stCxn id="55" idx="6"/>
            </p:cNvCxnSpPr>
            <p:nvPr/>
          </p:nvCxnSpPr>
          <p:spPr bwMode="auto">
            <a:xfrm rot="16200000">
              <a:off x="1737317" y="2378431"/>
              <a:ext cx="447897" cy="112027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직선 화살표 연결선 78"/>
            <p:cNvCxnSpPr>
              <a:stCxn id="55" idx="6"/>
            </p:cNvCxnSpPr>
            <p:nvPr/>
          </p:nvCxnSpPr>
          <p:spPr bwMode="auto">
            <a:xfrm rot="16200000">
              <a:off x="2036058" y="2079690"/>
              <a:ext cx="447897" cy="171775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0" name="직선 화살표 연결선 79"/>
            <p:cNvCxnSpPr>
              <a:stCxn id="56" idx="6"/>
            </p:cNvCxnSpPr>
            <p:nvPr/>
          </p:nvCxnSpPr>
          <p:spPr bwMode="auto">
            <a:xfrm rot="16200000" flipV="1">
              <a:off x="1475919" y="2639830"/>
              <a:ext cx="447897" cy="59748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1" name="직선 화살표 연결선 80"/>
            <p:cNvCxnSpPr>
              <a:stCxn id="56" idx="6"/>
            </p:cNvCxnSpPr>
            <p:nvPr/>
          </p:nvCxnSpPr>
          <p:spPr bwMode="auto">
            <a:xfrm rot="16200000">
              <a:off x="2036058" y="2677172"/>
              <a:ext cx="447897" cy="52279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2" name="직선 화살표 연결선 81"/>
            <p:cNvCxnSpPr>
              <a:stCxn id="56" idx="6"/>
            </p:cNvCxnSpPr>
            <p:nvPr/>
          </p:nvCxnSpPr>
          <p:spPr bwMode="auto">
            <a:xfrm rot="16200000">
              <a:off x="2334797" y="2378431"/>
              <a:ext cx="447897" cy="112027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3" name="직선 화살표 연결선 82"/>
            <p:cNvCxnSpPr>
              <a:stCxn id="57" idx="6"/>
            </p:cNvCxnSpPr>
            <p:nvPr/>
          </p:nvCxnSpPr>
          <p:spPr bwMode="auto">
            <a:xfrm rot="16200000" flipV="1">
              <a:off x="1737317" y="2378431"/>
              <a:ext cx="447897" cy="112027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4" name="직선 화살표 연결선 83"/>
            <p:cNvCxnSpPr>
              <a:stCxn id="57" idx="6"/>
            </p:cNvCxnSpPr>
            <p:nvPr/>
          </p:nvCxnSpPr>
          <p:spPr bwMode="auto">
            <a:xfrm rot="16200000" flipV="1">
              <a:off x="2036058" y="2677172"/>
              <a:ext cx="447897" cy="52279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5" name="직선 화살표 연결선 84"/>
            <p:cNvCxnSpPr>
              <a:stCxn id="57" idx="6"/>
            </p:cNvCxnSpPr>
            <p:nvPr/>
          </p:nvCxnSpPr>
          <p:spPr bwMode="auto">
            <a:xfrm rot="16200000">
              <a:off x="2596196" y="2639830"/>
              <a:ext cx="447897" cy="59748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6" name="직선 화살표 연결선 85"/>
            <p:cNvCxnSpPr>
              <a:stCxn id="58" idx="6"/>
            </p:cNvCxnSpPr>
            <p:nvPr/>
          </p:nvCxnSpPr>
          <p:spPr bwMode="auto">
            <a:xfrm rot="16200000" flipV="1">
              <a:off x="2596196" y="2639830"/>
              <a:ext cx="447897" cy="59748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7" name="직선 화살표 연결선 86"/>
            <p:cNvCxnSpPr>
              <a:stCxn id="58" idx="6"/>
            </p:cNvCxnSpPr>
            <p:nvPr/>
          </p:nvCxnSpPr>
          <p:spPr bwMode="auto">
            <a:xfrm rot="16200000" flipV="1">
              <a:off x="2334797" y="2378431"/>
              <a:ext cx="447897" cy="112027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8" name="직선 화살표 연결선 87"/>
            <p:cNvCxnSpPr/>
            <p:nvPr/>
          </p:nvCxnSpPr>
          <p:spPr bwMode="auto">
            <a:xfrm flipH="1" flipV="1">
              <a:off x="1401127" y="2714622"/>
              <a:ext cx="1605732" cy="39813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89" name="타원 88"/>
            <p:cNvSpPr/>
            <p:nvPr/>
          </p:nvSpPr>
          <p:spPr bwMode="auto">
            <a:xfrm rot="16200000">
              <a:off x="1276713" y="2383327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90" name="타원 89"/>
            <p:cNvSpPr/>
            <p:nvPr/>
          </p:nvSpPr>
          <p:spPr bwMode="auto">
            <a:xfrm rot="16200000">
              <a:off x="1874195" y="2383327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91" name="타원 90"/>
            <p:cNvSpPr/>
            <p:nvPr/>
          </p:nvSpPr>
          <p:spPr bwMode="auto">
            <a:xfrm rot="16200000">
              <a:off x="2396990" y="2383327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92" name="타원 91"/>
            <p:cNvSpPr/>
            <p:nvPr/>
          </p:nvSpPr>
          <p:spPr bwMode="auto">
            <a:xfrm rot="16200000">
              <a:off x="2994471" y="2383327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93" name="직선 화살표 연결선 92"/>
            <p:cNvCxnSpPr>
              <a:stCxn id="89" idx="6"/>
              <a:endCxn id="59" idx="2"/>
            </p:cNvCxnSpPr>
            <p:nvPr/>
          </p:nvCxnSpPr>
          <p:spPr bwMode="auto">
            <a:xfrm rot="16200000">
              <a:off x="1500804" y="1947820"/>
              <a:ext cx="398130" cy="59748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4" name="직선 화살표 연결선 93"/>
            <p:cNvCxnSpPr>
              <a:stCxn id="89" idx="6"/>
              <a:endCxn id="60" idx="2"/>
            </p:cNvCxnSpPr>
            <p:nvPr/>
          </p:nvCxnSpPr>
          <p:spPr bwMode="auto">
            <a:xfrm rot="16200000">
              <a:off x="1762202" y="1686421"/>
              <a:ext cx="398130" cy="112027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5" name="직선 화살표 연결선 94"/>
            <p:cNvCxnSpPr>
              <a:stCxn id="90" idx="6"/>
              <a:endCxn id="59" idx="2"/>
            </p:cNvCxnSpPr>
            <p:nvPr/>
          </p:nvCxnSpPr>
          <p:spPr bwMode="auto">
            <a:xfrm rot="16200000">
              <a:off x="1800375" y="2245730"/>
              <a:ext cx="398130" cy="16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6" name="직선 화살표 연결선 95"/>
            <p:cNvCxnSpPr>
              <a:stCxn id="90" idx="6"/>
              <a:endCxn id="60" idx="2"/>
            </p:cNvCxnSpPr>
            <p:nvPr/>
          </p:nvCxnSpPr>
          <p:spPr bwMode="auto">
            <a:xfrm rot="16200000">
              <a:off x="2060942" y="1985162"/>
              <a:ext cx="398130" cy="52279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7" name="직선 화살표 연결선 96"/>
            <p:cNvCxnSpPr>
              <a:stCxn id="91" idx="6"/>
              <a:endCxn id="59" idx="2"/>
            </p:cNvCxnSpPr>
            <p:nvPr/>
          </p:nvCxnSpPr>
          <p:spPr bwMode="auto">
            <a:xfrm rot="16200000" flipV="1">
              <a:off x="2060942" y="1985162"/>
              <a:ext cx="398130" cy="52279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8" name="직선 화살표 연결선 97"/>
            <p:cNvCxnSpPr>
              <a:stCxn id="91" idx="6"/>
              <a:endCxn id="60" idx="2"/>
            </p:cNvCxnSpPr>
            <p:nvPr/>
          </p:nvCxnSpPr>
          <p:spPr bwMode="auto">
            <a:xfrm rot="16200000">
              <a:off x="2323170" y="2245730"/>
              <a:ext cx="398130" cy="16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9" name="직선 화살표 연결선 98"/>
            <p:cNvCxnSpPr>
              <a:stCxn id="92" idx="6"/>
              <a:endCxn id="60" idx="2"/>
            </p:cNvCxnSpPr>
            <p:nvPr/>
          </p:nvCxnSpPr>
          <p:spPr bwMode="auto">
            <a:xfrm rot="16200000" flipV="1">
              <a:off x="2621082" y="1947820"/>
              <a:ext cx="398130" cy="59748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0" name="직선 화살표 연결선 99"/>
            <p:cNvCxnSpPr>
              <a:stCxn id="92" idx="6"/>
              <a:endCxn id="59" idx="2"/>
            </p:cNvCxnSpPr>
            <p:nvPr/>
          </p:nvCxnSpPr>
          <p:spPr bwMode="auto">
            <a:xfrm rot="16200000" flipV="1">
              <a:off x="2359683" y="1686421"/>
              <a:ext cx="398130" cy="112027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1" name="직선 화살표 연결선 100"/>
            <p:cNvCxnSpPr>
              <a:stCxn id="59" idx="6"/>
            </p:cNvCxnSpPr>
            <p:nvPr/>
          </p:nvCxnSpPr>
          <p:spPr>
            <a:xfrm rot="16200000" flipV="1">
              <a:off x="1885081" y="1685140"/>
              <a:ext cx="227058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/>
              <a:headEnd type="none" w="med" len="med"/>
              <a:tailEnd type="triangle" w="med" len="med"/>
            </a:ln>
            <a:effectLst/>
          </p:spPr>
        </p:cxnSp>
        <p:cxnSp>
          <p:nvCxnSpPr>
            <p:cNvPr id="102" name="직선 화살표 연결선 101"/>
            <p:cNvCxnSpPr>
              <a:stCxn id="60" idx="6"/>
            </p:cNvCxnSpPr>
            <p:nvPr/>
          </p:nvCxnSpPr>
          <p:spPr>
            <a:xfrm rot="16200000" flipV="1">
              <a:off x="2407877" y="1685140"/>
              <a:ext cx="227058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03" name="文字方塊 41"/>
          <p:cNvSpPr txBox="1">
            <a:spLocks noChangeArrowheads="1"/>
          </p:cNvSpPr>
          <p:nvPr/>
        </p:nvSpPr>
        <p:spPr bwMode="auto">
          <a:xfrm>
            <a:off x="2737459" y="2344390"/>
            <a:ext cx="2139301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latin typeface="맑은 고딕" pitchFamily="50" charset="-127"/>
                <a:ea typeface="맑은 고딕" pitchFamily="50" charset="-127"/>
              </a:rPr>
              <a:t>output</a:t>
            </a:r>
            <a:endParaRPr lang="zh-TW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4" name="右彎箭號 16"/>
          <p:cNvSpPr/>
          <p:nvPr/>
        </p:nvSpPr>
        <p:spPr>
          <a:xfrm rot="10800000">
            <a:off x="7050961" y="6138066"/>
            <a:ext cx="1857388" cy="671459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5" name="위로 굽은 화살표 104"/>
          <p:cNvSpPr/>
          <p:nvPr/>
        </p:nvSpPr>
        <p:spPr>
          <a:xfrm flipH="1">
            <a:off x="3485091" y="6155006"/>
            <a:ext cx="1771307" cy="613724"/>
          </a:xfrm>
          <a:prstGeom prst="bentUpArrow">
            <a:avLst>
              <a:gd name="adj1" fmla="val 40896"/>
              <a:gd name="adj2" fmla="val 33586"/>
              <a:gd name="adj3" fmla="val 33499"/>
            </a:avLst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2358790" y="6338857"/>
            <a:ext cx="157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특징 분류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27924" y="6454961"/>
            <a:ext cx="157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특징 추출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58400" y="5614675"/>
            <a:ext cx="15716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특징축소</a:t>
            </a:r>
          </a:p>
        </p:txBody>
      </p:sp>
    </p:spTree>
    <p:extLst>
      <p:ext uri="{BB962C8B-B14F-4D97-AF65-F5344CB8AC3E}">
        <p14:creationId xmlns:p14="http://schemas.microsoft.com/office/powerpoint/2010/main" val="3289078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컨볼루션</a:t>
            </a:r>
            <a:r>
              <a:rPr lang="ko-KR" altLang="en-US" dirty="0" smtClean="0"/>
              <a:t> 신경망 정리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25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 및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50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개의 필터 역시 동시에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역전파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오류법을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통해 학습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38" name="文字方塊 32"/>
          <p:cNvSpPr txBox="1"/>
          <p:nvPr/>
        </p:nvSpPr>
        <p:spPr>
          <a:xfrm>
            <a:off x="5391144" y="6440058"/>
            <a:ext cx="1556991" cy="40011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2000" dirty="0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1D </a:t>
            </a:r>
            <a:r>
              <a:rPr lang="ko-KR" altLang="en-US" sz="2000" dirty="0" smtClean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특징</a:t>
            </a:r>
            <a:endParaRPr lang="zh-TW" altLang="en-US" sz="2000" dirty="0">
              <a:solidFill>
                <a:srgbClr val="000000"/>
              </a:solidFill>
              <a:latin typeface="나눔스퀘어 Bold" panose="020B0600000101010101" pitchFamily="50" charset="-127"/>
              <a:ea typeface="ＭＳ Ｐゴシック" pitchFamily="34" charset="-128"/>
            </a:endParaRPr>
          </a:p>
        </p:txBody>
      </p:sp>
      <p:grpSp>
        <p:nvGrpSpPr>
          <p:cNvPr id="39" name="그룹 140"/>
          <p:cNvGrpSpPr/>
          <p:nvPr/>
        </p:nvGrpSpPr>
        <p:grpSpPr>
          <a:xfrm>
            <a:off x="6891342" y="2305626"/>
            <a:ext cx="3167058" cy="3791643"/>
            <a:chOff x="285720" y="1426107"/>
            <a:chExt cx="3102424" cy="4288908"/>
          </a:xfrm>
        </p:grpSpPr>
        <p:sp>
          <p:nvSpPr>
            <p:cNvPr id="40" name="文字方塊 41"/>
            <p:cNvSpPr txBox="1">
              <a:spLocks noChangeArrowheads="1"/>
            </p:cNvSpPr>
            <p:nvPr/>
          </p:nvSpPr>
          <p:spPr bwMode="auto">
            <a:xfrm>
              <a:off x="714348" y="1426108"/>
              <a:ext cx="2046288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TW" sz="2400" b="1" dirty="0">
                  <a:latin typeface="맑은 고딕" pitchFamily="50" charset="-127"/>
                  <a:ea typeface="맑은 고딕" pitchFamily="50" charset="-127"/>
                </a:rPr>
                <a:t>Input</a:t>
              </a:r>
              <a:endParaRPr lang="zh-TW" altLang="en-US" sz="2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1" name="직사각형 40"/>
            <p:cNvSpPr/>
            <p:nvPr/>
          </p:nvSpPr>
          <p:spPr bwMode="auto">
            <a:xfrm>
              <a:off x="285720" y="1426107"/>
              <a:ext cx="3102424" cy="4288908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42" name="오른쪽 화살표 41"/>
            <p:cNvSpPr/>
            <p:nvPr/>
          </p:nvSpPr>
          <p:spPr>
            <a:xfrm rot="5400000">
              <a:off x="1500166" y="2046847"/>
              <a:ext cx="428627" cy="428628"/>
            </a:xfrm>
            <a:prstGeom prst="rightArrow">
              <a:avLst/>
            </a:prstGeom>
            <a:solidFill>
              <a:schemeClr val="bg2"/>
            </a:solidFill>
            <a:ln w="9525" cap="flat" cmpd="sng" algn="ctr">
              <a:solidFill>
                <a:schemeClr val="bg2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3" name="矩形 28"/>
            <p:cNvSpPr/>
            <p:nvPr/>
          </p:nvSpPr>
          <p:spPr>
            <a:xfrm>
              <a:off x="906450" y="2420990"/>
              <a:ext cx="1736724" cy="41966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TW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Convolution</a:t>
              </a:r>
              <a:endParaRPr lang="zh-TW" altLang="en-US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矩形 29"/>
            <p:cNvSpPr/>
            <p:nvPr/>
          </p:nvSpPr>
          <p:spPr>
            <a:xfrm>
              <a:off x="906450" y="3320173"/>
              <a:ext cx="1736724" cy="41966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TW" dirty="0">
                  <a:solidFill>
                    <a:srgbClr val="000000"/>
                  </a:solidFill>
                  <a:ea typeface="ＭＳ Ｐゴシック" pitchFamily="34" charset="-128"/>
                </a:rPr>
                <a:t>Max Pooling</a:t>
              </a:r>
              <a:endParaRPr lang="zh-TW" altLang="en-US" dirty="0">
                <a:solidFill>
                  <a:srgbClr val="000000"/>
                </a:solidFill>
                <a:ea typeface="ＭＳ Ｐゴシック" pitchFamily="34" charset="-128"/>
              </a:endParaRPr>
            </a:p>
          </p:txBody>
        </p:sp>
        <p:sp>
          <p:nvSpPr>
            <p:cNvPr id="45" name="矩形 28"/>
            <p:cNvSpPr/>
            <p:nvPr/>
          </p:nvSpPr>
          <p:spPr>
            <a:xfrm>
              <a:off x="906450" y="4219356"/>
              <a:ext cx="1736724" cy="41966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TW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Convolution</a:t>
              </a:r>
              <a:endParaRPr lang="zh-TW" altLang="en-US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오른쪽 화살표 45"/>
            <p:cNvSpPr/>
            <p:nvPr/>
          </p:nvSpPr>
          <p:spPr>
            <a:xfrm rot="5400000">
              <a:off x="1500167" y="2877075"/>
              <a:ext cx="428627" cy="428628"/>
            </a:xfrm>
            <a:prstGeom prst="rightArrow">
              <a:avLst/>
            </a:prstGeom>
            <a:solidFill>
              <a:schemeClr val="bg2"/>
            </a:solidFill>
            <a:ln w="9525" cap="flat" cmpd="sng" algn="ctr">
              <a:solidFill>
                <a:schemeClr val="bg2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7" name="오른쪽 화살표 46"/>
            <p:cNvSpPr/>
            <p:nvPr/>
          </p:nvSpPr>
          <p:spPr>
            <a:xfrm rot="5400000">
              <a:off x="1500167" y="3776258"/>
              <a:ext cx="428627" cy="428628"/>
            </a:xfrm>
            <a:prstGeom prst="rightArrow">
              <a:avLst/>
            </a:prstGeom>
            <a:solidFill>
              <a:schemeClr val="bg2"/>
            </a:solidFill>
            <a:ln w="9525" cap="flat" cmpd="sng" algn="ctr">
              <a:solidFill>
                <a:schemeClr val="bg2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8" name="矩形 29"/>
            <p:cNvSpPr/>
            <p:nvPr/>
          </p:nvSpPr>
          <p:spPr>
            <a:xfrm>
              <a:off x="928662" y="5084062"/>
              <a:ext cx="1736724" cy="41966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altLang="zh-TW" dirty="0">
                  <a:solidFill>
                    <a:srgbClr val="000000"/>
                  </a:solidFill>
                  <a:ea typeface="ＭＳ Ｐゴシック" pitchFamily="34" charset="-128"/>
                </a:rPr>
                <a:t>Max Pooling</a:t>
              </a:r>
              <a:endParaRPr lang="zh-TW" altLang="en-US" dirty="0">
                <a:solidFill>
                  <a:srgbClr val="000000"/>
                </a:solidFill>
                <a:ea typeface="ＭＳ Ｐゴシック" pitchFamily="34" charset="-128"/>
              </a:endParaRPr>
            </a:p>
          </p:txBody>
        </p:sp>
        <p:sp>
          <p:nvSpPr>
            <p:cNvPr id="49" name="오른쪽 화살표 48"/>
            <p:cNvSpPr/>
            <p:nvPr/>
          </p:nvSpPr>
          <p:spPr>
            <a:xfrm rot="5400000">
              <a:off x="1522379" y="4675442"/>
              <a:ext cx="428627" cy="428628"/>
            </a:xfrm>
            <a:prstGeom prst="rightArrow">
              <a:avLst/>
            </a:prstGeom>
            <a:solidFill>
              <a:schemeClr val="bg2"/>
            </a:solidFill>
            <a:ln w="9525" cap="flat" cmpd="sng" algn="ctr">
              <a:solidFill>
                <a:schemeClr val="bg2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</p:grpSp>
      <p:sp>
        <p:nvSpPr>
          <p:cNvPr id="50" name="직사각형 49"/>
          <p:cNvSpPr/>
          <p:nvPr/>
        </p:nvSpPr>
        <p:spPr bwMode="auto">
          <a:xfrm>
            <a:off x="2176434" y="2298670"/>
            <a:ext cx="3500462" cy="37986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2808898" y="2870174"/>
            <a:ext cx="2143140" cy="3000396"/>
            <a:chOff x="1214414" y="1571612"/>
            <a:chExt cx="2091185" cy="2586231"/>
          </a:xfrm>
        </p:grpSpPr>
        <p:sp>
          <p:nvSpPr>
            <p:cNvPr id="52" name="타원 51"/>
            <p:cNvSpPr/>
            <p:nvPr/>
          </p:nvSpPr>
          <p:spPr bwMode="auto">
            <a:xfrm rot="16200000">
              <a:off x="1650136" y="3846715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3" name="타원 52"/>
            <p:cNvSpPr/>
            <p:nvPr/>
          </p:nvSpPr>
          <p:spPr bwMode="auto">
            <a:xfrm rot="16200000">
              <a:off x="2172932" y="3846715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4" name="타원 53"/>
            <p:cNvSpPr/>
            <p:nvPr/>
          </p:nvSpPr>
          <p:spPr bwMode="auto">
            <a:xfrm rot="16200000">
              <a:off x="2695728" y="3846715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5" name="타원 54"/>
            <p:cNvSpPr/>
            <p:nvPr/>
          </p:nvSpPr>
          <p:spPr bwMode="auto">
            <a:xfrm rot="16200000">
              <a:off x="1276711" y="3100221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6" name="타원 55"/>
            <p:cNvSpPr/>
            <p:nvPr/>
          </p:nvSpPr>
          <p:spPr bwMode="auto">
            <a:xfrm rot="16200000">
              <a:off x="1874192" y="3100221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7" name="타원 56"/>
            <p:cNvSpPr/>
            <p:nvPr/>
          </p:nvSpPr>
          <p:spPr bwMode="auto">
            <a:xfrm rot="16200000">
              <a:off x="2396988" y="3100221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8" name="타원 57"/>
            <p:cNvSpPr/>
            <p:nvPr/>
          </p:nvSpPr>
          <p:spPr bwMode="auto">
            <a:xfrm rot="16200000">
              <a:off x="2994469" y="3100221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59" name="타원 58"/>
            <p:cNvSpPr/>
            <p:nvPr/>
          </p:nvSpPr>
          <p:spPr bwMode="auto">
            <a:xfrm rot="16200000">
              <a:off x="1874195" y="1736366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60" name="타원 59"/>
            <p:cNvSpPr/>
            <p:nvPr/>
          </p:nvSpPr>
          <p:spPr bwMode="auto">
            <a:xfrm rot="16200000">
              <a:off x="2396990" y="1736366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61" name="직선 화살표 연결선 60"/>
            <p:cNvCxnSpPr>
              <a:stCxn id="52" idx="6"/>
              <a:endCxn id="55" idx="2"/>
            </p:cNvCxnSpPr>
            <p:nvPr/>
          </p:nvCxnSpPr>
          <p:spPr bwMode="auto">
            <a:xfrm rot="16200000" flipV="1">
              <a:off x="1339008" y="3473467"/>
              <a:ext cx="497662" cy="37342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2" name="직선 화살표 연결선 61"/>
            <p:cNvCxnSpPr>
              <a:stCxn id="52" idx="6"/>
              <a:endCxn id="56" idx="2"/>
            </p:cNvCxnSpPr>
            <p:nvPr/>
          </p:nvCxnSpPr>
          <p:spPr bwMode="auto">
            <a:xfrm rot="16200000">
              <a:off x="1637748" y="3548153"/>
              <a:ext cx="497662" cy="22405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3" name="직선 화살표 연결선 62"/>
            <p:cNvCxnSpPr>
              <a:stCxn id="52" idx="6"/>
              <a:endCxn id="57" idx="2"/>
            </p:cNvCxnSpPr>
            <p:nvPr/>
          </p:nvCxnSpPr>
          <p:spPr bwMode="auto">
            <a:xfrm rot="16200000">
              <a:off x="1899147" y="3286755"/>
              <a:ext cx="497662" cy="74685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4" name="직선 화살표 연결선 63"/>
            <p:cNvCxnSpPr>
              <a:stCxn id="52" idx="6"/>
              <a:endCxn id="58" idx="2"/>
            </p:cNvCxnSpPr>
            <p:nvPr/>
          </p:nvCxnSpPr>
          <p:spPr bwMode="auto">
            <a:xfrm rot="16200000">
              <a:off x="2197887" y="2988015"/>
              <a:ext cx="497662" cy="13443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5" name="직선 화살표 연결선 64"/>
            <p:cNvCxnSpPr>
              <a:stCxn id="53" idx="6"/>
              <a:endCxn id="55" idx="2"/>
            </p:cNvCxnSpPr>
            <p:nvPr/>
          </p:nvCxnSpPr>
          <p:spPr bwMode="auto">
            <a:xfrm rot="16200000" flipV="1">
              <a:off x="1600406" y="3212070"/>
              <a:ext cx="497662" cy="89622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6" name="직선 화살표 연결선 65"/>
            <p:cNvCxnSpPr>
              <a:stCxn id="53" idx="6"/>
              <a:endCxn id="56" idx="2"/>
            </p:cNvCxnSpPr>
            <p:nvPr/>
          </p:nvCxnSpPr>
          <p:spPr bwMode="auto">
            <a:xfrm rot="16200000" flipV="1">
              <a:off x="1899147" y="3510811"/>
              <a:ext cx="497662" cy="29874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7" name="직선 화살표 연결선 66"/>
            <p:cNvCxnSpPr>
              <a:stCxn id="53" idx="6"/>
              <a:endCxn id="57" idx="2"/>
            </p:cNvCxnSpPr>
            <p:nvPr/>
          </p:nvCxnSpPr>
          <p:spPr bwMode="auto">
            <a:xfrm rot="16200000">
              <a:off x="2160544" y="3548153"/>
              <a:ext cx="497662" cy="22405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8" name="직선 화살표 연결선 67"/>
            <p:cNvCxnSpPr>
              <a:stCxn id="53" idx="6"/>
              <a:endCxn id="58" idx="2"/>
            </p:cNvCxnSpPr>
            <p:nvPr/>
          </p:nvCxnSpPr>
          <p:spPr bwMode="auto">
            <a:xfrm rot="16200000">
              <a:off x="2459285" y="3249412"/>
              <a:ext cx="497662" cy="8215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69" name="직선 화살표 연결선 68"/>
            <p:cNvCxnSpPr>
              <a:stCxn id="54" idx="6"/>
              <a:endCxn id="55" idx="2"/>
            </p:cNvCxnSpPr>
            <p:nvPr/>
          </p:nvCxnSpPr>
          <p:spPr bwMode="auto">
            <a:xfrm rot="16200000" flipV="1">
              <a:off x="1861803" y="2950672"/>
              <a:ext cx="497662" cy="141901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직선 화살표 연결선 69"/>
            <p:cNvCxnSpPr>
              <a:stCxn id="54" idx="6"/>
              <a:endCxn id="56" idx="2"/>
            </p:cNvCxnSpPr>
            <p:nvPr/>
          </p:nvCxnSpPr>
          <p:spPr bwMode="auto">
            <a:xfrm rot="16200000" flipV="1">
              <a:off x="2160544" y="3249412"/>
              <a:ext cx="497662" cy="8215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1" name="직선 화살표 연결선 70"/>
            <p:cNvCxnSpPr>
              <a:stCxn id="54" idx="6"/>
              <a:endCxn id="57" idx="2"/>
            </p:cNvCxnSpPr>
            <p:nvPr/>
          </p:nvCxnSpPr>
          <p:spPr bwMode="auto">
            <a:xfrm rot="16200000" flipV="1">
              <a:off x="2421943" y="3510811"/>
              <a:ext cx="497662" cy="29874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2" name="직선 화살표 연결선 71"/>
            <p:cNvCxnSpPr>
              <a:stCxn id="54" idx="6"/>
              <a:endCxn id="58" idx="2"/>
            </p:cNvCxnSpPr>
            <p:nvPr/>
          </p:nvCxnSpPr>
          <p:spPr bwMode="auto">
            <a:xfrm rot="16200000">
              <a:off x="2720683" y="3510811"/>
              <a:ext cx="497662" cy="29874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3" name="직선 화살표 연결선 72"/>
            <p:cNvCxnSpPr>
              <a:stCxn id="55" idx="6"/>
            </p:cNvCxnSpPr>
            <p:nvPr/>
          </p:nvCxnSpPr>
          <p:spPr bwMode="auto">
            <a:xfrm rot="16200000">
              <a:off x="1178008" y="2937740"/>
              <a:ext cx="447897" cy="16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4" name="직선 화살표 연결선 73"/>
            <p:cNvCxnSpPr>
              <a:stCxn id="56" idx="6"/>
            </p:cNvCxnSpPr>
            <p:nvPr/>
          </p:nvCxnSpPr>
          <p:spPr bwMode="auto">
            <a:xfrm rot="16200000">
              <a:off x="1775490" y="2937740"/>
              <a:ext cx="447897" cy="16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5" name="직선 화살표 연결선 74"/>
            <p:cNvCxnSpPr>
              <a:stCxn id="57" idx="6"/>
            </p:cNvCxnSpPr>
            <p:nvPr/>
          </p:nvCxnSpPr>
          <p:spPr bwMode="auto">
            <a:xfrm rot="16200000">
              <a:off x="2298286" y="2937740"/>
              <a:ext cx="447897" cy="16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6" name="직선 화살표 연결선 75"/>
            <p:cNvCxnSpPr>
              <a:stCxn id="58" idx="6"/>
            </p:cNvCxnSpPr>
            <p:nvPr/>
          </p:nvCxnSpPr>
          <p:spPr bwMode="auto">
            <a:xfrm rot="16200000">
              <a:off x="2895766" y="2937740"/>
              <a:ext cx="447897" cy="16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7" name="직선 화살표 연결선 76"/>
            <p:cNvCxnSpPr>
              <a:stCxn id="55" idx="6"/>
            </p:cNvCxnSpPr>
            <p:nvPr/>
          </p:nvCxnSpPr>
          <p:spPr bwMode="auto">
            <a:xfrm rot="16200000">
              <a:off x="1475919" y="2639830"/>
              <a:ext cx="447897" cy="59748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8" name="직선 화살표 연결선 77"/>
            <p:cNvCxnSpPr>
              <a:stCxn id="55" idx="6"/>
            </p:cNvCxnSpPr>
            <p:nvPr/>
          </p:nvCxnSpPr>
          <p:spPr bwMode="auto">
            <a:xfrm rot="16200000">
              <a:off x="1737317" y="2378431"/>
              <a:ext cx="447897" cy="112027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79" name="직선 화살표 연결선 78"/>
            <p:cNvCxnSpPr>
              <a:stCxn id="55" idx="6"/>
            </p:cNvCxnSpPr>
            <p:nvPr/>
          </p:nvCxnSpPr>
          <p:spPr bwMode="auto">
            <a:xfrm rot="16200000">
              <a:off x="2036058" y="2079690"/>
              <a:ext cx="447897" cy="171775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0" name="직선 화살표 연결선 79"/>
            <p:cNvCxnSpPr>
              <a:stCxn id="56" idx="6"/>
            </p:cNvCxnSpPr>
            <p:nvPr/>
          </p:nvCxnSpPr>
          <p:spPr bwMode="auto">
            <a:xfrm rot="16200000" flipV="1">
              <a:off x="1475919" y="2639830"/>
              <a:ext cx="447897" cy="59748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1" name="직선 화살표 연결선 80"/>
            <p:cNvCxnSpPr>
              <a:stCxn id="56" idx="6"/>
            </p:cNvCxnSpPr>
            <p:nvPr/>
          </p:nvCxnSpPr>
          <p:spPr bwMode="auto">
            <a:xfrm rot="16200000">
              <a:off x="2036058" y="2677172"/>
              <a:ext cx="447897" cy="52279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2" name="직선 화살표 연결선 81"/>
            <p:cNvCxnSpPr>
              <a:stCxn id="56" idx="6"/>
            </p:cNvCxnSpPr>
            <p:nvPr/>
          </p:nvCxnSpPr>
          <p:spPr bwMode="auto">
            <a:xfrm rot="16200000">
              <a:off x="2334797" y="2378431"/>
              <a:ext cx="447897" cy="112027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3" name="직선 화살표 연결선 82"/>
            <p:cNvCxnSpPr>
              <a:stCxn id="57" idx="6"/>
            </p:cNvCxnSpPr>
            <p:nvPr/>
          </p:nvCxnSpPr>
          <p:spPr bwMode="auto">
            <a:xfrm rot="16200000" flipV="1">
              <a:off x="1737317" y="2378431"/>
              <a:ext cx="447897" cy="112027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4" name="직선 화살표 연결선 83"/>
            <p:cNvCxnSpPr>
              <a:stCxn id="57" idx="6"/>
            </p:cNvCxnSpPr>
            <p:nvPr/>
          </p:nvCxnSpPr>
          <p:spPr bwMode="auto">
            <a:xfrm rot="16200000" flipV="1">
              <a:off x="2036058" y="2677172"/>
              <a:ext cx="447897" cy="52279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5" name="직선 화살표 연결선 84"/>
            <p:cNvCxnSpPr>
              <a:stCxn id="57" idx="6"/>
            </p:cNvCxnSpPr>
            <p:nvPr/>
          </p:nvCxnSpPr>
          <p:spPr bwMode="auto">
            <a:xfrm rot="16200000">
              <a:off x="2596196" y="2639830"/>
              <a:ext cx="447897" cy="59748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6" name="직선 화살표 연결선 85"/>
            <p:cNvCxnSpPr>
              <a:stCxn id="58" idx="6"/>
            </p:cNvCxnSpPr>
            <p:nvPr/>
          </p:nvCxnSpPr>
          <p:spPr bwMode="auto">
            <a:xfrm rot="16200000" flipV="1">
              <a:off x="2596196" y="2639830"/>
              <a:ext cx="447897" cy="59748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7" name="직선 화살표 연결선 86"/>
            <p:cNvCxnSpPr>
              <a:stCxn id="58" idx="6"/>
            </p:cNvCxnSpPr>
            <p:nvPr/>
          </p:nvCxnSpPr>
          <p:spPr bwMode="auto">
            <a:xfrm rot="16200000" flipV="1">
              <a:off x="2334797" y="2378431"/>
              <a:ext cx="447897" cy="112027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88" name="직선 화살표 연결선 87"/>
            <p:cNvCxnSpPr/>
            <p:nvPr/>
          </p:nvCxnSpPr>
          <p:spPr bwMode="auto">
            <a:xfrm flipH="1" flipV="1">
              <a:off x="1401127" y="2714622"/>
              <a:ext cx="1605732" cy="39813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89" name="타원 88"/>
            <p:cNvSpPr/>
            <p:nvPr/>
          </p:nvSpPr>
          <p:spPr bwMode="auto">
            <a:xfrm rot="16200000">
              <a:off x="1276713" y="2383327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90" name="타원 89"/>
            <p:cNvSpPr/>
            <p:nvPr/>
          </p:nvSpPr>
          <p:spPr bwMode="auto">
            <a:xfrm rot="16200000">
              <a:off x="1874195" y="2383327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91" name="타원 90"/>
            <p:cNvSpPr/>
            <p:nvPr/>
          </p:nvSpPr>
          <p:spPr bwMode="auto">
            <a:xfrm rot="16200000">
              <a:off x="2396990" y="2383327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92" name="타원 91"/>
            <p:cNvSpPr/>
            <p:nvPr/>
          </p:nvSpPr>
          <p:spPr bwMode="auto">
            <a:xfrm rot="16200000">
              <a:off x="2994471" y="2383327"/>
              <a:ext cx="248831" cy="3734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cxnSp>
          <p:nvCxnSpPr>
            <p:cNvPr id="93" name="직선 화살표 연결선 92"/>
            <p:cNvCxnSpPr>
              <a:stCxn id="89" idx="6"/>
              <a:endCxn id="59" idx="2"/>
            </p:cNvCxnSpPr>
            <p:nvPr/>
          </p:nvCxnSpPr>
          <p:spPr bwMode="auto">
            <a:xfrm rot="16200000">
              <a:off x="1500804" y="1947820"/>
              <a:ext cx="398130" cy="59748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4" name="직선 화살표 연결선 93"/>
            <p:cNvCxnSpPr>
              <a:stCxn id="89" idx="6"/>
              <a:endCxn id="60" idx="2"/>
            </p:cNvCxnSpPr>
            <p:nvPr/>
          </p:nvCxnSpPr>
          <p:spPr bwMode="auto">
            <a:xfrm rot="16200000">
              <a:off x="1762202" y="1686421"/>
              <a:ext cx="398130" cy="112027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5" name="직선 화살표 연결선 94"/>
            <p:cNvCxnSpPr>
              <a:stCxn id="90" idx="6"/>
              <a:endCxn id="59" idx="2"/>
            </p:cNvCxnSpPr>
            <p:nvPr/>
          </p:nvCxnSpPr>
          <p:spPr bwMode="auto">
            <a:xfrm rot="16200000">
              <a:off x="1800375" y="2245730"/>
              <a:ext cx="398130" cy="16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6" name="직선 화살표 연결선 95"/>
            <p:cNvCxnSpPr>
              <a:stCxn id="90" idx="6"/>
              <a:endCxn id="60" idx="2"/>
            </p:cNvCxnSpPr>
            <p:nvPr/>
          </p:nvCxnSpPr>
          <p:spPr bwMode="auto">
            <a:xfrm rot="16200000">
              <a:off x="2060942" y="1985162"/>
              <a:ext cx="398130" cy="52279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7" name="직선 화살표 연결선 96"/>
            <p:cNvCxnSpPr>
              <a:stCxn id="91" idx="6"/>
              <a:endCxn id="59" idx="2"/>
            </p:cNvCxnSpPr>
            <p:nvPr/>
          </p:nvCxnSpPr>
          <p:spPr bwMode="auto">
            <a:xfrm rot="16200000" flipV="1">
              <a:off x="2060942" y="1985162"/>
              <a:ext cx="398130" cy="52279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8" name="직선 화살표 연결선 97"/>
            <p:cNvCxnSpPr>
              <a:stCxn id="91" idx="6"/>
              <a:endCxn id="60" idx="2"/>
            </p:cNvCxnSpPr>
            <p:nvPr/>
          </p:nvCxnSpPr>
          <p:spPr bwMode="auto">
            <a:xfrm rot="16200000">
              <a:off x="2323170" y="2245730"/>
              <a:ext cx="398130" cy="166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99" name="직선 화살표 연결선 98"/>
            <p:cNvCxnSpPr>
              <a:stCxn id="92" idx="6"/>
              <a:endCxn id="60" idx="2"/>
            </p:cNvCxnSpPr>
            <p:nvPr/>
          </p:nvCxnSpPr>
          <p:spPr bwMode="auto">
            <a:xfrm rot="16200000" flipV="1">
              <a:off x="2621082" y="1947820"/>
              <a:ext cx="398130" cy="59748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0" name="직선 화살표 연결선 99"/>
            <p:cNvCxnSpPr>
              <a:stCxn id="92" idx="6"/>
              <a:endCxn id="59" idx="2"/>
            </p:cNvCxnSpPr>
            <p:nvPr/>
          </p:nvCxnSpPr>
          <p:spPr bwMode="auto">
            <a:xfrm rot="16200000" flipV="1">
              <a:off x="2359683" y="1686421"/>
              <a:ext cx="398130" cy="112027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101" name="직선 화살표 연결선 100"/>
            <p:cNvCxnSpPr>
              <a:stCxn id="59" idx="6"/>
            </p:cNvCxnSpPr>
            <p:nvPr/>
          </p:nvCxnSpPr>
          <p:spPr>
            <a:xfrm rot="16200000" flipV="1">
              <a:off x="1885081" y="1685140"/>
              <a:ext cx="227058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/>
              <a:headEnd type="none" w="med" len="med"/>
              <a:tailEnd type="triangle" w="med" len="med"/>
            </a:ln>
            <a:effectLst/>
          </p:spPr>
        </p:cxnSp>
        <p:cxnSp>
          <p:nvCxnSpPr>
            <p:cNvPr id="102" name="직선 화살표 연결선 101"/>
            <p:cNvCxnSpPr>
              <a:stCxn id="60" idx="6"/>
            </p:cNvCxnSpPr>
            <p:nvPr/>
          </p:nvCxnSpPr>
          <p:spPr>
            <a:xfrm rot="16200000" flipV="1">
              <a:off x="2407877" y="1685140"/>
              <a:ext cx="227058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miter/>
              <a:headEnd type="none" w="med" len="med"/>
              <a:tailEnd type="triangle" w="med" len="med"/>
            </a:ln>
            <a:effectLst/>
          </p:spPr>
        </p:cxnSp>
      </p:grpSp>
      <p:sp>
        <p:nvSpPr>
          <p:cNvPr id="103" name="文字方塊 41"/>
          <p:cNvSpPr txBox="1">
            <a:spLocks noChangeArrowheads="1"/>
          </p:cNvSpPr>
          <p:nvPr/>
        </p:nvSpPr>
        <p:spPr bwMode="auto">
          <a:xfrm>
            <a:off x="2737459" y="2344390"/>
            <a:ext cx="2139301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400" b="1" dirty="0">
                <a:latin typeface="맑은 고딕" pitchFamily="50" charset="-127"/>
                <a:ea typeface="맑은 고딕" pitchFamily="50" charset="-127"/>
              </a:rPr>
              <a:t>output</a:t>
            </a:r>
            <a:endParaRPr lang="zh-TW" altLang="en-US" sz="2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4" name="右彎箭號 16"/>
          <p:cNvSpPr/>
          <p:nvPr/>
        </p:nvSpPr>
        <p:spPr>
          <a:xfrm rot="10800000">
            <a:off x="7050961" y="6138066"/>
            <a:ext cx="1857388" cy="671459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5" name="위로 굽은 화살표 104"/>
          <p:cNvSpPr/>
          <p:nvPr/>
        </p:nvSpPr>
        <p:spPr>
          <a:xfrm flipH="1">
            <a:off x="3485091" y="6155006"/>
            <a:ext cx="1771307" cy="613724"/>
          </a:xfrm>
          <a:prstGeom prst="bentUpArrow">
            <a:avLst>
              <a:gd name="adj1" fmla="val 40896"/>
              <a:gd name="adj2" fmla="val 33586"/>
              <a:gd name="adj3" fmla="val 33499"/>
            </a:avLst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5018375" y="3133585"/>
            <a:ext cx="633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endParaRPr lang="ko-KR" altLang="en-US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827021" y="3884152"/>
            <a:ext cx="825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1000</a:t>
            </a:r>
            <a:endParaRPr lang="ko-KR" altLang="en-US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4873793" y="4676779"/>
            <a:ext cx="778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2000</a:t>
            </a:r>
            <a:endParaRPr lang="ko-KR" altLang="en-US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847903" y="5583897"/>
            <a:ext cx="80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2450</a:t>
            </a:r>
            <a:endParaRPr lang="ko-KR" altLang="en-US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568647" y="2850501"/>
            <a:ext cx="1476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b="1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4x28x28x1</a:t>
            </a:r>
            <a:endParaRPr lang="ko-KR" altLang="en-US" sz="1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8568647" y="3688683"/>
            <a:ext cx="1476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b="1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4x28x28x25</a:t>
            </a:r>
            <a:endParaRPr lang="ko-KR" altLang="en-US" sz="1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8568647" y="4481980"/>
            <a:ext cx="1476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b="1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4x14x14x25</a:t>
            </a:r>
            <a:endParaRPr lang="ko-KR" altLang="en-US" sz="1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8568647" y="5275277"/>
            <a:ext cx="1476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b="1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4x14x14x50</a:t>
            </a:r>
            <a:endParaRPr lang="ko-KR" altLang="en-US" sz="1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2117009" y="6343850"/>
            <a:ext cx="1355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 x 2450</a:t>
            </a:r>
            <a:endParaRPr lang="ko-KR" altLang="en-US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019154" y="6343850"/>
            <a:ext cx="1683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 x 7 x 7 x 50</a:t>
            </a:r>
            <a:endParaRPr lang="ko-KR" altLang="en-US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04776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CNN </a:t>
            </a:r>
            <a:r>
              <a:rPr lang="ko-KR" altLang="en-US" dirty="0" smtClean="0"/>
              <a:t>응용 분야 </a:t>
            </a:r>
            <a:r>
              <a:rPr lang="en-US" altLang="ko-KR" dirty="0" smtClean="0"/>
              <a:t>: ImageNet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이미지에 레이블 정보가 부여되어 있어 특정 키워드로 정확하게 검색 가능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73656" y="2259417"/>
            <a:ext cx="6080784" cy="4279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844669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CNN </a:t>
            </a:r>
            <a:r>
              <a:rPr lang="ko-KR" altLang="en-US" dirty="0"/>
              <a:t>응용 분야 </a:t>
            </a:r>
            <a:r>
              <a:rPr lang="en-US" altLang="ko-KR" dirty="0"/>
              <a:t>: ImageNet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pic>
        <p:nvPicPr>
          <p:cNvPr id="41" name="Picture 2" descr="imagenet large scale visual recognitionì ëí ì´ë¯¸ì§ ê²ìê²°ê³¼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72689" y="1860900"/>
            <a:ext cx="7343775" cy="3819525"/>
          </a:xfrm>
          <a:prstGeom prst="rect">
            <a:avLst/>
          </a:prstGeom>
          <a:noFill/>
        </p:spPr>
      </p:pic>
      <p:sp>
        <p:nvSpPr>
          <p:cNvPr id="44" name="직사각형 43"/>
          <p:cNvSpPr/>
          <p:nvPr/>
        </p:nvSpPr>
        <p:spPr>
          <a:xfrm>
            <a:off x="3507618" y="6183987"/>
            <a:ext cx="65305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맑은 고딕" pitchFamily="50" charset="-127"/>
                <a:ea typeface="맑은 고딕" pitchFamily="50" charset="-127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https://www.researchgate.net/figure/Winner-results-of-the-ImageNet-large-scale-visual-recognition-challenge-LSVRC-of-the_fig7_324476862</a:t>
            </a:r>
            <a:endParaRPr lang="ko-KR" altLang="en-US" sz="120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81279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AlphaGo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982456" y="1641082"/>
            <a:ext cx="10295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주변 바둑돌의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차원 행렬 데이터 구성 → 현 시점에서의 검은 돌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흰 돌의 정보를 파악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41" name="Picture 6" descr="http://lgs.tw/img/xp1.png.pagespeed.ic.NzL0vritbc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flipH="1">
            <a:off x="1850678" y="2235187"/>
            <a:ext cx="2566987" cy="276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" name="矩形 5"/>
          <p:cNvSpPr/>
          <p:nvPr/>
        </p:nvSpPr>
        <p:spPr>
          <a:xfrm>
            <a:off x="5565454" y="2970194"/>
            <a:ext cx="1719263" cy="1244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TW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Neural</a:t>
            </a:r>
          </a:p>
          <a:p>
            <a:pPr algn="ctr"/>
            <a:r>
              <a:rPr lang="en-US" altLang="zh-TW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Network</a:t>
            </a:r>
            <a:endParaRPr lang="zh-TW" altLang="en-US" dirty="0">
              <a:solidFill>
                <a:srgbClr val="000000"/>
              </a:solidFill>
              <a:latin typeface="나눔스퀘어 Bold" panose="020B0600000101010101" pitchFamily="50" charset="-127"/>
              <a:ea typeface="맑은 고딕" pitchFamily="50" charset="-127"/>
            </a:endParaRPr>
          </a:p>
        </p:txBody>
      </p:sp>
      <p:grpSp>
        <p:nvGrpSpPr>
          <p:cNvPr id="45" name="群組 10"/>
          <p:cNvGrpSpPr>
            <a:grpSpLocks/>
          </p:cNvGrpSpPr>
          <p:nvPr/>
        </p:nvGrpSpPr>
        <p:grpSpPr bwMode="auto">
          <a:xfrm>
            <a:off x="8065784" y="3196749"/>
            <a:ext cx="2571768" cy="772953"/>
            <a:chOff x="6737868" y="2183226"/>
            <a:chExt cx="1596788" cy="773233"/>
          </a:xfrm>
        </p:grpSpPr>
        <p:sp>
          <p:nvSpPr>
            <p:cNvPr id="46" name="文字方塊 8"/>
            <p:cNvSpPr txBox="1">
              <a:spLocks noChangeArrowheads="1"/>
            </p:cNvSpPr>
            <p:nvPr/>
          </p:nvSpPr>
          <p:spPr bwMode="auto">
            <a:xfrm>
              <a:off x="6824399" y="2586993"/>
              <a:ext cx="1409700" cy="369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TW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(19 x 19 positions)</a:t>
              </a:r>
              <a:endParaRPr lang="zh-TW" altLang="en-US" dirty="0">
                <a:latin typeface="나눔스퀘어 Bold" panose="020B0600000101010101" pitchFamily="50" charset="-127"/>
                <a:ea typeface="맑은 고딕" pitchFamily="50" charset="-127"/>
              </a:endParaRPr>
            </a:p>
          </p:txBody>
        </p:sp>
        <p:sp>
          <p:nvSpPr>
            <p:cNvPr id="47" name="文字方塊 9"/>
            <p:cNvSpPr txBox="1">
              <a:spLocks noChangeArrowheads="1"/>
            </p:cNvSpPr>
            <p:nvPr/>
          </p:nvSpPr>
          <p:spPr bwMode="auto">
            <a:xfrm>
              <a:off x="6737868" y="2183226"/>
              <a:ext cx="1596788" cy="369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TW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Next move</a:t>
              </a:r>
              <a:endParaRPr lang="zh-TW" altLang="en-US" dirty="0">
                <a:latin typeface="나눔스퀘어 Bold" panose="020B0600000101010101" pitchFamily="50" charset="-127"/>
                <a:ea typeface="맑은 고딕" pitchFamily="50" charset="-127"/>
              </a:endParaRPr>
            </a:p>
          </p:txBody>
        </p:sp>
      </p:grpSp>
      <p:sp>
        <p:nvSpPr>
          <p:cNvPr id="48" name="文字方塊 12"/>
          <p:cNvSpPr txBox="1">
            <a:spLocks noChangeArrowheads="1"/>
          </p:cNvSpPr>
          <p:nvPr/>
        </p:nvSpPr>
        <p:spPr bwMode="auto">
          <a:xfrm>
            <a:off x="1779240" y="5100568"/>
            <a:ext cx="27162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19 x 19 matrix</a:t>
            </a:r>
            <a:endParaRPr lang="zh-TW" altLang="en-US" dirty="0">
              <a:latin typeface="나눔스퀘어 Bold" panose="020B0600000101010101" pitchFamily="50" charset="-127"/>
              <a:ea typeface="맑은 고딕" pitchFamily="50" charset="-127"/>
            </a:endParaRPr>
          </a:p>
        </p:txBody>
      </p:sp>
      <p:sp>
        <p:nvSpPr>
          <p:cNvPr id="49" name="文字方塊 13"/>
          <p:cNvSpPr txBox="1">
            <a:spLocks noChangeArrowheads="1"/>
          </p:cNvSpPr>
          <p:nvPr/>
        </p:nvSpPr>
        <p:spPr bwMode="auto">
          <a:xfrm>
            <a:off x="2207868" y="5482462"/>
            <a:ext cx="17224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Black: 1</a:t>
            </a:r>
            <a:endParaRPr lang="zh-TW" altLang="en-US" dirty="0">
              <a:latin typeface="나눔스퀘어 Bold" panose="020B0600000101010101" pitchFamily="50" charset="-127"/>
              <a:ea typeface="맑은 고딕" pitchFamily="50" charset="-127"/>
            </a:endParaRPr>
          </a:p>
        </p:txBody>
      </p:sp>
      <p:sp>
        <p:nvSpPr>
          <p:cNvPr id="50" name="文字方塊 14"/>
          <p:cNvSpPr txBox="1">
            <a:spLocks noChangeArrowheads="1"/>
          </p:cNvSpPr>
          <p:nvPr/>
        </p:nvSpPr>
        <p:spPr bwMode="auto">
          <a:xfrm>
            <a:off x="2207868" y="5864356"/>
            <a:ext cx="17224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white: -1</a:t>
            </a:r>
            <a:endParaRPr lang="zh-TW" altLang="en-US" dirty="0">
              <a:latin typeface="나눔스퀘어 Bold" panose="020B0600000101010101" pitchFamily="50" charset="-127"/>
              <a:ea typeface="맑은 고딕" pitchFamily="50" charset="-127"/>
            </a:endParaRPr>
          </a:p>
        </p:txBody>
      </p:sp>
      <p:sp>
        <p:nvSpPr>
          <p:cNvPr id="51" name="文字方塊 15"/>
          <p:cNvSpPr txBox="1">
            <a:spLocks noChangeArrowheads="1"/>
          </p:cNvSpPr>
          <p:nvPr/>
        </p:nvSpPr>
        <p:spPr bwMode="auto">
          <a:xfrm>
            <a:off x="2207868" y="6246250"/>
            <a:ext cx="17224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none: 0</a:t>
            </a:r>
            <a:endParaRPr lang="zh-TW" altLang="en-US">
              <a:latin typeface="나눔스퀘어 Bold" panose="020B0600000101010101" pitchFamily="50" charset="-127"/>
              <a:ea typeface="맑은 고딕" pitchFamily="50" charset="-127"/>
            </a:endParaRPr>
          </a:p>
        </p:txBody>
      </p:sp>
      <p:sp>
        <p:nvSpPr>
          <p:cNvPr id="52" name="화살표: 오른쪽 2">
            <a:extLst>
              <a:ext uri="{FF2B5EF4-FFF2-40B4-BE49-F238E27FC236}">
                <a16:creationId xmlns="" xmlns:a16="http://schemas.microsoft.com/office/drawing/2014/main" id="{B907F6D0-BD82-4E7C-8D04-920A744F629E}"/>
              </a:ext>
            </a:extLst>
          </p:cNvPr>
          <p:cNvSpPr/>
          <p:nvPr/>
        </p:nvSpPr>
        <p:spPr bwMode="auto">
          <a:xfrm>
            <a:off x="4675310" y="3441728"/>
            <a:ext cx="477476" cy="415875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  <p:sp>
        <p:nvSpPr>
          <p:cNvPr id="53" name="화살표: 오른쪽 2">
            <a:extLst>
              <a:ext uri="{FF2B5EF4-FFF2-40B4-BE49-F238E27FC236}">
                <a16:creationId xmlns="" xmlns:a16="http://schemas.microsoft.com/office/drawing/2014/main" id="{B907F6D0-BD82-4E7C-8D04-920A744F629E}"/>
              </a:ext>
            </a:extLst>
          </p:cNvPr>
          <p:cNvSpPr/>
          <p:nvPr/>
        </p:nvSpPr>
        <p:spPr bwMode="auto">
          <a:xfrm>
            <a:off x="7604268" y="3370290"/>
            <a:ext cx="477476" cy="415875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38269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CNN in text classification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특정 단어들의 지역적 연관성을 통해 어떤 단어들이 서로 연관되어 있는지를 파악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9227" y="2684661"/>
            <a:ext cx="8590500" cy="2695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001369" y="5691515"/>
            <a:ext cx="525246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400" spc="-150" dirty="0" smtClean="0">
                <a:ln w="25400" cap="flat">
                  <a:noFill/>
                  <a:miter lim="800000"/>
                </a:ln>
                <a:effectLst>
                  <a:glow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출처 </a:t>
            </a:r>
            <a:r>
              <a:rPr lang="en-US" altLang="ko-KR" sz="1400" spc="-150" dirty="0" smtClean="0">
                <a:ln w="25400" cap="flat">
                  <a:noFill/>
                  <a:miter lim="800000"/>
                </a:ln>
                <a:effectLst>
                  <a:glow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: Character-based Convolutional Neural Network for Text Classification</a:t>
            </a:r>
          </a:p>
          <a:p>
            <a:pPr algn="l"/>
            <a:r>
              <a:rPr lang="en-US" altLang="ko-KR" sz="1400" spc="-150" dirty="0" smtClean="0">
                <a:ln w="25400" cap="flat">
                  <a:noFill/>
                  <a:miter lim="800000"/>
                </a:ln>
                <a:effectLst>
                  <a:glow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Taken from “Character-level Convolutional Networks for Text </a:t>
            </a:r>
            <a:r>
              <a:rPr lang="en-US" altLang="ko-KR" sz="1400" spc="-150" dirty="0" err="1" smtClean="0">
                <a:ln w="25400" cap="flat">
                  <a:noFill/>
                  <a:miter lim="800000"/>
                </a:ln>
                <a:effectLst>
                  <a:glow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Classiification</a:t>
            </a:r>
            <a:r>
              <a:rPr lang="en-US" altLang="ko-KR" sz="1400" spc="-150" dirty="0" smtClean="0">
                <a:ln w="25400" cap="flat">
                  <a:noFill/>
                  <a:miter lim="800000"/>
                </a:ln>
                <a:effectLst>
                  <a:glow>
                    <a:schemeClr val="bg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”, 2015</a:t>
            </a:r>
          </a:p>
          <a:p>
            <a:pPr algn="l"/>
            <a:endParaRPr lang="ko-KR" altLang="en-US" sz="1400" spc="-150" dirty="0" smtClean="0">
              <a:ln w="25400" cap="flat">
                <a:noFill/>
                <a:miter lim="800000"/>
              </a:ln>
              <a:effectLst>
                <a:glow>
                  <a:schemeClr val="bg1"/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5575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TensorFlow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808679"/>
            <a:ext cx="91498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도형 이미지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구성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학습데이터와 테스트 데이터 분할하기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CNN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을 이용한 도형 인식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다층 구조로 확장하기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학습결과 분석 및 시각화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3299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3232</TotalTime>
  <Words>1023</Words>
  <Application>Microsoft Office PowerPoint</Application>
  <PresentationFormat>와이드스크린</PresentationFormat>
  <Paragraphs>499</Paragraphs>
  <Slides>19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0" baseType="lpstr">
      <vt:lpstr>나눔바른고딕</vt:lpstr>
      <vt:lpstr>新細明體</vt:lpstr>
      <vt:lpstr>Impact</vt:lpstr>
      <vt:lpstr>ＭＳ Ｐゴシック</vt:lpstr>
      <vt:lpstr>나눔스퀘어 Bold</vt:lpstr>
      <vt:lpstr>휴먼모음T</vt:lpstr>
      <vt:lpstr>Times New Roman</vt:lpstr>
      <vt:lpstr>스웨거 TTF</vt:lpstr>
      <vt:lpstr>Arial</vt:lpstr>
      <vt:lpstr>맑은 고딕</vt:lpstr>
      <vt:lpstr>1_Office 테마</vt:lpstr>
      <vt:lpstr>PowerPoint 프레젠테이션</vt:lpstr>
      <vt:lpstr>PowerPoint 프레젠테이션</vt:lpstr>
      <vt:lpstr>컨볼루션 신경망이란</vt:lpstr>
      <vt:lpstr>컨볼루션 신경망 구조</vt:lpstr>
      <vt:lpstr>컨볼루션 신경망에서의 필터 학습</vt:lpstr>
      <vt:lpstr>컨볼루션 계층</vt:lpstr>
      <vt:lpstr>필터 연산 시 외각 픽셀 처리</vt:lpstr>
      <vt:lpstr>패딩을 이용한 외각 픽셀 처리</vt:lpstr>
      <vt:lpstr>스트라이드(Stride)</vt:lpstr>
      <vt:lpstr>풀링 계층(Pooling Layer)</vt:lpstr>
      <vt:lpstr>최대 풀링(Max Pooling)</vt:lpstr>
      <vt:lpstr>다층 신경망 계층</vt:lpstr>
      <vt:lpstr>컨볼루션 신경망 정리</vt:lpstr>
      <vt:lpstr>컨볼루션 신경망 정리</vt:lpstr>
      <vt:lpstr>CNN 응용 분야 : ImageNet</vt:lpstr>
      <vt:lpstr>CNN 응용 분야 : ImageNet</vt:lpstr>
      <vt:lpstr>AlphaGo</vt:lpstr>
      <vt:lpstr>CNN in text classification</vt:lpstr>
      <vt:lpstr>TensorFlow 실습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827</cp:revision>
  <dcterms:created xsi:type="dcterms:W3CDTF">2019-01-19T08:23:23Z</dcterms:created>
  <dcterms:modified xsi:type="dcterms:W3CDTF">2020-03-10T06:50:17Z</dcterms:modified>
</cp:coreProperties>
</file>