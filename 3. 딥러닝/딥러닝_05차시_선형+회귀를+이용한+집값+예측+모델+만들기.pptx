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5"/>
  </p:notesMasterIdLst>
  <p:handoutMasterIdLst>
    <p:handoutMasterId r:id="rId26"/>
  </p:handoutMasterIdLst>
  <p:sldIdLst>
    <p:sldId id="314" r:id="rId2"/>
    <p:sldId id="261" r:id="rId3"/>
    <p:sldId id="354" r:id="rId4"/>
    <p:sldId id="416" r:id="rId5"/>
    <p:sldId id="417" r:id="rId6"/>
    <p:sldId id="418" r:id="rId7"/>
    <p:sldId id="419" r:id="rId8"/>
    <p:sldId id="410" r:id="rId9"/>
    <p:sldId id="420" r:id="rId10"/>
    <p:sldId id="421" r:id="rId11"/>
    <p:sldId id="411" r:id="rId12"/>
    <p:sldId id="412" r:id="rId13"/>
    <p:sldId id="422" r:id="rId14"/>
    <p:sldId id="413" r:id="rId15"/>
    <p:sldId id="414" r:id="rId16"/>
    <p:sldId id="415" r:id="rId17"/>
    <p:sldId id="404" r:id="rId18"/>
    <p:sldId id="423" r:id="rId19"/>
    <p:sldId id="424" r:id="rId20"/>
    <p:sldId id="425" r:id="rId21"/>
    <p:sldId id="427" r:id="rId22"/>
    <p:sldId id="426" r:id="rId23"/>
    <p:sldId id="428" r:id="rId24"/>
  </p:sldIdLst>
  <p:sldSz cx="12192000" cy="6858000"/>
  <p:notesSz cx="6858000" cy="9144000"/>
  <p:embeddedFontLst>
    <p:embeddedFont>
      <p:font typeface="나눔바른고딕" panose="020B0603020101020101" pitchFamily="50" charset="-127"/>
      <p:regular r:id="rId27"/>
      <p:bold r:id="rId28"/>
    </p:embeddedFont>
    <p:embeddedFont>
      <p:font typeface="Cambria Math" panose="02040503050406030204" pitchFamily="18" charset="0"/>
      <p:regular r:id="rId29"/>
    </p:embeddedFont>
    <p:embeddedFont>
      <p:font typeface="Impact" panose="020B0806030902050204" pitchFamily="34" charset="0"/>
      <p:regular r:id="rId30"/>
    </p:embeddedFont>
    <p:embeddedFont>
      <p:font typeface="나눔스퀘어 Bold" panose="020B0600000101010101" pitchFamily="50" charset="-127"/>
      <p:bold r:id="rId31"/>
    </p:embeddedFont>
    <p:embeddedFont>
      <p:font typeface="휴먼모음T" panose="02030504000101010101" pitchFamily="18" charset="-127"/>
      <p:regular r:id="rId32"/>
    </p:embeddedFont>
    <p:embeddedFont>
      <p:font typeface="스웨거 TTF" panose="020B0600000101010101" pitchFamily="50" charset="-127"/>
      <p:regular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95D5E1"/>
    <a:srgbClr val="99CCFF"/>
    <a:srgbClr val="37AADA"/>
    <a:srgbClr val="CC0099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524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22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613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243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83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51" y="153988"/>
            <a:ext cx="10953749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0501" y="857250"/>
            <a:ext cx="11715751" cy="5500688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4470400" y="6553200"/>
            <a:ext cx="2540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98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0.png"/><Relationship Id="rId4" Type="http://schemas.openxmlformats.org/officeDocument/2006/relationships/image" Target="../media/image2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11" Type="http://schemas.openxmlformats.org/officeDocument/2006/relationships/image" Target="../media/image6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9.png"/><Relationship Id="rId3" Type="http://schemas.openxmlformats.org/officeDocument/2006/relationships/image" Target="../media/image310.png"/><Relationship Id="rId12" Type="http://schemas.openxmlformats.org/officeDocument/2006/relationships/image" Target="../media/image3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370.png"/><Relationship Id="rId5" Type="http://schemas.openxmlformats.org/officeDocument/2006/relationships/image" Target="../media/image330.png"/><Relationship Id="rId10" Type="http://schemas.openxmlformats.org/officeDocument/2006/relationships/image" Target="../media/image350.png"/><Relationship Id="rId4" Type="http://schemas.openxmlformats.org/officeDocument/2006/relationships/image" Target="../media/image320.png"/><Relationship Id="rId9" Type="http://schemas.openxmlformats.org/officeDocument/2006/relationships/image" Target="../media/image48.png"/><Relationship Id="rId1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6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3887" y="2852777"/>
            <a:ext cx="99005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5.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선형 회귀를 이용한 집값 예측 모델 만들기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선형 회귀에 대한 이해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오차와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cost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함수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8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모델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파라미터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최적화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4" y="373608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12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경사하강법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15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선형 회귀 구현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주가 예측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5329297"/>
            <a:ext cx="9149833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주가지수는 이자율에 비례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실업률에 반비례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선형회귀를 통해 이자율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실업률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주가지수 간 상관관계 파악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17750" t="36846" r="23000" b="21846"/>
          <a:stretch/>
        </p:blipFill>
        <p:spPr>
          <a:xfrm>
            <a:off x="1767840" y="1935480"/>
            <a:ext cx="8503544" cy="321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피부암 사망률 예측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781358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위도별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인구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천만 명당 피부암에 따른 사망률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31750" t="36384" r="35000" b="17231"/>
          <a:stretch/>
        </p:blipFill>
        <p:spPr>
          <a:xfrm>
            <a:off x="3770116" y="2495038"/>
            <a:ext cx="4648722" cy="35127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39871" y="6136700"/>
            <a:ext cx="9798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위도에 따른 사망률 예측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위도가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도 증가할 때 사망률이 얼마나 증가하는 지 분석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259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베네통</a:t>
            </a:r>
            <a:r>
              <a:rPr lang="ko-KR" altLang="en-US" dirty="0" smtClean="0"/>
              <a:t> 매출</a:t>
            </a:r>
            <a:r>
              <a:rPr lang="en-US" altLang="ko-KR" dirty="0" smtClean="0"/>
              <a:t>/</a:t>
            </a:r>
            <a:r>
              <a:rPr lang="ko-KR" altLang="en-US" dirty="0" smtClean="0"/>
              <a:t>광고 예측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781358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선형회귀를 통한 광고비 지출에 따른 매출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증가량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예측 및 분석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35750" t="38463" r="41500" b="18614"/>
          <a:stretch/>
        </p:blipFill>
        <p:spPr>
          <a:xfrm>
            <a:off x="4432485" y="2516566"/>
            <a:ext cx="3395083" cy="346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52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752600" y="5013986"/>
            <a:ext cx="8382000" cy="14823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보스턴 집값 예측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83238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특정 요인에 따른 집값 변동 경향 분석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814EF08-0F8B-4E4B-8C75-1293DC236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1" y="2289021"/>
            <a:ext cx="3450725" cy="23633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016CD45-E112-49CC-946F-A331C816FC4F}"/>
              </a:ext>
            </a:extLst>
          </p:cNvPr>
          <p:cNvSpPr txBox="1"/>
          <p:nvPr/>
        </p:nvSpPr>
        <p:spPr>
          <a:xfrm>
            <a:off x="4326181" y="4542444"/>
            <a:ext cx="1799382" cy="2923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RM(</a:t>
            </a:r>
            <a:r>
              <a:rPr lang="ko-KR" altLang="en-US" sz="1300" dirty="0" err="1"/>
              <a:t>주택당평균방수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C72442F-048F-48E6-84CE-E9D7B0A24F22}"/>
              </a:ext>
            </a:extLst>
          </p:cNvPr>
          <p:cNvSpPr txBox="1"/>
          <p:nvPr/>
        </p:nvSpPr>
        <p:spPr>
          <a:xfrm>
            <a:off x="2379605" y="2177098"/>
            <a:ext cx="767076" cy="25127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집값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BDE8B945-4551-4095-8C61-160219755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295" y="2321054"/>
            <a:ext cx="3321866" cy="22873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56EDF75-6816-4965-A268-4C47662DA07B}"/>
              </a:ext>
            </a:extLst>
          </p:cNvPr>
          <p:cNvSpPr txBox="1"/>
          <p:nvPr/>
        </p:nvSpPr>
        <p:spPr>
          <a:xfrm>
            <a:off x="7988119" y="4528632"/>
            <a:ext cx="1872161" cy="25127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LSTAT(</a:t>
            </a:r>
            <a:r>
              <a:rPr lang="ko-KR" altLang="en-US" sz="1300" dirty="0"/>
              <a:t>인구 감소  비율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F87F61B-3CEA-4412-9E48-336F2B44F87E}"/>
              </a:ext>
            </a:extLst>
          </p:cNvPr>
          <p:cNvSpPr txBox="1"/>
          <p:nvPr/>
        </p:nvSpPr>
        <p:spPr>
          <a:xfrm>
            <a:off x="6249326" y="2168013"/>
            <a:ext cx="767076" cy="25127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집값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CF9C51AB-B95D-444E-8B81-B6A7488E7ABA}"/>
              </a:ext>
            </a:extLst>
          </p:cNvPr>
          <p:cNvSpPr/>
          <p:nvPr/>
        </p:nvSpPr>
        <p:spPr>
          <a:xfrm>
            <a:off x="1752600" y="5056516"/>
            <a:ext cx="41665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CRIM </a:t>
            </a:r>
            <a:r>
              <a:rPr lang="ko-KR" altLang="en-US" sz="1200" dirty="0" err="1"/>
              <a:t>타운별</a:t>
            </a:r>
            <a:r>
              <a:rPr lang="ko-KR" altLang="en-US" sz="1200" dirty="0"/>
              <a:t> 1인당 </a:t>
            </a:r>
            <a:r>
              <a:rPr lang="ko-KR" altLang="en-US" sz="1200" dirty="0" err="1"/>
              <a:t>범죄율</a:t>
            </a:r>
            <a:endParaRPr lang="ko-KR" altLang="en-US" sz="1200" dirty="0"/>
          </a:p>
          <a:p>
            <a:r>
              <a:rPr lang="ko-KR" altLang="en-US" sz="1200" dirty="0"/>
              <a:t>ZN 25,000 </a:t>
            </a:r>
            <a:r>
              <a:rPr lang="ko-KR" altLang="en-US" sz="1200" dirty="0" err="1"/>
              <a:t>평방피트를</a:t>
            </a:r>
            <a:r>
              <a:rPr lang="ko-KR" altLang="en-US" sz="1200" dirty="0"/>
              <a:t> 초과하는 거주지역의 비율</a:t>
            </a:r>
          </a:p>
          <a:p>
            <a:r>
              <a:rPr lang="ko-KR" altLang="en-US" sz="1200" dirty="0"/>
              <a:t>INDUS 비소매상업지역이 점유하고 있는 토지의 비율</a:t>
            </a:r>
          </a:p>
          <a:p>
            <a:r>
              <a:rPr lang="ko-KR" altLang="en-US" sz="1200" dirty="0"/>
              <a:t>CHAS 찰스강에 대한 더미변수</a:t>
            </a:r>
          </a:p>
          <a:p>
            <a:r>
              <a:rPr lang="ko-KR" altLang="en-US" sz="1200" dirty="0"/>
              <a:t>NOX 10ppm 당 농축 일산화질소</a:t>
            </a:r>
          </a:p>
          <a:p>
            <a:r>
              <a:rPr lang="ko-KR" altLang="en-US" sz="1200" dirty="0"/>
              <a:t>RM 주택 1가구당 평균 방의 개수</a:t>
            </a:r>
          </a:p>
          <a:p>
            <a:r>
              <a:rPr lang="ko-KR" altLang="en-US" sz="1200" dirty="0"/>
              <a:t>AGE 1940년 이전에 건축된 소유주택의 </a:t>
            </a:r>
            <a:r>
              <a:rPr lang="ko-KR" altLang="en-US" sz="1200" dirty="0" smtClean="0"/>
              <a:t>비율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CF9C51AB-B95D-444E-8B81-B6A7488E7ABA}"/>
              </a:ext>
            </a:extLst>
          </p:cNvPr>
          <p:cNvSpPr/>
          <p:nvPr/>
        </p:nvSpPr>
        <p:spPr>
          <a:xfrm>
            <a:off x="6395031" y="5056516"/>
            <a:ext cx="41665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/>
              <a:t>DIS </a:t>
            </a:r>
            <a:r>
              <a:rPr lang="ko-KR" altLang="en-US" sz="1200" dirty="0"/>
              <a:t>5개의 보스턴 직업센터까지의 접근성 지수</a:t>
            </a:r>
          </a:p>
          <a:p>
            <a:r>
              <a:rPr lang="ko-KR" altLang="en-US" sz="1200" dirty="0"/>
              <a:t>RAD 방사형 도로까지의 접근성 지수</a:t>
            </a:r>
          </a:p>
          <a:p>
            <a:r>
              <a:rPr lang="ko-KR" altLang="en-US" sz="1200" dirty="0"/>
              <a:t>TAX 10,000 달러 당 재산세율</a:t>
            </a:r>
          </a:p>
          <a:p>
            <a:r>
              <a:rPr lang="ko-KR" altLang="en-US" sz="1200" dirty="0"/>
              <a:t>PTRATIO </a:t>
            </a:r>
            <a:r>
              <a:rPr lang="ko-KR" altLang="en-US" sz="1200" dirty="0" err="1"/>
              <a:t>타운별</a:t>
            </a:r>
            <a:r>
              <a:rPr lang="ko-KR" altLang="en-US" sz="1200" dirty="0"/>
              <a:t> 학생/교사 비율</a:t>
            </a:r>
          </a:p>
          <a:p>
            <a:r>
              <a:rPr lang="ko-KR" altLang="en-US" sz="1200" dirty="0" err="1"/>
              <a:t>B</a:t>
            </a:r>
            <a:r>
              <a:rPr lang="ko-KR" altLang="en-US" sz="1200" dirty="0"/>
              <a:t>  </a:t>
            </a:r>
            <a:r>
              <a:rPr lang="ko-KR" altLang="en-US" sz="1200" dirty="0" err="1"/>
              <a:t>타운별</a:t>
            </a:r>
            <a:r>
              <a:rPr lang="ko-KR" altLang="en-US" sz="1200" dirty="0"/>
              <a:t> 흑인 비율</a:t>
            </a:r>
          </a:p>
          <a:p>
            <a:r>
              <a:rPr lang="ko-KR" altLang="en-US" sz="1200" dirty="0"/>
              <a:t>LSTAT 모집단의 하위계층 비율</a:t>
            </a:r>
          </a:p>
          <a:p>
            <a:r>
              <a:rPr lang="ko-KR" altLang="en-US" sz="1200" dirty="0"/>
              <a:t>MEDV 본인 소유의 주택가격(단위: $1,000)</a:t>
            </a:r>
          </a:p>
        </p:txBody>
      </p:sp>
    </p:spTree>
    <p:extLst>
      <p:ext uri="{BB962C8B-B14F-4D97-AF65-F5344CB8AC3E}">
        <p14:creationId xmlns:p14="http://schemas.microsoft.com/office/powerpoint/2010/main" val="11759202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경향성 분석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33" name="그룹 32"/>
          <p:cNvGrpSpPr/>
          <p:nvPr/>
        </p:nvGrpSpPr>
        <p:grpSpPr>
          <a:xfrm>
            <a:off x="2667217" y="2219393"/>
            <a:ext cx="7347536" cy="4533003"/>
            <a:chOff x="2354108" y="1768121"/>
            <a:chExt cx="7973753" cy="4919343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xmlns="" id="{5B79965C-9619-4BF3-846A-5F12CED7C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0092" y="4329052"/>
              <a:ext cx="3165713" cy="202526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298926D5-92D6-4E2A-8B1B-6F32EA2F89AE}"/>
                </a:ext>
              </a:extLst>
            </p:cNvPr>
            <p:cNvSpPr txBox="1"/>
            <p:nvPr/>
          </p:nvSpPr>
          <p:spPr>
            <a:xfrm>
              <a:off x="4511663" y="4345673"/>
              <a:ext cx="813432" cy="26645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집값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1966C4BF-BD03-43BC-8AC2-F516E5CAA4E3}"/>
                </a:ext>
              </a:extLst>
            </p:cNvPr>
            <p:cNvSpPr txBox="1"/>
            <p:nvPr/>
          </p:nvSpPr>
          <p:spPr>
            <a:xfrm>
              <a:off x="6357063" y="6370156"/>
              <a:ext cx="3970798" cy="31730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DIS(</a:t>
              </a:r>
              <a:r>
                <a:rPr lang="ko-KR" altLang="en-US" sz="1300" dirty="0"/>
                <a:t>5개의 보스턴 직업센터까지의 접근성 지수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xmlns="" id="{86BEDCFA-76B9-4B00-9045-40A273800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2122" y="1894794"/>
              <a:ext cx="3165713" cy="216818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7E05013C-06A7-4B4D-88ED-737AB214B2AB}"/>
                </a:ext>
              </a:extLst>
            </p:cNvPr>
            <p:cNvSpPr txBox="1"/>
            <p:nvPr/>
          </p:nvSpPr>
          <p:spPr>
            <a:xfrm>
              <a:off x="4507738" y="3954149"/>
              <a:ext cx="1849325" cy="31730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RM(</a:t>
              </a:r>
              <a:r>
                <a:rPr lang="ko-KR" altLang="en-US" sz="1300" dirty="0" err="1"/>
                <a:t>주택당평균방수</a:t>
              </a:r>
              <a:r>
                <a:rPr lang="en-US" altLang="ko-KR" sz="1300" dirty="0"/>
                <a:t>)</a:t>
              </a:r>
              <a:endParaRPr lang="ko-KR" altLang="en-US" sz="13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9E23417A-C27C-4E6E-98F2-EAEA5714778A}"/>
                </a:ext>
              </a:extLst>
            </p:cNvPr>
            <p:cNvSpPr txBox="1"/>
            <p:nvPr/>
          </p:nvSpPr>
          <p:spPr>
            <a:xfrm>
              <a:off x="2354108" y="1831438"/>
              <a:ext cx="813432" cy="26645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집값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5FA33AD4-406C-4B07-9F35-A7350F240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01076" y="1814039"/>
              <a:ext cx="3062208" cy="210853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C662AF9E-1163-40E7-A8F8-BE6CF6084750}"/>
                </a:ext>
              </a:extLst>
            </p:cNvPr>
            <p:cNvSpPr txBox="1"/>
            <p:nvPr/>
          </p:nvSpPr>
          <p:spPr>
            <a:xfrm>
              <a:off x="8332180" y="3903280"/>
              <a:ext cx="1985300" cy="26645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LSTAT(</a:t>
              </a:r>
              <a:r>
                <a:rPr lang="ko-KR" altLang="en-US" sz="1300" dirty="0"/>
                <a:t>인구 감소  비율</a:t>
              </a:r>
              <a:r>
                <a:rPr lang="en-US" altLang="ko-KR" sz="1300" dirty="0"/>
                <a:t>)</a:t>
              </a:r>
              <a:endParaRPr lang="ko-KR" altLang="en-US" sz="13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54E846F9-DF1D-4E5C-9CC7-3B683AE8C28E}"/>
                </a:ext>
              </a:extLst>
            </p:cNvPr>
            <p:cNvSpPr txBox="1"/>
            <p:nvPr/>
          </p:nvSpPr>
          <p:spPr>
            <a:xfrm>
              <a:off x="6481669" y="1768121"/>
              <a:ext cx="813432" cy="26645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집값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xmlns="" id="{9AF34B32-BCD9-44A7-AE95-08DD90DDF0A4}"/>
                </a:ext>
              </a:extLst>
            </p:cNvPr>
            <p:cNvCxnSpPr/>
            <p:nvPr/>
          </p:nvCxnSpPr>
          <p:spPr>
            <a:xfrm flipV="1">
              <a:off x="3224257" y="1977104"/>
              <a:ext cx="2380441" cy="216818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xmlns="" id="{3FF9A3EC-7908-4669-87FC-AB8A5535D499}"/>
                </a:ext>
              </a:extLst>
            </p:cNvPr>
            <p:cNvCxnSpPr>
              <a:cxnSpLocks/>
            </p:cNvCxnSpPr>
            <p:nvPr/>
          </p:nvCxnSpPr>
          <p:spPr>
            <a:xfrm>
              <a:off x="6702123" y="2255120"/>
              <a:ext cx="2902719" cy="17518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7DE7A315-355F-4995-ACB8-99E32EF69310}"/>
                </a:ext>
              </a:extLst>
            </p:cNvPr>
            <p:cNvSpPr/>
            <p:nvPr/>
          </p:nvSpPr>
          <p:spPr>
            <a:xfrm>
              <a:off x="5038543" y="4754563"/>
              <a:ext cx="1815387" cy="1468788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96883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선형회귀를 통해 상관관계 유무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영향 강도를 수치로 분석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예측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9597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오차의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발생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내용 개체 틀 2"/>
          <p:cNvSpPr txBox="1"/>
          <p:nvPr/>
        </p:nvSpPr>
        <p:spPr>
          <a:xfrm>
            <a:off x="1714470" y="1752586"/>
            <a:ext cx="8153400" cy="4495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/>
          </a:p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/>
          </a:p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/>
          </a:p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/>
          </a:p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/>
          </a:p>
        </p:txBody>
      </p:sp>
      <p:cxnSp>
        <p:nvCxnSpPr>
          <p:cNvPr id="11" name="직선 연결선 44"/>
          <p:cNvCxnSpPr/>
          <p:nvPr/>
        </p:nvCxnSpPr>
        <p:spPr>
          <a:xfrm rot="16200000" flipH="1">
            <a:off x="4946341" y="3824421"/>
            <a:ext cx="9169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ash"/>
            <a:miter/>
            <a:headEnd w="med" len="med"/>
            <a:tailEnd w="med" len="med"/>
          </a:ln>
          <a:effectLst/>
        </p:spPr>
      </p:cxnSp>
      <p:cxnSp>
        <p:nvCxnSpPr>
          <p:cNvPr id="12" name="직선 연결선 11"/>
          <p:cNvCxnSpPr/>
          <p:nvPr/>
        </p:nvCxnSpPr>
        <p:spPr>
          <a:xfrm>
            <a:off x="2171911" y="2326794"/>
            <a:ext cx="0" cy="43204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/>
            <a:headEnd type="arrow" w="med" len="med"/>
            <a:tailEnd w="med" len="med"/>
          </a:ln>
          <a:effectLst/>
        </p:spPr>
      </p:cxnSp>
      <p:cxnSp>
        <p:nvCxnSpPr>
          <p:cNvPr id="13" name="직선 연결선 12"/>
          <p:cNvCxnSpPr/>
          <p:nvPr/>
        </p:nvCxnSpPr>
        <p:spPr>
          <a:xfrm>
            <a:off x="2171911" y="6598855"/>
            <a:ext cx="577305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/>
            <a:headEnd w="med" len="med"/>
            <a:tailEnd type="arrow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3388767" y="4926903"/>
            <a:ext cx="678891" cy="23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85000"/>
                  </a:schemeClr>
                </a:solidFill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9277" y="4690908"/>
            <a:ext cx="668304" cy="23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85000"/>
                  </a:schemeClr>
                </a:solidFill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4155" y="4762175"/>
            <a:ext cx="682426" cy="240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85000"/>
                  </a:schemeClr>
                </a:solidFill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5227" y="3263853"/>
            <a:ext cx="6798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dirty="0">
                <a:solidFill>
                  <a:srgbClr val="FF0000"/>
                </a:solidFill>
              </a:rPr>
              <a:t>●</a:t>
            </a:r>
          </a:p>
        </p:txBody>
      </p:sp>
      <p:cxnSp>
        <p:nvCxnSpPr>
          <p:cNvPr id="20" name="직선 연결선 19"/>
          <p:cNvCxnSpPr/>
          <p:nvPr/>
        </p:nvCxnSpPr>
        <p:spPr>
          <a:xfrm flipV="1">
            <a:off x="2171911" y="3827788"/>
            <a:ext cx="4041138" cy="21937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miter/>
            <a:headEnd w="med" len="med"/>
            <a:tailEnd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3618390" y="5274798"/>
            <a:ext cx="683186" cy="242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85000"/>
                  </a:schemeClr>
                </a:solidFill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5253" y="4462978"/>
            <a:ext cx="672695" cy="2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85000"/>
                  </a:schemeClr>
                </a:solidFill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800" y="4119283"/>
            <a:ext cx="682332" cy="23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85000"/>
                  </a:schemeClr>
                </a:solidFill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7586" y="4235248"/>
            <a:ext cx="677180" cy="243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85000"/>
                  </a:schemeClr>
                </a:solidFill>
              </a:rPr>
              <a:t>●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5866667" y="4018722"/>
            <a:ext cx="0" cy="14255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ash"/>
            <a:miter/>
            <a:headEnd w="med" len="med"/>
            <a:tailEnd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741469" y="5358048"/>
            <a:ext cx="475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dirty="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1469" y="3914277"/>
            <a:ext cx="475305" cy="212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0937" y="3870178"/>
            <a:ext cx="127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/>
              <a:t>추정된 </a:t>
            </a:r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865023" y="4731482"/>
            <a:ext cx="1295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  </a:t>
            </a:r>
            <a:r>
              <a:rPr lang="en-US" altLang="ko-KR" dirty="0">
                <a:solidFill>
                  <a:srgbClr val="FF0000"/>
                </a:solidFill>
              </a:rPr>
              <a:t>-</a:t>
            </a:r>
            <a:r>
              <a:rPr lang="ko-KR" altLang="en-US" dirty="0">
                <a:solidFill>
                  <a:srgbClr val="FF0000"/>
                </a:solidFill>
              </a:rPr>
              <a:t>오차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6781" y="5495146"/>
            <a:ext cx="1992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srgbClr val="FF0000"/>
                </a:solidFill>
              </a:rPr>
              <a:t>실제데이터 </a:t>
            </a:r>
            <a:r>
              <a:rPr lang="en-US" altLang="ko-KR" dirty="0">
                <a:solidFill>
                  <a:srgbClr val="FF0000"/>
                </a:solidFill>
              </a:rPr>
              <a:t>y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5771656" y="3910970"/>
            <a:ext cx="229094" cy="229094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5264684" y="4159548"/>
            <a:ext cx="229094" cy="229094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0F6AF026-F12C-46BD-8A2C-71F22457E09D}"/>
              </a:ext>
            </a:extLst>
          </p:cNvPr>
          <p:cNvSpPr txBox="1"/>
          <p:nvPr/>
        </p:nvSpPr>
        <p:spPr>
          <a:xfrm>
            <a:off x="5361096" y="3437651"/>
            <a:ext cx="1270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  </a:t>
            </a:r>
            <a:r>
              <a:rPr lang="en-US" altLang="ko-KR" dirty="0">
                <a:solidFill>
                  <a:srgbClr val="FF0000"/>
                </a:solidFill>
              </a:rPr>
              <a:t>+</a:t>
            </a:r>
            <a:r>
              <a:rPr lang="ko-KR" altLang="en-US" dirty="0">
                <a:solidFill>
                  <a:srgbClr val="FF0000"/>
                </a:solidFill>
              </a:rPr>
              <a:t>오차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자유형: 도형 27">
                <a:extLst>
                  <a:ext uri="{FF2B5EF4-FFF2-40B4-BE49-F238E27FC236}">
                    <a16:creationId xmlns:a16="http://schemas.microsoft.com/office/drawing/2014/main" xmlns="" id="{55220D12-DAF3-4CA0-A77A-8752F86968F1}"/>
                  </a:ext>
                </a:extLst>
              </p:cNvPr>
              <p:cNvSpPr/>
              <p:nvPr/>
            </p:nvSpPr>
            <p:spPr>
              <a:xfrm>
                <a:off x="8159443" y="4690908"/>
                <a:ext cx="2640085" cy="12375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smtClean="0">
                          <a:latin typeface="Cambria Math"/>
                          <a:sym typeface="Cambria Math"/>
                        </a:rPr>
                        <m:t>𝑒𝑟𝑟𝑜𝑟</m:t>
                      </m:r>
                      <m:r>
                        <a:rPr lang="en-US" altLang="ko-KR" sz="2000">
                          <a:latin typeface="Cambria Math"/>
                          <a:sym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r>
                            <a:rPr lang="ko-KR" altLang="en-US" sz="2000" i="1">
                              <a:latin typeface="Cambria Math"/>
                              <a:sym typeface="Cambria Math"/>
                            </a:rPr>
                            <m:t>𝑦</m:t>
                          </m:r>
                          <m:r>
                            <a:rPr lang="ko-KR" altLang="en-US" sz="20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sym typeface="Cambria Math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altLang="ko-KR" sz="2000" b="0" dirty="0" smtClean="0">
                  <a:sym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2000">
                          <a:latin typeface="Cambria Math"/>
                          <a:sym typeface="Cambria Math"/>
                        </a:rPr>
                        <m:t>𝑒𝑟𝑟𝑜𝑟</m:t>
                      </m:r>
                      <m:r>
                        <a:rPr lang="ar-AE" altLang="ko-KR" sz="2000">
                          <a:latin typeface="Cambria Math"/>
                          <a:sym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ar-AE" altLang="ko-KR" sz="2000" i="1" smtClean="0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altLang="ko-KR" sz="20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ko-KR" altLang="ar-AE" sz="2000" i="1">
                                  <a:latin typeface="Cambria Math"/>
                                  <a:sym typeface="Cambria Math"/>
                                </a:rPr>
                                <m:t>𝑦</m:t>
                              </m:r>
                              <m:r>
                                <a:rPr lang="ko-KR" altLang="ar-AE" sz="20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lang="ar-AE" altLang="ko-KR" sz="20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h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ar-AE" altLang="ko-KR" sz="2000" dirty="0">
                  <a:sym typeface="Cambria Math"/>
                </a:endParaRPr>
              </a:p>
              <a:p>
                <a:endParaRPr lang="ar-AE" altLang="ko-KR" sz="1400" dirty="0"/>
              </a:p>
              <a:p>
                <a:endParaRPr lang="en-US" altLang="ko-KR" sz="2000" dirty="0" smtClean="0">
                  <a:sym typeface="Cambria Math"/>
                </a:endParaRPr>
              </a:p>
              <a:p>
                <a:endParaRPr sz="1400" dirty="0"/>
              </a:p>
            </p:txBody>
          </p:sp>
        </mc:Choice>
        <mc:Fallback xmlns="">
          <p:sp>
            <p:nvSpPr>
              <p:cNvPr id="34" name="자유형: 도형 2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5220D12-DAF3-4CA0-A77A-8752F8696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443" y="4690908"/>
                <a:ext cx="2640085" cy="12375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자유형: 도형 29">
                <a:extLst>
                  <a:ext uri="{FF2B5EF4-FFF2-40B4-BE49-F238E27FC236}">
                    <a16:creationId xmlns:a16="http://schemas.microsoft.com/office/drawing/2014/main" xmlns="" id="{EA1A7196-EC96-4BF6-98C3-30B030AC8E18}"/>
                  </a:ext>
                </a:extLst>
              </p:cNvPr>
              <p:cNvSpPr/>
              <p:nvPr/>
            </p:nvSpPr>
            <p:spPr>
              <a:xfrm>
                <a:off x="6622911" y="3428069"/>
                <a:ext cx="2640085" cy="557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sym typeface="Cambria Math"/>
                        </a:rPr>
                        <m:t>h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sym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sym typeface="Cambria Math"/>
                        </a:rPr>
                        <m:t>wx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  <a:sym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  <a:sym typeface="Cambria Math"/>
                        </a:rPr>
                        <m:t>b</m:t>
                      </m:r>
                    </m:oMath>
                  </m:oMathPara>
                </a14:m>
                <a:endParaRPr sz="1400" dirty="0"/>
              </a:p>
            </p:txBody>
          </p:sp>
        </mc:Choice>
        <mc:Fallback xmlns="">
          <p:sp>
            <p:nvSpPr>
              <p:cNvPr id="35" name="자유형: 도형 2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A1A7196-EC96-4BF6-98C3-30B030AC8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911" y="3428069"/>
                <a:ext cx="2640085" cy="557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xmlns="" id="{C4F1D2C2-E049-443B-9FAF-D9E5E6E39E93}"/>
                  </a:ext>
                </a:extLst>
              </p:cNvPr>
              <p:cNvSpPr/>
              <p:nvPr/>
            </p:nvSpPr>
            <p:spPr>
              <a:xfrm>
                <a:off x="5187928" y="2892296"/>
                <a:ext cx="3826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/>
                          <a:sym typeface="Cambria Math"/>
                        </a:rPr>
                        <m:t>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4F1D2C2-E049-443B-9FAF-D9E5E6E39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928" y="2892296"/>
                <a:ext cx="382605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96883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학습오차 계산으로 추정의 정확성을 파악할 수 있음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0201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오차에 대한 수학적 정의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8" name="내용 개체 틀 2"/>
          <p:cNvSpPr txBox="1"/>
          <p:nvPr/>
        </p:nvSpPr>
        <p:spPr>
          <a:xfrm>
            <a:off x="2133570" y="2143111"/>
            <a:ext cx="8153400" cy="4495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자유형: 도형 26"/>
              <p:cNvSpPr/>
              <p:nvPr/>
            </p:nvSpPr>
            <p:spPr>
              <a:xfrm>
                <a:off x="4772945" y="3667325"/>
                <a:ext cx="2793748" cy="10551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000" b="0" i="1" smtClean="0">
                          <a:solidFill>
                            <a:srgbClr val="173F95"/>
                          </a:solidFill>
                          <a:latin typeface="Cambria Math" panose="02040503050406030204" pitchFamily="18" charset="0"/>
                          <a:sym typeface="Cambria Math"/>
                        </a:rPr>
                        <m:t>𝑀𝑆𝐸</m:t>
                      </m:r>
                      <m:r>
                        <a:rPr lang="ar-AE" sz="2000" b="0" i="1" smtClean="0">
                          <a:solidFill>
                            <a:srgbClr val="173F95"/>
                          </a:solidFill>
                          <a:latin typeface="Cambria Math" panose="02040503050406030204" pitchFamily="18" charset="0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lang="ar-AE" sz="2000" i="1" smtClean="0">
                              <a:solidFill>
                                <a:srgbClr val="173F95"/>
                              </a:solidFill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 sz="2000" i="1">
                              <a:solidFill>
                                <a:srgbClr val="173F95"/>
                              </a:solidFill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=</m:t>
                          </m:r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𝑛</m:t>
                          </m:r>
                        </m:sup>
                        <m:e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ko-KR" sz="2000" i="1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lang="ar-AE" altLang="ko-KR" sz="2000" b="0" i="1" smtClean="0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ko-KR" alt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ar-AE" sz="2000" i="1">
                              <a:solidFill>
                                <a:srgbClr val="173F95"/>
                              </a:solidFill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>
                  <a:solidFill>
                    <a:srgbClr val="173F95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9" name="자유형: 도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945" y="3667325"/>
                <a:ext cx="2793748" cy="10551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자유형: 도형 27"/>
              <p:cNvSpPr/>
              <p:nvPr/>
            </p:nvSpPr>
            <p:spPr>
              <a:xfrm>
                <a:off x="4658442" y="5352889"/>
                <a:ext cx="3724275" cy="1466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000" smtClean="0">
                          <a:solidFill>
                            <a:srgbClr val="173F95"/>
                          </a:solidFill>
                          <a:latin typeface="Cambria Math"/>
                          <a:sym typeface="Cambria Math"/>
                        </a:rPr>
                        <m:t>𝑅𝑀𝑆𝐸</m:t>
                      </m:r>
                      <m:r>
                        <a:rPr lang="ar-AE" sz="2000" smtClean="0">
                          <a:solidFill>
                            <a:srgbClr val="173F95"/>
                          </a:solidFill>
                          <a:latin typeface="Cambria Math"/>
                          <a:sym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2000" i="1">
                              <a:solidFill>
                                <a:srgbClr val="173F95"/>
                              </a:solidFill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fPr>
                            <m:num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naryPr>
                            <m:sub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=</m:t>
                              </m:r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solidFill>
                                        <a:srgbClr val="173F95"/>
                                      </a:solidFill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solidFill>
                                        <a:srgbClr val="173F95"/>
                                      </a:solidFill>
                                      <a:latin typeface="Cambria Math"/>
                                      <a:sym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rgbClr val="173F95"/>
                                      </a:solidFill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</m:e>
                          </m:nary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ar-AE" altLang="ko-KR" sz="2000" i="1">
                                      <a:solidFill>
                                        <a:srgbClr val="173F95"/>
                                      </a:solidFill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ko-KR" sz="2000" b="0" i="1" smtClean="0">
                                      <a:solidFill>
                                        <a:srgbClr val="173F95"/>
                                      </a:solidFill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ko-KR" altLang="ar-AE" sz="2000" i="1">
                                      <a:solidFill>
                                        <a:srgbClr val="173F95"/>
                                      </a:solidFill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ar-AE" sz="2000" dirty="0">
                  <a:solidFill>
                    <a:srgbClr val="173F95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0" name="자유형: 도형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442" y="5352889"/>
                <a:ext cx="3724275" cy="1466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자유형: 도형 9">
                <a:extLst>
                  <a:ext uri="{FF2B5EF4-FFF2-40B4-BE49-F238E27FC236}">
                    <a16:creationId xmlns:a16="http://schemas.microsoft.com/office/drawing/2014/main" xmlns="" id="{A38A7A18-AC3B-44B9-AFA0-216305AFAB23}"/>
                  </a:ext>
                </a:extLst>
              </p:cNvPr>
              <p:cNvSpPr/>
              <p:nvPr/>
            </p:nvSpPr>
            <p:spPr>
              <a:xfrm>
                <a:off x="4772945" y="2081647"/>
                <a:ext cx="2793748" cy="10551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000" b="0" i="1" smtClean="0">
                          <a:solidFill>
                            <a:srgbClr val="173F95"/>
                          </a:solidFill>
                          <a:latin typeface="Cambria Math" panose="02040503050406030204" pitchFamily="18" charset="0"/>
                          <a:sym typeface="Cambria Math"/>
                        </a:rPr>
                        <m:t>𝑀𝐴𝐸</m:t>
                      </m:r>
                      <m:r>
                        <a:rPr lang="ar-AE" sz="2000" b="0" i="1" smtClean="0">
                          <a:solidFill>
                            <a:srgbClr val="173F95"/>
                          </a:solidFill>
                          <a:latin typeface="Cambria Math" panose="02040503050406030204" pitchFamily="18" charset="0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lang="ar-AE" sz="2000" i="1" smtClean="0">
                              <a:solidFill>
                                <a:srgbClr val="173F95"/>
                              </a:solidFill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 sz="2000" i="1">
                              <a:solidFill>
                                <a:srgbClr val="173F95"/>
                              </a:solidFill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=</m:t>
                          </m:r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𝑛</m:t>
                          </m:r>
                        </m:sup>
                        <m:e>
                          <m:r>
                            <a:rPr lang="ar-AE" sz="2000" b="0" i="1" smtClean="0">
                              <a:solidFill>
                                <a:srgbClr val="173F95"/>
                              </a:solidFill>
                              <a:latin typeface="Cambria Math" panose="02040503050406030204" pitchFamily="18" charset="0"/>
                              <a:sym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000" i="1">
                              <a:solidFill>
                                <a:srgbClr val="173F95"/>
                              </a:solidFill>
                              <a:latin typeface="Cambria Math"/>
                              <a:sym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ko-KR" sz="2000" i="1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lang="ar-AE" altLang="ko-KR" sz="2000" b="0" i="1" smtClean="0">
                                  <a:solidFill>
                                    <a:srgbClr val="173F95"/>
                                  </a:solidFill>
                                  <a:latin typeface="Cambria Math" panose="02040503050406030204" pitchFamily="18" charset="0"/>
                                  <a:sym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ko-KR" altLang="ar-AE" sz="2000" i="1">
                                  <a:solidFill>
                                    <a:srgbClr val="173F95"/>
                                  </a:solidFill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ar-AE" altLang="ko-KR" sz="2000" b="0" i="1" smtClean="0">
                          <a:solidFill>
                            <a:srgbClr val="173F95"/>
                          </a:solidFill>
                          <a:latin typeface="Cambria Math" panose="02040503050406030204" pitchFamily="18" charset="0"/>
                          <a:sym typeface="Cambria Math"/>
                        </a:rPr>
                        <m:t>|</m:t>
                      </m:r>
                    </m:oMath>
                  </m:oMathPara>
                </a14:m>
                <a:endParaRPr lang="ar-AE" sz="2000" dirty="0">
                  <a:solidFill>
                    <a:srgbClr val="173F95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1" name="자유형: 도형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38A7A18-AC3B-44B9-AFA0-216305AFAB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945" y="2081647"/>
                <a:ext cx="2793748" cy="10551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71626" y="1659857"/>
            <a:ext cx="897255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평균 절대값 오차 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MAE(Mean Absolute Error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71626" y="3266326"/>
            <a:ext cx="897255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평균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제곱 오차 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MSE(Mean Square Error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71626" y="4903281"/>
            <a:ext cx="897255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평균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제곱근 오차 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RMSE(Root Mean Square Error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en-US" altLang="ko-KR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868548" y="5372550"/>
            <a:ext cx="1939332" cy="28097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가장 보편적으로 사용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29443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절대값 오차와 제곱근 오차의 기하학적 해석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2" name="내용 개체 틀 2"/>
          <p:cNvSpPr txBox="1"/>
          <p:nvPr/>
        </p:nvSpPr>
        <p:spPr>
          <a:xfrm>
            <a:off x="2179290" y="2572753"/>
            <a:ext cx="8153400" cy="4495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342900" marR="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71626" y="1659857"/>
            <a:ext cx="8972550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두 데이터의 오차는 기하학적 거리를 의미</a:t>
            </a:r>
            <a:endParaRPr lang="en-US" altLang="ko-KR" sz="28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평균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제곱 오차가 더 정확하여 일반적으로 사용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3453804" y="3041054"/>
            <a:ext cx="5544617" cy="3096464"/>
            <a:chOff x="2374010" y="2000239"/>
            <a:chExt cx="5087835" cy="2436872"/>
          </a:xfrm>
        </p:grpSpPr>
        <p:sp>
          <p:nvSpPr>
            <p:cNvPr id="15" name="타원 14"/>
            <p:cNvSpPr/>
            <p:nvPr/>
          </p:nvSpPr>
          <p:spPr>
            <a:xfrm>
              <a:off x="2848911" y="3878126"/>
              <a:ext cx="272308" cy="2175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5571991" y="2137399"/>
              <a:ext cx="272308" cy="2175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8" name="직선 화살표 연결선 17"/>
            <p:cNvCxnSpPr/>
            <p:nvPr/>
          </p:nvCxnSpPr>
          <p:spPr>
            <a:xfrm>
              <a:off x="3175680" y="3986921"/>
              <a:ext cx="2614156" cy="120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/>
            <p:nvPr/>
          </p:nvCxnSpPr>
          <p:spPr>
            <a:xfrm rot="5400000" flipH="1" flipV="1">
              <a:off x="5001007" y="3143756"/>
              <a:ext cx="1468738" cy="121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/>
            <p:nvPr/>
          </p:nvCxnSpPr>
          <p:spPr>
            <a:xfrm flipV="1">
              <a:off x="3175680" y="2409387"/>
              <a:ext cx="2341848" cy="146873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374010" y="3792016"/>
              <a:ext cx="689229" cy="4418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/>
                <a:t>  A</a:t>
              </a:r>
            </a:p>
            <a:p>
              <a:pPr lvl="0">
                <a:defRPr/>
              </a:pPr>
              <a:r>
                <a:rPr lang="en-US" altLang="ko-KR" sz="1300"/>
                <a:t>(x1,y1)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86446" y="2000239"/>
              <a:ext cx="696594" cy="4420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/>
                <a:t>B </a:t>
              </a:r>
              <a:r>
                <a:rPr lang="en-US" altLang="ko-KR" sz="1300"/>
                <a:t>(x2,y2)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139409" y="2686744"/>
              <a:ext cx="1466850" cy="457200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</p:spPr>
          <p:txBody>
            <a:bodyPr wrap="square">
              <a:spAutoFit/>
            </a:bodyPr>
            <a:lstStyle/>
            <a:p>
              <a:pPr>
                <a:defRPr/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자유형: 도형 29"/>
                <p:cNvSpPr/>
                <p:nvPr/>
              </p:nvSpPr>
              <p:spPr>
                <a:xfrm>
                  <a:off x="3738562" y="4027537"/>
                  <a:ext cx="1666875" cy="40957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4400" h="914400">
                      <a:moveTo>
                        <a:pt x="0" y="0"/>
                      </a:moveTo>
                      <a:lnTo>
                        <a:pt x="914400" y="0"/>
                      </a:lnTo>
                      <a:lnTo>
                        <a:pt x="914400" y="914400"/>
                      </a:lnTo>
                      <a:lnTo>
                        <a:pt x="0" y="914400"/>
                      </a:lnTo>
                      <a:close/>
                    </a:path>
                  </a:pathLst>
                </a:custGeom>
              </p:spPr>
              <p:txBody>
                <a:bodyPr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1800">
                            <a:latin typeface="Cambria Math"/>
                            <a:sym typeface="Cambria Math"/>
                          </a:rPr>
                          <m:t>𝑑𝑥</m:t>
                        </m:r>
                        <m:r>
                          <a:rPr sz="1800">
                            <a:latin typeface="Cambria Math"/>
                            <a:sym typeface="Cambria Math"/>
                          </a:rPr>
                          <m:t>=|</m:t>
                        </m:r>
                        <m:r>
                          <a:rPr sz="1800">
                            <a:latin typeface="Cambria Math"/>
                            <a:sym typeface="Cambria Math"/>
                          </a:rPr>
                          <m:t>𝑥</m:t>
                        </m:r>
                        <m:r>
                          <a:rPr sz="1800">
                            <a:latin typeface="Cambria Math"/>
                            <a:sym typeface="Cambria Math"/>
                          </a:rPr>
                          <m:t>1</m:t>
                        </m:r>
                        <m:r>
                          <a:rPr sz="1800">
                            <a:latin typeface="Cambria Math"/>
                            <a:sym typeface="Cambria Math"/>
                          </a:rPr>
                          <m:t>−</m:t>
                        </m:r>
                        <m:r>
                          <a:rPr sz="1800">
                            <a:latin typeface="Cambria Math"/>
                            <a:sym typeface="Cambria Math"/>
                          </a:rPr>
                          <m:t>𝑥</m:t>
                        </m:r>
                        <m:r>
                          <a:rPr sz="1800">
                            <a:latin typeface="Cambria Math"/>
                            <a:sym typeface="Cambria Math"/>
                          </a:rPr>
                          <m:t>2</m:t>
                        </m:r>
                        <m:r>
                          <a:rPr sz="1800">
                            <a:latin typeface="Cambria Math"/>
                            <a:sym typeface="Cambria Math"/>
                          </a:rPr>
                          <m:t>|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:dsp="http://schemas.microsoft.com/office/drawing/2008/diagram" xmlns:dgm="http://schemas.openxmlformats.org/drawingml/2006/diagram" xmlns:c="http://schemas.openxmlformats.org/drawingml/2006/chart" xmlns="">
            <p:sp>
              <p:nvSpPr>
                <p:cNvPr id="30" name=""/>
                <p:cNvSpPr txBox="1"/>
                <p:nvPr/>
              </p:nvSpPr>
              <p:spPr>
                <a:xfrm>
                  <a:off x="3738562" y="4027537"/>
                  <a:ext cx="1666875" cy="40957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자유형: 도형 30"/>
                <p:cNvSpPr/>
                <p:nvPr/>
              </p:nvSpPr>
              <p:spPr>
                <a:xfrm>
                  <a:off x="5785445" y="3140968"/>
                  <a:ext cx="1676400" cy="40957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4400" h="914400">
                      <a:moveTo>
                        <a:pt x="0" y="0"/>
                      </a:moveTo>
                      <a:lnTo>
                        <a:pt x="914400" y="0"/>
                      </a:lnTo>
                      <a:lnTo>
                        <a:pt x="914400" y="914400"/>
                      </a:lnTo>
                      <a:lnTo>
                        <a:pt x="0" y="914400"/>
                      </a:lnTo>
                      <a:close/>
                    </a:path>
                  </a:pathLst>
                </a:custGeom>
              </p:spPr>
              <p:txBody>
                <a:bodyPr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800" smtClean="0">
                            <a:latin typeface="Cambria Math"/>
                            <a:sym typeface="Cambria Math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sym typeface="Cambria Math"/>
                          </a:rPr>
                          <m:t>y</m:t>
                        </m:r>
                        <m:r>
                          <a:rPr lang="en-US" sz="1800">
                            <a:latin typeface="Cambria Math"/>
                            <a:sym typeface="Cambria Math"/>
                          </a:rPr>
                          <m:t>=|</m:t>
                        </m:r>
                        <m:r>
                          <a:rPr lang="en-US" sz="1800">
                            <a:latin typeface="Cambria Math"/>
                            <a:sym typeface="Cambria Math"/>
                          </a:rPr>
                          <m:t>𝑦</m:t>
                        </m:r>
                        <m:r>
                          <a:rPr lang="en-US" sz="1800">
                            <a:latin typeface="Cambria Math"/>
                            <a:sym typeface="Cambria Math"/>
                          </a:rPr>
                          <m:t>1</m:t>
                        </m:r>
                        <m:r>
                          <a:rPr lang="en-US" sz="1800">
                            <a:latin typeface="Cambria Math"/>
                            <a:sym typeface="Cambria Math"/>
                          </a:rPr>
                          <m:t>−</m:t>
                        </m:r>
                        <m:r>
                          <a:rPr lang="en-US" sz="1800">
                            <a:latin typeface="Cambria Math"/>
                            <a:sym typeface="Cambria Math"/>
                          </a:rPr>
                          <m:t>𝑦</m:t>
                        </m:r>
                        <m:r>
                          <a:rPr lang="en-US" sz="1800">
                            <a:latin typeface="Cambria Math"/>
                            <a:sym typeface="Cambria Math"/>
                          </a:rPr>
                          <m:t>2</m:t>
                        </m:r>
                        <m:r>
                          <a:rPr lang="en-US" sz="1800">
                            <a:latin typeface="Cambria Math"/>
                            <a:sym typeface="Cambria Math"/>
                          </a:rPr>
                          <m:t>|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1" name="자유형: 도형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445" y="3140968"/>
                  <a:ext cx="1676400" cy="40957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4400" h="914400">
                      <a:moveTo>
                        <a:pt x="0" y="0"/>
                      </a:moveTo>
                      <a:lnTo>
                        <a:pt x="914400" y="0"/>
                      </a:lnTo>
                      <a:lnTo>
                        <a:pt x="914400" y="914400"/>
                      </a:lnTo>
                      <a:lnTo>
                        <a:pt x="0" y="914400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직사각형 25"/>
          <p:cNvSpPr/>
          <p:nvPr/>
        </p:nvSpPr>
        <p:spPr>
          <a:xfrm>
            <a:off x="3086297" y="3868944"/>
            <a:ext cx="1170834" cy="31205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제곱근 오차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447073" y="5454143"/>
            <a:ext cx="1170834" cy="31205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절대값 오차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3437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/>
          <p:cNvSpPr/>
          <p:nvPr/>
        </p:nvSpPr>
        <p:spPr>
          <a:xfrm>
            <a:off x="4540829" y="2338064"/>
            <a:ext cx="6012104" cy="784995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1463040" y="2367790"/>
            <a:ext cx="2773680" cy="2636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학습 모델 비용 정의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6" name="그룹 78">
            <a:extLst>
              <a:ext uri="{FF2B5EF4-FFF2-40B4-BE49-F238E27FC236}">
                <a16:creationId xmlns:a16="http://schemas.microsoft.com/office/drawing/2014/main" xmlns="" id="{A2FA29D8-C0AE-4A0F-9997-407F50E35690}"/>
              </a:ext>
            </a:extLst>
          </p:cNvPr>
          <p:cNvGrpSpPr/>
          <p:nvPr/>
        </p:nvGrpSpPr>
        <p:grpSpPr>
          <a:xfrm>
            <a:off x="1628287" y="2497243"/>
            <a:ext cx="2260125" cy="2232248"/>
            <a:chOff x="5424258" y="810421"/>
            <a:chExt cx="2952328" cy="2915914"/>
          </a:xfrm>
        </p:grpSpPr>
        <p:grpSp>
          <p:nvGrpSpPr>
            <p:cNvPr id="7" name="그룹 75">
              <a:extLst>
                <a:ext uri="{FF2B5EF4-FFF2-40B4-BE49-F238E27FC236}">
                  <a16:creationId xmlns:a16="http://schemas.microsoft.com/office/drawing/2014/main" xmlns="" id="{DEC6BD93-3348-4B6B-BE7E-F1AB5EC4EF78}"/>
                </a:ext>
              </a:extLst>
            </p:cNvPr>
            <p:cNvGrpSpPr/>
            <p:nvPr/>
          </p:nvGrpSpPr>
          <p:grpSpPr>
            <a:xfrm>
              <a:off x="5424258" y="1268760"/>
              <a:ext cx="2952328" cy="2457575"/>
              <a:chOff x="1331640" y="836712"/>
              <a:chExt cx="7004965" cy="5831068"/>
            </a:xfrm>
          </p:grpSpPr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xmlns="" id="{7E485BFB-CBF4-4E7A-A35D-7089A345DC4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940152" y="2830110"/>
                <a:ext cx="0" cy="1668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0" name="그룹 64">
                <a:extLst>
                  <a:ext uri="{FF2B5EF4-FFF2-40B4-BE49-F238E27FC236}">
                    <a16:creationId xmlns:a16="http://schemas.microsoft.com/office/drawing/2014/main" xmlns="" id="{B8867307-6E50-4763-BA3E-6F44E3193090}"/>
                  </a:ext>
                </a:extLst>
              </p:cNvPr>
              <p:cNvGrpSpPr/>
              <p:nvPr/>
            </p:nvGrpSpPr>
            <p:grpSpPr>
              <a:xfrm>
                <a:off x="1331640" y="836712"/>
                <a:ext cx="7004965" cy="5831068"/>
                <a:chOff x="5364088" y="3913382"/>
                <a:chExt cx="2536005" cy="2111020"/>
              </a:xfrm>
            </p:grpSpPr>
            <p:grpSp>
              <p:nvGrpSpPr>
                <p:cNvPr id="11" name="그룹 6">
                  <a:extLst>
                    <a:ext uri="{FF2B5EF4-FFF2-40B4-BE49-F238E27FC236}">
                      <a16:creationId xmlns:a16="http://schemas.microsoft.com/office/drawing/2014/main" xmlns="" id="{E406E90A-F6DD-4A0A-903C-F671B3AB2D84}"/>
                    </a:ext>
                  </a:extLst>
                </p:cNvPr>
                <p:cNvGrpSpPr/>
                <p:nvPr/>
              </p:nvGrpSpPr>
              <p:grpSpPr>
                <a:xfrm>
                  <a:off x="5364088" y="3913382"/>
                  <a:ext cx="2536005" cy="2111020"/>
                  <a:chOff x="5204347" y="4237057"/>
                  <a:chExt cx="2536005" cy="2111020"/>
                </a:xfrm>
              </p:grpSpPr>
              <p:cxnSp>
                <p:nvCxnSpPr>
                  <p:cNvPr id="20" name="직선 연결선 19">
                    <a:extLst>
                      <a:ext uri="{FF2B5EF4-FFF2-40B4-BE49-F238E27FC236}">
                        <a16:creationId xmlns:a16="http://schemas.microsoft.com/office/drawing/2014/main" xmlns="" id="{A387AD12-1698-4FC8-8659-EA8F28E597AC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508104" y="4437112"/>
                    <a:ext cx="208823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1" name="직선 연결선 20">
                    <a:extLst>
                      <a:ext uri="{FF2B5EF4-FFF2-40B4-BE49-F238E27FC236}">
                        <a16:creationId xmlns:a16="http://schemas.microsoft.com/office/drawing/2014/main" xmlns="" id="{51BD93A7-A853-4AD8-80F1-DA211BF337DC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508104" y="4941168"/>
                    <a:ext cx="208823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2" name="직선 연결선 21">
                    <a:extLst>
                      <a:ext uri="{FF2B5EF4-FFF2-40B4-BE49-F238E27FC236}">
                        <a16:creationId xmlns:a16="http://schemas.microsoft.com/office/drawing/2014/main" xmlns="" id="{87A1FC2F-1412-4245-953D-575F0126F12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508104" y="5445224"/>
                    <a:ext cx="208823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3" name="직선 연결선 22">
                    <a:extLst>
                      <a:ext uri="{FF2B5EF4-FFF2-40B4-BE49-F238E27FC236}">
                        <a16:creationId xmlns:a16="http://schemas.microsoft.com/office/drawing/2014/main" xmlns="" id="{4E5E1DAB-CD3B-41ED-A79B-DC218EDA0FB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508104" y="5949280"/>
                    <a:ext cx="208823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xmlns="" id="{9F3EF7C8-8430-4D0C-8C7D-B04BF1B96EC5}"/>
                      </a:ext>
                    </a:extLst>
                  </p:cNvPr>
                  <p:cNvSpPr txBox="1"/>
                  <p:nvPr/>
                </p:nvSpPr>
                <p:spPr>
                  <a:xfrm>
                    <a:off x="5217513" y="4237057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3</a:t>
                    </a:r>
                    <a:endParaRPr lang="ko-KR" altLang="en-US" sz="200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xmlns="" id="{6139370A-C889-4E27-BE03-C110325F1DB1}"/>
                      </a:ext>
                    </a:extLst>
                  </p:cNvPr>
                  <p:cNvSpPr txBox="1"/>
                  <p:nvPr/>
                </p:nvSpPr>
                <p:spPr>
                  <a:xfrm>
                    <a:off x="5216143" y="5240172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1</a:t>
                    </a:r>
                    <a:endParaRPr lang="ko-KR" altLang="en-US" sz="200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xmlns="" id="{24F59DBF-B6B5-40A8-BA8E-E95F70BDC4CE}"/>
                      </a:ext>
                    </a:extLst>
                  </p:cNvPr>
                  <p:cNvSpPr txBox="1"/>
                  <p:nvPr/>
                </p:nvSpPr>
                <p:spPr>
                  <a:xfrm>
                    <a:off x="5216143" y="4736117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2</a:t>
                    </a:r>
                    <a:endParaRPr lang="ko-KR" altLang="en-US" sz="2000" dirty="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xmlns="" id="{CACBFA20-15C2-4735-A32E-5C9A6BA86C38}"/>
                      </a:ext>
                    </a:extLst>
                  </p:cNvPr>
                  <p:cNvSpPr txBox="1"/>
                  <p:nvPr/>
                </p:nvSpPr>
                <p:spPr>
                  <a:xfrm>
                    <a:off x="5204347" y="5744227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0</a:t>
                    </a:r>
                    <a:endParaRPr lang="ko-KR" altLang="en-US" sz="200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xmlns="" id="{C6A25DEA-98CB-40F6-938C-C565E6620997}"/>
                      </a:ext>
                    </a:extLst>
                  </p:cNvPr>
                  <p:cNvSpPr txBox="1"/>
                  <p:nvPr/>
                </p:nvSpPr>
                <p:spPr>
                  <a:xfrm>
                    <a:off x="5360159" y="5944282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0</a:t>
                    </a:r>
                    <a:endParaRPr lang="ko-KR" altLang="en-US" sz="200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xmlns="" id="{29271308-18A9-42C4-BC5E-0E50D7E403EA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240" y="5947967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2</a:t>
                    </a:r>
                    <a:endParaRPr lang="ko-KR" altLang="en-US" sz="200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xmlns="" id="{0AA55A42-3025-4E35-AD51-8DD5554E5848}"/>
                      </a:ext>
                    </a:extLst>
                  </p:cNvPr>
                  <p:cNvSpPr txBox="1"/>
                  <p:nvPr/>
                </p:nvSpPr>
                <p:spPr>
                  <a:xfrm>
                    <a:off x="7452320" y="5944282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3</a:t>
                    </a:r>
                    <a:endParaRPr lang="ko-KR" altLang="en-US" sz="200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xmlns="" id="{556783C4-E273-4E49-9898-FC05890D1544}"/>
                      </a:ext>
                    </a:extLst>
                  </p:cNvPr>
                  <p:cNvSpPr txBox="1"/>
                  <p:nvPr/>
                </p:nvSpPr>
                <p:spPr>
                  <a:xfrm>
                    <a:off x="6037298" y="5944282"/>
                    <a:ext cx="2880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200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1</a:t>
                    </a:r>
                    <a:endParaRPr lang="ko-KR" altLang="en-US" sz="200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12" name="타원 11">
                  <a:extLst>
                    <a:ext uri="{FF2B5EF4-FFF2-40B4-BE49-F238E27FC236}">
                      <a16:creationId xmlns:a16="http://schemas.microsoft.com/office/drawing/2014/main" xmlns="" id="{D5877D56-5DC3-4517-89F6-AD629D810249}"/>
                    </a:ext>
                  </a:extLst>
                </p:cNvPr>
                <p:cNvSpPr/>
                <p:nvPr/>
              </p:nvSpPr>
              <p:spPr bwMode="auto">
                <a:xfrm>
                  <a:off x="6977291" y="4509120"/>
                  <a:ext cx="117411" cy="12593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bg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굴림" pitchFamily="50" charset="-127"/>
                  </a:endParaRPr>
                </a:p>
              </p:txBody>
            </p: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xmlns="" id="{D46C3D1B-F5C8-44F0-82BC-98DFE0F60DA7}"/>
                    </a:ext>
                  </a:extLst>
                </p:cNvPr>
                <p:cNvSpPr/>
                <p:nvPr/>
              </p:nvSpPr>
              <p:spPr bwMode="auto">
                <a:xfrm>
                  <a:off x="7697371" y="4048503"/>
                  <a:ext cx="117411" cy="12593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bg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굴림" pitchFamily="50" charset="-127"/>
                  </a:endParaRPr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xmlns="" id="{76D98B22-7013-4605-A117-7B812D87DE28}"/>
                    </a:ext>
                  </a:extLst>
                </p:cNvPr>
                <p:cNvSpPr/>
                <p:nvPr/>
              </p:nvSpPr>
              <p:spPr bwMode="auto">
                <a:xfrm>
                  <a:off x="6282349" y="5053585"/>
                  <a:ext cx="117411" cy="12593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bg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굴림" pitchFamily="50" charset="-127"/>
                  </a:endParaRPr>
                </a:p>
              </p:txBody>
            </p:sp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xmlns="" id="{16D31691-EE82-4324-9563-FB262723418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346800" y="4849311"/>
                  <a:ext cx="1" cy="20427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xmlns="" id="{FE621EA4-0BEE-43FB-89ED-AE0E8643A8D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756076" y="4174598"/>
                  <a:ext cx="0" cy="3600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xmlns="" id="{B2293E73-BA7E-4486-ADD2-11DE36521BC7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6558" y="4508552"/>
                  <a:ext cx="2236177" cy="504055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2060"/>
                  </a:solidFill>
                  <a:prstDash val="sysDash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xmlns="" id="{E4AD907C-BEA7-4BB6-ABB8-6008C0093C1A}"/>
                    </a:ext>
                  </a:extLst>
                </p:cNvPr>
                <p:cNvSpPr txBox="1"/>
                <p:nvPr/>
              </p:nvSpPr>
              <p:spPr>
                <a:xfrm>
                  <a:off x="5773307" y="810421"/>
                  <a:ext cx="2520276" cy="4997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8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ko-KR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ko-KR" altLang="en-US" sz="1800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1800" b="0" i="0" dirty="0" smtClean="0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US" altLang="ko-KR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𝓍</m:t>
                        </m:r>
                        <m:r>
                          <a:rPr lang="ko-KR" altLang="en-US" sz="1800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180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ko-KR" altLang="en-US" sz="18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="" xmlns:a16="http://schemas.microsoft.com/office/drawing/2014/main" id="{E4AD907C-BEA7-4BB6-ABB8-6008C0093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3307" y="810421"/>
                  <a:ext cx="2520276" cy="49970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C9FB6B6B-62CE-4FFA-AF23-DD2CB1B9E7FC}"/>
                  </a:ext>
                </a:extLst>
              </p:cNvPr>
              <p:cNvSpPr txBox="1"/>
              <p:nvPr/>
            </p:nvSpPr>
            <p:spPr>
              <a:xfrm>
                <a:off x="4434436" y="2338065"/>
                <a:ext cx="6118496" cy="723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9FB6B6B-62CE-4FFA-AF23-DD2CB1B9E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436" y="2338065"/>
                <a:ext cx="6118496" cy="7237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158AD5B0-AFB1-46CC-8F09-C1895B03552C}"/>
                  </a:ext>
                </a:extLst>
              </p:cNvPr>
              <p:cNvSpPr txBox="1"/>
              <p:nvPr/>
            </p:nvSpPr>
            <p:spPr>
              <a:xfrm>
                <a:off x="5285106" y="3826061"/>
                <a:ext cx="4449357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8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8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8AD5B0-AFB1-46CC-8F09-C1895B035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106" y="3826061"/>
                <a:ext cx="4449357" cy="84856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6F944AA3-286E-469C-A430-7EC250BBE7BA}"/>
                  </a:ext>
                </a:extLst>
              </p:cNvPr>
              <p:cNvSpPr txBox="1"/>
              <p:nvPr/>
            </p:nvSpPr>
            <p:spPr>
              <a:xfrm>
                <a:off x="4090824" y="5520126"/>
                <a:ext cx="6205435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8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F944AA3-286E-469C-A430-7EC250BBE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824" y="5520126"/>
                <a:ext cx="6205435" cy="84856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직선 화살표 연결선 34"/>
          <p:cNvCxnSpPr>
            <a:cxnSpLocks/>
          </p:cNvCxnSpPr>
          <p:nvPr/>
        </p:nvCxnSpPr>
        <p:spPr bwMode="auto">
          <a:xfrm>
            <a:off x="7527292" y="3311515"/>
            <a:ext cx="0" cy="3352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36" name="직선 화살표 연결선 35"/>
          <p:cNvCxnSpPr>
            <a:cxnSpLocks/>
          </p:cNvCxnSpPr>
          <p:nvPr/>
        </p:nvCxnSpPr>
        <p:spPr bwMode="auto">
          <a:xfrm>
            <a:off x="7527292" y="4915034"/>
            <a:ext cx="0" cy="2759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01D32C51-33F7-4CB5-AD02-054208C8042B}"/>
              </a:ext>
            </a:extLst>
          </p:cNvPr>
          <p:cNvSpPr txBox="1"/>
          <p:nvPr/>
        </p:nvSpPr>
        <p:spPr>
          <a:xfrm>
            <a:off x="5183506" y="1709475"/>
            <a:ext cx="864095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오차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90F4C450-1122-40BF-920E-3937C1D45A8A}"/>
              </a:ext>
            </a:extLst>
          </p:cNvPr>
          <p:cNvSpPr txBox="1"/>
          <p:nvPr/>
        </p:nvSpPr>
        <p:spPr>
          <a:xfrm>
            <a:off x="6969745" y="1837503"/>
            <a:ext cx="115427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오차의 합</a:t>
            </a:r>
            <a:endParaRPr lang="ko-KR" altLang="en-US" sz="1600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xmlns="" id="{A7C9950F-76A7-474B-B08D-8FD15D77F718}"/>
              </a:ext>
            </a:extLst>
          </p:cNvPr>
          <p:cNvCxnSpPr>
            <a:cxnSpLocks/>
          </p:cNvCxnSpPr>
          <p:nvPr/>
        </p:nvCxnSpPr>
        <p:spPr bwMode="auto">
          <a:xfrm>
            <a:off x="5501392" y="2032499"/>
            <a:ext cx="0" cy="3352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42" name="모서리가 둥근 직사각형 41"/>
          <p:cNvSpPr/>
          <p:nvPr/>
        </p:nvSpPr>
        <p:spPr>
          <a:xfrm>
            <a:off x="4540829" y="3835264"/>
            <a:ext cx="6012104" cy="836598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4540829" y="5499460"/>
            <a:ext cx="6012104" cy="899526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090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모서리가 둥근 직사각형 65"/>
          <p:cNvSpPr/>
          <p:nvPr/>
        </p:nvSpPr>
        <p:spPr>
          <a:xfrm>
            <a:off x="3452219" y="1914122"/>
            <a:ext cx="5357952" cy="83955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최적의 솔루션에 대한 정의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>
            <a:off x="6653277" y="3290173"/>
            <a:ext cx="517982" cy="3200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54" name="직선 화살표 연결선 53"/>
          <p:cNvCxnSpPr>
            <a:cxnSpLocks/>
          </p:cNvCxnSpPr>
          <p:nvPr/>
        </p:nvCxnSpPr>
        <p:spPr>
          <a:xfrm flipH="1">
            <a:off x="7859008" y="3324763"/>
            <a:ext cx="324164" cy="2774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6492971" y="2979241"/>
            <a:ext cx="1500198" cy="33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/>
              <a:t>학습데이터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자유형: 도형 3075"/>
              <p:cNvSpPr/>
              <p:nvPr/>
            </p:nvSpPr>
            <p:spPr>
              <a:xfrm>
                <a:off x="5729633" y="2065621"/>
                <a:ext cx="2702411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500">
                          <a:latin typeface="Cambria Math"/>
                          <a:sym typeface="Cambria Math"/>
                        </a:rPr>
                        <m:t>𝐻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𝑤𝑥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6" name="자유형: 도형 30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633" y="2065621"/>
                <a:ext cx="2702411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자유형: 도형 3076"/>
              <p:cNvSpPr/>
              <p:nvPr/>
            </p:nvSpPr>
            <p:spPr>
              <a:xfrm>
                <a:off x="3806850" y="3259641"/>
                <a:ext cx="4495800" cy="1276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2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2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2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200" i="1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2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200" i="0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sz="2200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22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22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=</m:t>
                          </m:r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sup>
                        <m:e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sz="22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𝐻</m:t>
                              </m:r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sz="22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)−</m:t>
                              </m:r>
                              <m:sSup>
                                <m:sSupPr>
                                  <m:ctrlPr>
                                    <a:rPr sz="22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22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7" name="자유형: 도형 30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850" y="3259641"/>
                <a:ext cx="4495800" cy="1276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자유형: 도형 3078"/>
              <p:cNvSpPr/>
              <p:nvPr/>
            </p:nvSpPr>
            <p:spPr>
              <a:xfrm>
                <a:off x="3806850" y="4574488"/>
                <a:ext cx="3240360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500">
                          <a:latin typeface="Cambria Math"/>
                          <a:sym typeface="Cambria Math"/>
                        </a:rPr>
                        <m:t>𝑚𝑖𝑛𝑖𝑚𝑖𝑧𝑒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500" i="1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5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5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8" name="자유형: 도형 30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850" y="4574488"/>
                <a:ext cx="3240360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자유형: 도형 3079"/>
              <p:cNvSpPr/>
              <p:nvPr/>
            </p:nvSpPr>
            <p:spPr>
              <a:xfrm>
                <a:off x="4287316" y="4934528"/>
                <a:ext cx="609600" cy="3905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7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7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9" name="자유형: 도형 30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316" y="4934528"/>
                <a:ext cx="609600" cy="3905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xmlns="" id="{8E2B7942-201A-4063-AB69-B166E5A34195}"/>
              </a:ext>
            </a:extLst>
          </p:cNvPr>
          <p:cNvCxnSpPr>
            <a:cxnSpLocks/>
          </p:cNvCxnSpPr>
          <p:nvPr/>
        </p:nvCxnSpPr>
        <p:spPr>
          <a:xfrm flipH="1">
            <a:off x="6200476" y="1829406"/>
            <a:ext cx="317673" cy="2931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E8A4C73F-788C-46A8-B0A3-0DDA0D724DAD}"/>
              </a:ext>
            </a:extLst>
          </p:cNvPr>
          <p:cNvSpPr txBox="1"/>
          <p:nvPr/>
        </p:nvSpPr>
        <p:spPr>
          <a:xfrm>
            <a:off x="6306708" y="1481283"/>
            <a:ext cx="1500198" cy="33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/>
              <a:t>학습모델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xmlns="" id="{6C4E78C9-81AB-499D-9597-61B498FDB085}"/>
              </a:ext>
            </a:extLst>
          </p:cNvPr>
          <p:cNvCxnSpPr>
            <a:cxnSpLocks/>
          </p:cNvCxnSpPr>
          <p:nvPr/>
        </p:nvCxnSpPr>
        <p:spPr>
          <a:xfrm>
            <a:off x="5213018" y="2342831"/>
            <a:ext cx="503967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800A131F-F686-4C2B-8BF5-403CF8D9EF19}"/>
              </a:ext>
            </a:extLst>
          </p:cNvPr>
          <p:cNvSpPr txBox="1"/>
          <p:nvPr/>
        </p:nvSpPr>
        <p:spPr>
          <a:xfrm>
            <a:off x="4253267" y="2138894"/>
            <a:ext cx="1110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추정값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1EA0B78A-4BA8-43A9-90D2-4D43D4E5A883}"/>
              </a:ext>
            </a:extLst>
          </p:cNvPr>
          <p:cNvSpPr txBox="1"/>
          <p:nvPr/>
        </p:nvSpPr>
        <p:spPr>
          <a:xfrm>
            <a:off x="8302650" y="3038669"/>
            <a:ext cx="19630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/>
              <a:t>학습데이터레이블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452219" y="3017738"/>
            <a:ext cx="5357952" cy="2780068"/>
          </a:xfrm>
          <a:prstGeom prst="roundRect">
            <a:avLst>
              <a:gd name="adj" fmla="val 8313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71626" y="6090282"/>
            <a:ext cx="897255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6"/>
              </a:buBlip>
            </a:pP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오차의 합이 최소가 되는 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 b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추정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49142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모서리가 둥근 직사각형 50"/>
          <p:cNvSpPr/>
          <p:nvPr/>
        </p:nvSpPr>
        <p:spPr>
          <a:xfrm>
            <a:off x="1843314" y="1583451"/>
            <a:ext cx="8575762" cy="177179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최적의 솔루션 찾기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25" name="그룹 24"/>
          <p:cNvGrpSpPr/>
          <p:nvPr/>
        </p:nvGrpSpPr>
        <p:grpSpPr>
          <a:xfrm>
            <a:off x="2899653" y="3570109"/>
            <a:ext cx="5234353" cy="2827346"/>
            <a:chOff x="1907704" y="3430762"/>
            <a:chExt cx="5234353" cy="2827346"/>
          </a:xfrm>
        </p:grpSpPr>
        <p:grpSp>
          <p:nvGrpSpPr>
            <p:cNvPr id="26" name="그룹 25"/>
            <p:cNvGrpSpPr/>
            <p:nvPr/>
          </p:nvGrpSpPr>
          <p:grpSpPr>
            <a:xfrm>
              <a:off x="1907704" y="3430762"/>
              <a:ext cx="4896544" cy="2827346"/>
              <a:chOff x="1510191" y="3429000"/>
              <a:chExt cx="4896544" cy="2827346"/>
            </a:xfrm>
          </p:grpSpPr>
          <p:grpSp>
            <p:nvGrpSpPr>
              <p:cNvPr id="30" name="그룹 29"/>
              <p:cNvGrpSpPr/>
              <p:nvPr/>
            </p:nvGrpSpPr>
            <p:grpSpPr>
              <a:xfrm>
                <a:off x="1510191" y="3429000"/>
                <a:ext cx="4896544" cy="2827346"/>
                <a:chOff x="1510191" y="3429000"/>
                <a:chExt cx="4896544" cy="2827346"/>
              </a:xfrm>
            </p:grpSpPr>
            <p:grpSp>
              <p:nvGrpSpPr>
                <p:cNvPr id="38" name="그룹 37"/>
                <p:cNvGrpSpPr/>
                <p:nvPr/>
              </p:nvGrpSpPr>
              <p:grpSpPr>
                <a:xfrm>
                  <a:off x="2204120" y="3429000"/>
                  <a:ext cx="4202615" cy="2304256"/>
                  <a:chOff x="2195736" y="3284984"/>
                  <a:chExt cx="4202615" cy="2304256"/>
                </a:xfrm>
              </p:grpSpPr>
              <p:cxnSp>
                <p:nvCxnSpPr>
                  <p:cNvPr id="42" name="직선 연결선 41"/>
                  <p:cNvCxnSpPr/>
                  <p:nvPr/>
                </p:nvCxnSpPr>
                <p:spPr>
                  <a:xfrm>
                    <a:off x="2195736" y="3284984"/>
                    <a:ext cx="0" cy="2304256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w="med" len="med"/>
                  </a:ln>
                  <a:effectLst/>
                </p:spPr>
              </p:cxnSp>
              <p:cxnSp>
                <p:nvCxnSpPr>
                  <p:cNvPr id="43" name="직선 연결선 42"/>
                  <p:cNvCxnSpPr/>
                  <p:nvPr/>
                </p:nvCxnSpPr>
                <p:spPr>
                  <a:xfrm flipH="1">
                    <a:off x="2195736" y="5589240"/>
                    <a:ext cx="4202615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w="med" len="med"/>
                  </a:ln>
                  <a:effectLst/>
                </p:spPr>
              </p:cxnSp>
            </p:grpSp>
            <p:cxnSp>
              <p:nvCxnSpPr>
                <p:cNvPr id="39" name="직선 연결선 38"/>
                <p:cNvCxnSpPr/>
                <p:nvPr/>
              </p:nvCxnSpPr>
              <p:spPr>
                <a:xfrm flipV="1">
                  <a:off x="1510191" y="5193776"/>
                  <a:ext cx="3061809" cy="683496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40" name="직선 연결선 39"/>
                <p:cNvCxnSpPr/>
                <p:nvPr/>
              </p:nvCxnSpPr>
              <p:spPr>
                <a:xfrm flipV="1">
                  <a:off x="1835696" y="3933056"/>
                  <a:ext cx="1584176" cy="232329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41" name="직선 연결선 40"/>
                <p:cNvCxnSpPr/>
                <p:nvPr/>
              </p:nvCxnSpPr>
              <p:spPr>
                <a:xfrm flipV="1">
                  <a:off x="1691680" y="4181902"/>
                  <a:ext cx="2304256" cy="1975077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</p:grpSp>
          <p:sp>
            <p:nvSpPr>
              <p:cNvPr id="31" name="타원 30"/>
              <p:cNvSpPr/>
              <p:nvPr/>
            </p:nvSpPr>
            <p:spPr>
              <a:xfrm>
                <a:off x="2109048" y="5638185"/>
                <a:ext cx="190141" cy="190141"/>
              </a:xfrm>
              <a:prstGeom prst="ellipse">
                <a:avLst/>
              </a:prstGeom>
              <a:solidFill>
                <a:srgbClr val="00206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b="0" i="0" u="none" strike="noStrike" cap="none" normalizeH="0" baseline="0"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3148024" y="4185912"/>
                <a:ext cx="190141" cy="190141"/>
              </a:xfrm>
              <a:prstGeom prst="ellipse">
                <a:avLst/>
              </a:prstGeom>
              <a:solidFill>
                <a:srgbClr val="00206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b="0" i="0" u="none" strike="noStrike" cap="none" normalizeH="0" baseline="0"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33" name="타원 32"/>
              <p:cNvSpPr/>
              <p:nvPr/>
            </p:nvSpPr>
            <p:spPr>
              <a:xfrm>
                <a:off x="3796753" y="4260881"/>
                <a:ext cx="190141" cy="190141"/>
              </a:xfrm>
              <a:prstGeom prst="ellipse">
                <a:avLst/>
              </a:prstGeom>
              <a:solidFill>
                <a:srgbClr val="00206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b="0" i="0" u="none" strike="noStrike" cap="none" normalizeH="0" baseline="0"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3384249" y="4534548"/>
                <a:ext cx="190141" cy="190141"/>
              </a:xfrm>
              <a:prstGeom prst="ellipse">
                <a:avLst/>
              </a:prstGeom>
              <a:solidFill>
                <a:srgbClr val="00206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b="0" i="0" u="none" strike="noStrike" cap="none" normalizeH="0" baseline="0"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2843808" y="5008467"/>
                <a:ext cx="190141" cy="190141"/>
              </a:xfrm>
              <a:prstGeom prst="ellipse">
                <a:avLst/>
              </a:prstGeom>
              <a:solidFill>
                <a:srgbClr val="00206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b="0" i="0" u="none" strike="noStrike" cap="none" normalizeH="0" baseline="0"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1761673" y="5687131"/>
                <a:ext cx="190141" cy="190141"/>
              </a:xfrm>
              <a:prstGeom prst="ellipse">
                <a:avLst/>
              </a:prstGeom>
              <a:solidFill>
                <a:srgbClr val="00206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b="0" i="0" u="none" strike="noStrike" cap="none" normalizeH="0" baseline="0"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37" name="타원 36"/>
              <p:cNvSpPr/>
              <p:nvPr/>
            </p:nvSpPr>
            <p:spPr>
              <a:xfrm>
                <a:off x="1571532" y="5921451"/>
                <a:ext cx="190141" cy="190141"/>
              </a:xfrm>
              <a:prstGeom prst="ellipse">
                <a:avLst/>
              </a:prstGeom>
              <a:solidFill>
                <a:srgbClr val="00206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b="0" i="0" u="none" strike="noStrike" cap="none" normalizeH="0" baseline="0"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3307476" y="3464682"/>
              <a:ext cx="247725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cost(w=2.3)=?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06556" y="3944746"/>
              <a:ext cx="202112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cost(w=1.1)=?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960720" y="5010229"/>
              <a:ext cx="218133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cost(w=0.3)=?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endParaRPr>
            </a:p>
          </p:txBody>
        </p:sp>
      </p:grpSp>
      <p:cxnSp>
        <p:nvCxnSpPr>
          <p:cNvPr id="45" name="직선 화살표 연결선 44"/>
          <p:cNvCxnSpPr/>
          <p:nvPr/>
        </p:nvCxnSpPr>
        <p:spPr>
          <a:xfrm flipV="1">
            <a:off x="5100371" y="2042869"/>
            <a:ext cx="785850" cy="23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5171841" y="1614241"/>
            <a:ext cx="785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/>
              <a:t>b=0</a:t>
            </a:r>
            <a:endParaRPr lang="ko-KR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자유형: 도형 86"/>
              <p:cNvSpPr/>
              <p:nvPr/>
            </p:nvSpPr>
            <p:spPr>
              <a:xfrm>
                <a:off x="2065807" y="1778120"/>
                <a:ext cx="3510039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400">
                          <a:latin typeface="Cambria Math"/>
                          <a:sym typeface="Cambria Math"/>
                        </a:rPr>
                        <m:t>𝑚𝑖𝑛𝑖𝑚𝑖𝑧𝑒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400" i="1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4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47" name="자유형: 도형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807" y="1778120"/>
                <a:ext cx="3510039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2"/>
                <a:stretch>
                  <a:fillRect l="-521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자유형: 도형 87"/>
              <p:cNvSpPr/>
              <p:nvPr/>
            </p:nvSpPr>
            <p:spPr>
              <a:xfrm>
                <a:off x="2546274" y="2138160"/>
                <a:ext cx="647700" cy="3905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  <a:sym typeface="Cambria Math"/>
                        </a:rPr>
                        <m:t>𝑊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8" name="자유형: 도형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274" y="2138160"/>
                <a:ext cx="647700" cy="3905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자유형: 도형 88"/>
              <p:cNvSpPr/>
              <p:nvPr/>
            </p:nvSpPr>
            <p:spPr>
              <a:xfrm>
                <a:off x="5882231" y="1798310"/>
                <a:ext cx="3510039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400">
                          <a:latin typeface="Cambria Math"/>
                          <a:sym typeface="Cambria Math"/>
                        </a:rPr>
                        <m:t>𝐻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𝑤𝑥</m:t>
                      </m:r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49" name="자유형: 도형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231" y="1798310"/>
                <a:ext cx="3510039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 l="-521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자유형: 도형 89"/>
              <p:cNvSpPr/>
              <p:nvPr/>
            </p:nvSpPr>
            <p:spPr>
              <a:xfrm>
                <a:off x="5847076" y="2243465"/>
                <a:ext cx="4572000" cy="14382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4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)=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2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=1</m:t>
                          </m:r>
                        </m:sub>
                        <m:sup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2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sz="24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sz="24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24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50" name="자유형: 도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076" y="2243465"/>
                <a:ext cx="4572000" cy="14382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/>
          <p:cNvGrpSpPr/>
          <p:nvPr/>
        </p:nvGrpSpPr>
        <p:grpSpPr>
          <a:xfrm>
            <a:off x="4233270" y="6113452"/>
            <a:ext cx="5623617" cy="570480"/>
            <a:chOff x="4233270" y="6113452"/>
            <a:chExt cx="5623617" cy="570480"/>
          </a:xfrm>
        </p:grpSpPr>
        <p:sp>
          <p:nvSpPr>
            <p:cNvPr id="44" name="TextBox 43"/>
            <p:cNvSpPr txBox="1"/>
            <p:nvPr/>
          </p:nvSpPr>
          <p:spPr>
            <a:xfrm>
              <a:off x="4233270" y="6212463"/>
              <a:ext cx="56236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cost(w=0.3) </a:t>
              </a:r>
              <a:r>
                <a: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 </a:t>
              </a:r>
              <a:r>
                <a:rPr lang="en-US" altLang="ko-KR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&gt; cost(w=2.3) &gt; </a:t>
              </a:r>
              <a:r>
                <a: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  </a:t>
              </a:r>
              <a:r>
                <a:rPr lang="en-US" altLang="ko-KR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cost(w=1.1)</a:t>
              </a: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4537485" y="6113452"/>
              <a:ext cx="4998401" cy="570480"/>
            </a:xfrm>
            <a:prstGeom prst="round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9407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/>
          <p:cNvSpPr/>
          <p:nvPr/>
        </p:nvSpPr>
        <p:spPr>
          <a:xfrm>
            <a:off x="2206171" y="1901372"/>
            <a:ext cx="3415928" cy="10014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최적의 솔루션 찾기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64524" y="1982788"/>
                <a:ext cx="3457575" cy="10763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b="0" i="1">
                          <a:latin typeface="Cambria Math"/>
                        </a:rPr>
                        <m:t>𝑐𝑜𝑠𝑡</m:t>
                      </m:r>
                      <m:r>
                        <a:rPr sz="1800" b="0" i="1">
                          <a:latin typeface="Cambria Math"/>
                        </a:rPr>
                        <m:t>(</m:t>
                      </m:r>
                      <m:r>
                        <a:rPr sz="1800" b="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800" b="0" i="1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800" b="0" i="1">
                              <a:latin typeface="Cambria Math"/>
                            </a:rPr>
                            <m:t>𝑖</m:t>
                          </m:r>
                          <m:r>
                            <a:rPr sz="1800" b="0" i="1">
                              <a:latin typeface="Cambria Math"/>
                            </a:rPr>
                            <m:t>=</m:t>
                          </m:r>
                          <m:r>
                            <a:rPr sz="1800" b="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sz="1800" b="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𝑤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sz="1800" i="1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524" y="1982788"/>
                <a:ext cx="3457575" cy="10763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791456"/>
              </p:ext>
            </p:extLst>
          </p:nvPr>
        </p:nvGraphicFramePr>
        <p:xfrm>
          <a:off x="2841147" y="3628002"/>
          <a:ext cx="2376264" cy="2010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26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26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26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26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77280" y="3140872"/>
            <a:ext cx="1428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학습데이터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자유형: 도형 1026"/>
              <p:cNvSpPr/>
              <p:nvPr/>
            </p:nvSpPr>
            <p:spPr>
              <a:xfrm>
                <a:off x="6126155" y="1607218"/>
                <a:ext cx="4419600" cy="51142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200" i="1">
                          <a:latin typeface="Cambria Math"/>
                        </a:rPr>
                        <m:t>=−</m:t>
                      </m:r>
                      <m:r>
                        <a:rPr sz="1200" i="1">
                          <a:latin typeface="Cambria Math"/>
                        </a:rPr>
                        <m:t>3</m:t>
                      </m:r>
                      <m:r>
                        <a:rPr sz="1200" i="1">
                          <a:latin typeface="Cambria Math"/>
                        </a:rPr>
                        <m:t>, </m:t>
                      </m:r>
                      <m:r>
                        <a:rPr sz="1200" i="1">
                          <a:latin typeface="Cambria Math"/>
                        </a:rPr>
                        <m:t>𝑐𝑜𝑠𝑡</m:t>
                      </m:r>
                      <m:d>
                        <m:d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</m:d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b="0" i="0">
                          <a:latin typeface="Cambria Math"/>
                        </a:rPr>
                        <m:t>74</m:t>
                      </m:r>
                      <m:r>
                        <a:rPr sz="1200" b="0" i="0">
                          <a:latin typeface="Cambria Math"/>
                        </a:rPr>
                        <m:t>.</m:t>
                      </m:r>
                      <m:r>
                        <a:rPr sz="1200" b="0" i="0">
                          <a:latin typeface="Cambria Math"/>
                        </a:rPr>
                        <m:t>67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b="0" i="1">
                          <a:latin typeface="Cambria Math"/>
                          <a:ea typeface="맑은 고딕"/>
                          <a:sym typeface="Cambria Math"/>
                        </a:rPr>
                        <m:t>     </m:t>
                      </m:r>
                      <m:f>
                        <m:f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200" i="1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(</m:t>
                          </m:r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>
                          <a:latin typeface="Cambria Math"/>
                          <a:ea typeface="맑은 고딕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b="0" i="1">
                          <a:latin typeface="Cambria Math"/>
                          <a:ea typeface="맑은 고딕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algn="l"/>
                <a:endParaRPr lang="en-US" sz="1200" i="1" dirty="0">
                  <a:latin typeface="Cambria Math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200" i="1">
                          <a:latin typeface="Cambria Math"/>
                        </a:rPr>
                        <m:t>=−</m:t>
                      </m:r>
                      <m:r>
                        <a:rPr sz="1200" i="1">
                          <a:latin typeface="Cambria Math"/>
                        </a:rPr>
                        <m:t>2</m:t>
                      </m:r>
                      <m:r>
                        <a:rPr sz="1200" i="1">
                          <a:latin typeface="Cambria Math"/>
                        </a:rPr>
                        <m:t>, </m:t>
                      </m:r>
                      <m:r>
                        <a:rPr sz="1200" i="1">
                          <a:latin typeface="Cambria Math"/>
                        </a:rPr>
                        <m:t>𝑐𝑜𝑠𝑡</m:t>
                      </m:r>
                      <m:d>
                        <m:d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</m:d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b="0" i="1">
                          <a:latin typeface="Cambria Math"/>
                        </a:rPr>
                        <m:t> </m:t>
                      </m:r>
                      <m:r>
                        <a:rPr sz="1200" b="0" i="1">
                          <a:latin typeface="Cambria Math"/>
                        </a:rPr>
                        <m:t>42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     </m:t>
                      </m:r>
                      <m:f>
                        <m:f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200" i="1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(</m:t>
                          </m:r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>
                          <a:latin typeface="Cambria Math"/>
                          <a:ea typeface="맑은 고딕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algn="l"/>
                <a:endParaRPr lang="en-US" sz="1200" i="1" dirty="0">
                  <a:latin typeface="Cambria Math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200" i="1">
                          <a:latin typeface="Cambria Math"/>
                        </a:rPr>
                        <m:t>=−</m:t>
                      </m:r>
                      <m:r>
                        <a:rPr sz="1200" i="1">
                          <a:latin typeface="Cambria Math"/>
                        </a:rPr>
                        <m:t>1</m:t>
                      </m:r>
                      <m:r>
                        <a:rPr sz="1200" i="1">
                          <a:latin typeface="Cambria Math"/>
                        </a:rPr>
                        <m:t>, </m:t>
                      </m:r>
                      <m:r>
                        <a:rPr sz="1200" i="1">
                          <a:latin typeface="Cambria Math"/>
                        </a:rPr>
                        <m:t>𝑐𝑜𝑠𝑡</m:t>
                      </m:r>
                      <m:d>
                        <m:d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</m:d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b="0" i="1">
                          <a:latin typeface="Cambria Math"/>
                        </a:rPr>
                        <m:t>18</m:t>
                      </m:r>
                      <m:r>
                        <a:rPr sz="1200" b="0" i="1">
                          <a:latin typeface="Cambria Math"/>
                        </a:rPr>
                        <m:t>.</m:t>
                      </m:r>
                      <m:r>
                        <a:rPr sz="1200" b="0" i="1">
                          <a:latin typeface="Cambria Math"/>
                        </a:rPr>
                        <m:t>67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     </m:t>
                      </m:r>
                      <m:f>
                        <m:f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200" i="1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(</m:t>
                          </m:r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>
                          <a:latin typeface="Cambria Math"/>
                          <a:ea typeface="맑은 고딕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(−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)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algn="l"/>
                <a:endParaRPr lang="en-US" sz="1200" i="1" dirty="0">
                  <a:latin typeface="Cambria Math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i="1">
                          <a:latin typeface="Cambria Math"/>
                        </a:rPr>
                        <m:t>0</m:t>
                      </m:r>
                      <m:r>
                        <a:rPr sz="1200" i="1">
                          <a:latin typeface="Cambria Math"/>
                        </a:rPr>
                        <m:t>, </m:t>
                      </m:r>
                      <m:r>
                        <a:rPr sz="1200" i="1">
                          <a:latin typeface="Cambria Math"/>
                        </a:rPr>
                        <m:t>𝑐𝑜𝑠𝑡</m:t>
                      </m:r>
                      <m:d>
                        <m:d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</m:d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b="0" i="1">
                          <a:latin typeface="Cambria Math"/>
                        </a:rPr>
                        <m:t>4</m:t>
                      </m:r>
                      <m:r>
                        <a:rPr sz="1200" b="0" i="1">
                          <a:latin typeface="Cambria Math"/>
                        </a:rPr>
                        <m:t>.</m:t>
                      </m:r>
                      <m:r>
                        <a:rPr sz="1200" b="0" i="1">
                          <a:latin typeface="Cambria Math"/>
                        </a:rPr>
                        <m:t>67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  </m:t>
                      </m:r>
                      <m:r>
                        <a:rPr sz="1200" b="0" i="1">
                          <a:latin typeface="Cambria Math"/>
                        </a:rPr>
                        <m:t> </m:t>
                      </m:r>
                      <m:r>
                        <a:rPr sz="1200" b="0" i="1">
                          <a:latin typeface="Cambria Math"/>
                          <a:sym typeface="Cambria Math"/>
                        </a:rPr>
                        <m:t>  </m:t>
                      </m:r>
                      <m:f>
                        <m:f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200" i="1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(</m:t>
                          </m:r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0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>
                          <a:latin typeface="Cambria Math"/>
                          <a:ea typeface="맑은 고딕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0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0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algn="l"/>
                <a:endParaRPr lang="en-US" sz="1200" b="0" i="1" dirty="0">
                  <a:latin typeface="Cambria Math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b="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200" b="0" i="1">
                          <a:latin typeface="Cambria Math"/>
                        </a:rPr>
                        <m:t>=</m:t>
                      </m:r>
                      <m:r>
                        <a:rPr sz="1200" b="0" i="1">
                          <a:latin typeface="Cambria Math"/>
                        </a:rPr>
                        <m:t>1</m:t>
                      </m:r>
                      <m:r>
                        <a:rPr sz="1200" b="0" i="1">
                          <a:latin typeface="Cambria Math"/>
                        </a:rPr>
                        <m:t>, </m:t>
                      </m:r>
                      <m:r>
                        <a:rPr sz="1200" b="0" i="1">
                          <a:latin typeface="Cambria Math"/>
                        </a:rPr>
                        <m:t>𝑐𝑜𝑠𝑡</m:t>
                      </m:r>
                      <m:d>
                        <m:dPr>
                          <m:ctrlPr>
                            <a:rPr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00" b="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</m:d>
                      <m:r>
                        <a:rPr sz="1200" b="0" i="1">
                          <a:latin typeface="Cambria Math"/>
                        </a:rPr>
                        <m:t>=</m:t>
                      </m:r>
                      <m:r>
                        <a:rPr sz="1200" b="0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  </m:t>
                      </m:r>
                      <m:r>
                        <a:rPr sz="1200" b="0" i="1">
                          <a:latin typeface="Cambria Math"/>
                        </a:rPr>
                        <m:t> </m:t>
                      </m:r>
                      <m:r>
                        <a:rPr sz="1200" b="0" i="1">
                          <a:latin typeface="Cambria Math"/>
                          <a:sym typeface="Cambria Math"/>
                        </a:rPr>
                        <m:t>  </m:t>
                      </m:r>
                      <m:f>
                        <m:f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200" i="1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r>
                            <a:rPr sz="1200" b="0" i="1">
                              <a:latin typeface="Cambria Math"/>
                              <a:ea typeface="맑은 고딕"/>
                            </a:rPr>
                            <m:t>(</m:t>
                          </m:r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sz="1200" b="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b="0" i="0">
                          <a:latin typeface="Cambria Math"/>
                          <a:ea typeface="맑은 고딕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algn="l"/>
                <a:endParaRPr lang="en-US" sz="1200" i="1" dirty="0">
                  <a:latin typeface="Cambria Math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i="1">
                          <a:latin typeface="Cambria Math"/>
                        </a:rPr>
                        <m:t>2</m:t>
                      </m:r>
                      <m:r>
                        <a:rPr sz="1200" i="1">
                          <a:latin typeface="Cambria Math"/>
                        </a:rPr>
                        <m:t>, </m:t>
                      </m:r>
                      <m:r>
                        <a:rPr sz="1200" i="1">
                          <a:latin typeface="Cambria Math"/>
                        </a:rPr>
                        <m:t>𝑐𝑜𝑠𝑡</m:t>
                      </m:r>
                      <m:d>
                        <m:d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</m:d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i="1">
                          <a:latin typeface="Cambria Math"/>
                        </a:rPr>
                        <m:t>4</m:t>
                      </m:r>
                      <m:r>
                        <a:rPr sz="1200" i="1">
                          <a:latin typeface="Cambria Math"/>
                        </a:rPr>
                        <m:t>.</m:t>
                      </m:r>
                      <m:r>
                        <a:rPr sz="1200" i="1">
                          <a:latin typeface="Cambria Math"/>
                        </a:rPr>
                        <m:t>67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  </m:t>
                      </m:r>
                      <m:r>
                        <a:rPr sz="1200" b="0" i="1">
                          <a:latin typeface="Cambria Math"/>
                        </a:rPr>
                        <m:t> </m:t>
                      </m:r>
                      <m:r>
                        <a:rPr sz="1200" b="0" i="1">
                          <a:latin typeface="Cambria Math"/>
                          <a:sym typeface="Cambria Math"/>
                        </a:rPr>
                        <m:t>  </m:t>
                      </m:r>
                      <m:f>
                        <m:f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200" i="1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(</m:t>
                          </m:r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>
                          <a:latin typeface="Cambria Math"/>
                          <a:ea typeface="맑은 고딕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algn="l"/>
                <a:endParaRPr lang="en-US" sz="1200" i="1" dirty="0">
                  <a:latin typeface="Cambria Math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 i="1">
                          <a:latin typeface="Cambria Math"/>
                        </a:rPr>
                        <m:t>3</m:t>
                      </m:r>
                      <m:r>
                        <a:rPr sz="1200" i="1">
                          <a:latin typeface="Cambria Math"/>
                        </a:rPr>
                        <m:t>, </m:t>
                      </m:r>
                      <m:r>
                        <a:rPr sz="1200" i="1">
                          <a:latin typeface="Cambria Math"/>
                        </a:rPr>
                        <m:t>𝑐𝑜𝑠𝑡</m:t>
                      </m:r>
                      <m:d>
                        <m:d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</m:d>
                      <m:r>
                        <a:rPr sz="1200" i="1">
                          <a:latin typeface="Cambria Math"/>
                        </a:rPr>
                        <m:t>=</m:t>
                      </m:r>
                      <m:r>
                        <a:rPr sz="1200">
                          <a:latin typeface="Cambria Math"/>
                        </a:rPr>
                        <m:t>18</m:t>
                      </m:r>
                      <m:r>
                        <a:rPr sz="1200">
                          <a:latin typeface="Cambria Math"/>
                        </a:rPr>
                        <m:t>.</m:t>
                      </m:r>
                      <m:r>
                        <a:rPr sz="1200">
                          <a:latin typeface="Cambria Math"/>
                        </a:rPr>
                        <m:t>67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     </m:t>
                      </m:r>
                      <m:f>
                        <m:fPr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200" i="1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(</m:t>
                          </m:r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>
                          <a:latin typeface="Cambria Math"/>
                          <a:ea typeface="맑은 고딕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  <m:r>
                        <a:rPr sz="1200" i="1">
                          <a:latin typeface="Cambria Math"/>
                          <a:ea typeface="맑은 고딕"/>
                          <a:sym typeface="Cambria Math"/>
                        </a:rPr>
                        <m:t>+</m:t>
                      </m:r>
                      <m:sSup>
                        <m:sSupPr>
                          <m:ctrlPr>
                            <a:rPr sz="12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2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r>
                                <a:rPr sz="1200" b="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∗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−</m:t>
                              </m:r>
                              <m:r>
                                <a:rPr sz="1200" i="1">
                                  <a:latin typeface="Cambria Math"/>
                                  <a:ea typeface="맑은 고딕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sz="1200" i="1">
                              <a:latin typeface="Cambria Math"/>
                              <a:ea typeface="맑은 고딕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자유형: 도형 10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155" y="1607218"/>
                <a:ext cx="4419600" cy="51142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모서리가 둥근 직사각형 12"/>
          <p:cNvSpPr/>
          <p:nvPr/>
        </p:nvSpPr>
        <p:spPr>
          <a:xfrm>
            <a:off x="6023429" y="1607218"/>
            <a:ext cx="4354285" cy="65701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6023429" y="2318418"/>
            <a:ext cx="4354285" cy="65701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6023429" y="3015104"/>
            <a:ext cx="4354285" cy="65701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023429" y="3726304"/>
            <a:ext cx="4354285" cy="65701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023429" y="4437504"/>
            <a:ext cx="4354285" cy="65701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6023429" y="5148704"/>
            <a:ext cx="4354285" cy="65701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6023429" y="5859904"/>
            <a:ext cx="4354285" cy="65701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1851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모서리가 둥근 직사각형 38"/>
          <p:cNvSpPr/>
          <p:nvPr/>
        </p:nvSpPr>
        <p:spPr>
          <a:xfrm>
            <a:off x="4170571" y="2342054"/>
            <a:ext cx="3891952" cy="8896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최적의 솔루션 찾기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97827" y="2361156"/>
                <a:ext cx="3457575" cy="10763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b="0" i="1">
                          <a:latin typeface="Cambria Math"/>
                        </a:rPr>
                        <m:t>𝑐𝑜𝑠𝑡</m:t>
                      </m:r>
                      <m:r>
                        <a:rPr sz="1800" b="0" i="1">
                          <a:latin typeface="Cambria Math"/>
                        </a:rPr>
                        <m:t>(</m:t>
                      </m:r>
                      <m:r>
                        <a:rPr sz="1800" b="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800" b="0" i="1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800" b="0" i="1">
                              <a:latin typeface="Cambria Math"/>
                            </a:rPr>
                            <m:t>𝑖</m:t>
                          </m:r>
                          <m:r>
                            <a:rPr sz="1800" b="0" i="1">
                              <a:latin typeface="Cambria Math"/>
                            </a:rPr>
                            <m:t>=</m:t>
                          </m:r>
                          <m:r>
                            <a:rPr sz="1800" b="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sz="1800" b="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𝑤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sz="1800" i="1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827" y="2361156"/>
                <a:ext cx="3457575" cy="10763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/>
          <p:cNvGrpSpPr/>
          <p:nvPr/>
        </p:nvGrpSpPr>
        <p:grpSpPr>
          <a:xfrm>
            <a:off x="4249435" y="3456583"/>
            <a:ext cx="3779192" cy="3113528"/>
            <a:chOff x="1943704" y="2420888"/>
            <a:chExt cx="4824537" cy="4015078"/>
          </a:xfrm>
        </p:grpSpPr>
        <p:grpSp>
          <p:nvGrpSpPr>
            <p:cNvPr id="9" name="그룹 8"/>
            <p:cNvGrpSpPr/>
            <p:nvPr/>
          </p:nvGrpSpPr>
          <p:grpSpPr>
            <a:xfrm>
              <a:off x="2123728" y="2420888"/>
              <a:ext cx="4464497" cy="3672408"/>
              <a:chOff x="2316906" y="2348880"/>
              <a:chExt cx="4464497" cy="3672408"/>
            </a:xfrm>
          </p:grpSpPr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 l="12450" t="8440" r="7060" b="10500"/>
              <a:stretch>
                <a:fillRect/>
              </a:stretch>
            </p:blipFill>
            <p:spPr>
              <a:xfrm>
                <a:off x="2316906" y="2619767"/>
                <a:ext cx="4464497" cy="340152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</p:pic>
          <p:sp>
            <p:nvSpPr>
              <p:cNvPr id="22" name="직사각형 21"/>
              <p:cNvSpPr/>
              <p:nvPr/>
            </p:nvSpPr>
            <p:spPr>
              <a:xfrm>
                <a:off x="2339751" y="2348880"/>
                <a:ext cx="4392489" cy="3600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4211959" y="6033442"/>
              <a:ext cx="360038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1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08203" y="6033442"/>
              <a:ext cx="360038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5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68144" y="6033442"/>
              <a:ext cx="360038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4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28085" y="6033442"/>
              <a:ext cx="360038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3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88022" y="6021285"/>
              <a:ext cx="360040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2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43704" y="6037557"/>
              <a:ext cx="468447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 dirty="0">
                  <a:latin typeface="맑은 고딕"/>
                  <a:ea typeface="맑은 고딕"/>
                  <a:cs typeface="+mj-cs"/>
                </a:rPr>
                <a:t>-3</a:t>
              </a:r>
              <a:endParaRPr lang="ko-KR" altLang="en-US" sz="1400" dirty="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13462" y="6035076"/>
              <a:ext cx="468447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-2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83220" y="6033442"/>
              <a:ext cx="468447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-1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75715" y="6039069"/>
              <a:ext cx="360038" cy="39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>
                  <a:latin typeface="맑은 고딕"/>
                  <a:ea typeface="맑은 고딕"/>
                  <a:cs typeface="+mj-cs"/>
                </a:rPr>
                <a:t>0</a:t>
              </a:r>
              <a:endParaRPr lang="ko-KR" altLang="en-US" sz="1400">
                <a:latin typeface="맑은 고딕"/>
                <a:ea typeface="맑은 고딕"/>
                <a:cs typeface="+mj-cs"/>
              </a:endParaRPr>
            </a:p>
          </p:txBody>
        </p:sp>
      </p:grpSp>
      <p:sp>
        <p:nvSpPr>
          <p:cNvPr id="23" name="타원 22"/>
          <p:cNvSpPr/>
          <p:nvPr/>
        </p:nvSpPr>
        <p:spPr>
          <a:xfrm>
            <a:off x="5633654" y="5952241"/>
            <a:ext cx="126969" cy="1904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6849487" y="5633804"/>
            <a:ext cx="126969" cy="1904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6082099" y="6128005"/>
            <a:ext cx="126969" cy="1904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6529531" y="5952241"/>
            <a:ext cx="126969" cy="1904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50124" y="6128005"/>
            <a:ext cx="571362" cy="396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w</a:t>
            </a: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669682" y="3461648"/>
            <a:ext cx="698331" cy="39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cost</a:t>
            </a:r>
            <a:endParaRPr lang="ko-KR" altLang="en-US"/>
          </a:p>
        </p:txBody>
      </p:sp>
      <p:sp>
        <p:nvSpPr>
          <p:cNvPr id="29" name="타원 39"/>
          <p:cNvSpPr/>
          <p:nvPr/>
        </p:nvSpPr>
        <p:spPr>
          <a:xfrm>
            <a:off x="5314711" y="5696276"/>
            <a:ext cx="126969" cy="1904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30" name="타원 39"/>
          <p:cNvSpPr/>
          <p:nvPr/>
        </p:nvSpPr>
        <p:spPr>
          <a:xfrm>
            <a:off x="4801769" y="4800399"/>
            <a:ext cx="126969" cy="1904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31" name="타원 39"/>
          <p:cNvSpPr/>
          <p:nvPr/>
        </p:nvSpPr>
        <p:spPr>
          <a:xfrm>
            <a:off x="4354843" y="3648557"/>
            <a:ext cx="126969" cy="1904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자유형: 도형 48"/>
              <p:cNvSpPr/>
              <p:nvPr/>
            </p:nvSpPr>
            <p:spPr>
              <a:xfrm>
                <a:off x="4417821" y="3584565"/>
                <a:ext cx="584055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>
                          <a:latin typeface="Cambria Math"/>
                          <a:sym typeface="Cambria Math"/>
                        </a:rPr>
                        <m:t>74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.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67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자유형: 도형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821" y="3584565"/>
                <a:ext cx="584055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자유형: 도형 49"/>
              <p:cNvSpPr/>
              <p:nvPr/>
            </p:nvSpPr>
            <p:spPr>
              <a:xfrm>
                <a:off x="4673786" y="4521068"/>
                <a:ext cx="397834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>
                          <a:latin typeface="Cambria Math"/>
                          <a:sym typeface="Cambria Math"/>
                        </a:rPr>
                        <m:t>42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자유형: 도형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786" y="4521068"/>
                <a:ext cx="397834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자유형: 도형 50"/>
              <p:cNvSpPr/>
              <p:nvPr/>
            </p:nvSpPr>
            <p:spPr>
              <a:xfrm>
                <a:off x="5177582" y="5416945"/>
                <a:ext cx="584055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>
                          <a:latin typeface="Cambria Math"/>
                          <a:sym typeface="Cambria Math"/>
                        </a:rPr>
                        <m:t>18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.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67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자유형: 도형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582" y="5416945"/>
                <a:ext cx="584055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자유형: 도형 51"/>
              <p:cNvSpPr/>
              <p:nvPr/>
            </p:nvSpPr>
            <p:spPr>
              <a:xfrm>
                <a:off x="5441681" y="5672910"/>
                <a:ext cx="507874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>
                          <a:latin typeface="Cambria Math"/>
                          <a:sym typeface="Cambria Math"/>
                        </a:rPr>
                        <m:t>4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.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67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자유형: 도형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681" y="5672910"/>
                <a:ext cx="507874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자유형: 도형 52"/>
              <p:cNvSpPr/>
              <p:nvPr/>
            </p:nvSpPr>
            <p:spPr>
              <a:xfrm>
                <a:off x="6015904" y="5864884"/>
                <a:ext cx="321653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>
                          <a:latin typeface="Cambria Math"/>
                          <a:sym typeface="Cambria Math"/>
                        </a:rPr>
                        <m:t>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자유형: 도형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904" y="5864884"/>
                <a:ext cx="321653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자유형: 도형 53"/>
              <p:cNvSpPr/>
              <p:nvPr/>
            </p:nvSpPr>
            <p:spPr>
              <a:xfrm>
                <a:off x="6329424" y="5696276"/>
                <a:ext cx="507874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>
                          <a:latin typeface="Cambria Math"/>
                          <a:sym typeface="Cambria Math"/>
                        </a:rPr>
                        <m:t>4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.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67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자유형: 도형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424" y="5696276"/>
                <a:ext cx="507874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자유형: 도형 54"/>
              <p:cNvSpPr/>
              <p:nvPr/>
            </p:nvSpPr>
            <p:spPr>
              <a:xfrm>
                <a:off x="6521397" y="5352954"/>
                <a:ext cx="584055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200">
                          <a:latin typeface="Cambria Math"/>
                          <a:sym typeface="Cambria Math"/>
                        </a:rPr>
                        <m:t>18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.</m:t>
                      </m:r>
                      <m:r>
                        <a:rPr sz="1200">
                          <a:latin typeface="Cambria Math"/>
                          <a:sym typeface="Cambria Math"/>
                        </a:rPr>
                        <m:t>67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자유형: 도형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397" y="5352954"/>
                <a:ext cx="584055" cy="279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71626" y="1659857"/>
            <a:ext cx="897255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11"/>
              </a:buBlip>
            </a:pP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위에서부터 보았을 때 기울기의 값이 점점 줄어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듦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(cost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가 최소일 때 기울기 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=0)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5071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4543657" y="2959011"/>
            <a:ext cx="3145780" cy="49132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경사하강법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19897"/>
            <a:ext cx="9149833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현재 위치에서 기울기의 반대 방향으로 일정 비율 이동하는 방법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기울기가 거의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으로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가 거의 변하지 않는 지점 →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cost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가 가장 낮은 지점</a:t>
            </a:r>
            <a:endParaRPr lang="en-US" altLang="ko-KR" sz="4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95499" y="2927117"/>
            <a:ext cx="3786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+mj-cs"/>
              </a:rPr>
              <a:t>w = w –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+mj-cs"/>
              </a:rPr>
              <a:t>반영비율 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+mj-cs"/>
              </a:rPr>
              <a:t>x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기울기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+mj-cs"/>
            </a:endParaRPr>
          </a:p>
        </p:txBody>
      </p:sp>
      <p:sp>
        <p:nvSpPr>
          <p:cNvPr id="7" name="TextBox 94"/>
          <p:cNvSpPr txBox="1"/>
          <p:nvPr/>
        </p:nvSpPr>
        <p:spPr>
          <a:xfrm>
            <a:off x="7648853" y="6198255"/>
            <a:ext cx="2036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+mj-cs"/>
              </a:rPr>
              <a:t> 음의 기울기</a:t>
            </a:r>
          </a:p>
        </p:txBody>
      </p:sp>
      <p:grpSp>
        <p:nvGrpSpPr>
          <p:cNvPr id="8" name="그룹 80"/>
          <p:cNvGrpSpPr/>
          <p:nvPr/>
        </p:nvGrpSpPr>
        <p:grpSpPr>
          <a:xfrm>
            <a:off x="6488606" y="3467467"/>
            <a:ext cx="3616737" cy="2736304"/>
            <a:chOff x="591800" y="1196752"/>
            <a:chExt cx="3616737" cy="2736304"/>
          </a:xfrm>
        </p:grpSpPr>
        <p:grpSp>
          <p:nvGrpSpPr>
            <p:cNvPr id="9" name="그룹 78"/>
            <p:cNvGrpSpPr/>
            <p:nvPr/>
          </p:nvGrpSpPr>
          <p:grpSpPr>
            <a:xfrm>
              <a:off x="591800" y="1196752"/>
              <a:ext cx="3616737" cy="2736304"/>
              <a:chOff x="591800" y="1196752"/>
              <a:chExt cx="3616737" cy="2736304"/>
            </a:xfrm>
          </p:grpSpPr>
          <p:pic>
            <p:nvPicPr>
              <p:cNvPr id="11" name="Picture 2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591800" y="1196752"/>
                <a:ext cx="3616737" cy="273630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</p:pic>
          <p:sp>
            <p:nvSpPr>
              <p:cNvPr id="12" name="타원 28"/>
              <p:cNvSpPr/>
              <p:nvPr/>
            </p:nvSpPr>
            <p:spPr>
              <a:xfrm>
                <a:off x="1547664" y="2744924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3" name="타원 58"/>
              <p:cNvSpPr/>
              <p:nvPr/>
            </p:nvSpPr>
            <p:spPr>
              <a:xfrm>
                <a:off x="1763688" y="3084902"/>
                <a:ext cx="144016" cy="144016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</p:grpSp>
        <p:cxnSp>
          <p:nvCxnSpPr>
            <p:cNvPr id="10" name="직선 화살표 연결선 32"/>
            <p:cNvCxnSpPr/>
            <p:nvPr/>
          </p:nvCxnSpPr>
          <p:spPr>
            <a:xfrm>
              <a:off x="1402859" y="2396412"/>
              <a:ext cx="474234" cy="98505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8000"/>
              </a:solidFill>
              <a:prstDash val="solid"/>
              <a:miter/>
              <a:headEnd w="med" len="med"/>
              <a:tailEnd type="triangle"/>
            </a:ln>
            <a:effectLst/>
          </p:spPr>
        </p:cxnSp>
      </p:grpSp>
      <p:sp>
        <p:nvSpPr>
          <p:cNvPr id="14" name="원호 17"/>
          <p:cNvSpPr/>
          <p:nvPr/>
        </p:nvSpPr>
        <p:spPr>
          <a:xfrm rot="16998748" flipV="1">
            <a:off x="7366649" y="5053158"/>
            <a:ext cx="443675" cy="455027"/>
          </a:xfrm>
          <a:prstGeom prst="arc">
            <a:avLst>
              <a:gd name="adj1" fmla="val 16200000"/>
              <a:gd name="adj2" fmla="val 7"/>
            </a:avLst>
          </a:prstGeom>
          <a:noFill/>
          <a:ln w="9525" cap="flat" cmpd="sng" algn="ctr">
            <a:solidFill>
              <a:srgbClr val="008000"/>
            </a:solidFill>
            <a:prstDash val="solid"/>
            <a:miter/>
            <a:headEnd type="arrow" w="med" len="med"/>
            <a:tailEnd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95"/>
          <p:cNvSpPr txBox="1"/>
          <p:nvPr/>
        </p:nvSpPr>
        <p:spPr>
          <a:xfrm>
            <a:off x="3456021" y="6198255"/>
            <a:ext cx="2036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80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+mj-cs"/>
              </a:rPr>
              <a:t> 양의 기울기</a:t>
            </a:r>
          </a:p>
        </p:txBody>
      </p:sp>
      <p:grpSp>
        <p:nvGrpSpPr>
          <p:cNvPr id="17" name="그룹 75"/>
          <p:cNvGrpSpPr/>
          <p:nvPr/>
        </p:nvGrpSpPr>
        <p:grpSpPr>
          <a:xfrm>
            <a:off x="2267329" y="3467545"/>
            <a:ext cx="3616737" cy="2736304"/>
            <a:chOff x="4813224" y="1235719"/>
            <a:chExt cx="3616737" cy="2736304"/>
          </a:xfrm>
        </p:grpSpPr>
        <p:pic>
          <p:nvPicPr>
            <p:cNvPr id="19" name="Picture 2"/>
            <p:cNvPicPr>
              <a:picLocks noChangeAspect="1" noChangeArrowheads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813224" y="1235719"/>
              <a:ext cx="3616737" cy="273630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p:sp>
          <p:nvSpPr>
            <p:cNvPr id="20" name="타원 65"/>
            <p:cNvSpPr/>
            <p:nvPr/>
          </p:nvSpPr>
          <p:spPr>
            <a:xfrm>
              <a:off x="7524328" y="2744924"/>
              <a:ext cx="144016" cy="14401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21" name="타원 66"/>
            <p:cNvSpPr/>
            <p:nvPr/>
          </p:nvSpPr>
          <p:spPr>
            <a:xfrm>
              <a:off x="7308304" y="3117912"/>
              <a:ext cx="144016" cy="14401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22" name="타원 67"/>
            <p:cNvSpPr/>
            <p:nvPr/>
          </p:nvSpPr>
          <p:spPr>
            <a:xfrm>
              <a:off x="7020272" y="3402605"/>
              <a:ext cx="144016" cy="14401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</p:grpSp>
      <p:cxnSp>
        <p:nvCxnSpPr>
          <p:cNvPr id="23" name="직선 화살표 연결선 69"/>
          <p:cNvCxnSpPr/>
          <p:nvPr/>
        </p:nvCxnSpPr>
        <p:spPr>
          <a:xfrm flipV="1">
            <a:off x="4744052" y="4465827"/>
            <a:ext cx="557028" cy="936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8000"/>
            </a:solidFill>
            <a:prstDash val="solid"/>
            <a:miter/>
            <a:headEnd w="med" len="med"/>
            <a:tailEnd type="triangle"/>
          </a:ln>
          <a:effectLst/>
        </p:spPr>
      </p:cxnSp>
      <p:sp>
        <p:nvSpPr>
          <p:cNvPr id="24" name="원호 36"/>
          <p:cNvSpPr/>
          <p:nvPr/>
        </p:nvSpPr>
        <p:spPr>
          <a:xfrm rot="16200000">
            <a:off x="4647353" y="4957696"/>
            <a:ext cx="557614" cy="338414"/>
          </a:xfrm>
          <a:prstGeom prst="arc">
            <a:avLst>
              <a:gd name="adj1" fmla="val 16200000"/>
              <a:gd name="adj2" fmla="val 7"/>
            </a:avLst>
          </a:prstGeom>
          <a:noFill/>
          <a:ln w="9525" cap="flat" cmpd="sng" algn="ctr">
            <a:solidFill>
              <a:srgbClr val="008000"/>
            </a:solidFill>
            <a:prstDash val="solid"/>
            <a:miter/>
            <a:headEnd type="arrow" w="med" len="med"/>
            <a:tailEnd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원호 38"/>
          <p:cNvSpPr/>
          <p:nvPr/>
        </p:nvSpPr>
        <p:spPr>
          <a:xfrm rot="16200000">
            <a:off x="4434057" y="5270460"/>
            <a:ext cx="557614" cy="338414"/>
          </a:xfrm>
          <a:prstGeom prst="arc">
            <a:avLst>
              <a:gd name="adj1" fmla="val 16200000"/>
              <a:gd name="adj2" fmla="val 7"/>
            </a:avLst>
          </a:prstGeom>
          <a:noFill/>
          <a:ln w="9525" cap="flat" cmpd="sng" algn="ctr">
            <a:solidFill>
              <a:srgbClr val="008000"/>
            </a:solidFill>
            <a:prstDash val="solid"/>
            <a:miter/>
            <a:headEnd type="arrow" w="med" len="med"/>
            <a:tailEnd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754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/>
          <p:cNvSpPr/>
          <p:nvPr/>
        </p:nvSpPr>
        <p:spPr>
          <a:xfrm>
            <a:off x="4170571" y="1792013"/>
            <a:ext cx="3891952" cy="2097816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경사하강법에</a:t>
            </a:r>
            <a:r>
              <a:rPr lang="ko-KR" altLang="en-US" dirty="0" smtClean="0"/>
              <a:t> 대한 수학적 정의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4415794" y="1808605"/>
            <a:ext cx="3619958" cy="2338670"/>
            <a:chOff x="4774475" y="1072544"/>
            <a:chExt cx="3619958" cy="23386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774475" y="1072544"/>
                  <a:ext cx="3457575" cy="107632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1600" b="0" i="1">
                            <a:latin typeface="Cambria Math"/>
                          </a:rPr>
                          <m:t>𝑐𝑜𝑠𝑡</m:t>
                        </m:r>
                        <m:r>
                          <a:rPr sz="1600" b="0" i="1">
                            <a:latin typeface="Cambria Math"/>
                          </a:rPr>
                          <m:t>(</m:t>
                        </m:r>
                        <m:r>
                          <a:rPr sz="1600" b="0" i="1">
                            <a:latin typeface="Cambria Math"/>
                            <a:sym typeface="Cambria Math"/>
                          </a:rPr>
                          <m:t>𝑤</m:t>
                        </m:r>
                        <m:r>
                          <a:rPr sz="1600" b="0" i="1">
                            <a:latin typeface="Cambria Math"/>
                          </a:rPr>
                          <m:t>)=</m:t>
                        </m:r>
                        <m:f>
                          <m:fPr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160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sz="1600" i="1">
                                <a:latin typeface="Cambria Math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sz="1600" b="0" i="1">
                                <a:latin typeface="Cambria Math"/>
                              </a:rPr>
                              <m:t>𝑖</m:t>
                            </m:r>
                            <m:r>
                              <a:rPr sz="1600" b="0" i="1">
                                <a:latin typeface="Cambria Math"/>
                              </a:rPr>
                              <m:t>=</m:t>
                            </m:r>
                            <m:r>
                              <a:rPr sz="1600" b="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sz="1600" b="0" i="1">
                                <a:latin typeface="Cambria Math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  <m:sSup>
                                      <m:sSup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600" b="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r>
                                      <a:rPr sz="1600" i="1">
                                        <a:latin typeface="Cambria Math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sz="1600" b="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sz="16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sz="1600"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6" name=""/>
                <p:cNvSpPr txBox="1"/>
                <p:nvPr/>
              </p:nvSpPr>
              <p:spPr>
                <a:xfrm>
                  <a:off x="4774475" y="1072544"/>
                  <a:ext cx="3457575" cy="107632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4813033" y="2334889"/>
                  <a:ext cx="3581400" cy="107632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1600" b="0" i="1">
                            <a:latin typeface="Cambria Math"/>
                          </a:rPr>
                          <m:t>𝑐𝑜𝑠𝑡</m:t>
                        </m:r>
                        <m:r>
                          <a:rPr sz="1600" b="0" i="1">
                            <a:latin typeface="Cambria Math"/>
                          </a:rPr>
                          <m:t>(</m:t>
                        </m:r>
                        <m:r>
                          <a:rPr sz="1600" b="0" i="1">
                            <a:latin typeface="Cambria Math"/>
                            <a:sym typeface="Cambria Math"/>
                          </a:rPr>
                          <m:t>𝑤</m:t>
                        </m:r>
                        <m:r>
                          <a:rPr sz="1600" b="0" i="1">
                            <a:latin typeface="Cambria Math"/>
                          </a:rPr>
                          <m:t>)=</m:t>
                        </m:r>
                        <m:f>
                          <m:fPr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160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sz="1600" b="0" i="1">
                                <a:latin typeface="Cambria Math"/>
                              </a:rPr>
                              <m:t>2</m:t>
                            </m:r>
                            <m:r>
                              <a:rPr sz="1600" i="1">
                                <a:latin typeface="Cambria Math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sz="1600" b="0" i="1">
                                <a:latin typeface="Cambria Math"/>
                              </a:rPr>
                              <m:t>𝑖</m:t>
                            </m:r>
                            <m:r>
                              <a:rPr sz="1600" b="0" i="1">
                                <a:latin typeface="Cambria Math"/>
                              </a:rPr>
                              <m:t>=</m:t>
                            </m:r>
                            <m:r>
                              <a:rPr sz="1600" b="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sz="1600" b="0" i="1">
                                <a:latin typeface="Cambria Math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  <m:sSup>
                                      <m:sSup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600" b="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r>
                                      <a:rPr sz="1600" i="1">
                                        <a:latin typeface="Cambria Math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sz="1600" b="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sz="16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033" y="2334889"/>
                  <a:ext cx="3581400" cy="10763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40851" y="6075602"/>
                <a:ext cx="3771900" cy="10763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600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sz="1600" b="0" i="0">
                          <a:latin typeface="Cambria Math"/>
                          <a:ea typeface="Cambria Math"/>
                          <a:sym typeface="Cambria Math"/>
                        </a:rPr>
                        <m:t>= </m:t>
                      </m:r>
                      <m:r>
                        <a:rPr sz="1600" b="0" i="0">
                          <a:latin typeface="Cambria Math"/>
                          <a:ea typeface="Cambria Math"/>
                          <a:sym typeface="Cambria Math"/>
                        </a:rPr>
                        <m:t>𝑤</m:t>
                      </m:r>
                      <m:r>
                        <a:rPr sz="1600" b="0" i="0">
                          <a:latin typeface="Cambria Math"/>
                          <a:ea typeface="Cambria Math"/>
                        </a:rPr>
                        <m:t> −</m:t>
                      </m:r>
                      <m:r>
                        <a:rPr sz="1600" i="1">
                          <a:latin typeface="Cambria Math"/>
                        </a:rPr>
                        <m:t>𝛼</m:t>
                      </m:r>
                      <m:f>
                        <m:fPr>
                          <m:ctrlPr>
                            <a:rPr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6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600" i="1">
                              <a:latin typeface="Cambria Math"/>
                            </a:rPr>
                            <m:t>𝑖</m:t>
                          </m:r>
                          <m:r>
                            <a:rPr sz="1600" i="1">
                              <a:latin typeface="Cambria Math"/>
                            </a:rPr>
                            <m:t>=</m:t>
                          </m:r>
                          <m:r>
                            <a:rPr sz="160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sz="16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𝑤</m:t>
                                  </m:r>
                                  <m:sSup>
                                    <m:sSupPr>
                                      <m:ctrlPr>
                                        <a:rPr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sz="1600" i="1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600" b="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1600" b="0" i="1">
                                  <a:latin typeface="Cambria Math"/>
                                </a:rPr>
                                <m:t>(</m:t>
                              </m:r>
                              <m:r>
                                <a:rPr sz="1600" b="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sz="1600" b="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851" y="6075602"/>
                <a:ext cx="3771900" cy="107632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77769" y="4996591"/>
                <a:ext cx="2590800" cy="7334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600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sz="1600" b="0" i="0">
                          <a:latin typeface="Cambria Math"/>
                          <a:ea typeface="Cambria Math"/>
                          <a:sym typeface="Cambria Math"/>
                        </a:rPr>
                        <m:t>= </m:t>
                      </m:r>
                      <m:r>
                        <a:rPr sz="1600" b="0" i="0">
                          <a:latin typeface="Cambria Math"/>
                          <a:ea typeface="Cambria Math"/>
                          <a:sym typeface="Cambria Math"/>
                        </a:rPr>
                        <m:t>𝑤</m:t>
                      </m:r>
                      <m:r>
                        <a:rPr sz="1600" b="0" i="0">
                          <a:latin typeface="Cambria Math"/>
                          <a:ea typeface="Cambria Math"/>
                        </a:rPr>
                        <m:t> −</m:t>
                      </m:r>
                      <m:r>
                        <a:rPr sz="1600" i="1">
                          <a:latin typeface="Cambria Math"/>
                        </a:rPr>
                        <m:t>𝛼</m:t>
                      </m:r>
                      <m:f>
                        <m:fPr>
                          <m:ctrlPr>
                            <a:rPr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00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sz="1600" i="0">
                              <a:latin typeface="Cambria Math"/>
                            </a:rPr>
                            <m:t>𝜕</m:t>
                          </m:r>
                          <m:r>
                            <a:rPr sz="1600" i="0">
                              <a:latin typeface="Cambria Math"/>
                              <a:sym typeface="Cambria Math"/>
                            </a:rPr>
                            <m:t>𝑤</m:t>
                          </m:r>
                        </m:den>
                      </m:f>
                      <m:r>
                        <a:rPr sz="1600" i="1">
                          <a:latin typeface="Cambria Math"/>
                        </a:rPr>
                        <m:t>𝑐𝑜𝑠𝑡</m:t>
                      </m:r>
                      <m:r>
                        <a:rPr sz="1600" i="1">
                          <a:latin typeface="Cambria Math"/>
                        </a:rPr>
                        <m:t>(</m:t>
                      </m:r>
                      <m:r>
                        <a:rPr sz="160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6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769" y="4996591"/>
                <a:ext cx="2590800" cy="73342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AA6C962-B2C1-4E6B-A6C6-E579D201B98F}"/>
              </a:ext>
            </a:extLst>
          </p:cNvPr>
          <p:cNvSpPr txBox="1"/>
          <p:nvPr/>
        </p:nvSpPr>
        <p:spPr>
          <a:xfrm>
            <a:off x="4749541" y="4062204"/>
            <a:ext cx="34190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맑은 고딕"/>
                <a:ea typeface="맑은 고딕"/>
                <a:cs typeface="+mj-cs"/>
              </a:rPr>
              <a:t>w = w – </a:t>
            </a:r>
            <a:r>
              <a:rPr lang="ko-KR" altLang="en-US" sz="1600" dirty="0">
                <a:latin typeface="맑은 고딕"/>
                <a:ea typeface="맑은 고딕"/>
                <a:cs typeface="+mj-cs"/>
              </a:rPr>
              <a:t>반영비율 </a:t>
            </a:r>
            <a:r>
              <a:rPr lang="en-US" altLang="ko-KR" sz="1600" dirty="0">
                <a:latin typeface="맑은 고딕"/>
                <a:ea typeface="맑은 고딕"/>
                <a:cs typeface="+mj-cs"/>
              </a:rPr>
              <a:t>x</a:t>
            </a:r>
            <a:r>
              <a:rPr lang="ko-KR" altLang="en-US" sz="1600" dirty="0">
                <a:latin typeface="맑은 고딕"/>
                <a:ea typeface="맑은 고딕"/>
              </a:rPr>
              <a:t> 기울기</a:t>
            </a:r>
            <a:endParaRPr lang="ko-KR" altLang="en-US" sz="1600" dirty="0">
              <a:latin typeface="맑은 고딕"/>
              <a:ea typeface="맑은 고딕"/>
              <a:cs typeface="+mj-cs"/>
            </a:endParaRPr>
          </a:p>
        </p:txBody>
      </p:sp>
      <p:sp>
        <p:nvSpPr>
          <p:cNvPr id="12" name="화살표: 아래쪽 4">
            <a:extLst>
              <a:ext uri="{FF2B5EF4-FFF2-40B4-BE49-F238E27FC236}">
                <a16:creationId xmlns:a16="http://schemas.microsoft.com/office/drawing/2014/main" xmlns="" id="{84A53D4F-8013-4ECF-84F0-C28D3D1BE6AE}"/>
              </a:ext>
            </a:extLst>
          </p:cNvPr>
          <p:cNvSpPr/>
          <p:nvPr/>
        </p:nvSpPr>
        <p:spPr>
          <a:xfrm>
            <a:off x="5986465" y="2701588"/>
            <a:ext cx="240336" cy="308727"/>
          </a:xfrm>
          <a:prstGeom prst="downArrow">
            <a:avLst/>
          </a:prstGeom>
          <a:solidFill>
            <a:srgbClr val="173F95"/>
          </a:solidFill>
          <a:ln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0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13" name="화살표: 아래쪽 10">
            <a:extLst>
              <a:ext uri="{FF2B5EF4-FFF2-40B4-BE49-F238E27FC236}">
                <a16:creationId xmlns:a16="http://schemas.microsoft.com/office/drawing/2014/main" xmlns="" id="{4681C8BD-AE44-4277-BC90-CCD7DB920192}"/>
              </a:ext>
            </a:extLst>
          </p:cNvPr>
          <p:cNvSpPr/>
          <p:nvPr/>
        </p:nvSpPr>
        <p:spPr>
          <a:xfrm>
            <a:off x="6114562" y="4593310"/>
            <a:ext cx="240336" cy="308727"/>
          </a:xfrm>
          <a:prstGeom prst="downArrow">
            <a:avLst/>
          </a:prstGeom>
          <a:solidFill>
            <a:srgbClr val="173F95"/>
          </a:solidFill>
          <a:ln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0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14" name="화살표: 아래쪽 12">
            <a:extLst>
              <a:ext uri="{FF2B5EF4-FFF2-40B4-BE49-F238E27FC236}">
                <a16:creationId xmlns:a16="http://schemas.microsoft.com/office/drawing/2014/main" xmlns="" id="{FA9FEE29-D26B-4F72-9B20-80D04AB41766}"/>
              </a:ext>
            </a:extLst>
          </p:cNvPr>
          <p:cNvSpPr/>
          <p:nvPr/>
        </p:nvSpPr>
        <p:spPr>
          <a:xfrm>
            <a:off x="6131435" y="5710795"/>
            <a:ext cx="240336" cy="308727"/>
          </a:xfrm>
          <a:prstGeom prst="downArrow">
            <a:avLst/>
          </a:prstGeom>
          <a:solidFill>
            <a:srgbClr val="173F95"/>
          </a:solidFill>
          <a:ln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0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170571" y="3968679"/>
            <a:ext cx="3891952" cy="564090"/>
          </a:xfrm>
          <a:prstGeom prst="roundRect">
            <a:avLst>
              <a:gd name="adj" fmla="val 21178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4170571" y="4964290"/>
            <a:ext cx="3891952" cy="667252"/>
          </a:xfrm>
          <a:prstGeom prst="roundRect">
            <a:avLst>
              <a:gd name="adj" fmla="val 19189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4170571" y="6110919"/>
            <a:ext cx="3891952" cy="667252"/>
          </a:xfrm>
          <a:prstGeom prst="roundRect">
            <a:avLst>
              <a:gd name="adj" fmla="val 19189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0" name="직사각형 19"/>
          <p:cNvSpPr/>
          <p:nvPr/>
        </p:nvSpPr>
        <p:spPr>
          <a:xfrm>
            <a:off x="8340021" y="4985359"/>
            <a:ext cx="2276736" cy="104673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α :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학습률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움직이는 양을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조절하는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상수값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(α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크면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크게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작으면 조금씩 업데이트 됨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경사하강법</a:t>
            </a:r>
            <a:r>
              <a:rPr lang="ko-KR" altLang="en-US" dirty="0" smtClean="0"/>
              <a:t> 직접 계산하기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17809"/>
              </p:ext>
            </p:extLst>
          </p:nvPr>
        </p:nvGraphicFramePr>
        <p:xfrm>
          <a:off x="1919485" y="3463663"/>
          <a:ext cx="2247942" cy="1720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9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239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013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dirty="0"/>
                        <a:t>x</a:t>
                      </a:r>
                      <a:endParaRPr lang="ko-KR" altLang="en-US" sz="1800" dirty="0"/>
                    </a:p>
                  </a:txBody>
                  <a:tcPr marL="106060" marR="106060" marT="53030" marB="5303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dirty="0"/>
                        <a:t>y</a:t>
                      </a:r>
                      <a:endParaRPr lang="ko-KR" altLang="en-US" sz="1800" dirty="0"/>
                    </a:p>
                  </a:txBody>
                  <a:tcPr marL="106060" marR="106060" marT="53030" marB="5303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/>
                        <a:t>1</a:t>
                      </a:r>
                      <a:endParaRPr lang="ko-KR" altLang="en-US" sz="1800"/>
                    </a:p>
                  </a:txBody>
                  <a:tcPr marL="106060" marR="106060" marT="53030" marB="5303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dirty="0"/>
                        <a:t>1</a:t>
                      </a:r>
                      <a:endParaRPr lang="ko-KR" altLang="en-US" sz="1800" dirty="0"/>
                    </a:p>
                  </a:txBody>
                  <a:tcPr marL="106060" marR="106060" marT="53030" marB="5303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/>
                        <a:t>2</a:t>
                      </a:r>
                      <a:endParaRPr lang="ko-KR" altLang="en-US" sz="1800"/>
                    </a:p>
                  </a:txBody>
                  <a:tcPr marL="106060" marR="106060" marT="53030" marB="5303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dirty="0"/>
                        <a:t>2.2</a:t>
                      </a:r>
                      <a:endParaRPr lang="ko-KR" altLang="en-US" sz="1800" dirty="0"/>
                    </a:p>
                  </a:txBody>
                  <a:tcPr marL="106060" marR="106060" marT="53030" marB="5303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013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/>
                        <a:t>3</a:t>
                      </a:r>
                      <a:endParaRPr lang="ko-KR" altLang="en-US" sz="1800"/>
                    </a:p>
                  </a:txBody>
                  <a:tcPr marL="106060" marR="106060" marT="53030" marB="5303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dirty="0"/>
                        <a:t>3.4</a:t>
                      </a:r>
                      <a:endParaRPr lang="ko-KR" altLang="en-US" sz="1800" dirty="0"/>
                    </a:p>
                  </a:txBody>
                  <a:tcPr marL="106060" marR="106060" marT="53030" marB="5303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463570" y="1785171"/>
                <a:ext cx="3248025" cy="97155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  <a:ea typeface="맑은 고딕"/>
                        </a:rPr>
                        <m:t>𝑤</m:t>
                      </m:r>
                      <m:r>
                        <a:rPr sz="1600" i="1">
                          <a:latin typeface="Cambria Math"/>
                          <a:ea typeface="맑은 고딕"/>
                          <a:sym typeface="Cambria Math"/>
                        </a:rPr>
                        <m:t>=</m:t>
                      </m:r>
                      <m:r>
                        <a:rPr sz="1600" i="1">
                          <a:latin typeface="Cambria Math"/>
                          <a:ea typeface="맑은 고딕"/>
                        </a:rPr>
                        <m:t>𝑤</m:t>
                      </m:r>
                      <m:r>
                        <a:rPr sz="1600" b="0" i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sz="1600" i="1">
                          <a:latin typeface="Cambria Math"/>
                        </a:rPr>
                        <m:t>𝛼</m:t>
                      </m:r>
                      <m:f>
                        <m:fPr>
                          <m:ctrlPr>
                            <a:rPr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6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600" i="1">
                              <a:latin typeface="Cambria Math"/>
                            </a:rPr>
                            <m:t>𝑖</m:t>
                          </m:r>
                          <m:r>
                            <a:rPr sz="1600" i="1">
                              <a:latin typeface="Cambria Math"/>
                            </a:rPr>
                            <m:t>=</m:t>
                          </m:r>
                          <m:r>
                            <a:rPr sz="160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sz="16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600" i="1">
                                      <a:latin typeface="Cambria Math"/>
                                      <a:ea typeface="맑은 고딕"/>
                                    </a:rPr>
                                    <m:t>𝑤</m:t>
                                  </m:r>
                                  <m:sSup>
                                    <m:sSupPr>
                                      <m:ctrlPr>
                                        <a:rPr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sz="1600" i="1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6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600" b="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1600" b="0" i="1">
                                  <a:latin typeface="Cambria Math"/>
                                </a:rPr>
                                <m:t>(</m:t>
                              </m:r>
                              <m:r>
                                <a:rPr sz="1600" b="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sz="1600" b="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570" y="1785171"/>
                <a:ext cx="3248025" cy="971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/>
          <p:cNvSpPr/>
          <p:nvPr/>
        </p:nvSpPr>
        <p:spPr>
          <a:xfrm>
            <a:off x="4552277" y="3190338"/>
            <a:ext cx="6812409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2 - 0.1×([ (2</a:t>
            </a:r>
            <a:r>
              <a:rPr lang="pl-PL" altLang="ko-KR" sz="1600" dirty="0"/>
              <a:t>×</a:t>
            </a:r>
            <a:r>
              <a:rPr lang="pl-PL" sz="1600" dirty="0"/>
              <a:t>1</a:t>
            </a:r>
            <a:r>
              <a:rPr lang="en-US" sz="1600" dirty="0"/>
              <a:t>-</a:t>
            </a:r>
            <a:r>
              <a:rPr lang="pl-PL" sz="1600" dirty="0"/>
              <a:t>1)</a:t>
            </a:r>
            <a:r>
              <a:rPr lang="pl-PL" altLang="ko-KR" sz="1600" dirty="0"/>
              <a:t> ×</a:t>
            </a:r>
            <a:r>
              <a:rPr lang="pl-PL" sz="1600" dirty="0"/>
              <a:t>1 + (2</a:t>
            </a:r>
            <a:r>
              <a:rPr lang="pl-PL" altLang="ko-KR" sz="1600" dirty="0"/>
              <a:t>×</a:t>
            </a:r>
            <a:r>
              <a:rPr lang="pl-PL" sz="1600" dirty="0"/>
              <a:t>2-2.2)</a:t>
            </a:r>
            <a:r>
              <a:rPr lang="pl-PL" altLang="ko-KR" sz="1600" dirty="0"/>
              <a:t> ×</a:t>
            </a:r>
            <a:r>
              <a:rPr lang="pl-PL" sz="1600" dirty="0"/>
              <a:t>2 + (2</a:t>
            </a:r>
            <a:r>
              <a:rPr lang="pl-PL" altLang="ko-KR" sz="1600" dirty="0"/>
              <a:t>×</a:t>
            </a:r>
            <a:r>
              <a:rPr lang="pl-PL" sz="1600" dirty="0"/>
              <a:t>3-3.4)</a:t>
            </a:r>
            <a:r>
              <a:rPr lang="pl-PL" altLang="ko-KR" sz="1600" dirty="0"/>
              <a:t> ×</a:t>
            </a:r>
            <a:r>
              <a:rPr lang="pl-PL" sz="1600" dirty="0"/>
              <a:t>3 ] /3)</a:t>
            </a:r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2 - 0.1</a:t>
            </a:r>
            <a:r>
              <a:rPr lang="pl-PL" altLang="ko-KR" sz="1600" dirty="0"/>
              <a:t>×</a:t>
            </a:r>
            <a:r>
              <a:rPr lang="en-US" altLang="ko-KR" sz="1600" dirty="0"/>
              <a:t> </a:t>
            </a:r>
            <a:r>
              <a:rPr lang="pl-PL" sz="1600" dirty="0"/>
              <a:t>4.13 = </a:t>
            </a:r>
            <a:r>
              <a:rPr lang="pl-PL" sz="1600" dirty="0" smtClean="0"/>
              <a:t>1.58</a:t>
            </a:r>
            <a:endParaRPr lang="en-US" sz="1600" dirty="0" smtClean="0"/>
          </a:p>
          <a:p>
            <a:pPr lvl="0">
              <a:defRPr/>
            </a:pPr>
            <a:endParaRPr lang="en-US" altLang="ko-KR" sz="1600" dirty="0" smtClean="0"/>
          </a:p>
          <a:p>
            <a:pPr lvl="0">
              <a:defRPr/>
            </a:pPr>
            <a:r>
              <a:rPr lang="en-US" altLang="ko-KR" sz="1600" dirty="0" smtClean="0"/>
              <a:t>w </a:t>
            </a:r>
            <a:r>
              <a:rPr lang="en-US" sz="1600" dirty="0" smtClean="0"/>
              <a:t>= 1.58 </a:t>
            </a:r>
            <a:r>
              <a:rPr lang="pl-PL" altLang="ko-KR" sz="1600" dirty="0" smtClean="0"/>
              <a:t>-</a:t>
            </a:r>
            <a:r>
              <a:rPr lang="en-US" sz="1600" dirty="0" smtClean="0"/>
              <a:t> 0.1</a:t>
            </a:r>
            <a:r>
              <a:rPr lang="pl-PL" altLang="ko-KR" sz="1600" dirty="0" smtClean="0"/>
              <a:t>×</a:t>
            </a:r>
            <a:r>
              <a:rPr lang="en-US" sz="1600" dirty="0" smtClean="0"/>
              <a:t>([1.58</a:t>
            </a:r>
            <a:r>
              <a:rPr lang="pl-PL" altLang="ko-KR" sz="1600" dirty="0" smtClean="0"/>
              <a:t>×</a:t>
            </a:r>
            <a:r>
              <a:rPr lang="en-US" sz="1600" dirty="0" smtClean="0"/>
              <a:t>1-1)</a:t>
            </a:r>
            <a:r>
              <a:rPr lang="pl-PL" altLang="ko-KR" sz="1600" dirty="0" smtClean="0"/>
              <a:t>×</a:t>
            </a:r>
            <a:r>
              <a:rPr lang="en-US" sz="1600" dirty="0" smtClean="0"/>
              <a:t>1 + (1.58</a:t>
            </a:r>
            <a:r>
              <a:rPr lang="pl-PL" altLang="ko-KR" sz="1600" dirty="0" smtClean="0"/>
              <a:t>×</a:t>
            </a:r>
            <a:r>
              <a:rPr lang="en-US" sz="1600" dirty="0" smtClean="0"/>
              <a:t>2-2.2)</a:t>
            </a:r>
            <a:r>
              <a:rPr lang="pl-PL" altLang="ko-KR" sz="1600" dirty="0" smtClean="0"/>
              <a:t>×</a:t>
            </a:r>
            <a:r>
              <a:rPr lang="en-US" sz="1600" dirty="0" smtClean="0"/>
              <a:t>2 + (1.58</a:t>
            </a:r>
            <a:r>
              <a:rPr lang="pl-PL" altLang="ko-KR" sz="1600" dirty="0" smtClean="0"/>
              <a:t>×</a:t>
            </a:r>
            <a:r>
              <a:rPr lang="en-US" sz="1600" dirty="0" smtClean="0"/>
              <a:t>3-3.4)</a:t>
            </a:r>
            <a:r>
              <a:rPr lang="pl-PL" altLang="ko-KR" sz="1600" dirty="0"/>
              <a:t> </a:t>
            </a:r>
            <a:r>
              <a:rPr lang="pl-PL" altLang="ko-KR" sz="1600" dirty="0" smtClean="0"/>
              <a:t>×</a:t>
            </a:r>
            <a:r>
              <a:rPr lang="en-US" sz="1600" dirty="0" smtClean="0"/>
              <a:t>3] / 3)</a:t>
            </a:r>
            <a:endParaRPr lang="pl-PL" sz="1600" dirty="0"/>
          </a:p>
          <a:p>
            <a:pPr lvl="0">
              <a:defRPr/>
            </a:pPr>
            <a:r>
              <a:rPr lang="en-US" sz="1600" dirty="0" smtClean="0"/>
              <a:t>w </a:t>
            </a:r>
            <a:r>
              <a:rPr lang="pl-PL" sz="1600" dirty="0" smtClean="0"/>
              <a:t>= </a:t>
            </a:r>
            <a:r>
              <a:rPr lang="pl-PL" sz="1600" dirty="0"/>
              <a:t>1.58 - 0.1</a:t>
            </a:r>
            <a:r>
              <a:rPr lang="en-US" altLang="ko-KR" sz="1600" dirty="0"/>
              <a:t> </a:t>
            </a:r>
            <a:r>
              <a:rPr lang="pl-PL" altLang="ko-KR" sz="1600" dirty="0"/>
              <a:t>×</a:t>
            </a:r>
            <a:r>
              <a:rPr lang="pl-PL" sz="1600" dirty="0"/>
              <a:t> </a:t>
            </a:r>
            <a:r>
              <a:rPr lang="en-US" sz="1600" dirty="0" smtClean="0"/>
              <a:t>2.17</a:t>
            </a:r>
            <a:r>
              <a:rPr lang="pl-PL" sz="1600" dirty="0"/>
              <a:t> </a:t>
            </a:r>
            <a:r>
              <a:rPr lang="pl-PL" sz="1600" dirty="0" smtClean="0"/>
              <a:t>= </a:t>
            </a:r>
            <a:r>
              <a:rPr lang="pl-PL" sz="1600" dirty="0"/>
              <a:t>1.36</a:t>
            </a:r>
          </a:p>
          <a:p>
            <a:pPr lvl="0">
              <a:defRPr/>
            </a:pPr>
            <a:endParaRPr lang="en-US" altLang="ko-KR" sz="1600" dirty="0" smtClean="0"/>
          </a:p>
          <a:p>
            <a:pPr lvl="0">
              <a:defRPr/>
            </a:pPr>
            <a:r>
              <a:rPr lang="en-US" altLang="ko-KR" sz="1600" dirty="0" smtClean="0"/>
              <a:t>w</a:t>
            </a:r>
            <a:r>
              <a:rPr lang="pl-PL" sz="1600" dirty="0" smtClean="0"/>
              <a:t> </a:t>
            </a:r>
            <a:r>
              <a:rPr lang="pl-PL" sz="1600" dirty="0"/>
              <a:t>= 1.36 - 0.1</a:t>
            </a:r>
            <a:r>
              <a:rPr lang="en-US" altLang="ko-KR" sz="1600" dirty="0"/>
              <a:t> </a:t>
            </a:r>
            <a:r>
              <a:rPr lang="pl-PL" altLang="ko-KR" sz="1600" dirty="0"/>
              <a:t>×</a:t>
            </a:r>
            <a:r>
              <a:rPr lang="pl-PL" sz="1600" dirty="0"/>
              <a:t> 0.62 = 1.18</a:t>
            </a:r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1.18  - 0.1</a:t>
            </a:r>
            <a:r>
              <a:rPr lang="en-US" altLang="ko-KR" sz="1600" dirty="0"/>
              <a:t> </a:t>
            </a:r>
            <a:r>
              <a:rPr lang="pl-PL" altLang="ko-KR" sz="1600" dirty="0"/>
              <a:t>×</a:t>
            </a:r>
            <a:r>
              <a:rPr lang="pl-PL" sz="1600" dirty="0"/>
              <a:t> 0.33 = 1.15</a:t>
            </a:r>
          </a:p>
          <a:p>
            <a:pPr lvl="0">
              <a:defRPr/>
            </a:pPr>
            <a:r>
              <a:rPr lang="en-US" sz="1600" dirty="0" smtClean="0"/>
              <a:t>               </a:t>
            </a:r>
            <a:r>
              <a:rPr lang="en-US" sz="1600" dirty="0"/>
              <a:t>…</a:t>
            </a:r>
          </a:p>
          <a:p>
            <a:pPr lvl="0">
              <a:defRPr/>
            </a:pPr>
            <a:endParaRPr lang="en-US" sz="1600" dirty="0"/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</a:t>
            </a:r>
            <a:r>
              <a:rPr lang="pl-PL" sz="1600" dirty="0" smtClean="0"/>
              <a:t>1.11</a:t>
            </a:r>
            <a:r>
              <a:rPr lang="en-US" sz="1600" dirty="0" smtClean="0"/>
              <a:t>4</a:t>
            </a:r>
            <a:r>
              <a:rPr lang="pl-PL" sz="1600" dirty="0" smtClean="0"/>
              <a:t> </a:t>
            </a:r>
            <a:r>
              <a:rPr lang="pl-PL" sz="1600" dirty="0"/>
              <a:t>- 0.1</a:t>
            </a:r>
            <a:r>
              <a:rPr lang="en-US" altLang="ko-KR" sz="1600" dirty="0"/>
              <a:t> </a:t>
            </a:r>
            <a:r>
              <a:rPr lang="pl-PL" altLang="ko-KR" sz="1600" dirty="0"/>
              <a:t>×</a:t>
            </a:r>
            <a:r>
              <a:rPr lang="pl-PL" sz="1600" dirty="0"/>
              <a:t> 0.00062 =   </a:t>
            </a:r>
            <a:r>
              <a:rPr lang="en-US" sz="1600" dirty="0"/>
              <a:t>1</a:t>
            </a:r>
            <a:r>
              <a:rPr lang="pl-PL" sz="1600" dirty="0" smtClean="0"/>
              <a:t>.11</a:t>
            </a:r>
            <a:r>
              <a:rPr lang="en-US" sz="1600" dirty="0"/>
              <a:t>4</a:t>
            </a:r>
            <a:endParaRPr lang="pl-PL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060462" y="1818245"/>
            <a:ext cx="2448272" cy="1529304"/>
          </a:xfrm>
          <a:prstGeom prst="rect">
            <a:avLst/>
          </a:prstGeom>
        </p:spPr>
        <p:txBody>
          <a:bodyPr wrap="square"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-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y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wx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로 가정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-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2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에서 시작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-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l-GR" altLang="en-US" sz="2000" dirty="0">
                <a:latin typeface="맑은 고딕"/>
                <a:ea typeface="나눔스퀘어 Bold" panose="020B0600000101010101" pitchFamily="50" charset="-127"/>
                <a:cs typeface="+mj-cs"/>
              </a:rPr>
              <a:t>α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0.1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699D9307-FA27-4700-ACBA-8EBCA59998A1}"/>
              </a:ext>
            </a:extLst>
          </p:cNvPr>
          <p:cNvSpPr/>
          <p:nvPr/>
        </p:nvSpPr>
        <p:spPr>
          <a:xfrm>
            <a:off x="5300947" y="6156295"/>
            <a:ext cx="1409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latin typeface="맑은 고딕"/>
                <a:ea typeface="맑은 고딕"/>
              </a:rPr>
              <a:t>y</a:t>
            </a:r>
            <a:r>
              <a:rPr lang="ko-KR" altLang="en-US" sz="2000" dirty="0">
                <a:latin typeface="맑은 고딕"/>
                <a:ea typeface="맑은 고딕"/>
              </a:rPr>
              <a:t> </a:t>
            </a:r>
            <a:r>
              <a:rPr lang="en-US" altLang="ko-KR" sz="2000" dirty="0">
                <a:latin typeface="맑은 고딕"/>
                <a:ea typeface="맑은 고딕"/>
              </a:rPr>
              <a:t>=</a:t>
            </a:r>
            <a:r>
              <a:rPr lang="ko-KR" altLang="en-US" sz="2000" dirty="0">
                <a:latin typeface="맑은 고딕"/>
                <a:ea typeface="맑은 고딕"/>
              </a:rPr>
              <a:t> </a:t>
            </a:r>
            <a:r>
              <a:rPr lang="en-US" altLang="ko-KR" sz="2000" dirty="0" smtClean="0">
                <a:latin typeface="맑은 고딕"/>
                <a:ea typeface="맑은 고딕"/>
              </a:rPr>
              <a:t>1.114x</a:t>
            </a:r>
            <a:endParaRPr lang="ko-KR" altLang="en-US" sz="2000" dirty="0"/>
          </a:p>
        </p:txBody>
      </p:sp>
      <p:sp>
        <p:nvSpPr>
          <p:cNvPr id="25" name="직사각형 24"/>
          <p:cNvSpPr/>
          <p:nvPr/>
        </p:nvSpPr>
        <p:spPr>
          <a:xfrm>
            <a:off x="6920330" y="6193143"/>
            <a:ext cx="1570528" cy="36326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최종 학습모델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4283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경사하강법</a:t>
            </a:r>
            <a:r>
              <a:rPr lang="ko-KR" altLang="en-US" dirty="0" smtClean="0"/>
              <a:t> 직접 계산하기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901304" y="3121620"/>
            <a:ext cx="358250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dirty="0"/>
              <a:t>w </a:t>
            </a:r>
            <a:r>
              <a:rPr lang="pl-PL" sz="1600" dirty="0"/>
              <a:t>= 2 - 0.1 </a:t>
            </a:r>
            <a:r>
              <a:rPr lang="pl-PL" altLang="ko-KR" sz="1600" dirty="0"/>
              <a:t>×</a:t>
            </a:r>
            <a:r>
              <a:rPr lang="pl-PL" sz="1600" dirty="0"/>
              <a:t> 4.13 = 1.58</a:t>
            </a:r>
          </a:p>
          <a:p>
            <a:pPr lvl="0">
              <a:defRPr/>
            </a:pPr>
            <a:r>
              <a:rPr lang="pl-PL" sz="1600" dirty="0"/>
              <a:t>w= 1.58 - 0.1 </a:t>
            </a:r>
            <a:r>
              <a:rPr lang="pl-PL" altLang="ko-KR" sz="1600" dirty="0"/>
              <a:t>×</a:t>
            </a:r>
            <a:r>
              <a:rPr lang="pl-PL" sz="1600" dirty="0"/>
              <a:t> 1.175   = 1.36</a:t>
            </a:r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1.36 - 0.1 </a:t>
            </a:r>
            <a:r>
              <a:rPr lang="pl-PL" altLang="ko-KR" sz="1600" dirty="0"/>
              <a:t>×</a:t>
            </a:r>
            <a:r>
              <a:rPr lang="pl-PL" sz="1600" dirty="0"/>
              <a:t> 0.62 = 1.18</a:t>
            </a:r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1.18  - 0.1</a:t>
            </a:r>
            <a:r>
              <a:rPr lang="en-US" altLang="ko-KR" sz="1600" dirty="0"/>
              <a:t> </a:t>
            </a:r>
            <a:r>
              <a:rPr lang="pl-PL" altLang="ko-KR" sz="1600" dirty="0"/>
              <a:t>×</a:t>
            </a:r>
            <a:r>
              <a:rPr lang="pl-PL" sz="1600" dirty="0"/>
              <a:t> 0.33 = 1.15</a:t>
            </a:r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1.15 - 0.1 </a:t>
            </a:r>
            <a:r>
              <a:rPr lang="pl-PL" altLang="ko-KR" sz="1600" dirty="0"/>
              <a:t>×</a:t>
            </a:r>
            <a:r>
              <a:rPr lang="pl-PL" sz="1600" dirty="0"/>
              <a:t> 0.17 = 1.13</a:t>
            </a:r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1.13 - 0.1</a:t>
            </a:r>
            <a:r>
              <a:rPr lang="en-US" altLang="ko-KR" sz="1600" dirty="0"/>
              <a:t> </a:t>
            </a:r>
            <a:r>
              <a:rPr lang="pl-PL" altLang="ko-KR" sz="1600" dirty="0"/>
              <a:t>×</a:t>
            </a:r>
            <a:r>
              <a:rPr lang="en-US" altLang="ko-KR" sz="1600" dirty="0"/>
              <a:t> </a:t>
            </a:r>
            <a:r>
              <a:rPr lang="pl-PL" sz="1600" dirty="0"/>
              <a:t>0.09 = 1.12..</a:t>
            </a:r>
          </a:p>
          <a:p>
            <a:pPr lvl="0">
              <a:defRPr/>
            </a:pPr>
            <a:endParaRPr lang="en-US" sz="1600" dirty="0"/>
          </a:p>
          <a:p>
            <a:pPr lvl="0">
              <a:defRPr/>
            </a:pPr>
            <a:r>
              <a:rPr lang="en-US" sz="1600" dirty="0"/>
              <a:t>               …</a:t>
            </a:r>
          </a:p>
          <a:p>
            <a:pPr lvl="0">
              <a:defRPr/>
            </a:pPr>
            <a:endParaRPr lang="en-US" sz="1600" dirty="0"/>
          </a:p>
          <a:p>
            <a:pPr lvl="0">
              <a:defRPr/>
            </a:pPr>
            <a:r>
              <a:rPr lang="en-US" altLang="ko-KR" sz="1600" dirty="0"/>
              <a:t>w</a:t>
            </a:r>
            <a:r>
              <a:rPr lang="pl-PL" sz="1600" dirty="0"/>
              <a:t> = </a:t>
            </a:r>
            <a:r>
              <a:rPr lang="pl-PL" sz="1600" dirty="0" smtClean="0"/>
              <a:t>1.11</a:t>
            </a:r>
            <a:r>
              <a:rPr lang="en-US" sz="1600" dirty="0" smtClean="0"/>
              <a:t>4</a:t>
            </a:r>
            <a:r>
              <a:rPr lang="pl-PL" sz="1600" dirty="0" smtClean="0"/>
              <a:t> </a:t>
            </a:r>
            <a:r>
              <a:rPr lang="pl-PL" sz="1600" dirty="0"/>
              <a:t>- 0.1</a:t>
            </a:r>
            <a:r>
              <a:rPr lang="en-US" altLang="ko-KR" sz="1600" dirty="0"/>
              <a:t> </a:t>
            </a:r>
            <a:r>
              <a:rPr lang="pl-PL" altLang="ko-KR" sz="1600" dirty="0"/>
              <a:t>×</a:t>
            </a:r>
            <a:r>
              <a:rPr lang="pl-PL" sz="1600" dirty="0"/>
              <a:t> 0.00062 =   </a:t>
            </a:r>
            <a:r>
              <a:rPr lang="en-US" sz="1600" dirty="0"/>
              <a:t>1</a:t>
            </a:r>
            <a:r>
              <a:rPr lang="pl-PL" sz="1600" dirty="0" smtClean="0"/>
              <a:t>.11</a:t>
            </a:r>
            <a:r>
              <a:rPr lang="en-US" sz="1600" dirty="0" smtClean="0"/>
              <a:t>4</a:t>
            </a:r>
            <a:endParaRPr lang="pl-PL" sz="16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08980" y="3175204"/>
            <a:ext cx="3857652" cy="2606150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23162" y="3103766"/>
            <a:ext cx="857256" cy="470353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9330770" y="5706549"/>
            <a:ext cx="10715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dirty="0"/>
              <a:t>iteration</a:t>
            </a:r>
            <a:endParaRPr lang="ko-KR" altLang="en-US" sz="11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739125" y="2978744"/>
            <a:ext cx="3744686" cy="2970447"/>
          </a:xfrm>
          <a:prstGeom prst="roundRect">
            <a:avLst>
              <a:gd name="adj" fmla="val 10428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19897"/>
            <a:ext cx="91498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정답에서 멀 경우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학습이 빠르게 이루어지고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,</a:t>
            </a:r>
            <a:b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정답에 가까울수록 학습이 </a:t>
            </a:r>
            <a:r>
              <a:rPr lang="ko-KR" altLang="en-US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천천이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이루어짐</a:t>
            </a:r>
            <a:endParaRPr lang="en-US" altLang="ko-KR" sz="4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6208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모서리가 둥근 직사각형 45"/>
          <p:cNvSpPr/>
          <p:nvPr/>
        </p:nvSpPr>
        <p:spPr>
          <a:xfrm>
            <a:off x="6685738" y="3621942"/>
            <a:ext cx="3805930" cy="92364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학습률</a:t>
            </a:r>
            <a:r>
              <a:rPr lang="ko-KR" altLang="en-US" dirty="0" smtClean="0"/>
              <a:t> </a:t>
            </a:r>
            <a:r>
              <a:rPr lang="en-US" altLang="ko-KR" dirty="0" smtClean="0"/>
              <a:t>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696624" y="2333027"/>
            <a:ext cx="4036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조금씩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이동하면 최저 지점을 찾아 감 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이동횟수가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많아져 학습 속도가 느림 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3295031" y="3298801"/>
            <a:ext cx="3734249" cy="3449608"/>
            <a:chOff x="309059" y="2451698"/>
            <a:chExt cx="3734249" cy="3449608"/>
          </a:xfrm>
        </p:grpSpPr>
        <p:grpSp>
          <p:nvGrpSpPr>
            <p:cNvPr id="18" name="그룹 17"/>
            <p:cNvGrpSpPr/>
            <p:nvPr/>
          </p:nvGrpSpPr>
          <p:grpSpPr>
            <a:xfrm>
              <a:off x="309059" y="2451698"/>
              <a:ext cx="3734249" cy="3449608"/>
              <a:chOff x="388408" y="1967090"/>
              <a:chExt cx="4751077" cy="4388929"/>
            </a:xfrm>
          </p:grpSpPr>
          <p:grpSp>
            <p:nvGrpSpPr>
              <p:cNvPr id="26" name="그룹 25"/>
              <p:cNvGrpSpPr/>
              <p:nvPr/>
            </p:nvGrpSpPr>
            <p:grpSpPr>
              <a:xfrm>
                <a:off x="388408" y="1967090"/>
                <a:ext cx="4751077" cy="4388929"/>
                <a:chOff x="584972" y="3334949"/>
                <a:chExt cx="3165075" cy="2923819"/>
              </a:xfrm>
            </p:grpSpPr>
            <p:grpSp>
              <p:nvGrpSpPr>
                <p:cNvPr id="35" name="그룹 34"/>
                <p:cNvGrpSpPr/>
                <p:nvPr/>
              </p:nvGrpSpPr>
              <p:grpSpPr>
                <a:xfrm>
                  <a:off x="866580" y="3694880"/>
                  <a:ext cx="2592288" cy="2376264"/>
                  <a:chOff x="899592" y="3140968"/>
                  <a:chExt cx="2592288" cy="2376264"/>
                </a:xfrm>
              </p:grpSpPr>
              <p:cxnSp>
                <p:nvCxnSpPr>
                  <p:cNvPr id="39" name="직선 화살표 연결선 38"/>
                  <p:cNvCxnSpPr/>
                  <p:nvPr/>
                </p:nvCxnSpPr>
                <p:spPr>
                  <a:xfrm flipV="1">
                    <a:off x="899592" y="3140968"/>
                    <a:ext cx="0" cy="237626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type="triangle"/>
                  </a:ln>
                  <a:effectLst/>
                </p:spPr>
              </p:cxnSp>
              <p:cxnSp>
                <p:nvCxnSpPr>
                  <p:cNvPr id="40" name="직선 화살표 연결선 39"/>
                  <p:cNvCxnSpPr/>
                  <p:nvPr/>
                </p:nvCxnSpPr>
                <p:spPr>
                  <a:xfrm>
                    <a:off x="899592" y="5517232"/>
                    <a:ext cx="2592288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type="triangle"/>
                  </a:ln>
                  <a:effectLst/>
                </p:spPr>
              </p:cxnSp>
            </p:grpSp>
            <p:sp>
              <p:nvSpPr>
                <p:cNvPr id="36" name="TextBox 35"/>
                <p:cNvSpPr txBox="1"/>
                <p:nvPr/>
              </p:nvSpPr>
              <p:spPr>
                <a:xfrm>
                  <a:off x="584971" y="3334949"/>
                  <a:ext cx="563215" cy="3092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1800">
                      <a:latin typeface="맑은 고딕"/>
                      <a:ea typeface="맑은 고딕"/>
                      <a:cs typeface="+mj-cs"/>
                    </a:rPr>
                    <a:t>f(x)</a:t>
                  </a:r>
                  <a:endParaRPr lang="ko-KR" altLang="en-US" sz="1800">
                    <a:latin typeface="맑은 고딕"/>
                    <a:ea typeface="맑은 고딕"/>
                    <a:cs typeface="+mj-cs"/>
                  </a:endParaRP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3487711" y="5889436"/>
                  <a:ext cx="262334" cy="3058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1800">
                      <a:latin typeface="맑은 고딕"/>
                      <a:ea typeface="맑은 고딕"/>
                      <a:cs typeface="+mj-cs"/>
                    </a:rPr>
                    <a:t>x</a:t>
                  </a:r>
                  <a:endParaRPr lang="ko-KR" altLang="en-US" sz="1800">
                    <a:latin typeface="맑은 고딕"/>
                    <a:ea typeface="맑은 고딕"/>
                    <a:cs typeface="+mj-cs"/>
                  </a:endParaRPr>
                </a:p>
              </p:txBody>
            </p:sp>
            <p:sp>
              <p:nvSpPr>
                <p:cNvPr id="38" name="자유형: 도형 60"/>
                <p:cNvSpPr/>
                <p:nvPr/>
              </p:nvSpPr>
              <p:spPr>
                <a:xfrm>
                  <a:off x="859742" y="3935688"/>
                  <a:ext cx="2628900" cy="1801976"/>
                </a:xfrm>
                <a:custGeom>
                  <a:avLst/>
                  <a:gdLst>
                    <a:gd name="connsiteX0" fmla="*/ 0 w 2628900"/>
                    <a:gd name="connsiteY0" fmla="*/ 8307 h 1801976"/>
                    <a:gd name="connsiteX1" fmla="*/ 158262 w 2628900"/>
                    <a:gd name="connsiteY1" fmla="*/ 52269 h 1801976"/>
                    <a:gd name="connsiteX2" fmla="*/ 369277 w 2628900"/>
                    <a:gd name="connsiteY2" fmla="*/ 403961 h 1801976"/>
                    <a:gd name="connsiteX3" fmla="*/ 844062 w 2628900"/>
                    <a:gd name="connsiteY3" fmla="*/ 1379907 h 1801976"/>
                    <a:gd name="connsiteX4" fmla="*/ 1362808 w 2628900"/>
                    <a:gd name="connsiteY4" fmla="*/ 1775561 h 1801976"/>
                    <a:gd name="connsiteX5" fmla="*/ 1907931 w 2628900"/>
                    <a:gd name="connsiteY5" fmla="*/ 1731599 h 1801976"/>
                    <a:gd name="connsiteX6" fmla="*/ 2242038 w 2628900"/>
                    <a:gd name="connsiteY6" fmla="*/ 1459038 h 1801976"/>
                    <a:gd name="connsiteX7" fmla="*/ 2540977 w 2628900"/>
                    <a:gd name="connsiteY7" fmla="*/ 913915 h 1801976"/>
                    <a:gd name="connsiteX8" fmla="*/ 2628900 w 2628900"/>
                    <a:gd name="connsiteY8" fmla="*/ 702899 h 1801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28900" h="1801976">
                      <a:moveTo>
                        <a:pt x="0" y="8307"/>
                      </a:moveTo>
                      <a:cubicBezTo>
                        <a:pt x="48358" y="-2683"/>
                        <a:pt x="96716" y="-13673"/>
                        <a:pt x="158262" y="52269"/>
                      </a:cubicBezTo>
                      <a:cubicBezTo>
                        <a:pt x="219808" y="118211"/>
                        <a:pt x="254977" y="182688"/>
                        <a:pt x="369277" y="403961"/>
                      </a:cubicBezTo>
                      <a:cubicBezTo>
                        <a:pt x="483577" y="625234"/>
                        <a:pt x="678474" y="1151307"/>
                        <a:pt x="844062" y="1379907"/>
                      </a:cubicBezTo>
                      <a:cubicBezTo>
                        <a:pt x="1009650" y="1608507"/>
                        <a:pt x="1185497" y="1716946"/>
                        <a:pt x="1362808" y="1775561"/>
                      </a:cubicBezTo>
                      <a:cubicBezTo>
                        <a:pt x="1540119" y="1834176"/>
                        <a:pt x="1761393" y="1784353"/>
                        <a:pt x="1907931" y="1731599"/>
                      </a:cubicBezTo>
                      <a:cubicBezTo>
                        <a:pt x="2054469" y="1678845"/>
                        <a:pt x="2136530" y="1595319"/>
                        <a:pt x="2242038" y="1459038"/>
                      </a:cubicBezTo>
                      <a:cubicBezTo>
                        <a:pt x="2347546" y="1322757"/>
                        <a:pt x="2476500" y="1039938"/>
                        <a:pt x="2540977" y="913915"/>
                      </a:cubicBezTo>
                      <a:cubicBezTo>
                        <a:pt x="2605454" y="787892"/>
                        <a:pt x="2617177" y="745395"/>
                        <a:pt x="2628900" y="702899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>
                    <a:solidFill>
                      <a:schemeClr val="tx1"/>
                    </a:solidFill>
                    <a:effectLst/>
                    <a:latin typeface="Times New Roman"/>
                    <a:ea typeface="굴림"/>
                  </a:endParaRPr>
                </a:p>
              </p:txBody>
            </p:sp>
          </p:grpSp>
          <p:sp>
            <p:nvSpPr>
              <p:cNvPr id="27" name="타원 26"/>
              <p:cNvSpPr/>
              <p:nvPr/>
            </p:nvSpPr>
            <p:spPr>
              <a:xfrm flipV="1">
                <a:off x="941550" y="2839722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 flipV="1">
                <a:off x="1205565" y="3230917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29" name="타원 28"/>
              <p:cNvSpPr/>
              <p:nvPr/>
            </p:nvSpPr>
            <p:spPr>
              <a:xfrm flipV="1">
                <a:off x="1506391" y="3908056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30" name="타원 29"/>
              <p:cNvSpPr/>
              <p:nvPr/>
            </p:nvSpPr>
            <p:spPr>
              <a:xfrm flipV="1">
                <a:off x="2377436" y="5263480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31" name="타원 30"/>
              <p:cNvSpPr/>
              <p:nvPr/>
            </p:nvSpPr>
            <p:spPr>
              <a:xfrm flipV="1">
                <a:off x="2627472" y="5419975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32" name="타원 31"/>
              <p:cNvSpPr/>
              <p:nvPr/>
            </p:nvSpPr>
            <p:spPr>
              <a:xfrm flipV="1">
                <a:off x="1888510" y="4716364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33" name="타원 32"/>
              <p:cNvSpPr/>
              <p:nvPr/>
            </p:nvSpPr>
            <p:spPr>
              <a:xfrm flipV="1">
                <a:off x="2851700" y="5489394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34" name="타원 33"/>
              <p:cNvSpPr/>
              <p:nvPr/>
            </p:nvSpPr>
            <p:spPr>
              <a:xfrm flipV="1">
                <a:off x="3026851" y="5510754"/>
                <a:ext cx="126075" cy="126075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</p:grpSp>
        <p:sp>
          <p:nvSpPr>
            <p:cNvPr id="19" name="원호 18"/>
            <p:cNvSpPr/>
            <p:nvPr/>
          </p:nvSpPr>
          <p:spPr>
            <a:xfrm rot="5692780" flipH="1">
              <a:off x="493720" y="3196735"/>
              <a:ext cx="599285" cy="505668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type="arrow" w="med" len="med"/>
              <a:tailEnd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0" name="원호 19"/>
            <p:cNvSpPr/>
            <p:nvPr/>
          </p:nvSpPr>
          <p:spPr>
            <a:xfrm rot="5692780" flipH="1">
              <a:off x="541662" y="3719185"/>
              <a:ext cx="939254" cy="494345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type="arrow" w="med" len="med"/>
              <a:tailEnd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1" name="원호 20"/>
            <p:cNvSpPr/>
            <p:nvPr/>
          </p:nvSpPr>
          <p:spPr>
            <a:xfrm rot="5692780" flipH="1">
              <a:off x="667778" y="4288204"/>
              <a:ext cx="1161557" cy="651165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type="arrow" w="med" len="med"/>
              <a:tailEnd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2" name="원호 21"/>
            <p:cNvSpPr/>
            <p:nvPr/>
          </p:nvSpPr>
          <p:spPr>
            <a:xfrm rot="5692780" flipH="1">
              <a:off x="1156624" y="4670106"/>
              <a:ext cx="794149" cy="75146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type="arrow" w="med" len="med"/>
              <a:tailEnd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3" name="원호 22"/>
            <p:cNvSpPr/>
            <p:nvPr/>
          </p:nvSpPr>
          <p:spPr>
            <a:xfrm rot="5692780" flipH="1">
              <a:off x="1788212" y="4917977"/>
              <a:ext cx="202686" cy="49313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type="arrow" w="med" len="med"/>
              <a:tailEnd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4" name="원호 23"/>
            <p:cNvSpPr/>
            <p:nvPr/>
          </p:nvSpPr>
          <p:spPr>
            <a:xfrm rot="3918497" flipH="1">
              <a:off x="2053268" y="5157796"/>
              <a:ext cx="288522" cy="24925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type="arrow" w="med" len="med"/>
              <a:tailEnd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5" name="원호 24"/>
            <p:cNvSpPr/>
            <p:nvPr/>
          </p:nvSpPr>
          <p:spPr>
            <a:xfrm rot="3918497" flipH="1">
              <a:off x="2268456" y="5176559"/>
              <a:ext cx="163331" cy="229097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miter/>
              <a:headEnd type="arrow" w="med" len="med"/>
              <a:tailEnd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cxnSp>
        <p:nvCxnSpPr>
          <p:cNvPr id="41" name="직선 화살표 연결선 40"/>
          <p:cNvCxnSpPr>
            <a:cxnSpLocks/>
          </p:cNvCxnSpPr>
          <p:nvPr/>
        </p:nvCxnSpPr>
        <p:spPr>
          <a:xfrm flipH="1">
            <a:off x="4009413" y="4086726"/>
            <a:ext cx="2613142" cy="169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7"/>
              <p:cNvSpPr txBox="1"/>
              <p:nvPr/>
            </p:nvSpPr>
            <p:spPr>
              <a:xfrm>
                <a:off x="6719768" y="3654699"/>
                <a:ext cx="3771900" cy="10763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b="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800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sz="1800" b="0" i="0">
                          <a:latin typeface="Cambria Math"/>
                          <a:ea typeface="Cambria Math"/>
                          <a:sym typeface="Cambria Math"/>
                        </a:rPr>
                        <m:t>= </m:t>
                      </m:r>
                      <m:r>
                        <a:rPr sz="1800" b="0" i="0">
                          <a:latin typeface="Cambria Math"/>
                          <a:ea typeface="Cambria Math"/>
                          <a:sym typeface="Cambria Math"/>
                        </a:rPr>
                        <m:t>𝑤</m:t>
                      </m:r>
                      <m:r>
                        <a:rPr sz="1800" b="0" i="0">
                          <a:latin typeface="Cambria Math"/>
                          <a:ea typeface="Cambria Math"/>
                        </a:rPr>
                        <m:t> −</m:t>
                      </m:r>
                      <m:r>
                        <a:rPr sz="1800" i="1">
                          <a:latin typeface="Cambria Math"/>
                        </a:rPr>
                        <m:t>𝛼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800" i="1">
                              <a:latin typeface="Cambria Math"/>
                            </a:rPr>
                            <m:t>𝑖</m:t>
                          </m:r>
                          <m:r>
                            <a:rPr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𝑤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sz="1800" i="1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800" b="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1800" b="0" i="1">
                                  <a:latin typeface="Cambria Math"/>
                                </a:rPr>
                                <m:t>(</m:t>
                              </m:r>
                              <m:r>
                                <a:rPr sz="1800" b="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sz="1800" b="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2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768" y="3654699"/>
                <a:ext cx="3771900" cy="107632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모서리가 둥근 직사각형 42"/>
          <p:cNvSpPr/>
          <p:nvPr/>
        </p:nvSpPr>
        <p:spPr>
          <a:xfrm>
            <a:off x="2869472" y="1773014"/>
            <a:ext cx="1967446" cy="418644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α</a:t>
            </a:r>
            <a:r>
              <a:rPr lang="ko-KR" altLang="en-US" sz="28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가 작은 경우</a:t>
            </a:r>
            <a:endParaRPr lang="ko-KR" altLang="en-US" sz="28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7544135" y="1773014"/>
            <a:ext cx="1967446" cy="418644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α</a:t>
            </a:r>
            <a:r>
              <a:rPr lang="ko-KR" altLang="en-US" sz="28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가 큰 경우</a:t>
            </a:r>
            <a:endParaRPr lang="ko-KR" altLang="en-US" sz="28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818545" y="2333027"/>
            <a:ext cx="3418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최저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지점을 빠르게 찾아 감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 algn="ctr">
              <a:defRPr/>
            </a:pPr>
            <a:r>
              <a:rPr lang="ko-KR" altLang="en-US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최저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지점을 지나칠 수 있음</a:t>
            </a:r>
          </a:p>
        </p:txBody>
      </p:sp>
    </p:spTree>
    <p:extLst>
      <p:ext uri="{BB962C8B-B14F-4D97-AF65-F5344CB8AC3E}">
        <p14:creationId xmlns:p14="http://schemas.microsoft.com/office/powerpoint/2010/main" val="31953305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w, b</a:t>
            </a:r>
            <a:r>
              <a:rPr lang="ko-KR" altLang="en-US" dirty="0" smtClean="0"/>
              <a:t>에 대한 </a:t>
            </a:r>
            <a:r>
              <a:rPr lang="ko-KR" altLang="en-US" dirty="0" err="1" smtClean="0"/>
              <a:t>경사하강법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pSp>
        <p:nvGrpSpPr>
          <p:cNvPr id="47" name="그룹 23"/>
          <p:cNvGrpSpPr/>
          <p:nvPr/>
        </p:nvGrpSpPr>
        <p:grpSpPr>
          <a:xfrm>
            <a:off x="6508535" y="5471674"/>
            <a:ext cx="4375770" cy="884676"/>
            <a:chOff x="705298" y="3085254"/>
            <a:chExt cx="3295650" cy="884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705298" y="3085254"/>
                  <a:ext cx="3295650" cy="56197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800">
                            <a:latin typeface="Cambria Math"/>
                            <a:sym typeface="Cambria Math"/>
                          </a:rPr>
                          <m:t>𝑚𝑖𝑛𝑖𝑚𝑖𝑧𝑒</m:t>
                        </m:r>
                        <m:r>
                          <a:rPr sz="2800" b="0" i="1">
                            <a:latin typeface="Cambria Math"/>
                          </a:rPr>
                          <m:t> </m:t>
                        </m:r>
                        <m:r>
                          <a:rPr sz="2800" b="0" i="1">
                            <a:latin typeface="Cambria Math"/>
                          </a:rPr>
                          <m:t>𝑐𝑜𝑠𝑡</m:t>
                        </m:r>
                        <m:r>
                          <a:rPr sz="2800" b="0" i="1">
                            <a:latin typeface="Cambria Math"/>
                          </a:rPr>
                          <m:t>(</m:t>
                        </m:r>
                        <m:r>
                          <a:rPr sz="2800" b="0" i="1">
                            <a:latin typeface="Cambria Math"/>
                          </a:rPr>
                          <m:t>𝑤</m:t>
                        </m:r>
                        <m:r>
                          <a:rPr sz="2800" b="0" i="1">
                            <a:latin typeface="Cambria Math"/>
                          </a:rPr>
                          <m:t>,</m:t>
                        </m:r>
                        <m:r>
                          <a:rPr sz="2800" b="0" i="1">
                            <a:latin typeface="Cambria Math"/>
                          </a:rPr>
                          <m:t>𝑏</m:t>
                        </m:r>
                        <m:r>
                          <a:rPr sz="2800" b="0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298" y="3085254"/>
                  <a:ext cx="3295650" cy="5619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1530946" y="3474630"/>
                  <a:ext cx="742950" cy="495300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400" b="0" i="1">
                            <a:latin typeface="Cambria Math"/>
                          </a:rPr>
                          <m:t>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2400" b="0" i="1">
                            <a:latin typeface="Cambria Math"/>
                            <a:sym typeface="Cambria Math"/>
                          </a:rPr>
                          <m:t> </m:t>
                        </m:r>
                        <m:r>
                          <a:rPr sz="2400" b="0" i="1">
                            <a:latin typeface="Cambria Math"/>
                            <a:sym typeface="Cambria Math"/>
                          </a:rPr>
                          <m:t>𝑏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946" y="3474630"/>
                  <a:ext cx="742950" cy="4953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그룹 27"/>
          <p:cNvGrpSpPr/>
          <p:nvPr/>
        </p:nvGrpSpPr>
        <p:grpSpPr>
          <a:xfrm>
            <a:off x="1653248" y="2121907"/>
            <a:ext cx="4552864" cy="2904421"/>
            <a:chOff x="-11105" y="980728"/>
            <a:chExt cx="4552864" cy="2904421"/>
          </a:xfrm>
        </p:grpSpPr>
        <p:grpSp>
          <p:nvGrpSpPr>
            <p:cNvPr id="51" name="그룹 2"/>
            <p:cNvGrpSpPr/>
            <p:nvPr/>
          </p:nvGrpSpPr>
          <p:grpSpPr>
            <a:xfrm>
              <a:off x="-11105" y="980728"/>
              <a:ext cx="4552864" cy="2904421"/>
              <a:chOff x="1491235" y="3947061"/>
              <a:chExt cx="4552864" cy="2904421"/>
            </a:xfrm>
          </p:grpSpPr>
          <p:grpSp>
            <p:nvGrpSpPr>
              <p:cNvPr id="53" name="그룹 4"/>
              <p:cNvGrpSpPr/>
              <p:nvPr/>
            </p:nvGrpSpPr>
            <p:grpSpPr>
              <a:xfrm>
                <a:off x="1491235" y="3947061"/>
                <a:ext cx="4552864" cy="2904421"/>
                <a:chOff x="934418" y="3877017"/>
                <a:chExt cx="4552864" cy="2904421"/>
              </a:xfrm>
            </p:grpSpPr>
            <p:grpSp>
              <p:nvGrpSpPr>
                <p:cNvPr id="61" name="그룹 60"/>
                <p:cNvGrpSpPr/>
                <p:nvPr/>
              </p:nvGrpSpPr>
              <p:grpSpPr>
                <a:xfrm>
                  <a:off x="1907704" y="4077072"/>
                  <a:ext cx="3384376" cy="2304256"/>
                  <a:chOff x="2699792" y="4293096"/>
                  <a:chExt cx="3384376" cy="2304256"/>
                </a:xfrm>
              </p:grpSpPr>
              <p:cxnSp>
                <p:nvCxnSpPr>
                  <p:cNvPr id="64" name="직선 화살표 연결선 63"/>
                  <p:cNvCxnSpPr/>
                  <p:nvPr/>
                </p:nvCxnSpPr>
                <p:spPr>
                  <a:xfrm flipV="1">
                    <a:off x="2699792" y="4293096"/>
                    <a:ext cx="0" cy="2304256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type="triangle"/>
                  </a:ln>
                  <a:effectLst/>
                </p:spPr>
              </p:cxnSp>
              <p:cxnSp>
                <p:nvCxnSpPr>
                  <p:cNvPr id="65" name="직선 화살표 연결선 64"/>
                  <p:cNvCxnSpPr/>
                  <p:nvPr/>
                </p:nvCxnSpPr>
                <p:spPr>
                  <a:xfrm>
                    <a:off x="2699792" y="6577027"/>
                    <a:ext cx="3384376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type="triangle"/>
                  </a:ln>
                  <a:effectLst/>
                </p:spPr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934418" y="3877017"/>
                      <a:ext cx="755207" cy="400110"/>
                    </a:xfrm>
                    <a:prstGeom prst="rect">
                      <a:avLst/>
                    </a:prstGeom>
                    <a:noFill/>
                  </p:spPr>
                  <p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  <m:t>𝑐𝑜𝑠𝑡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  <m:r>
                              <a:rPr lang="en-US" altLang="ko-KR" sz="2000" b="0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dirty="0"/>
                    </a:p>
                  </p:txBody>
                </p:sp>
              </mc:Choice>
              <mc:Fallback xmlns="">
                <p:sp>
                  <p:nvSpPr>
                    <p:cNvPr id="16" name="Text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4418" y="3877017"/>
                      <a:ext cx="755207" cy="4001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45161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/>
                    <p:cNvSpPr txBox="1"/>
                    <p:nvPr/>
                  </p:nvSpPr>
                  <p:spPr>
                    <a:xfrm>
                      <a:off x="5016192" y="6381328"/>
                      <a:ext cx="471090" cy="400110"/>
                    </a:xfrm>
                    <a:prstGeom prst="rect">
                      <a:avLst/>
                    </a:prstGeom>
                    <a:noFill/>
                  </p:spPr>
                  <p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 xmlns:c="http://schemas.openxmlformats.org/drawingml/2006/chart" xmlns:dgm="http://schemas.openxmlformats.org/drawingml/2006/diagram" xmlns:dsp="http://schemas.microsoft.com/office/drawing/2008/diagram">
                <p:sp>
                  <p:nvSpPr>
                    <p:cNvPr id="17" name=""/>
                    <p:cNvSpPr txBox="1"/>
                    <p:nvPr/>
                  </p:nvSpPr>
                  <p:spPr>
                    <a:xfrm>
                      <a:off x="5016192" y="6381328"/>
                      <a:ext cx="471090" cy="400110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/>
                      </a:stretch>
                    </a:blipFill>
                  </p:spPr>
                </p:sp>
              </mc:Fallback>
            </mc:AlternateContent>
          </p:grpSp>
          <p:grpSp>
            <p:nvGrpSpPr>
              <p:cNvPr id="54" name="그룹 5"/>
              <p:cNvGrpSpPr/>
              <p:nvPr/>
            </p:nvGrpSpPr>
            <p:grpSpPr>
              <a:xfrm>
                <a:off x="2672862" y="4501662"/>
                <a:ext cx="3024553" cy="1521743"/>
                <a:chOff x="2672862" y="4501662"/>
                <a:chExt cx="3024553" cy="1521743"/>
              </a:xfrm>
            </p:grpSpPr>
            <p:grpSp>
              <p:nvGrpSpPr>
                <p:cNvPr id="55" name="그룹 6"/>
                <p:cNvGrpSpPr/>
                <p:nvPr/>
              </p:nvGrpSpPr>
              <p:grpSpPr>
                <a:xfrm>
                  <a:off x="2672862" y="4501662"/>
                  <a:ext cx="3024553" cy="1521743"/>
                  <a:chOff x="2672862" y="4501662"/>
                  <a:chExt cx="3024553" cy="1521743"/>
                </a:xfrm>
              </p:grpSpPr>
              <p:grpSp>
                <p:nvGrpSpPr>
                  <p:cNvPr id="57" name="그룹 8"/>
                  <p:cNvGrpSpPr/>
                  <p:nvPr/>
                </p:nvGrpSpPr>
                <p:grpSpPr>
                  <a:xfrm>
                    <a:off x="2672862" y="4501662"/>
                    <a:ext cx="3024553" cy="1521743"/>
                    <a:chOff x="2672862" y="4501662"/>
                    <a:chExt cx="3024553" cy="1521743"/>
                  </a:xfrm>
                </p:grpSpPr>
                <p:sp>
                  <p:nvSpPr>
                    <p:cNvPr id="59" name="자유형: 도형 11"/>
                    <p:cNvSpPr/>
                    <p:nvPr/>
                  </p:nvSpPr>
                  <p:spPr>
                    <a:xfrm>
                      <a:off x="2672862" y="4501662"/>
                      <a:ext cx="3024553" cy="1521743"/>
                    </a:xfrm>
                    <a:custGeom>
                      <a:avLst/>
                      <a:gdLst>
                        <a:gd name="connsiteX0" fmla="*/ 0 w 3024553"/>
                        <a:gd name="connsiteY0" fmla="*/ 0 h 1521743"/>
                        <a:gd name="connsiteX1" fmla="*/ 457200 w 3024553"/>
                        <a:gd name="connsiteY1" fmla="*/ 1143000 h 1521743"/>
                        <a:gd name="connsiteX2" fmla="*/ 1749669 w 3024553"/>
                        <a:gd name="connsiteY2" fmla="*/ 1521069 h 1521743"/>
                        <a:gd name="connsiteX3" fmla="*/ 2628900 w 3024553"/>
                        <a:gd name="connsiteY3" fmla="*/ 1222130 h 1521743"/>
                        <a:gd name="connsiteX4" fmla="*/ 3024553 w 3024553"/>
                        <a:gd name="connsiteY4" fmla="*/ 747346 h 1521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024553" h="1521743">
                          <a:moveTo>
                            <a:pt x="0" y="0"/>
                          </a:moveTo>
                          <a:cubicBezTo>
                            <a:pt x="82794" y="444744"/>
                            <a:pt x="165589" y="889489"/>
                            <a:pt x="457200" y="1143000"/>
                          </a:cubicBezTo>
                          <a:cubicBezTo>
                            <a:pt x="748812" y="1396512"/>
                            <a:pt x="1387719" y="1507881"/>
                            <a:pt x="1749669" y="1521069"/>
                          </a:cubicBezTo>
                          <a:cubicBezTo>
                            <a:pt x="2111619" y="1534257"/>
                            <a:pt x="2416419" y="1351084"/>
                            <a:pt x="2628900" y="1222130"/>
                          </a:cubicBezTo>
                          <a:cubicBezTo>
                            <a:pt x="2841381" y="1093176"/>
                            <a:pt x="2932967" y="920261"/>
                            <a:pt x="3024553" y="747346"/>
                          </a:cubicBezTo>
                        </a:path>
                      </a:pathLst>
                    </a:custGeom>
                    <a:noFill/>
                    <a:ln w="38100" cap="flat" cmpd="sng" algn="ctr">
                      <a:solidFill>
                        <a:srgbClr val="FF0000"/>
                      </a:solidFill>
                      <a:prstDash val="solid"/>
                      <a:miter/>
                      <a:headEnd w="med" len="med"/>
                      <a:tailEnd w="med" len="med"/>
                    </a:ln>
                    <a:effectLst/>
                  </p:spPr>
                  <p:txBody>
                    <a:bodyPr vert="horz" wrap="none" lIns="91440" tIns="45720" rIns="91440" bIns="45720" anchor="t" anchorCtr="0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24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Times New Roman"/>
                        <a:ea typeface="굴림"/>
                      </a:endParaRPr>
                    </a:p>
                  </p:txBody>
                </p:sp>
                <p:cxnSp>
                  <p:nvCxnSpPr>
                    <p:cNvPr id="60" name="직선 연결선 59"/>
                    <p:cNvCxnSpPr/>
                    <p:nvPr/>
                  </p:nvCxnSpPr>
                  <p:spPr>
                    <a:xfrm>
                      <a:off x="2672862" y="5085184"/>
                      <a:ext cx="530986" cy="72008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chemeClr val="tx1"/>
                      </a:solidFill>
                      <a:prstDash val="solid"/>
                      <a:miter/>
                      <a:headEnd w="med" len="med"/>
                      <a:tailEnd w="med" len="med"/>
                    </a:ln>
                    <a:effectLst/>
                  </p:spPr>
                </p:cxnSp>
              </p:grpSp>
              <p:sp>
                <p:nvSpPr>
                  <p:cNvPr id="58" name="타원 57"/>
                  <p:cNvSpPr/>
                  <p:nvPr/>
                </p:nvSpPr>
                <p:spPr>
                  <a:xfrm>
                    <a:off x="2866347" y="5373216"/>
                    <a:ext cx="144016" cy="144016"/>
                  </a:xfrm>
                  <a:prstGeom prst="ellipse">
                    <a:avLst/>
                  </a:prstGeom>
                  <a:solidFill>
                    <a:srgbClr val="002060"/>
                  </a:solidFill>
                  <a:ln w="9525" cap="flat" cmpd="sng" algn="ctr">
                    <a:noFill/>
                    <a:prstDash val="solid"/>
                    <a:miter/>
                    <a:headEnd w="med" len="med"/>
                    <a:tailEnd w="med" len="med"/>
                  </a:ln>
                  <a:effectLst/>
                </p:spPr>
                <p:txBody>
                  <a:bodyPr vert="horz" wrap="none" lIns="91440" tIns="45720" rIns="91440" bIns="45720" anchor="t" anchorCtr="0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FontTx/>
                      <a:buNone/>
                      <a:defRPr/>
                    </a:pPr>
                    <a:endParaRPr kumimoji="1" lang="ko-KR" altLang="en-US" sz="2400" b="0" i="0" u="none" strike="noStrike" cap="none" normalizeH="0" baseline="0">
                      <a:solidFill>
                        <a:schemeClr val="tx1"/>
                      </a:solidFill>
                      <a:effectLst/>
                      <a:latin typeface="Times New Roman"/>
                      <a:ea typeface="굴림"/>
                    </a:endParaRPr>
                  </a:p>
                </p:txBody>
              </p:sp>
            </p:grpSp>
            <p:cxnSp>
              <p:nvCxnSpPr>
                <p:cNvPr id="56" name="직선 화살표 연결선 55"/>
                <p:cNvCxnSpPr/>
                <p:nvPr/>
              </p:nvCxnSpPr>
              <p:spPr>
                <a:xfrm>
                  <a:off x="2887438" y="5394307"/>
                  <a:ext cx="763946" cy="483634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dash"/>
                  <a:miter/>
                  <a:headEnd w="med" len="med"/>
                  <a:tailEnd type="triangle"/>
                </a:ln>
                <a:effectLst/>
              </p:spPr>
            </p:cxnSp>
          </p:grpSp>
        </p:grpSp>
        <p:sp>
          <p:nvSpPr>
            <p:cNvPr id="52" name="TextBox 51"/>
            <p:cNvSpPr txBox="1"/>
            <p:nvPr/>
          </p:nvSpPr>
          <p:spPr>
            <a:xfrm>
              <a:off x="1444209" y="2146165"/>
              <a:ext cx="800219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1600">
                  <a:latin typeface="맑은 고딕"/>
                  <a:ea typeface="맑은 고딕"/>
                  <a:cs typeface="+mj-cs"/>
                </a:rPr>
                <a:t>시작점</a:t>
              </a:r>
            </a:p>
          </p:txBody>
        </p:sp>
      </p:grpSp>
      <p:grpSp>
        <p:nvGrpSpPr>
          <p:cNvPr id="66" name="그룹 31"/>
          <p:cNvGrpSpPr/>
          <p:nvPr/>
        </p:nvGrpSpPr>
        <p:grpSpPr>
          <a:xfrm>
            <a:off x="6347233" y="2486745"/>
            <a:ext cx="3931616" cy="2373344"/>
            <a:chOff x="4712560" y="1597921"/>
            <a:chExt cx="3931616" cy="2373344"/>
          </a:xfrm>
        </p:grpSpPr>
        <p:pic>
          <p:nvPicPr>
            <p:cNvPr id="67" name="Picture 2"/>
            <p:cNvPicPr>
              <a:picLocks noChangeAspect="1" noChangeArrowheads="1"/>
            </p:cNvPicPr>
            <p:nvPr/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5614468" y="1597921"/>
              <a:ext cx="3029708" cy="237334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4712560" y="2415261"/>
                  <a:ext cx="1512168" cy="369332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2560" y="2415261"/>
                  <a:ext cx="1512168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TextBox 68"/>
          <p:cNvSpPr txBox="1"/>
          <p:nvPr/>
        </p:nvSpPr>
        <p:spPr>
          <a:xfrm>
            <a:off x="9599863" y="4400033"/>
            <a:ext cx="329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/>
              <a:t>w</a:t>
            </a:r>
            <a:endParaRPr lang="ko-KR" altLang="en-US" sz="1600"/>
          </a:p>
        </p:txBody>
      </p:sp>
      <p:sp>
        <p:nvSpPr>
          <p:cNvPr id="70" name="TextBox 69"/>
          <p:cNvSpPr txBox="1"/>
          <p:nvPr/>
        </p:nvSpPr>
        <p:spPr>
          <a:xfrm>
            <a:off x="8028227" y="4542909"/>
            <a:ext cx="2914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/>
              <a:t>b</a:t>
            </a:r>
            <a:endParaRPr lang="ko-KR" altLang="en-US" sz="1600"/>
          </a:p>
        </p:txBody>
      </p:sp>
      <p:grpSp>
        <p:nvGrpSpPr>
          <p:cNvPr id="71" name="그룹 23">
            <a:extLst>
              <a:ext uri="{FF2B5EF4-FFF2-40B4-BE49-F238E27FC236}">
                <a16:creationId xmlns:a16="http://schemas.microsoft.com/office/drawing/2014/main" xmlns="" id="{3D772B8F-FFF8-4F8A-8313-D97E7F9159C9}"/>
              </a:ext>
            </a:extLst>
          </p:cNvPr>
          <p:cNvGrpSpPr/>
          <p:nvPr/>
        </p:nvGrpSpPr>
        <p:grpSpPr>
          <a:xfrm>
            <a:off x="1956028" y="5461283"/>
            <a:ext cx="4375770" cy="884676"/>
            <a:chOff x="705298" y="3085254"/>
            <a:chExt cx="3295650" cy="884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xmlns="" id="{76A4B123-A24A-4B0D-8A3C-FB49E82B4E7C}"/>
                    </a:ext>
                  </a:extLst>
                </p:cNvPr>
                <p:cNvSpPr txBox="1"/>
                <p:nvPr/>
              </p:nvSpPr>
              <p:spPr>
                <a:xfrm>
                  <a:off x="705298" y="3085254"/>
                  <a:ext cx="3295650" cy="56197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800">
                            <a:latin typeface="Cambria Math"/>
                            <a:sym typeface="Cambria Math"/>
                          </a:rPr>
                          <m:t>𝑚𝑖𝑛𝑖𝑚𝑖𝑧𝑒</m:t>
                        </m:r>
                        <m:r>
                          <a:rPr sz="2800" b="0" i="1">
                            <a:latin typeface="Cambria Math"/>
                          </a:rPr>
                          <m:t> </m:t>
                        </m:r>
                        <m:r>
                          <a:rPr sz="2800" b="0" i="1">
                            <a:latin typeface="Cambria Math"/>
                          </a:rPr>
                          <m:t>𝑐𝑜𝑠𝑡</m:t>
                        </m:r>
                        <m:r>
                          <a:rPr sz="2800" b="0" i="1">
                            <a:latin typeface="Cambria Math"/>
                          </a:rPr>
                          <m:t>(</m:t>
                        </m:r>
                        <m:r>
                          <a:rPr sz="2800" b="0" i="1">
                            <a:latin typeface="Cambria Math"/>
                          </a:rPr>
                          <m:t>𝑤</m:t>
                        </m:r>
                        <m:r>
                          <a:rPr sz="2800" b="0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6A4B123-A24A-4B0D-8A3C-FB49E82B4E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298" y="3085254"/>
                  <a:ext cx="3295650" cy="5619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xmlns="" id="{97915F3E-6D33-4214-A315-30B9388D71AA}"/>
                    </a:ext>
                  </a:extLst>
                </p:cNvPr>
                <p:cNvSpPr txBox="1"/>
                <p:nvPr/>
              </p:nvSpPr>
              <p:spPr>
                <a:xfrm>
                  <a:off x="1530946" y="3474630"/>
                  <a:ext cx="742950" cy="495300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400" b="0" i="1">
                            <a:latin typeface="Cambria Math"/>
                          </a:rPr>
                          <m:t>𝑤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7915F3E-6D33-4214-A315-30B9388D7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946" y="3474630"/>
                  <a:ext cx="742950" cy="4953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모서리가 둥근 직사각형 75"/>
              <p:cNvSpPr/>
              <p:nvPr/>
            </p:nvSpPr>
            <p:spPr>
              <a:xfrm>
                <a:off x="3049451" y="1817650"/>
                <a:ext cx="2694494" cy="418644"/>
              </a:xfrm>
              <a:prstGeom prst="roundRect">
                <a:avLst>
                  <a:gd name="adj" fmla="val 50000"/>
                </a:avLst>
              </a:prstGeom>
              <a:solidFill>
                <a:srgbClr val="173F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ko-KR" altLang="en-US" sz="2400" smtClean="0">
                          <a:solidFill>
                            <a:schemeClr val="bg1"/>
                          </a:solidFill>
                          <a:latin typeface="Cambria Math"/>
                          <a:sym typeface="Cambria Math"/>
                        </a:rPr>
                        <m:t>𝐻</m:t>
                      </m:r>
                      <m:r>
                        <a:rPr lang="en-US" altLang="ko-KR" sz="2400">
                          <a:solidFill>
                            <a:schemeClr val="bg1"/>
                          </a:solidFill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ko-KR" altLang="en-US" sz="2400">
                          <a:solidFill>
                            <a:schemeClr val="bg1"/>
                          </a:solidFill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lang="en-US" altLang="ko-KR" sz="2400">
                          <a:solidFill>
                            <a:schemeClr val="bg1"/>
                          </a:solidFill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lang="ko-KR" altLang="en-US" sz="2400">
                          <a:solidFill>
                            <a:schemeClr val="bg1"/>
                          </a:solidFill>
                          <a:latin typeface="Cambria Math"/>
                          <a:sym typeface="Cambria Math"/>
                        </a:rPr>
                        <m:t>𝑤𝑥</m:t>
                      </m:r>
                    </m:oMath>
                  </m:oMathPara>
                </a14:m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6" name="모서리가 둥근 직사각형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51" y="1817650"/>
                <a:ext cx="2694494" cy="418644"/>
              </a:xfrm>
              <a:prstGeom prst="roundRect">
                <a:avLst>
                  <a:gd name="adj" fmla="val 50000"/>
                </a:avLst>
              </a:prstGeom>
              <a:blipFill rotWithShape="0">
                <a:blip r:embed="rId13"/>
                <a:stretch>
                  <a:fillRect b="-275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모서리가 둥근 직사각형 76"/>
              <p:cNvSpPr/>
              <p:nvPr/>
            </p:nvSpPr>
            <p:spPr>
              <a:xfrm>
                <a:off x="7349173" y="1817650"/>
                <a:ext cx="2694494" cy="418644"/>
              </a:xfrm>
              <a:prstGeom prst="roundRect">
                <a:avLst>
                  <a:gd name="adj" fmla="val 50000"/>
                </a:avLst>
              </a:prstGeom>
              <a:solidFill>
                <a:srgbClr val="173F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ko-KR" altLang="en-US" sz="2400">
                          <a:latin typeface="Cambria Math"/>
                          <a:sym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r>
                            <a:rPr lang="ko-KR" altLang="en-US" sz="2400">
                              <a:latin typeface="Cambria Math"/>
                              <a:sym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ko-KR" sz="24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lang="ko-KR" altLang="en-US" sz="2400">
                          <a:latin typeface="Cambria Math"/>
                          <a:sym typeface="Cambria Math"/>
                        </a:rPr>
                        <m:t>𝑤𝑥</m:t>
                      </m:r>
                      <m:r>
                        <a:rPr lang="en-US" altLang="ko-KR" sz="2400">
                          <a:latin typeface="Cambria Math" panose="02040503050406030204" pitchFamily="18" charset="0"/>
                          <a:sym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400">
                          <a:latin typeface="Cambria Math" panose="02040503050406030204" pitchFamily="18" charset="0"/>
                          <a:sym typeface="Cambria Math"/>
                        </a:rPr>
                        <m:t>b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7" name="모서리가 둥근 직사각형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173" y="1817650"/>
                <a:ext cx="2694494" cy="418644"/>
              </a:xfrm>
              <a:prstGeom prst="roundRect">
                <a:avLst>
                  <a:gd name="adj" fmla="val 50000"/>
                </a:avLst>
              </a:prstGeom>
              <a:blipFill rotWithShape="0">
                <a:blip r:embed="rId14"/>
                <a:stretch>
                  <a:fillRect b="-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9986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모서리가 둥근 직사각형 85"/>
          <p:cNvSpPr/>
          <p:nvPr/>
        </p:nvSpPr>
        <p:spPr>
          <a:xfrm>
            <a:off x="6241142" y="1992378"/>
            <a:ext cx="3942128" cy="47561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6241142" y="3025380"/>
            <a:ext cx="3942128" cy="36050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8" name="모서리가 둥근 직사각형 87"/>
          <p:cNvSpPr/>
          <p:nvPr/>
        </p:nvSpPr>
        <p:spPr>
          <a:xfrm>
            <a:off x="6241142" y="3648771"/>
            <a:ext cx="3942128" cy="73039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9" name="모서리가 둥근 직사각형 88"/>
          <p:cNvSpPr/>
          <p:nvPr/>
        </p:nvSpPr>
        <p:spPr>
          <a:xfrm>
            <a:off x="6241142" y="4535706"/>
            <a:ext cx="3942128" cy="616866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6241142" y="5300189"/>
            <a:ext cx="3942128" cy="868382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6241142" y="6245140"/>
            <a:ext cx="3942128" cy="47561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회귀 학습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자유형: 도형 7">
                <a:extLst>
                  <a:ext uri="{FF2B5EF4-FFF2-40B4-BE49-F238E27FC236}">
                    <a16:creationId xmlns:a16="http://schemas.microsoft.com/office/drawing/2014/main" xmlns="" id="{964EBCE0-20BA-4D4F-97A4-CFE2B08E2AFC}"/>
                  </a:ext>
                </a:extLst>
              </p:cNvPr>
              <p:cNvSpPr/>
              <p:nvPr/>
            </p:nvSpPr>
            <p:spPr>
              <a:xfrm>
                <a:off x="6411370" y="3624900"/>
                <a:ext cx="4181847" cy="800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)=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𝐻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sz="20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sz="20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9" name="자유형: 도형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4EBCE0-20BA-4D4F-97A4-CFE2B08E2A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70" y="3624900"/>
                <a:ext cx="4181847" cy="800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자유형: 도형 9">
                <a:extLst>
                  <a:ext uri="{FF2B5EF4-FFF2-40B4-BE49-F238E27FC236}">
                    <a16:creationId xmlns:a16="http://schemas.microsoft.com/office/drawing/2014/main" xmlns="" id="{9826E289-C3DA-4743-A7AE-EF688568A379}"/>
                  </a:ext>
                </a:extLst>
              </p:cNvPr>
              <p:cNvSpPr/>
              <p:nvPr/>
            </p:nvSpPr>
            <p:spPr>
              <a:xfrm>
                <a:off x="7254065" y="4556650"/>
                <a:ext cx="2731808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𝑚𝑖𝑛𝑖𝑚𝑖𝑧𝑒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0" name="자유형: 도형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826E289-C3DA-4743-A7AE-EF688568A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065" y="4556650"/>
                <a:ext cx="2731808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자유형: 도형 10">
                <a:extLst>
                  <a:ext uri="{FF2B5EF4-FFF2-40B4-BE49-F238E27FC236}">
                    <a16:creationId xmlns:a16="http://schemas.microsoft.com/office/drawing/2014/main" xmlns="" id="{E58C9755-30CD-45D6-B1EE-956F77007B8B}"/>
                  </a:ext>
                </a:extLst>
              </p:cNvPr>
              <p:cNvSpPr/>
              <p:nvPr/>
            </p:nvSpPr>
            <p:spPr>
              <a:xfrm>
                <a:off x="7933015" y="4816805"/>
                <a:ext cx="580484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1" name="자유형: 도형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58C9755-30CD-45D6-B1EE-956F77007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015" y="4816805"/>
                <a:ext cx="580484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자유형: 도형 11">
                <a:extLst>
                  <a:ext uri="{FF2B5EF4-FFF2-40B4-BE49-F238E27FC236}">
                    <a16:creationId xmlns:a16="http://schemas.microsoft.com/office/drawing/2014/main" xmlns="" id="{777F1E2D-046A-4F51-953B-877D8E9BAC23}"/>
                  </a:ext>
                </a:extLst>
              </p:cNvPr>
              <p:cNvSpPr/>
              <p:nvPr/>
            </p:nvSpPr>
            <p:spPr>
              <a:xfrm>
                <a:off x="7419482" y="6233389"/>
                <a:ext cx="1628775" cy="4857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sz="23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accPr>
                        <m:e>
                          <m:r>
                            <a:rPr sz="2300">
                              <a:latin typeface="Cambria Math"/>
                              <a:sym typeface="Cambria Math"/>
                            </a:rPr>
                            <m:t>𝑦</m:t>
                          </m:r>
                        </m:e>
                      </m:acc>
                      <m:r>
                        <a:rPr sz="23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2300">
                          <a:latin typeface="Cambria Math"/>
                          <a:sym typeface="Cambria Math"/>
                        </a:rPr>
                        <m:t>𝑤𝑥</m:t>
                      </m:r>
                      <m:r>
                        <a:rPr sz="2300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sz="23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2" name="자유형: 도형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77F1E2D-046A-4F51-953B-877D8E9BA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482" y="6233389"/>
                <a:ext cx="1628775" cy="4857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6"/>
                <a:stretch>
                  <a:fillRect l="-749" t="-2532" r="-375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xmlns="" id="{30FAD5DA-4420-48AA-A5EA-A2154725CF69}"/>
                  </a:ext>
                </a:extLst>
              </p:cNvPr>
              <p:cNvSpPr txBox="1"/>
              <p:nvPr/>
            </p:nvSpPr>
            <p:spPr>
              <a:xfrm>
                <a:off x="6411370" y="5314681"/>
                <a:ext cx="3771900" cy="10763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b="0" i="1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800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sz="1800" b="0" i="0">
                          <a:latin typeface="Cambria Math"/>
                          <a:ea typeface="Cambria Math"/>
                          <a:sym typeface="Cambria Math"/>
                        </a:rPr>
                        <m:t>= </m:t>
                      </m:r>
                      <m:r>
                        <a:rPr sz="1800" b="0" i="0">
                          <a:latin typeface="Cambria Math"/>
                          <a:ea typeface="Cambria Math"/>
                          <a:sym typeface="Cambria Math"/>
                        </a:rPr>
                        <m:t>𝑤</m:t>
                      </m:r>
                      <m:r>
                        <a:rPr sz="1800" b="0" i="0">
                          <a:latin typeface="Cambria Math"/>
                          <a:ea typeface="Cambria Math"/>
                        </a:rPr>
                        <m:t> −</m:t>
                      </m:r>
                      <m:r>
                        <a:rPr sz="1800" i="1">
                          <a:latin typeface="Cambria Math"/>
                        </a:rPr>
                        <m:t>𝛼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800" i="1">
                              <a:latin typeface="Cambria Math"/>
                            </a:rPr>
                            <m:t>𝑖</m:t>
                          </m:r>
                          <m:r>
                            <a:rPr sz="1800" i="1">
                              <a:latin typeface="Cambria Math"/>
                            </a:rPr>
                            <m:t>=</m:t>
                          </m:r>
                          <m:r>
                            <a:rPr sz="180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𝑤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sz="1800" i="1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sz="18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800" b="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1800" b="0" i="1">
                                  <a:latin typeface="Cambria Math"/>
                                </a:rPr>
                                <m:t>(</m:t>
                              </m:r>
                              <m:r>
                                <a:rPr sz="1800" b="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sz="1800" b="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0FAD5DA-4420-48AA-A5EA-A2154725C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70" y="5314681"/>
                <a:ext cx="3771900" cy="107632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xmlns="" id="{A0426235-CA22-4666-B963-F580AB0C129A}"/>
                  </a:ext>
                </a:extLst>
              </p:cNvPr>
              <p:cNvSpPr/>
              <p:nvPr/>
            </p:nvSpPr>
            <p:spPr>
              <a:xfrm>
                <a:off x="6746065" y="2998314"/>
                <a:ext cx="26018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2000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0" lang="en-US" altLang="ko-KR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ko-KR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n-US" altLang="ko-KR" sz="20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kumimoji="0" lang="en-US" altLang="ko-KR" sz="2000" i="1" dirty="0" err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kumimoji="0" lang="en-US" altLang="ko-KR" sz="20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kumimoji="0" lang="en-US" altLang="ko-KR" sz="2000" i="1" dirty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426235-CA22-4666-B963-F580AB0C12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065" y="2998314"/>
                <a:ext cx="2601803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xmlns="" id="{7038C2D7-874C-48EC-9FE6-2949B70F6D0A}"/>
                  </a:ext>
                </a:extLst>
              </p:cNvPr>
              <p:cNvSpPr/>
              <p:nvPr/>
            </p:nvSpPr>
            <p:spPr>
              <a:xfrm>
                <a:off x="7791052" y="2005818"/>
                <a:ext cx="90479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038C2D7-874C-48EC-9FE6-2949B70F6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052" y="2005818"/>
                <a:ext cx="904798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958136" y="1581552"/>
            <a:ext cx="3884847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10"/>
              </a:buBlip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 데이터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학습데이터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x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와 출력 값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y</a:t>
            </a:r>
            <a:endParaRPr lang="en-US" altLang="ko-KR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10"/>
              </a:buBlip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 모델 정의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직선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기울기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 y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절편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b)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10"/>
              </a:buBlip>
            </a:pP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학습방법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cost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함수 정의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비용이 최소화 되도록 최적화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경사하강법을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이용한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 b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추정</a:t>
            </a:r>
            <a:endParaRPr lang="en-US" altLang="ko-KR" sz="24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10"/>
              </a:buBlip>
            </a:pP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예측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en-US" altLang="ko-KR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w,b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를 사용해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y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값 예측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5050971" y="2218756"/>
            <a:ext cx="119017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5050971" y="3225928"/>
            <a:ext cx="119017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endCxn id="89" idx="1"/>
          </p:cNvCxnSpPr>
          <p:nvPr/>
        </p:nvCxnSpPr>
        <p:spPr>
          <a:xfrm>
            <a:off x="5152571" y="4613923"/>
            <a:ext cx="1088571" cy="230216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/>
          <p:nvPr/>
        </p:nvCxnSpPr>
        <p:spPr>
          <a:xfrm>
            <a:off x="5050971" y="5259409"/>
            <a:ext cx="1190171" cy="545350"/>
          </a:xfrm>
          <a:prstGeom prst="bentConnector3">
            <a:avLst>
              <a:gd name="adj1" fmla="val 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/>
          <p:nvPr/>
        </p:nvCxnSpPr>
        <p:spPr>
          <a:xfrm>
            <a:off x="4880743" y="6039517"/>
            <a:ext cx="1360399" cy="46323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4209143" y="4256442"/>
            <a:ext cx="203199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39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B9BAF02-67C7-41C4-89E5-38F75F9ECF8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b="1" dirty="0"/>
              <a:t>TensorFlow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08202" y="1795204"/>
            <a:ext cx="89725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cost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함수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TensorFlow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를 이용한 </a:t>
            </a:r>
            <a:r>
              <a:rPr lang="ko-KR" altLang="en-US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학습률에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따른 학습 수렴 분석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선형회귀 사례 분석</a:t>
            </a:r>
            <a:endParaRPr lang="en-US" altLang="ko-KR" sz="3200" dirty="0" smtClean="0">
              <a:solidFill>
                <a:srgbClr val="CC0099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66250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2837</TotalTime>
  <Words>901</Words>
  <Application>Microsoft Office PowerPoint</Application>
  <PresentationFormat>와이드스크린</PresentationFormat>
  <Paragraphs>304</Paragraphs>
  <Slides>23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5" baseType="lpstr">
      <vt:lpstr>나눔바른고딕</vt:lpstr>
      <vt:lpstr>굴림</vt:lpstr>
      <vt:lpstr>Cambria Math</vt:lpstr>
      <vt:lpstr>Impact</vt:lpstr>
      <vt:lpstr>나눔스퀘어 Bold</vt:lpstr>
      <vt:lpstr>휴먼모음T</vt:lpstr>
      <vt:lpstr>Times New Roman</vt:lpstr>
      <vt:lpstr>스웨거 TTF</vt:lpstr>
      <vt:lpstr>Arial</vt:lpstr>
      <vt:lpstr>Cambria</vt:lpstr>
      <vt:lpstr>맑은 고딕</vt:lpstr>
      <vt:lpstr>1_Office 테마</vt:lpstr>
      <vt:lpstr>PowerPoint 프레젠테이션</vt:lpstr>
      <vt:lpstr>PowerPoint 프레젠테이션</vt:lpstr>
      <vt:lpstr>주가 예측</vt:lpstr>
      <vt:lpstr>피부암 사망률 예측</vt:lpstr>
      <vt:lpstr>베네통 매출/광고 예측</vt:lpstr>
      <vt:lpstr>보스턴 집값 예측</vt:lpstr>
      <vt:lpstr>데이터 경향성 분석</vt:lpstr>
      <vt:lpstr>오차의 발생</vt:lpstr>
      <vt:lpstr>오차에 대한 수학적 정의</vt:lpstr>
      <vt:lpstr>절대값 오차와 제곱근 오차의 기하학적 해석</vt:lpstr>
      <vt:lpstr>학습 모델 비용 정의</vt:lpstr>
      <vt:lpstr>최적의 솔루션에 대한 정의</vt:lpstr>
      <vt:lpstr>최적의 솔루션 찾기</vt:lpstr>
      <vt:lpstr>최적의 솔루션 찾기</vt:lpstr>
      <vt:lpstr>최적의 솔루션 찾기</vt:lpstr>
      <vt:lpstr>경사하강법</vt:lpstr>
      <vt:lpstr>경사하강법에 대한 수학적 정의</vt:lpstr>
      <vt:lpstr>경사하강법 직접 계산하기</vt:lpstr>
      <vt:lpstr>경사하강법 직접 계산하기</vt:lpstr>
      <vt:lpstr>학습률 α</vt:lpstr>
      <vt:lpstr>w, b에 대한 경사하강법</vt:lpstr>
      <vt:lpstr>선형 회귀 학습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649</cp:revision>
  <dcterms:created xsi:type="dcterms:W3CDTF">2019-01-19T08:23:23Z</dcterms:created>
  <dcterms:modified xsi:type="dcterms:W3CDTF">2020-03-10T06:47:59Z</dcterms:modified>
</cp:coreProperties>
</file>