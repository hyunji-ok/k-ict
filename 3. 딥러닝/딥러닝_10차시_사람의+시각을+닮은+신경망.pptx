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26"/>
  </p:notesMasterIdLst>
  <p:handoutMasterIdLst>
    <p:handoutMasterId r:id="rId27"/>
  </p:handoutMasterIdLst>
  <p:sldIdLst>
    <p:sldId id="314" r:id="rId2"/>
    <p:sldId id="261" r:id="rId3"/>
    <p:sldId id="354" r:id="rId4"/>
    <p:sldId id="355" r:id="rId5"/>
    <p:sldId id="356" r:id="rId6"/>
    <p:sldId id="357" r:id="rId7"/>
    <p:sldId id="430" r:id="rId8"/>
    <p:sldId id="409" r:id="rId9"/>
    <p:sldId id="424" r:id="rId10"/>
    <p:sldId id="431" r:id="rId11"/>
    <p:sldId id="410" r:id="rId12"/>
    <p:sldId id="425" r:id="rId13"/>
    <p:sldId id="426" r:id="rId14"/>
    <p:sldId id="411" r:id="rId15"/>
    <p:sldId id="432" r:id="rId16"/>
    <p:sldId id="419" r:id="rId17"/>
    <p:sldId id="427" r:id="rId18"/>
    <p:sldId id="433" r:id="rId19"/>
    <p:sldId id="434" r:id="rId20"/>
    <p:sldId id="435" r:id="rId21"/>
    <p:sldId id="436" r:id="rId22"/>
    <p:sldId id="437" r:id="rId23"/>
    <p:sldId id="438" r:id="rId24"/>
    <p:sldId id="404" r:id="rId25"/>
  </p:sldIdLst>
  <p:sldSz cx="12192000" cy="6858000"/>
  <p:notesSz cx="6858000" cy="9144000"/>
  <p:embeddedFontLst>
    <p:embeddedFont>
      <p:font typeface="나눔바른고딕" panose="020B0603020101020101" pitchFamily="50" charset="-127"/>
      <p:regular r:id="rId28"/>
      <p:bold r:id="rId29"/>
    </p:embeddedFont>
    <p:embeddedFont>
      <p:font typeface="Cambria Math" panose="02040503050406030204" pitchFamily="18" charset="0"/>
      <p:regular r:id="rId30"/>
    </p:embeddedFont>
    <p:embeddedFont>
      <p:font typeface="Impact" panose="020B0806030902050204" pitchFamily="34" charset="0"/>
      <p:regular r:id="rId31"/>
    </p:embeddedFont>
    <p:embeddedFont>
      <p:font typeface="나눔스퀘어 Bold" panose="020B0600000101010101" pitchFamily="50" charset="-127"/>
      <p:bold r:id="rId32"/>
    </p:embeddedFont>
    <p:embeddedFont>
      <p:font typeface="휴먼모음T" panose="02030504000101010101" pitchFamily="18" charset="-127"/>
      <p:regular r:id="rId33"/>
    </p:embeddedFont>
    <p:embeddedFont>
      <p:font typeface="스웨거 TTF" panose="020B0600000101010101" pitchFamily="50" charset="-127"/>
      <p:regular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CC0099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6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0750" y="2852777"/>
            <a:ext cx="10766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10.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사람의 시각을 닮은 신경망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공간 정보 표현을 위한 데이터 표현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컨볼루션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필터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753716" y="2646054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13</a:t>
              </a:r>
              <a:endParaRPr lang="ko-KR" altLang="en-US" sz="28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이미지에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컨볼루션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필터 적용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753714" y="373608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17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컨볼루션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필터 설계의 문제점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21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이용한 실습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24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다차원 데이터 표현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4D17181-0E90-1C4D-BC80-31ABB34C0A5B}"/>
              </a:ext>
            </a:extLst>
          </p:cNvPr>
          <p:cNvSpPr txBox="1"/>
          <p:nvPr/>
        </p:nvSpPr>
        <p:spPr>
          <a:xfrm>
            <a:off x="8270289" y="5557725"/>
            <a:ext cx="116008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8082" y="3616476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국어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영어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29520" y="5803946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영어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국어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73269" y="3165161"/>
            <a:ext cx="17859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(70 , 20)</a:t>
            </a:r>
          </a:p>
          <a:p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(80 , 40)</a:t>
            </a:r>
          </a:p>
          <a:p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(90 , 90)</a:t>
            </a:r>
          </a:p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     </a:t>
            </a:r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600" b="1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       .</a:t>
            </a:r>
          </a:p>
          <a:p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       .</a:t>
            </a: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  <a:p>
            <a:endParaRPr lang="ko-KR" altLang="en-US" sz="2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73269" y="5308498"/>
            <a:ext cx="21294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(20 , 70)</a:t>
            </a:r>
          </a:p>
          <a:p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(40 , 80)</a:t>
            </a:r>
          </a:p>
          <a:p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(90 , 90)</a:t>
            </a:r>
            <a:endParaRPr lang="ko-KR" altLang="en-US" sz="2400" dirty="0">
              <a:latin typeface="맑은 고딕" pitchFamily="50" charset="-127"/>
              <a:ea typeface="맑은 고딕" pitchFamily="50" charset="-127"/>
            </a:endParaRPr>
          </a:p>
          <a:p>
            <a:endParaRPr lang="ko-KR" altLang="en-US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645920" y="1641082"/>
            <a:ext cx="883920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지금까지 살펴본 신경망은 데이터를 구성하고 있는 특징들을 고려하지 않음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데이터들의 차원은 서로 독립적이라고 보았음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위치 정보가 중요한 다차원 데이터 표현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02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시각적으로 다르게 인식할 수 있는 패턴임에도 신경망 알고리즘에서는 구분하지 않았음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="" xmlns:a16="http://schemas.microsoft.com/office/drawing/2014/main" id="{C4D17181-0E90-1C4D-BC80-31ABB34C0A5B}"/>
              </a:ext>
            </a:extLst>
          </p:cNvPr>
          <p:cNvSpPr txBox="1"/>
          <p:nvPr/>
        </p:nvSpPr>
        <p:spPr>
          <a:xfrm>
            <a:off x="7596846" y="5226105"/>
            <a:ext cx="116008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="" xmlns:a16="http://schemas.microsoft.com/office/drawing/2014/main" id="{C4D17181-0E90-1C4D-BC80-31ABB34C0A5B}"/>
              </a:ext>
            </a:extLst>
          </p:cNvPr>
          <p:cNvSpPr txBox="1"/>
          <p:nvPr/>
        </p:nvSpPr>
        <p:spPr>
          <a:xfrm>
            <a:off x="8756928" y="5226105"/>
            <a:ext cx="172819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000" dirty="0"/>
          </a:p>
        </p:txBody>
      </p:sp>
      <p:graphicFrame>
        <p:nvGraphicFramePr>
          <p:cNvPr id="103" name="표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45994"/>
              </p:ext>
            </p:extLst>
          </p:nvPr>
        </p:nvGraphicFramePr>
        <p:xfrm>
          <a:off x="2341220" y="2683984"/>
          <a:ext cx="2286016" cy="5715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" name="타원 103"/>
          <p:cNvSpPr/>
          <p:nvPr/>
        </p:nvSpPr>
        <p:spPr bwMode="auto">
          <a:xfrm>
            <a:off x="3055600" y="2826860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05" name="타원 104"/>
          <p:cNvSpPr/>
          <p:nvPr/>
        </p:nvSpPr>
        <p:spPr bwMode="auto">
          <a:xfrm>
            <a:off x="3627104" y="2826860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106" name="표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13455"/>
              </p:ext>
            </p:extLst>
          </p:nvPr>
        </p:nvGraphicFramePr>
        <p:xfrm>
          <a:off x="2341220" y="4112744"/>
          <a:ext cx="2286016" cy="5715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7" name="타원 106"/>
          <p:cNvSpPr/>
          <p:nvPr/>
        </p:nvSpPr>
        <p:spPr bwMode="auto">
          <a:xfrm>
            <a:off x="3055600" y="4255620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08" name="타원 107"/>
          <p:cNvSpPr/>
          <p:nvPr/>
        </p:nvSpPr>
        <p:spPr bwMode="auto">
          <a:xfrm>
            <a:off x="2484096" y="4255620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109" name="표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014569"/>
              </p:ext>
            </p:extLst>
          </p:nvPr>
        </p:nvGraphicFramePr>
        <p:xfrm>
          <a:off x="2341220" y="5684380"/>
          <a:ext cx="2286016" cy="5715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0" name="타원 109"/>
          <p:cNvSpPr/>
          <p:nvPr/>
        </p:nvSpPr>
        <p:spPr bwMode="auto">
          <a:xfrm>
            <a:off x="2484096" y="5827256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11" name="타원 110"/>
          <p:cNvSpPr/>
          <p:nvPr/>
        </p:nvSpPr>
        <p:spPr bwMode="auto">
          <a:xfrm>
            <a:off x="4198608" y="5827256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12" name="아래쪽 화살표 111"/>
          <p:cNvSpPr/>
          <p:nvPr/>
        </p:nvSpPr>
        <p:spPr bwMode="auto">
          <a:xfrm rot="16200000">
            <a:off x="5736235" y="4075885"/>
            <a:ext cx="428628" cy="645222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113" name="표 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534677"/>
              </p:ext>
            </p:extLst>
          </p:nvPr>
        </p:nvGraphicFramePr>
        <p:xfrm>
          <a:off x="7413318" y="2755422"/>
          <a:ext cx="2286016" cy="5715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" name="타원 113"/>
          <p:cNvSpPr/>
          <p:nvPr/>
        </p:nvSpPr>
        <p:spPr bwMode="auto">
          <a:xfrm>
            <a:off x="7556194" y="2898298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15" name="타원 114"/>
          <p:cNvSpPr/>
          <p:nvPr/>
        </p:nvSpPr>
        <p:spPr bwMode="auto">
          <a:xfrm>
            <a:off x="8127698" y="2898298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116" name="표 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959079"/>
              </p:ext>
            </p:extLst>
          </p:nvPr>
        </p:nvGraphicFramePr>
        <p:xfrm>
          <a:off x="7413318" y="4184182"/>
          <a:ext cx="2286016" cy="5715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" name="타원 116"/>
          <p:cNvSpPr/>
          <p:nvPr/>
        </p:nvSpPr>
        <p:spPr bwMode="auto">
          <a:xfrm>
            <a:off x="7556194" y="4327058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18" name="타원 117"/>
          <p:cNvSpPr/>
          <p:nvPr/>
        </p:nvSpPr>
        <p:spPr bwMode="auto">
          <a:xfrm>
            <a:off x="8699202" y="4327058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119" name="표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732773"/>
              </p:ext>
            </p:extLst>
          </p:nvPr>
        </p:nvGraphicFramePr>
        <p:xfrm>
          <a:off x="7413318" y="5755818"/>
          <a:ext cx="2286016" cy="5715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0" name="타원 119"/>
          <p:cNvSpPr/>
          <p:nvPr/>
        </p:nvSpPr>
        <p:spPr bwMode="auto">
          <a:xfrm>
            <a:off x="9270706" y="5898694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21" name="타원 120"/>
          <p:cNvSpPr/>
          <p:nvPr/>
        </p:nvSpPr>
        <p:spPr bwMode="auto">
          <a:xfrm>
            <a:off x="8699202" y="5898694"/>
            <a:ext cx="285752" cy="28575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341220" y="2326794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  1      2     3     4</a:t>
            </a: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7413318" y="2398232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  2     3      1     4</a:t>
            </a: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영상 데이터 표현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645920" y="1641082"/>
            <a:ext cx="883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인간의 시각 정보 체계를 신경망에서 반영하고 있지 않음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="" xmlns:a16="http://schemas.microsoft.com/office/drawing/2014/main" id="{C4D17181-0E90-1C4D-BC80-31ABB34C0A5B}"/>
              </a:ext>
            </a:extLst>
          </p:cNvPr>
          <p:cNvSpPr txBox="1"/>
          <p:nvPr/>
        </p:nvSpPr>
        <p:spPr>
          <a:xfrm>
            <a:off x="7749246" y="5176725"/>
            <a:ext cx="116008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000" dirty="0">
              <a:solidFill>
                <a:srgbClr val="FF0000"/>
              </a:solidFill>
            </a:endParaRPr>
          </a:p>
        </p:txBody>
      </p:sp>
      <p:grpSp>
        <p:nvGrpSpPr>
          <p:cNvPr id="213" name="그룹 212"/>
          <p:cNvGrpSpPr/>
          <p:nvPr/>
        </p:nvGrpSpPr>
        <p:grpSpPr>
          <a:xfrm>
            <a:off x="3993817" y="3420422"/>
            <a:ext cx="1928828" cy="1928826"/>
            <a:chOff x="3857619" y="2000240"/>
            <a:chExt cx="2143143" cy="2143140"/>
          </a:xfrm>
        </p:grpSpPr>
        <p:pic>
          <p:nvPicPr>
            <p:cNvPr id="21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r="66667" b="66667"/>
            <a:stretch>
              <a:fillRect/>
            </a:stretch>
          </p:blipFill>
          <p:spPr bwMode="auto">
            <a:xfrm>
              <a:off x="3857621" y="3429001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1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3" r="33334" b="66667"/>
            <a:stretch>
              <a:fillRect/>
            </a:stretch>
          </p:blipFill>
          <p:spPr bwMode="auto">
            <a:xfrm>
              <a:off x="4572002" y="342900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1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b="66667"/>
            <a:stretch>
              <a:fillRect/>
            </a:stretch>
          </p:blipFill>
          <p:spPr bwMode="auto">
            <a:xfrm>
              <a:off x="5286382" y="342900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1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66667" r="66667"/>
            <a:stretch>
              <a:fillRect/>
            </a:stretch>
          </p:blipFill>
          <p:spPr bwMode="auto">
            <a:xfrm>
              <a:off x="3857620" y="2000240"/>
              <a:ext cx="714381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1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t="66666"/>
            <a:stretch>
              <a:fillRect/>
            </a:stretch>
          </p:blipFill>
          <p:spPr bwMode="auto">
            <a:xfrm>
              <a:off x="5286382" y="2000240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19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4" t="66667" r="33333"/>
            <a:stretch>
              <a:fillRect/>
            </a:stretch>
          </p:blipFill>
          <p:spPr bwMode="auto">
            <a:xfrm>
              <a:off x="4572002" y="2000242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2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33333" r="66667" b="33333"/>
            <a:stretch>
              <a:fillRect/>
            </a:stretch>
          </p:blipFill>
          <p:spPr bwMode="auto">
            <a:xfrm>
              <a:off x="3857619" y="2714620"/>
              <a:ext cx="714381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2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4" t="33333" r="33333" b="33333"/>
            <a:stretch>
              <a:fillRect/>
            </a:stretch>
          </p:blipFill>
          <p:spPr bwMode="auto">
            <a:xfrm>
              <a:off x="4572002" y="271462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2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t="33334" b="33333"/>
            <a:stretch>
              <a:fillRect/>
            </a:stretch>
          </p:blipFill>
          <p:spPr bwMode="auto">
            <a:xfrm>
              <a:off x="5286381" y="271462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</p:grpSp>
      <p:grpSp>
        <p:nvGrpSpPr>
          <p:cNvPr id="223" name="그룹 222"/>
          <p:cNvGrpSpPr/>
          <p:nvPr/>
        </p:nvGrpSpPr>
        <p:grpSpPr>
          <a:xfrm>
            <a:off x="6208396" y="3420422"/>
            <a:ext cx="1928828" cy="1928826"/>
            <a:chOff x="3857620" y="2000240"/>
            <a:chExt cx="2143142" cy="2143140"/>
          </a:xfrm>
        </p:grpSpPr>
        <p:pic>
          <p:nvPicPr>
            <p:cNvPr id="22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r="66667" b="66667"/>
            <a:stretch>
              <a:fillRect/>
            </a:stretch>
          </p:blipFill>
          <p:spPr bwMode="auto">
            <a:xfrm>
              <a:off x="4572001" y="2000241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2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3" r="33334" b="66667"/>
            <a:stretch>
              <a:fillRect/>
            </a:stretch>
          </p:blipFill>
          <p:spPr bwMode="auto">
            <a:xfrm>
              <a:off x="5286380" y="200024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b="66667"/>
            <a:stretch>
              <a:fillRect/>
            </a:stretch>
          </p:blipFill>
          <p:spPr bwMode="auto">
            <a:xfrm>
              <a:off x="3857620" y="200024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2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66667" r="66667"/>
            <a:stretch>
              <a:fillRect/>
            </a:stretch>
          </p:blipFill>
          <p:spPr bwMode="auto">
            <a:xfrm>
              <a:off x="4572000" y="3429000"/>
              <a:ext cx="714381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2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t="66666"/>
            <a:stretch>
              <a:fillRect/>
            </a:stretch>
          </p:blipFill>
          <p:spPr bwMode="auto">
            <a:xfrm>
              <a:off x="3857620" y="3429000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29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4" t="66667" r="33333"/>
            <a:stretch>
              <a:fillRect/>
            </a:stretch>
          </p:blipFill>
          <p:spPr bwMode="auto">
            <a:xfrm>
              <a:off x="5286382" y="3429001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3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33333" r="66667" b="33333"/>
            <a:stretch>
              <a:fillRect/>
            </a:stretch>
          </p:blipFill>
          <p:spPr bwMode="auto">
            <a:xfrm>
              <a:off x="4572000" y="2714620"/>
              <a:ext cx="714381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3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4" t="33333" r="33333" b="33333"/>
            <a:stretch>
              <a:fillRect/>
            </a:stretch>
          </p:blipFill>
          <p:spPr bwMode="auto">
            <a:xfrm>
              <a:off x="5286382" y="271462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3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t="33334" b="33333"/>
            <a:stretch>
              <a:fillRect/>
            </a:stretch>
          </p:blipFill>
          <p:spPr bwMode="auto">
            <a:xfrm>
              <a:off x="3857620" y="271462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</p:grpSp>
      <p:grpSp>
        <p:nvGrpSpPr>
          <p:cNvPr id="233" name="그룹 232"/>
          <p:cNvGrpSpPr/>
          <p:nvPr/>
        </p:nvGrpSpPr>
        <p:grpSpPr>
          <a:xfrm>
            <a:off x="1707802" y="3420422"/>
            <a:ext cx="1928827" cy="1928825"/>
            <a:chOff x="3857619" y="2000240"/>
            <a:chExt cx="2143141" cy="2143139"/>
          </a:xfrm>
        </p:grpSpPr>
        <p:pic>
          <p:nvPicPr>
            <p:cNvPr id="23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r="66667" b="66667"/>
            <a:stretch>
              <a:fillRect/>
            </a:stretch>
          </p:blipFill>
          <p:spPr bwMode="auto">
            <a:xfrm>
              <a:off x="3857620" y="2000241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3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3" r="33334" b="66667"/>
            <a:stretch>
              <a:fillRect/>
            </a:stretch>
          </p:blipFill>
          <p:spPr bwMode="auto">
            <a:xfrm>
              <a:off x="4572000" y="200024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3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b="66667"/>
            <a:stretch>
              <a:fillRect/>
            </a:stretch>
          </p:blipFill>
          <p:spPr bwMode="auto">
            <a:xfrm>
              <a:off x="5286380" y="200024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3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66667" r="66667"/>
            <a:stretch>
              <a:fillRect/>
            </a:stretch>
          </p:blipFill>
          <p:spPr bwMode="auto">
            <a:xfrm>
              <a:off x="3857619" y="3429000"/>
              <a:ext cx="714381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3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t="66666"/>
            <a:stretch>
              <a:fillRect/>
            </a:stretch>
          </p:blipFill>
          <p:spPr bwMode="auto">
            <a:xfrm>
              <a:off x="5286380" y="3429000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39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4" t="66667" r="33333"/>
            <a:stretch>
              <a:fillRect/>
            </a:stretch>
          </p:blipFill>
          <p:spPr bwMode="auto">
            <a:xfrm>
              <a:off x="4572000" y="3429000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4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 t="33333" r="66667" b="33333"/>
            <a:stretch>
              <a:fillRect/>
            </a:stretch>
          </p:blipFill>
          <p:spPr bwMode="auto">
            <a:xfrm>
              <a:off x="3857619" y="2714620"/>
              <a:ext cx="714381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4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4" t="33333" r="33333" b="33333"/>
            <a:stretch>
              <a:fillRect/>
            </a:stretch>
          </p:blipFill>
          <p:spPr bwMode="auto">
            <a:xfrm>
              <a:off x="4572000" y="271462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4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t="33334" b="33333"/>
            <a:stretch>
              <a:fillRect/>
            </a:stretch>
          </p:blipFill>
          <p:spPr bwMode="auto">
            <a:xfrm>
              <a:off x="5286380" y="271462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</p:grpSp>
      <p:grpSp>
        <p:nvGrpSpPr>
          <p:cNvPr id="243" name="그룹 242"/>
          <p:cNvGrpSpPr/>
          <p:nvPr/>
        </p:nvGrpSpPr>
        <p:grpSpPr>
          <a:xfrm>
            <a:off x="8494412" y="3420422"/>
            <a:ext cx="1928827" cy="1928826"/>
            <a:chOff x="3857620" y="2000240"/>
            <a:chExt cx="2143141" cy="2143140"/>
          </a:xfrm>
        </p:grpSpPr>
        <p:pic>
          <p:nvPicPr>
            <p:cNvPr id="24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r="66667" b="66667"/>
            <a:stretch>
              <a:fillRect/>
            </a:stretch>
          </p:blipFill>
          <p:spPr bwMode="auto">
            <a:xfrm>
              <a:off x="3857620" y="3429000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4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3" r="33334" b="66667"/>
            <a:stretch>
              <a:fillRect/>
            </a:stretch>
          </p:blipFill>
          <p:spPr bwMode="auto">
            <a:xfrm>
              <a:off x="3857620" y="271462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4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 l="66667" b="66667"/>
            <a:stretch>
              <a:fillRect/>
            </a:stretch>
          </p:blipFill>
          <p:spPr bwMode="auto">
            <a:xfrm>
              <a:off x="5286380" y="342900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4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66667" r="66667"/>
            <a:stretch>
              <a:fillRect/>
            </a:stretch>
          </p:blipFill>
          <p:spPr bwMode="auto">
            <a:xfrm>
              <a:off x="4572000" y="3429000"/>
              <a:ext cx="714381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4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t="66666"/>
            <a:stretch>
              <a:fillRect/>
            </a:stretch>
          </p:blipFill>
          <p:spPr bwMode="auto">
            <a:xfrm>
              <a:off x="4572000" y="2000240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49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4" t="66667" r="33333"/>
            <a:stretch>
              <a:fillRect/>
            </a:stretch>
          </p:blipFill>
          <p:spPr bwMode="auto">
            <a:xfrm>
              <a:off x="4571999" y="2714620"/>
              <a:ext cx="714380" cy="714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5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33333" r="66667" b="33333"/>
            <a:stretch>
              <a:fillRect/>
            </a:stretch>
          </p:blipFill>
          <p:spPr bwMode="auto">
            <a:xfrm>
              <a:off x="5286380" y="2714620"/>
              <a:ext cx="714381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5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33334" t="33333" r="33333" b="33333"/>
            <a:stretch>
              <a:fillRect/>
            </a:stretch>
          </p:blipFill>
          <p:spPr bwMode="auto">
            <a:xfrm>
              <a:off x="3857620" y="2000241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pic>
          <p:nvPicPr>
            <p:cNvPr id="25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66667" t="33334" b="33333"/>
            <a:stretch>
              <a:fillRect/>
            </a:stretch>
          </p:blipFill>
          <p:spPr bwMode="auto">
            <a:xfrm>
              <a:off x="5286380" y="2000240"/>
              <a:ext cx="714380" cy="7143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주변 정보를 고려한 데이터 표현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854184" y="2285539"/>
            <a:ext cx="335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차원 신호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2886034" y="4546269"/>
            <a:ext cx="5892206" cy="2175206"/>
            <a:chOff x="642910" y="3429000"/>
            <a:chExt cx="6772898" cy="2500329"/>
          </a:xfrm>
        </p:grpSpPr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C4D17181-0E90-1C4D-BC80-31ABB34C0A5B}"/>
                </a:ext>
              </a:extLst>
            </p:cNvPr>
            <p:cNvSpPr txBox="1"/>
            <p:nvPr/>
          </p:nvSpPr>
          <p:spPr>
            <a:xfrm>
              <a:off x="6255726" y="4399485"/>
              <a:ext cx="116008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altLang="ko-KR" sz="1000" dirty="0">
                <a:solidFill>
                  <a:srgbClr val="FF0000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2910" y="3429000"/>
              <a:ext cx="2857520" cy="424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8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r>
                <a:rPr lang="ko-KR" altLang="en-US" sz="18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차원 신호</a:t>
              </a: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28662" y="4000504"/>
              <a:ext cx="1928827" cy="1928825"/>
              <a:chOff x="928662" y="4000504"/>
              <a:chExt cx="1928827" cy="1928825"/>
            </a:xfrm>
          </p:grpSpPr>
          <p:grpSp>
            <p:nvGrpSpPr>
              <p:cNvPr id="48" name="그룹 47"/>
              <p:cNvGrpSpPr/>
              <p:nvPr/>
            </p:nvGrpSpPr>
            <p:grpSpPr>
              <a:xfrm>
                <a:off x="928662" y="4000504"/>
                <a:ext cx="1928827" cy="1928825"/>
                <a:chOff x="3857619" y="2000240"/>
                <a:chExt cx="2143141" cy="2143139"/>
              </a:xfrm>
            </p:grpSpPr>
            <p:pic>
              <p:nvPicPr>
                <p:cNvPr id="51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r="66667" b="66667"/>
                <a:stretch>
                  <a:fillRect/>
                </a:stretch>
              </p:blipFill>
              <p:spPr bwMode="auto">
                <a:xfrm>
                  <a:off x="3857620" y="2000241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2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3" r="33334" b="66667"/>
                <a:stretch>
                  <a:fillRect/>
                </a:stretch>
              </p:blipFill>
              <p:spPr bwMode="auto">
                <a:xfrm>
                  <a:off x="457200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3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b="66667"/>
                <a:stretch>
                  <a:fillRect/>
                </a:stretch>
              </p:blipFill>
              <p:spPr bwMode="auto">
                <a:xfrm>
                  <a:off x="528638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t="66667" r="66667"/>
                <a:stretch>
                  <a:fillRect/>
                </a:stretch>
              </p:blipFill>
              <p:spPr bwMode="auto">
                <a:xfrm>
                  <a:off x="3857619" y="3429000"/>
                  <a:ext cx="714381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5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66667" t="66666"/>
                <a:stretch>
                  <a:fillRect/>
                </a:stretch>
              </p:blipFill>
              <p:spPr bwMode="auto">
                <a:xfrm>
                  <a:off x="5286380" y="3429000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6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33334" t="33333" r="33333" b="33333"/>
                <a:stretch>
                  <a:fillRect/>
                </a:stretch>
              </p:blipFill>
              <p:spPr bwMode="auto">
                <a:xfrm>
                  <a:off x="457200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7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t="33334" b="33333"/>
                <a:stretch>
                  <a:fillRect/>
                </a:stretch>
              </p:blipFill>
              <p:spPr bwMode="auto">
                <a:xfrm>
                  <a:off x="528638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93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4" t="66667" r="33333"/>
                <a:stretch>
                  <a:fillRect/>
                </a:stretch>
              </p:blipFill>
              <p:spPr bwMode="auto">
                <a:xfrm>
                  <a:off x="4572000" y="3429000"/>
                  <a:ext cx="714380" cy="71437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9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t="33333" r="66667" b="33333"/>
                <a:stretch>
                  <a:fillRect/>
                </a:stretch>
              </p:blipFill>
              <p:spPr bwMode="auto">
                <a:xfrm>
                  <a:off x="3857619" y="2714620"/>
                  <a:ext cx="714381" cy="7143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</p:grpSp>
          <p:sp>
            <p:nvSpPr>
              <p:cNvPr id="49" name="순서도: 연결자 48"/>
              <p:cNvSpPr/>
              <p:nvPr/>
            </p:nvSpPr>
            <p:spPr bwMode="auto">
              <a:xfrm>
                <a:off x="1857356" y="5580419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0" name="순서도: 연결자 49"/>
              <p:cNvSpPr/>
              <p:nvPr/>
            </p:nvSpPr>
            <p:spPr bwMode="auto">
              <a:xfrm>
                <a:off x="1215282" y="4929198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46" name="직선 화살표 연결선 45"/>
            <p:cNvCxnSpPr>
              <a:stCxn id="50" idx="3"/>
            </p:cNvCxnSpPr>
            <p:nvPr/>
          </p:nvCxnSpPr>
          <p:spPr bwMode="auto">
            <a:xfrm rot="5400000" flipH="1" flipV="1">
              <a:off x="2390575" y="3301748"/>
              <a:ext cx="516401" cy="284631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47" name="직선 화살표 연결선 46"/>
            <p:cNvCxnSpPr>
              <a:stCxn id="49" idx="5"/>
            </p:cNvCxnSpPr>
            <p:nvPr/>
          </p:nvCxnSpPr>
          <p:spPr bwMode="auto">
            <a:xfrm rot="5400000" flipH="1" flipV="1">
              <a:off x="3999518" y="3490212"/>
              <a:ext cx="62189" cy="42260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</p:grp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064110"/>
              </p:ext>
            </p:extLst>
          </p:nvPr>
        </p:nvGraphicFramePr>
        <p:xfrm>
          <a:off x="6094477" y="4961569"/>
          <a:ext cx="1318512" cy="1138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5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9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395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95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95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95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6" name="표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872659"/>
              </p:ext>
            </p:extLst>
          </p:nvPr>
        </p:nvGraphicFramePr>
        <p:xfrm>
          <a:off x="7868704" y="5573193"/>
          <a:ext cx="1318512" cy="1138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5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9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395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95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95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95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713" marR="76713" marT="38356" marB="3835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9" name="표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90553"/>
              </p:ext>
            </p:extLst>
          </p:nvPr>
        </p:nvGraphicFramePr>
        <p:xfrm>
          <a:off x="4426535" y="4179719"/>
          <a:ext cx="1467597" cy="289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1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891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91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89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120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5387" marR="85387" marT="42694" marB="4269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5387" marR="85387" marT="42694" marB="4269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5387" marR="85387" marT="42694" marB="42694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0" name="그룹 99"/>
          <p:cNvGrpSpPr/>
          <p:nvPr/>
        </p:nvGrpSpPr>
        <p:grpSpPr>
          <a:xfrm>
            <a:off x="3844767" y="2523087"/>
            <a:ext cx="5208574" cy="1819998"/>
            <a:chOff x="1828800" y="1571612"/>
            <a:chExt cx="5577840" cy="1949027"/>
          </a:xfrm>
        </p:grpSpPr>
        <p:sp>
          <p:nvSpPr>
            <p:cNvPr id="101" name="순서도: 연결자 100"/>
            <p:cNvSpPr/>
            <p:nvPr/>
          </p:nvSpPr>
          <p:spPr bwMode="auto">
            <a:xfrm>
              <a:off x="3218152" y="2725031"/>
              <a:ext cx="70570" cy="63159"/>
            </a:xfrm>
            <a:prstGeom prst="flowChartConnector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02" name="순서도: 연결자 101"/>
            <p:cNvSpPr/>
            <p:nvPr/>
          </p:nvSpPr>
          <p:spPr bwMode="auto">
            <a:xfrm>
              <a:off x="4718350" y="2725031"/>
              <a:ext cx="70570" cy="63159"/>
            </a:xfrm>
            <a:prstGeom prst="flowChartConnector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03" name="액자 102"/>
            <p:cNvSpPr/>
            <p:nvPr/>
          </p:nvSpPr>
          <p:spPr bwMode="auto">
            <a:xfrm>
              <a:off x="3006443" y="2544772"/>
              <a:ext cx="493987" cy="442113"/>
            </a:xfrm>
            <a:prstGeom prst="frame">
              <a:avLst>
                <a:gd name="adj1" fmla="val 2227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04" name="액자 103"/>
            <p:cNvSpPr/>
            <p:nvPr/>
          </p:nvSpPr>
          <p:spPr bwMode="auto">
            <a:xfrm>
              <a:off x="4506641" y="2544772"/>
              <a:ext cx="493987" cy="442113"/>
            </a:xfrm>
            <a:prstGeom prst="frame">
              <a:avLst>
                <a:gd name="adj1" fmla="val 2227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05" name="순서도: 연결자 104"/>
            <p:cNvSpPr/>
            <p:nvPr/>
          </p:nvSpPr>
          <p:spPr bwMode="auto">
            <a:xfrm>
              <a:off x="5932796" y="2752003"/>
              <a:ext cx="70570" cy="63159"/>
            </a:xfrm>
            <a:prstGeom prst="flowChartConnector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06" name="액자 105"/>
            <p:cNvSpPr/>
            <p:nvPr/>
          </p:nvSpPr>
          <p:spPr bwMode="auto">
            <a:xfrm>
              <a:off x="5721087" y="2571744"/>
              <a:ext cx="493987" cy="442113"/>
            </a:xfrm>
            <a:prstGeom prst="frame">
              <a:avLst>
                <a:gd name="adj1" fmla="val 2227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07" name="자유형 106"/>
            <p:cNvSpPr/>
            <p:nvPr/>
          </p:nvSpPr>
          <p:spPr bwMode="auto">
            <a:xfrm>
              <a:off x="1828800" y="1571612"/>
              <a:ext cx="5577840" cy="1949027"/>
            </a:xfrm>
            <a:custGeom>
              <a:avLst/>
              <a:gdLst>
                <a:gd name="connsiteX0" fmla="*/ 0 w 5577840"/>
                <a:gd name="connsiteY0" fmla="*/ 1949027 h 1949027"/>
                <a:gd name="connsiteX1" fmla="*/ 538480 w 5577840"/>
                <a:gd name="connsiteY1" fmla="*/ 282787 h 1949027"/>
                <a:gd name="connsiteX2" fmla="*/ 965200 w 5577840"/>
                <a:gd name="connsiteY2" fmla="*/ 252307 h 1949027"/>
                <a:gd name="connsiteX3" fmla="*/ 1493520 w 5577840"/>
                <a:gd name="connsiteY3" fmla="*/ 1288627 h 1949027"/>
                <a:gd name="connsiteX4" fmla="*/ 1838960 w 5577840"/>
                <a:gd name="connsiteY4" fmla="*/ 1623907 h 1949027"/>
                <a:gd name="connsiteX5" fmla="*/ 2275840 w 5577840"/>
                <a:gd name="connsiteY5" fmla="*/ 892387 h 1949027"/>
                <a:gd name="connsiteX6" fmla="*/ 2550160 w 5577840"/>
                <a:gd name="connsiteY6" fmla="*/ 902547 h 1949027"/>
                <a:gd name="connsiteX7" fmla="*/ 2987040 w 5577840"/>
                <a:gd name="connsiteY7" fmla="*/ 1258147 h 1949027"/>
                <a:gd name="connsiteX8" fmla="*/ 3190240 w 5577840"/>
                <a:gd name="connsiteY8" fmla="*/ 1217507 h 1949027"/>
                <a:gd name="connsiteX9" fmla="*/ 3332480 w 5577840"/>
                <a:gd name="connsiteY9" fmla="*/ 943187 h 1949027"/>
                <a:gd name="connsiteX10" fmla="*/ 3728720 w 5577840"/>
                <a:gd name="connsiteY10" fmla="*/ 1176867 h 1949027"/>
                <a:gd name="connsiteX11" fmla="*/ 4084320 w 5577840"/>
                <a:gd name="connsiteY11" fmla="*/ 1227667 h 1949027"/>
                <a:gd name="connsiteX12" fmla="*/ 4521200 w 5577840"/>
                <a:gd name="connsiteY12" fmla="*/ 1217507 h 1949027"/>
                <a:gd name="connsiteX13" fmla="*/ 4754880 w 5577840"/>
                <a:gd name="connsiteY13" fmla="*/ 912707 h 1949027"/>
                <a:gd name="connsiteX14" fmla="*/ 5029200 w 5577840"/>
                <a:gd name="connsiteY14" fmla="*/ 1217507 h 1949027"/>
                <a:gd name="connsiteX15" fmla="*/ 5252720 w 5577840"/>
                <a:gd name="connsiteY15" fmla="*/ 1349587 h 1949027"/>
                <a:gd name="connsiteX16" fmla="*/ 5577840 w 5577840"/>
                <a:gd name="connsiteY16" fmla="*/ 973667 h 194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77840" h="1949027">
                  <a:moveTo>
                    <a:pt x="0" y="1949027"/>
                  </a:moveTo>
                  <a:cubicBezTo>
                    <a:pt x="188806" y="1257300"/>
                    <a:pt x="377613" y="565574"/>
                    <a:pt x="538480" y="282787"/>
                  </a:cubicBezTo>
                  <a:cubicBezTo>
                    <a:pt x="699347" y="0"/>
                    <a:pt x="806027" y="84667"/>
                    <a:pt x="965200" y="252307"/>
                  </a:cubicBezTo>
                  <a:cubicBezTo>
                    <a:pt x="1124373" y="419947"/>
                    <a:pt x="1347893" y="1060027"/>
                    <a:pt x="1493520" y="1288627"/>
                  </a:cubicBezTo>
                  <a:cubicBezTo>
                    <a:pt x="1639147" y="1517227"/>
                    <a:pt x="1708573" y="1689947"/>
                    <a:pt x="1838960" y="1623907"/>
                  </a:cubicBezTo>
                  <a:cubicBezTo>
                    <a:pt x="1969347" y="1557867"/>
                    <a:pt x="2157307" y="1012614"/>
                    <a:pt x="2275840" y="892387"/>
                  </a:cubicBezTo>
                  <a:cubicBezTo>
                    <a:pt x="2394373" y="772160"/>
                    <a:pt x="2431627" y="841587"/>
                    <a:pt x="2550160" y="902547"/>
                  </a:cubicBezTo>
                  <a:cubicBezTo>
                    <a:pt x="2668693" y="963507"/>
                    <a:pt x="2880360" y="1205654"/>
                    <a:pt x="2987040" y="1258147"/>
                  </a:cubicBezTo>
                  <a:cubicBezTo>
                    <a:pt x="3093720" y="1310640"/>
                    <a:pt x="3132667" y="1270000"/>
                    <a:pt x="3190240" y="1217507"/>
                  </a:cubicBezTo>
                  <a:cubicBezTo>
                    <a:pt x="3247813" y="1165014"/>
                    <a:pt x="3242733" y="949960"/>
                    <a:pt x="3332480" y="943187"/>
                  </a:cubicBezTo>
                  <a:cubicBezTo>
                    <a:pt x="3422227" y="936414"/>
                    <a:pt x="3603413" y="1129454"/>
                    <a:pt x="3728720" y="1176867"/>
                  </a:cubicBezTo>
                  <a:cubicBezTo>
                    <a:pt x="3854027" y="1224280"/>
                    <a:pt x="3952240" y="1220894"/>
                    <a:pt x="4084320" y="1227667"/>
                  </a:cubicBezTo>
                  <a:cubicBezTo>
                    <a:pt x="4216400" y="1234440"/>
                    <a:pt x="4409440" y="1270000"/>
                    <a:pt x="4521200" y="1217507"/>
                  </a:cubicBezTo>
                  <a:cubicBezTo>
                    <a:pt x="4632960" y="1165014"/>
                    <a:pt x="4670213" y="912707"/>
                    <a:pt x="4754880" y="912707"/>
                  </a:cubicBezTo>
                  <a:cubicBezTo>
                    <a:pt x="4839547" y="912707"/>
                    <a:pt x="4946227" y="1144694"/>
                    <a:pt x="5029200" y="1217507"/>
                  </a:cubicBezTo>
                  <a:cubicBezTo>
                    <a:pt x="5112173" y="1290320"/>
                    <a:pt x="5161280" y="1390227"/>
                    <a:pt x="5252720" y="1349587"/>
                  </a:cubicBezTo>
                  <a:cubicBezTo>
                    <a:pt x="5344160" y="1308947"/>
                    <a:pt x="5461000" y="1141307"/>
                    <a:pt x="5577840" y="973667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</p:grpSp>
      <p:graphicFrame>
        <p:nvGraphicFramePr>
          <p:cNvPr id="108" name="표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521365"/>
              </p:ext>
            </p:extLst>
          </p:nvPr>
        </p:nvGraphicFramePr>
        <p:xfrm>
          <a:off x="5926733" y="2822397"/>
          <a:ext cx="1467597" cy="289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1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891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91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89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5387" marR="85387" marT="42694" marB="4269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5387" marR="85387" marT="42694" marB="4269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120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5387" marR="85387" marT="42694" marB="42694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9" name="표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642878"/>
              </p:ext>
            </p:extLst>
          </p:nvPr>
        </p:nvGraphicFramePr>
        <p:xfrm>
          <a:off x="7141179" y="4179719"/>
          <a:ext cx="1467597" cy="289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1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891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91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89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5387" marR="85387" marT="42694" marB="4269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5387" marR="85387" marT="42694" marB="4269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5387" marR="85387" marT="42694" marB="42694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645920" y="1641082"/>
            <a:ext cx="883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4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주변 특징 정보를 포함한 표현 혹은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인코딩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방법 필요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7641883" y="2475001"/>
            <a:ext cx="3330918" cy="62288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 간 위치정보를 나타내는 데이터를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인코딩할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때는 이들을 구분할 수 있어야 함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생물학적 영감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16499" t="30384" r="42625" b="18154"/>
          <a:stretch/>
        </p:blipFill>
        <p:spPr>
          <a:xfrm>
            <a:off x="3076957" y="2423273"/>
            <a:ext cx="6035040" cy="411563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645920" y="1641082"/>
            <a:ext cx="883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시신경에는 단순한 특정 자극에 반응하는 필터가 존재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8602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공간 정보 </a:t>
            </a:r>
            <a:r>
              <a:rPr lang="ko-KR" altLang="en-US" dirty="0" err="1" smtClean="0"/>
              <a:t>인코딩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주변의 특징 정보를 추가해 데이터의 특징 차원을 늘림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47" name="그림 46" descr="그림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020" y="3227603"/>
            <a:ext cx="2143140" cy="652947"/>
          </a:xfrm>
          <a:prstGeom prst="rect">
            <a:avLst/>
          </a:prstGeom>
        </p:spPr>
      </p:pic>
      <p:pic>
        <p:nvPicPr>
          <p:cNvPr id="48" name="그림 47" descr="그림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828" y="4767905"/>
            <a:ext cx="5357850" cy="66304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595744" y="3256894"/>
            <a:ext cx="11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차원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8595744" y="4914763"/>
            <a:ext cx="8386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9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차원</a:t>
            </a:r>
          </a:p>
        </p:txBody>
      </p:sp>
      <p:sp>
        <p:nvSpPr>
          <p:cNvPr id="51" name="화살표: 아래쪽 2">
            <a:extLst>
              <a:ext uri="{FF2B5EF4-FFF2-40B4-BE49-F238E27FC236}">
                <a16:creationId xmlns="" xmlns:a16="http://schemas.microsoft.com/office/drawing/2014/main" id="{D3B8A982-07BF-4DBC-87B9-21F0DDF75E20}"/>
              </a:ext>
            </a:extLst>
          </p:cNvPr>
          <p:cNvSpPr/>
          <p:nvPr/>
        </p:nvSpPr>
        <p:spPr bwMode="auto">
          <a:xfrm>
            <a:off x="5040753" y="4124063"/>
            <a:ext cx="279673" cy="360040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72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 함수 조합의 한계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특징 수 증가 → 신경망 크기 증가 → 최적화된 학습 결과를 얻기 어렵고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</a:t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충분한 양의 데이터 확보의 </a:t>
            </a: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어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려움 발생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28" name="그림 27" descr="그림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48" y="3481935"/>
            <a:ext cx="2142390" cy="19587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74892" y="288023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81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차원</a:t>
            </a:r>
          </a:p>
        </p:txBody>
      </p:sp>
      <p:pic>
        <p:nvPicPr>
          <p:cNvPr id="30" name="그림 29" descr="그림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58" y="3481935"/>
            <a:ext cx="4212690" cy="18573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457424" y="6069994"/>
            <a:ext cx="742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128X128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영상 데이터 인코딩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16384 X 9 =147456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차원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2243110" y="3339059"/>
            <a:ext cx="1285884" cy="128588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580F1EE5-ACFA-469E-A5E9-6CB1A2A138C9}"/>
              </a:ext>
            </a:extLst>
          </p:cNvPr>
          <p:cNvSpPr txBox="1"/>
          <p:nvPr/>
        </p:nvSpPr>
        <p:spPr>
          <a:xfrm>
            <a:off x="3034665" y="2860974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9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차원</a:t>
            </a:r>
          </a:p>
        </p:txBody>
      </p:sp>
    </p:spTree>
    <p:extLst>
      <p:ext uri="{BB962C8B-B14F-4D97-AF65-F5344CB8AC3E}">
        <p14:creationId xmlns:p14="http://schemas.microsoft.com/office/powerpoint/2010/main" val="2086807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효율적인 </a:t>
            </a:r>
            <a:r>
              <a:rPr lang="ko-KR" altLang="en-US" dirty="0" err="1" smtClean="0"/>
              <a:t>인코딩</a:t>
            </a:r>
            <a:r>
              <a:rPr lang="ko-KR" altLang="en-US" dirty="0" smtClean="0"/>
              <a:t> </a:t>
            </a:r>
            <a:r>
              <a:rPr lang="en-US" altLang="ko-KR" dirty="0" smtClean="0"/>
              <a:t>#1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한 개의 특징에 주변 정보를 포함해서 정의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주변 정보 평균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특징의 수를 유지하면서 같은 밝기 값을 갖는데 주변의 밝기 정보에 따라 값이 다르게 나옴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2270283" y="3055417"/>
            <a:ext cx="6487146" cy="2829919"/>
            <a:chOff x="928662" y="4000504"/>
            <a:chExt cx="6487146" cy="2829919"/>
          </a:xfrm>
        </p:grpSpPr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C4D17181-0E90-1C4D-BC80-31ABB34C0A5B}"/>
                </a:ext>
              </a:extLst>
            </p:cNvPr>
            <p:cNvSpPr txBox="1"/>
            <p:nvPr/>
          </p:nvSpPr>
          <p:spPr>
            <a:xfrm>
              <a:off x="6255726" y="4399485"/>
              <a:ext cx="116008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altLang="ko-KR" sz="1000" dirty="0">
                <a:solidFill>
                  <a:srgbClr val="FF0000"/>
                </a:solidFill>
              </a:endParaRPr>
            </a:p>
          </p:txBody>
        </p:sp>
        <p:grpSp>
          <p:nvGrpSpPr>
            <p:cNvPr id="44" name="그룹 32"/>
            <p:cNvGrpSpPr/>
            <p:nvPr/>
          </p:nvGrpSpPr>
          <p:grpSpPr>
            <a:xfrm>
              <a:off x="928662" y="4000504"/>
              <a:ext cx="1928827" cy="1928825"/>
              <a:chOff x="928662" y="4000504"/>
              <a:chExt cx="1928827" cy="1928825"/>
            </a:xfrm>
          </p:grpSpPr>
          <p:grpSp>
            <p:nvGrpSpPr>
              <p:cNvPr id="47" name="그룹 20"/>
              <p:cNvGrpSpPr/>
              <p:nvPr/>
            </p:nvGrpSpPr>
            <p:grpSpPr>
              <a:xfrm>
                <a:off x="928662" y="4000504"/>
                <a:ext cx="1928827" cy="1928825"/>
                <a:chOff x="3857619" y="2000240"/>
                <a:chExt cx="2143141" cy="2143139"/>
              </a:xfrm>
            </p:grpSpPr>
            <p:pic>
              <p:nvPicPr>
                <p:cNvPr id="50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r="66667" b="66667"/>
                <a:stretch>
                  <a:fillRect/>
                </a:stretch>
              </p:blipFill>
              <p:spPr bwMode="auto">
                <a:xfrm>
                  <a:off x="3857620" y="2000241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1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33333" r="33334" b="66667"/>
                <a:stretch>
                  <a:fillRect/>
                </a:stretch>
              </p:blipFill>
              <p:spPr bwMode="auto">
                <a:xfrm>
                  <a:off x="457200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2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66667" b="66667"/>
                <a:stretch>
                  <a:fillRect/>
                </a:stretch>
              </p:blipFill>
              <p:spPr bwMode="auto">
                <a:xfrm>
                  <a:off x="528638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3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t="66667" r="66667"/>
                <a:stretch>
                  <a:fillRect/>
                </a:stretch>
              </p:blipFill>
              <p:spPr bwMode="auto">
                <a:xfrm>
                  <a:off x="3857619" y="3429000"/>
                  <a:ext cx="714381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4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66667" t="66666"/>
                <a:stretch>
                  <a:fillRect/>
                </a:stretch>
              </p:blipFill>
              <p:spPr bwMode="auto">
                <a:xfrm>
                  <a:off x="5286380" y="3429000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5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33334" t="33333" r="33333" b="33333"/>
                <a:stretch>
                  <a:fillRect/>
                </a:stretch>
              </p:blipFill>
              <p:spPr bwMode="auto">
                <a:xfrm>
                  <a:off x="457200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6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66667" t="33334" b="33333"/>
                <a:stretch>
                  <a:fillRect/>
                </a:stretch>
              </p:blipFill>
              <p:spPr bwMode="auto">
                <a:xfrm>
                  <a:off x="528638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57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33334" t="66667" r="33333"/>
                <a:stretch>
                  <a:fillRect/>
                </a:stretch>
              </p:blipFill>
              <p:spPr bwMode="auto">
                <a:xfrm>
                  <a:off x="4572000" y="3429000"/>
                  <a:ext cx="714380" cy="71437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64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t="33333" r="66667" b="33333"/>
                <a:stretch>
                  <a:fillRect/>
                </a:stretch>
              </p:blipFill>
              <p:spPr bwMode="auto">
                <a:xfrm>
                  <a:off x="3857619" y="2714620"/>
                  <a:ext cx="714381" cy="7143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</p:grpSp>
          <p:sp>
            <p:nvSpPr>
              <p:cNvPr id="48" name="순서도: 연결자 47"/>
              <p:cNvSpPr/>
              <p:nvPr/>
            </p:nvSpPr>
            <p:spPr bwMode="auto">
              <a:xfrm>
                <a:off x="1857356" y="5580419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9" name="순서도: 연결자 48"/>
              <p:cNvSpPr/>
              <p:nvPr/>
            </p:nvSpPr>
            <p:spPr bwMode="auto">
              <a:xfrm>
                <a:off x="1215282" y="4929198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45" name="직선 화살표 연결선 44"/>
            <p:cNvCxnSpPr>
              <a:cxnSpLocks/>
              <a:stCxn id="49" idx="3"/>
            </p:cNvCxnSpPr>
            <p:nvPr/>
          </p:nvCxnSpPr>
          <p:spPr bwMode="auto">
            <a:xfrm flipV="1">
              <a:off x="1225617" y="4697356"/>
              <a:ext cx="3904175" cy="2857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46" name="직선 화살표 연결선 45"/>
            <p:cNvCxnSpPr>
              <a:cxnSpLocks/>
              <a:stCxn id="48" idx="5"/>
            </p:cNvCxnSpPr>
            <p:nvPr/>
          </p:nvCxnSpPr>
          <p:spPr bwMode="auto">
            <a:xfrm>
              <a:off x="1917591" y="5634329"/>
              <a:ext cx="3265845" cy="11960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</p:grpSp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992870"/>
              </p:ext>
            </p:extLst>
          </p:nvPr>
        </p:nvGraphicFramePr>
        <p:xfrm>
          <a:off x="5685595" y="2983979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456537"/>
              </p:ext>
            </p:extLst>
          </p:nvPr>
        </p:nvGraphicFramePr>
        <p:xfrm>
          <a:off x="5739239" y="5298717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7547603" y="2814051"/>
            <a:ext cx="2351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평균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200+200+225… / 9</a:t>
            </a: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= 166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571314" y="5377504"/>
            <a:ext cx="2708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평균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190+200+220… / 9</a:t>
            </a: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=198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297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효율적인 </a:t>
            </a:r>
            <a:r>
              <a:rPr lang="ko-KR" altLang="en-US" dirty="0" err="1" smtClean="0"/>
              <a:t>인코딩</a:t>
            </a:r>
            <a:r>
              <a:rPr lang="ko-KR" altLang="en-US" dirty="0" smtClean="0"/>
              <a:t> </a:t>
            </a:r>
            <a:r>
              <a:rPr lang="en-US" altLang="ko-KR" dirty="0" smtClean="0"/>
              <a:t>#2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pSp>
        <p:nvGrpSpPr>
          <p:cNvPr id="118" name="그룹 79"/>
          <p:cNvGrpSpPr/>
          <p:nvPr/>
        </p:nvGrpSpPr>
        <p:grpSpPr>
          <a:xfrm>
            <a:off x="2525426" y="2308226"/>
            <a:ext cx="6487146" cy="1928825"/>
            <a:chOff x="928662" y="4000504"/>
            <a:chExt cx="6487146" cy="1928825"/>
          </a:xfrm>
        </p:grpSpPr>
        <p:sp>
          <p:nvSpPr>
            <p:cNvPr id="119" name="TextBox 118">
              <a:extLst>
                <a:ext uri="{FF2B5EF4-FFF2-40B4-BE49-F238E27FC236}">
                  <a16:creationId xmlns="" xmlns:a16="http://schemas.microsoft.com/office/drawing/2014/main" id="{C4D17181-0E90-1C4D-BC80-31ABB34C0A5B}"/>
                </a:ext>
              </a:extLst>
            </p:cNvPr>
            <p:cNvSpPr txBox="1"/>
            <p:nvPr/>
          </p:nvSpPr>
          <p:spPr>
            <a:xfrm>
              <a:off x="6255726" y="4399485"/>
              <a:ext cx="116008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altLang="ko-KR" sz="1000" dirty="0">
                <a:solidFill>
                  <a:srgbClr val="FF0000"/>
                </a:solidFill>
              </a:endParaRPr>
            </a:p>
          </p:txBody>
        </p:sp>
        <p:grpSp>
          <p:nvGrpSpPr>
            <p:cNvPr id="120" name="그룹 32"/>
            <p:cNvGrpSpPr/>
            <p:nvPr/>
          </p:nvGrpSpPr>
          <p:grpSpPr>
            <a:xfrm>
              <a:off x="928662" y="4000504"/>
              <a:ext cx="1928827" cy="1928825"/>
              <a:chOff x="928662" y="4000504"/>
              <a:chExt cx="1928827" cy="1928825"/>
            </a:xfrm>
          </p:grpSpPr>
          <p:grpSp>
            <p:nvGrpSpPr>
              <p:cNvPr id="123" name="그룹 20"/>
              <p:cNvGrpSpPr/>
              <p:nvPr/>
            </p:nvGrpSpPr>
            <p:grpSpPr>
              <a:xfrm>
                <a:off x="928662" y="4000504"/>
                <a:ext cx="1928827" cy="1928825"/>
                <a:chOff x="3857619" y="2000240"/>
                <a:chExt cx="2143141" cy="2143139"/>
              </a:xfrm>
            </p:grpSpPr>
            <p:pic>
              <p:nvPicPr>
                <p:cNvPr id="126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r="66667" b="66667"/>
                <a:stretch>
                  <a:fillRect/>
                </a:stretch>
              </p:blipFill>
              <p:spPr bwMode="auto">
                <a:xfrm>
                  <a:off x="3857620" y="2000241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27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3" r="33334" b="66667"/>
                <a:stretch>
                  <a:fillRect/>
                </a:stretch>
              </p:blipFill>
              <p:spPr bwMode="auto">
                <a:xfrm>
                  <a:off x="457200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28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b="66667"/>
                <a:stretch>
                  <a:fillRect/>
                </a:stretch>
              </p:blipFill>
              <p:spPr bwMode="auto">
                <a:xfrm>
                  <a:off x="528638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29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t="66667" r="66667"/>
                <a:stretch>
                  <a:fillRect/>
                </a:stretch>
              </p:blipFill>
              <p:spPr bwMode="auto">
                <a:xfrm>
                  <a:off x="3857619" y="3429000"/>
                  <a:ext cx="714381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30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t="66666"/>
                <a:stretch>
                  <a:fillRect/>
                </a:stretch>
              </p:blipFill>
              <p:spPr bwMode="auto">
                <a:xfrm>
                  <a:off x="5286380" y="3429000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31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4" t="33333" r="33333" b="33333"/>
                <a:stretch>
                  <a:fillRect/>
                </a:stretch>
              </p:blipFill>
              <p:spPr bwMode="auto">
                <a:xfrm>
                  <a:off x="457200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32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t="33334" b="33333"/>
                <a:stretch>
                  <a:fillRect/>
                </a:stretch>
              </p:blipFill>
              <p:spPr bwMode="auto">
                <a:xfrm>
                  <a:off x="528638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33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4" t="66667" r="33333"/>
                <a:stretch>
                  <a:fillRect/>
                </a:stretch>
              </p:blipFill>
              <p:spPr bwMode="auto">
                <a:xfrm>
                  <a:off x="4572000" y="3429000"/>
                  <a:ext cx="714380" cy="71437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3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t="33333" r="66667" b="33333"/>
                <a:stretch>
                  <a:fillRect/>
                </a:stretch>
              </p:blipFill>
              <p:spPr bwMode="auto">
                <a:xfrm>
                  <a:off x="3857619" y="2714620"/>
                  <a:ext cx="714381" cy="7143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</p:grpSp>
          <p:sp>
            <p:nvSpPr>
              <p:cNvPr id="124" name="순서도: 연결자 123"/>
              <p:cNvSpPr/>
              <p:nvPr/>
            </p:nvSpPr>
            <p:spPr bwMode="auto">
              <a:xfrm>
                <a:off x="1857356" y="5580419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25" name="순서도: 연결자 124"/>
              <p:cNvSpPr/>
              <p:nvPr/>
            </p:nvSpPr>
            <p:spPr bwMode="auto">
              <a:xfrm>
                <a:off x="1215282" y="4929198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121" name="직선 화살표 연결선 120"/>
            <p:cNvCxnSpPr>
              <a:stCxn id="125" idx="3"/>
            </p:cNvCxnSpPr>
            <p:nvPr/>
          </p:nvCxnSpPr>
          <p:spPr bwMode="auto">
            <a:xfrm rot="5400000" flipH="1" flipV="1">
              <a:off x="2390575" y="3301748"/>
              <a:ext cx="516401" cy="284631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122" name="직선 화살표 연결선 121"/>
            <p:cNvCxnSpPr>
              <a:stCxn id="124" idx="5"/>
            </p:cNvCxnSpPr>
            <p:nvPr/>
          </p:nvCxnSpPr>
          <p:spPr bwMode="auto">
            <a:xfrm rot="16200000" flipH="1">
              <a:off x="3983414" y="3568505"/>
              <a:ext cx="80687" cy="421233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</p:grpSp>
      <p:graphicFrame>
        <p:nvGraphicFramePr>
          <p:cNvPr id="135" name="표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066938"/>
              </p:ext>
            </p:extLst>
          </p:nvPr>
        </p:nvGraphicFramePr>
        <p:xfrm>
          <a:off x="5940738" y="2236788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6" name="TextBox 135"/>
          <p:cNvSpPr txBox="1"/>
          <p:nvPr/>
        </p:nvSpPr>
        <p:spPr>
          <a:xfrm>
            <a:off x="3132650" y="4647626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상하좌우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</a:t>
            </a:r>
          </a:p>
        </p:txBody>
      </p:sp>
      <p:graphicFrame>
        <p:nvGraphicFramePr>
          <p:cNvPr id="137" name="표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518952"/>
              </p:ext>
            </p:extLst>
          </p:nvPr>
        </p:nvGraphicFramePr>
        <p:xfrm>
          <a:off x="3011780" y="5164210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8" name="표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282402"/>
              </p:ext>
            </p:extLst>
          </p:nvPr>
        </p:nvGraphicFramePr>
        <p:xfrm>
          <a:off x="7512374" y="5092772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7726688" y="4631107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수직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</a:t>
            </a:r>
          </a:p>
        </p:txBody>
      </p:sp>
      <p:graphicFrame>
        <p:nvGraphicFramePr>
          <p:cNvPr id="140" name="표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333666"/>
              </p:ext>
            </p:extLst>
          </p:nvPr>
        </p:nvGraphicFramePr>
        <p:xfrm>
          <a:off x="7941002" y="2879730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>
            <a:off x="4726292" y="6092904"/>
            <a:ext cx="64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168</a:t>
            </a:r>
            <a:endParaRPr lang="ko-KR" altLang="en-US" dirty="0"/>
          </a:p>
        </p:txBody>
      </p:sp>
      <p:sp>
        <p:nvSpPr>
          <p:cNvPr id="161" name="TextBox 160"/>
          <p:cNvSpPr txBox="1"/>
          <p:nvPr/>
        </p:nvSpPr>
        <p:spPr>
          <a:xfrm>
            <a:off x="9191168" y="5986457"/>
            <a:ext cx="64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294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효율적인 </a:t>
            </a:r>
            <a:r>
              <a:rPr lang="ko-KR" altLang="en-US" dirty="0" err="1" smtClean="0"/>
              <a:t>인코딩</a:t>
            </a:r>
            <a:r>
              <a:rPr lang="ko-KR" altLang="en-US" dirty="0" smtClean="0"/>
              <a:t> </a:t>
            </a:r>
            <a:r>
              <a:rPr lang="en-US" altLang="ko-KR" dirty="0" smtClean="0"/>
              <a:t>#3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한 개의 특징에 주변 정보를 포함해서 정의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뺄셈 연산 사용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13" name="그룹 79"/>
          <p:cNvGrpSpPr/>
          <p:nvPr/>
        </p:nvGrpSpPr>
        <p:grpSpPr>
          <a:xfrm>
            <a:off x="1976786" y="2466252"/>
            <a:ext cx="6487146" cy="1928825"/>
            <a:chOff x="928662" y="4000504"/>
            <a:chExt cx="6487146" cy="1928825"/>
          </a:xfrm>
        </p:grpSpPr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C4D17181-0E90-1C4D-BC80-31ABB34C0A5B}"/>
                </a:ext>
              </a:extLst>
            </p:cNvPr>
            <p:cNvSpPr txBox="1"/>
            <p:nvPr/>
          </p:nvSpPr>
          <p:spPr>
            <a:xfrm>
              <a:off x="6255726" y="4399485"/>
              <a:ext cx="116008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altLang="ko-KR" sz="1000" dirty="0">
                <a:solidFill>
                  <a:srgbClr val="FF0000"/>
                </a:solidFill>
              </a:endParaRPr>
            </a:p>
          </p:txBody>
        </p:sp>
        <p:grpSp>
          <p:nvGrpSpPr>
            <p:cNvPr id="15" name="그룹 32"/>
            <p:cNvGrpSpPr/>
            <p:nvPr/>
          </p:nvGrpSpPr>
          <p:grpSpPr>
            <a:xfrm>
              <a:off x="928662" y="4000504"/>
              <a:ext cx="1928827" cy="1928825"/>
              <a:chOff x="928662" y="4000504"/>
              <a:chExt cx="1928827" cy="1928825"/>
            </a:xfrm>
          </p:grpSpPr>
          <p:grpSp>
            <p:nvGrpSpPr>
              <p:cNvPr id="18" name="그룹 20"/>
              <p:cNvGrpSpPr/>
              <p:nvPr/>
            </p:nvGrpSpPr>
            <p:grpSpPr>
              <a:xfrm>
                <a:off x="928662" y="4000504"/>
                <a:ext cx="1928827" cy="1928825"/>
                <a:chOff x="3857619" y="2000240"/>
                <a:chExt cx="2143141" cy="2143139"/>
              </a:xfrm>
            </p:grpSpPr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r="66667" b="66667"/>
                <a:stretch>
                  <a:fillRect/>
                </a:stretch>
              </p:blipFill>
              <p:spPr bwMode="auto">
                <a:xfrm>
                  <a:off x="3857620" y="2000241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2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33333" r="33334" b="66667"/>
                <a:stretch>
                  <a:fillRect/>
                </a:stretch>
              </p:blipFill>
              <p:spPr bwMode="auto">
                <a:xfrm>
                  <a:off x="457200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3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66667" b="66667"/>
                <a:stretch>
                  <a:fillRect/>
                </a:stretch>
              </p:blipFill>
              <p:spPr bwMode="auto">
                <a:xfrm>
                  <a:off x="528638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4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t="66667" r="66667"/>
                <a:stretch>
                  <a:fillRect/>
                </a:stretch>
              </p:blipFill>
              <p:spPr bwMode="auto">
                <a:xfrm>
                  <a:off x="3857619" y="3429000"/>
                  <a:ext cx="714381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5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66667" t="66666"/>
                <a:stretch>
                  <a:fillRect/>
                </a:stretch>
              </p:blipFill>
              <p:spPr bwMode="auto">
                <a:xfrm>
                  <a:off x="5286380" y="3429000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6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33334" t="33333" r="33333" b="33333"/>
                <a:stretch>
                  <a:fillRect/>
                </a:stretch>
              </p:blipFill>
              <p:spPr bwMode="auto">
                <a:xfrm>
                  <a:off x="457200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7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66667" t="33334" b="33333"/>
                <a:stretch>
                  <a:fillRect/>
                </a:stretch>
              </p:blipFill>
              <p:spPr bwMode="auto">
                <a:xfrm>
                  <a:off x="528638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l="33334" t="66667" r="33333"/>
                <a:stretch>
                  <a:fillRect/>
                </a:stretch>
              </p:blipFill>
              <p:spPr bwMode="auto">
                <a:xfrm>
                  <a:off x="4572000" y="3429000"/>
                  <a:ext cx="714380" cy="71437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9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t="33333" r="66667" b="33333"/>
                <a:stretch>
                  <a:fillRect/>
                </a:stretch>
              </p:blipFill>
              <p:spPr bwMode="auto">
                <a:xfrm>
                  <a:off x="3857619" y="2714620"/>
                  <a:ext cx="714381" cy="7143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</p:grpSp>
          <p:sp>
            <p:nvSpPr>
              <p:cNvPr id="19" name="순서도: 연결자 18"/>
              <p:cNvSpPr/>
              <p:nvPr/>
            </p:nvSpPr>
            <p:spPr bwMode="auto">
              <a:xfrm>
                <a:off x="1857356" y="5580419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0" name="순서도: 연결자 19"/>
              <p:cNvSpPr/>
              <p:nvPr/>
            </p:nvSpPr>
            <p:spPr bwMode="auto">
              <a:xfrm>
                <a:off x="1215282" y="4929198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16" name="직선 화살표 연결선 15"/>
            <p:cNvCxnSpPr>
              <a:stCxn id="20" idx="3"/>
            </p:cNvCxnSpPr>
            <p:nvPr/>
          </p:nvCxnSpPr>
          <p:spPr bwMode="auto">
            <a:xfrm rot="5400000" flipH="1" flipV="1">
              <a:off x="2390575" y="3301748"/>
              <a:ext cx="516401" cy="284631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17" name="직선 화살표 연결선 16"/>
            <p:cNvCxnSpPr>
              <a:stCxn id="19" idx="5"/>
            </p:cNvCxnSpPr>
            <p:nvPr/>
          </p:nvCxnSpPr>
          <p:spPr bwMode="auto">
            <a:xfrm rot="16200000" flipH="1">
              <a:off x="3983414" y="3568505"/>
              <a:ext cx="80687" cy="421233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</p:grp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689118"/>
              </p:ext>
            </p:extLst>
          </p:nvPr>
        </p:nvGraphicFramePr>
        <p:xfrm>
          <a:off x="5392098" y="2394814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145016" y="4643343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위아래의 차</a:t>
            </a:r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20154"/>
              </p:ext>
            </p:extLst>
          </p:nvPr>
        </p:nvGraphicFramePr>
        <p:xfrm>
          <a:off x="2034512" y="5115886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123272" y="5557624"/>
            <a:ext cx="232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100 – 200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-100</a:t>
            </a:r>
            <a:endParaRPr lang="ko-KR" altLang="en-US" dirty="0"/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529566"/>
              </p:ext>
            </p:extLst>
          </p:nvPr>
        </p:nvGraphicFramePr>
        <p:xfrm>
          <a:off x="6338635" y="5125485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829986" y="5554038"/>
            <a:ext cx="2276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200 – 8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192</a:t>
            </a:r>
            <a:endParaRPr lang="ko-KR" altLang="en-US" dirty="0"/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248306"/>
              </p:ext>
            </p:extLst>
          </p:nvPr>
        </p:nvGraphicFramePr>
        <p:xfrm>
          <a:off x="7392362" y="3037756"/>
          <a:ext cx="1571637" cy="1357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57937" y="4643343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위아래의 차</a:t>
            </a:r>
          </a:p>
        </p:txBody>
      </p:sp>
    </p:spTree>
    <p:extLst>
      <p:ext uri="{BB962C8B-B14F-4D97-AF65-F5344CB8AC3E}">
        <p14:creationId xmlns:p14="http://schemas.microsoft.com/office/powerpoint/2010/main" val="328907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2D </a:t>
            </a:r>
            <a:r>
              <a:rPr lang="ko-KR" altLang="en-US" dirty="0" err="1" smtClean="0"/>
              <a:t>컨볼루션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043914"/>
              </p:ext>
            </p:extLst>
          </p:nvPr>
        </p:nvGraphicFramePr>
        <p:xfrm>
          <a:off x="3646152" y="2364131"/>
          <a:ext cx="1643076" cy="157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3879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076463"/>
              </p:ext>
            </p:extLst>
          </p:nvPr>
        </p:nvGraphicFramePr>
        <p:xfrm>
          <a:off x="6577960" y="2364131"/>
          <a:ext cx="1643076" cy="157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3879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en-US" sz="1600" kern="10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0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0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3574714" y="4078643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(a) 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 영상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0796" y="4066501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(b) </a:t>
            </a:r>
            <a:r>
              <a:rPr lang="ko-KR" altLang="en-US" sz="18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컨볼루션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필터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06331" y="4510394"/>
            <a:ext cx="307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출력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픽셀 값 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endParaRPr lang="ko-KR" altLang="en-US" sz="1800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5" name="Picture 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35157" y="4561066"/>
            <a:ext cx="4929222" cy="239283"/>
          </a:xfrm>
          <a:prstGeom prst="rect">
            <a:avLst/>
          </a:prstGeom>
          <a:noFill/>
        </p:spPr>
      </p:pic>
      <p:pic>
        <p:nvPicPr>
          <p:cNvPr id="56" name="Picture 8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35157" y="4994696"/>
            <a:ext cx="3571900" cy="234282"/>
          </a:xfrm>
          <a:prstGeom prst="rect">
            <a:avLst/>
          </a:prstGeom>
          <a:noFill/>
        </p:spPr>
      </p:pic>
      <p:grpSp>
        <p:nvGrpSpPr>
          <p:cNvPr id="86" name="그룹 85"/>
          <p:cNvGrpSpPr/>
          <p:nvPr/>
        </p:nvGrpSpPr>
        <p:grpSpPr>
          <a:xfrm>
            <a:off x="3860466" y="2511769"/>
            <a:ext cx="1214446" cy="1214446"/>
            <a:chOff x="2214546" y="1357298"/>
            <a:chExt cx="1214446" cy="1214446"/>
          </a:xfrm>
        </p:grpSpPr>
        <p:pic>
          <p:nvPicPr>
            <p:cNvPr id="87" name="Picture 10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214546" y="1357298"/>
              <a:ext cx="136525" cy="206375"/>
            </a:xfrm>
            <a:prstGeom prst="rect">
              <a:avLst/>
            </a:prstGeom>
            <a:noFill/>
          </p:spPr>
        </p:pic>
        <p:pic>
          <p:nvPicPr>
            <p:cNvPr id="88" name="Picture 12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714612" y="1365237"/>
              <a:ext cx="174625" cy="206375"/>
            </a:xfrm>
            <a:prstGeom prst="rect">
              <a:avLst/>
            </a:prstGeom>
            <a:noFill/>
          </p:spPr>
        </p:pic>
        <p:pic>
          <p:nvPicPr>
            <p:cNvPr id="93" name="Picture 14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286116" y="1365237"/>
              <a:ext cx="136525" cy="206375"/>
            </a:xfrm>
            <a:prstGeom prst="rect">
              <a:avLst/>
            </a:prstGeom>
            <a:noFill/>
          </p:spPr>
        </p:pic>
        <p:pic>
          <p:nvPicPr>
            <p:cNvPr id="94" name="Picture 16"/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214546" y="1865303"/>
              <a:ext cx="136525" cy="206375"/>
            </a:xfrm>
            <a:prstGeom prst="rect">
              <a:avLst/>
            </a:prstGeom>
            <a:noFill/>
          </p:spPr>
        </p:pic>
        <p:pic>
          <p:nvPicPr>
            <p:cNvPr id="95" name="Picture 18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714612" y="1857364"/>
              <a:ext cx="174625" cy="206375"/>
            </a:xfrm>
            <a:prstGeom prst="rect">
              <a:avLst/>
            </a:prstGeom>
            <a:noFill/>
          </p:spPr>
        </p:pic>
        <p:pic>
          <p:nvPicPr>
            <p:cNvPr id="96" name="Picture 20"/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292467" y="1865303"/>
              <a:ext cx="136525" cy="206375"/>
            </a:xfrm>
            <a:prstGeom prst="rect">
              <a:avLst/>
            </a:prstGeom>
            <a:noFill/>
          </p:spPr>
        </p:pic>
        <p:pic>
          <p:nvPicPr>
            <p:cNvPr id="97" name="Picture 22"/>
            <p:cNvPicPr>
              <a:picLocks noChangeAspect="1" noChangeArrowheads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220897" y="2357430"/>
              <a:ext cx="136525" cy="206375"/>
            </a:xfrm>
            <a:prstGeom prst="rect">
              <a:avLst/>
            </a:prstGeom>
            <a:noFill/>
          </p:spPr>
        </p:pic>
        <p:pic>
          <p:nvPicPr>
            <p:cNvPr id="98" name="Picture 24"/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792401" y="2365369"/>
              <a:ext cx="136525" cy="206375"/>
            </a:xfrm>
            <a:prstGeom prst="rect">
              <a:avLst/>
            </a:prstGeom>
            <a:noFill/>
          </p:spPr>
        </p:pic>
        <p:pic>
          <p:nvPicPr>
            <p:cNvPr id="99" name="Picture 28"/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286116" y="2357430"/>
              <a:ext cx="136525" cy="206375"/>
            </a:xfrm>
            <a:prstGeom prst="rect">
              <a:avLst/>
            </a:prstGeom>
            <a:noFill/>
          </p:spPr>
        </p:pic>
      </p:grpSp>
      <p:grpSp>
        <p:nvGrpSpPr>
          <p:cNvPr id="100" name="그룹 99"/>
          <p:cNvGrpSpPr/>
          <p:nvPr/>
        </p:nvGrpSpPr>
        <p:grpSpPr>
          <a:xfrm>
            <a:off x="6705921" y="2534948"/>
            <a:ext cx="1363671" cy="1206507"/>
            <a:chOff x="4922841" y="1365237"/>
            <a:chExt cx="1363671" cy="1206507"/>
          </a:xfrm>
        </p:grpSpPr>
        <p:pic>
          <p:nvPicPr>
            <p:cNvPr id="101" name="Picture 30"/>
            <p:cNvPicPr>
              <a:picLocks noChangeAspect="1" noChangeArrowheads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922841" y="1365237"/>
              <a:ext cx="220663" cy="206375"/>
            </a:xfrm>
            <a:prstGeom prst="rect">
              <a:avLst/>
            </a:prstGeom>
            <a:noFill/>
          </p:spPr>
        </p:pic>
        <p:pic>
          <p:nvPicPr>
            <p:cNvPr id="102" name="Picture 32"/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486408" y="1365237"/>
              <a:ext cx="228600" cy="206375"/>
            </a:xfrm>
            <a:prstGeom prst="rect">
              <a:avLst/>
            </a:prstGeom>
            <a:noFill/>
          </p:spPr>
        </p:pic>
        <p:pic>
          <p:nvPicPr>
            <p:cNvPr id="103" name="Picture 34"/>
            <p:cNvPicPr>
              <a:picLocks noChangeAspect="1" noChangeArrowheads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000760" y="1365237"/>
              <a:ext cx="228600" cy="206375"/>
            </a:xfrm>
            <a:prstGeom prst="rect">
              <a:avLst/>
            </a:prstGeom>
            <a:noFill/>
          </p:spPr>
        </p:pic>
        <p:pic>
          <p:nvPicPr>
            <p:cNvPr id="104" name="Picture 36"/>
            <p:cNvPicPr>
              <a:picLocks noChangeAspect="1" noChangeArrowheads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929190" y="1865303"/>
              <a:ext cx="228600" cy="206375"/>
            </a:xfrm>
            <a:prstGeom prst="rect">
              <a:avLst/>
            </a:prstGeom>
            <a:noFill/>
          </p:spPr>
        </p:pic>
        <p:pic>
          <p:nvPicPr>
            <p:cNvPr id="105" name="Picture 38"/>
            <p:cNvPicPr>
              <a:picLocks noChangeAspect="1" noChangeArrowheads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486408" y="1857364"/>
              <a:ext cx="228600" cy="206375"/>
            </a:xfrm>
            <a:prstGeom prst="rect">
              <a:avLst/>
            </a:prstGeom>
            <a:noFill/>
          </p:spPr>
        </p:pic>
        <p:pic>
          <p:nvPicPr>
            <p:cNvPr id="106" name="Picture 40"/>
            <p:cNvPicPr>
              <a:picLocks noChangeAspect="1" noChangeArrowheads="1"/>
            </p:cNvPicPr>
            <p:nvPr/>
          </p:nvPicPr>
          <p:blipFill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019812" y="1857364"/>
              <a:ext cx="266700" cy="206375"/>
            </a:xfrm>
            <a:prstGeom prst="rect">
              <a:avLst/>
            </a:prstGeom>
            <a:noFill/>
          </p:spPr>
        </p:pic>
        <p:pic>
          <p:nvPicPr>
            <p:cNvPr id="107" name="Picture 42"/>
            <p:cNvPicPr>
              <a:picLocks noChangeAspect="1" noChangeArrowheads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929190" y="2357430"/>
              <a:ext cx="228600" cy="206375"/>
            </a:xfrm>
            <a:prstGeom prst="rect">
              <a:avLst/>
            </a:prstGeom>
            <a:noFill/>
          </p:spPr>
        </p:pic>
        <p:pic>
          <p:nvPicPr>
            <p:cNvPr id="108" name="Picture 44"/>
            <p:cNvPicPr>
              <a:picLocks noChangeAspect="1" noChangeArrowheads="1"/>
            </p:cNvPicPr>
            <p:nvPr/>
          </p:nvPicPr>
          <p:blipFill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486408" y="2365369"/>
              <a:ext cx="228600" cy="206375"/>
            </a:xfrm>
            <a:prstGeom prst="rect">
              <a:avLst/>
            </a:prstGeom>
            <a:noFill/>
          </p:spPr>
        </p:pic>
        <p:pic>
          <p:nvPicPr>
            <p:cNvPr id="109" name="Picture 46"/>
            <p:cNvPicPr>
              <a:picLocks noChangeAspect="1" noChangeArrowheads="1"/>
            </p:cNvPicPr>
            <p:nvPr/>
          </p:nvPicPr>
          <p:blipFill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065849" y="2365369"/>
              <a:ext cx="220663" cy="206375"/>
            </a:xfrm>
            <a:prstGeom prst="rect">
              <a:avLst/>
            </a:prstGeom>
            <a:noFill/>
          </p:spPr>
        </p:pic>
      </p:grpSp>
      <p:sp>
        <p:nvSpPr>
          <p:cNvPr id="110" name="직사각형 109"/>
          <p:cNvSpPr/>
          <p:nvPr/>
        </p:nvSpPr>
        <p:spPr>
          <a:xfrm>
            <a:off x="2106264" y="5452184"/>
            <a:ext cx="9008199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</a:pP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입력 화소와 이웃한 각 화소에 가중치를 곱한 합을 출력 화소로 생성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="" xmlns:a16="http://schemas.microsoft.com/office/drawing/2014/main" id="{30272C7B-1A00-49B5-8912-96807D20D442}"/>
                  </a:ext>
                </a:extLst>
              </p:cNvPr>
              <p:cNvSpPr txBox="1"/>
              <p:nvPr/>
            </p:nvSpPr>
            <p:spPr>
              <a:xfrm>
                <a:off x="5829389" y="5926191"/>
                <a:ext cx="1664943" cy="1038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0272C7B-1A00-49B5-8912-96807D20D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89" y="5926191"/>
                <a:ext cx="1664943" cy="103848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="" xmlns:a16="http://schemas.microsoft.com/office/drawing/2014/main" id="{57BBC96C-872B-435B-BD26-D36AADDFBF66}"/>
              </a:ext>
            </a:extLst>
          </p:cNvPr>
          <p:cNvSpPr txBox="1"/>
          <p:nvPr/>
        </p:nvSpPr>
        <p:spPr>
          <a:xfrm>
            <a:off x="4514238" y="6245381"/>
            <a:ext cx="3071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output  =</a:t>
            </a:r>
            <a:endParaRPr lang="ko-KR" altLang="en-US" sz="2000" dirty="0">
              <a:solidFill>
                <a:srgbClr val="FF0000"/>
              </a:solidFill>
              <a:latin typeface="Cambria Math" panose="02040503050406030204" pitchFamily="18" charset="0"/>
              <a:ea typeface="맑은 고딕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3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주변 정보를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인코딩하는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방법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4466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 err="1"/>
              <a:t>컨볼루션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3" name="타원 12"/>
          <p:cNvSpPr/>
          <p:nvPr/>
        </p:nvSpPr>
        <p:spPr bwMode="auto">
          <a:xfrm>
            <a:off x="5148250" y="4743382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/>
          <p:cNvSpPr/>
          <p:nvPr/>
        </p:nvSpPr>
        <p:spPr bwMode="auto">
          <a:xfrm>
            <a:off x="5148250" y="6086417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아래쪽 화살표 14"/>
          <p:cNvSpPr/>
          <p:nvPr/>
        </p:nvSpPr>
        <p:spPr bwMode="auto">
          <a:xfrm rot="16200000">
            <a:off x="7641650" y="5789350"/>
            <a:ext cx="484613" cy="72692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6" name="아래쪽 화살표 15"/>
          <p:cNvSpPr/>
          <p:nvPr/>
        </p:nvSpPr>
        <p:spPr bwMode="auto">
          <a:xfrm rot="16200000">
            <a:off x="7685756" y="4527297"/>
            <a:ext cx="484613" cy="72692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18378" y="4624646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192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518378" y="5873735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123</a:t>
            </a:r>
            <a:endParaRPr lang="ko-KR" altLang="en-US" dirty="0"/>
          </a:p>
        </p:txBody>
      </p:sp>
      <p:grpSp>
        <p:nvGrpSpPr>
          <p:cNvPr id="19" name="그룹 79"/>
          <p:cNvGrpSpPr/>
          <p:nvPr/>
        </p:nvGrpSpPr>
        <p:grpSpPr>
          <a:xfrm>
            <a:off x="3228893" y="2637175"/>
            <a:ext cx="5320078" cy="1581820"/>
            <a:chOff x="928662" y="4000504"/>
            <a:chExt cx="6487146" cy="1928825"/>
          </a:xfrm>
        </p:grpSpPr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C4D17181-0E90-1C4D-BC80-31ABB34C0A5B}"/>
                </a:ext>
              </a:extLst>
            </p:cNvPr>
            <p:cNvSpPr txBox="1"/>
            <p:nvPr/>
          </p:nvSpPr>
          <p:spPr>
            <a:xfrm>
              <a:off x="6255726" y="4399485"/>
              <a:ext cx="116008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altLang="ko-KR" sz="1000" dirty="0">
                <a:solidFill>
                  <a:srgbClr val="FF0000"/>
                </a:solidFill>
              </a:endParaRPr>
            </a:p>
          </p:txBody>
        </p:sp>
        <p:grpSp>
          <p:nvGrpSpPr>
            <p:cNvPr id="21" name="그룹 32"/>
            <p:cNvGrpSpPr/>
            <p:nvPr/>
          </p:nvGrpSpPr>
          <p:grpSpPr>
            <a:xfrm>
              <a:off x="928662" y="4000504"/>
              <a:ext cx="1928827" cy="1928825"/>
              <a:chOff x="928662" y="4000504"/>
              <a:chExt cx="1928827" cy="1928825"/>
            </a:xfrm>
          </p:grpSpPr>
          <p:grpSp>
            <p:nvGrpSpPr>
              <p:cNvPr id="24" name="그룹 20"/>
              <p:cNvGrpSpPr/>
              <p:nvPr/>
            </p:nvGrpSpPr>
            <p:grpSpPr>
              <a:xfrm>
                <a:off x="928662" y="4000504"/>
                <a:ext cx="1928827" cy="1928825"/>
                <a:chOff x="3857619" y="2000240"/>
                <a:chExt cx="2143141" cy="2143139"/>
              </a:xfrm>
            </p:grpSpPr>
            <p:pic>
              <p:nvPicPr>
                <p:cNvPr id="27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r="66667" b="66667"/>
                <a:stretch>
                  <a:fillRect/>
                </a:stretch>
              </p:blipFill>
              <p:spPr bwMode="auto">
                <a:xfrm>
                  <a:off x="3857620" y="2000241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3" r="33334" b="66667"/>
                <a:stretch>
                  <a:fillRect/>
                </a:stretch>
              </p:blipFill>
              <p:spPr bwMode="auto">
                <a:xfrm>
                  <a:off x="457200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9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b="66667"/>
                <a:stretch>
                  <a:fillRect/>
                </a:stretch>
              </p:blipFill>
              <p:spPr bwMode="auto">
                <a:xfrm>
                  <a:off x="528638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0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t="66667" r="66667"/>
                <a:stretch>
                  <a:fillRect/>
                </a:stretch>
              </p:blipFill>
              <p:spPr bwMode="auto">
                <a:xfrm>
                  <a:off x="3857619" y="3429000"/>
                  <a:ext cx="714381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1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t="66666"/>
                <a:stretch>
                  <a:fillRect/>
                </a:stretch>
              </p:blipFill>
              <p:spPr bwMode="auto">
                <a:xfrm>
                  <a:off x="5286380" y="3429000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2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4" t="33333" r="33333" b="33333"/>
                <a:stretch>
                  <a:fillRect/>
                </a:stretch>
              </p:blipFill>
              <p:spPr bwMode="auto">
                <a:xfrm>
                  <a:off x="457200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3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t="33334" b="33333"/>
                <a:stretch>
                  <a:fillRect/>
                </a:stretch>
              </p:blipFill>
              <p:spPr bwMode="auto">
                <a:xfrm>
                  <a:off x="528638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4" t="66667" r="33333"/>
                <a:stretch>
                  <a:fillRect/>
                </a:stretch>
              </p:blipFill>
              <p:spPr bwMode="auto">
                <a:xfrm>
                  <a:off x="4572000" y="3429000"/>
                  <a:ext cx="714380" cy="71437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5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t="33333" r="66667" b="33333"/>
                <a:stretch>
                  <a:fillRect/>
                </a:stretch>
              </p:blipFill>
              <p:spPr bwMode="auto">
                <a:xfrm>
                  <a:off x="3857619" y="2714620"/>
                  <a:ext cx="714381" cy="7143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</p:grpSp>
          <p:sp>
            <p:nvSpPr>
              <p:cNvPr id="25" name="순서도: 연결자 24"/>
              <p:cNvSpPr/>
              <p:nvPr/>
            </p:nvSpPr>
            <p:spPr bwMode="auto">
              <a:xfrm>
                <a:off x="1857356" y="5580419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6" name="순서도: 연결자 25"/>
              <p:cNvSpPr/>
              <p:nvPr/>
            </p:nvSpPr>
            <p:spPr bwMode="auto">
              <a:xfrm>
                <a:off x="1215282" y="4929198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22" name="직선 화살표 연결선 21"/>
            <p:cNvCxnSpPr>
              <a:cxnSpLocks/>
              <a:stCxn id="26" idx="3"/>
            </p:cNvCxnSpPr>
            <p:nvPr/>
          </p:nvCxnSpPr>
          <p:spPr bwMode="auto">
            <a:xfrm flipV="1">
              <a:off x="1225617" y="4238230"/>
              <a:ext cx="3761299" cy="74487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23" name="직선 화살표 연결선 22"/>
            <p:cNvCxnSpPr>
              <a:cxnSpLocks/>
              <a:stCxn id="25" idx="5"/>
            </p:cNvCxnSpPr>
            <p:nvPr/>
          </p:nvCxnSpPr>
          <p:spPr bwMode="auto">
            <a:xfrm flipV="1">
              <a:off x="1917591" y="4798291"/>
              <a:ext cx="5085549" cy="8360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</p:grp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395799"/>
              </p:ext>
            </p:extLst>
          </p:nvPr>
        </p:nvGraphicFramePr>
        <p:xfrm>
          <a:off x="5922189" y="2252076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83892"/>
              </p:ext>
            </p:extLst>
          </p:nvPr>
        </p:nvGraphicFramePr>
        <p:xfrm>
          <a:off x="7555918" y="2740686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381766"/>
              </p:ext>
            </p:extLst>
          </p:nvPr>
        </p:nvGraphicFramePr>
        <p:xfrm>
          <a:off x="3224636" y="4325914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825437"/>
              </p:ext>
            </p:extLst>
          </p:nvPr>
        </p:nvGraphicFramePr>
        <p:xfrm>
          <a:off x="3212097" y="5609482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184118"/>
              </p:ext>
            </p:extLst>
          </p:nvPr>
        </p:nvGraphicFramePr>
        <p:xfrm>
          <a:off x="5876393" y="5609482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1/9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1/9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1/9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1/9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1/9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1/9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1/9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1/9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1/9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="" xmlns:a16="http://schemas.microsoft.com/office/drawing/2014/main" id="{2869D0A7-50C8-4AE4-9A04-68C1FA8E2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298665"/>
              </p:ext>
            </p:extLst>
          </p:nvPr>
        </p:nvGraphicFramePr>
        <p:xfrm>
          <a:off x="5888932" y="4325914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평균을 이용한 주변 정보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인코딩은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전체 데이터가 가중치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1/9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 구성된 행렬을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사용해 표현할 수 있음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8127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 err="1"/>
              <a:t>컨볼루션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3" name="타원 12"/>
          <p:cNvSpPr/>
          <p:nvPr/>
        </p:nvSpPr>
        <p:spPr bwMode="auto">
          <a:xfrm>
            <a:off x="5148250" y="4743382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/>
          <p:cNvSpPr/>
          <p:nvPr/>
        </p:nvSpPr>
        <p:spPr bwMode="auto">
          <a:xfrm>
            <a:off x="5148250" y="6086417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아래쪽 화살표 14"/>
          <p:cNvSpPr/>
          <p:nvPr/>
        </p:nvSpPr>
        <p:spPr bwMode="auto">
          <a:xfrm rot="16200000">
            <a:off x="7641650" y="5789350"/>
            <a:ext cx="484613" cy="72692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6" name="아래쪽 화살표 15"/>
          <p:cNvSpPr/>
          <p:nvPr/>
        </p:nvSpPr>
        <p:spPr bwMode="auto">
          <a:xfrm rot="16200000">
            <a:off x="7685756" y="4527297"/>
            <a:ext cx="484613" cy="72692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18378" y="4624646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192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518378" y="5873735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-10</a:t>
            </a:r>
            <a:endParaRPr lang="ko-KR" altLang="en-US" dirty="0"/>
          </a:p>
        </p:txBody>
      </p:sp>
      <p:grpSp>
        <p:nvGrpSpPr>
          <p:cNvPr id="19" name="그룹 79"/>
          <p:cNvGrpSpPr/>
          <p:nvPr/>
        </p:nvGrpSpPr>
        <p:grpSpPr>
          <a:xfrm>
            <a:off x="3228893" y="2637175"/>
            <a:ext cx="5320078" cy="1581820"/>
            <a:chOff x="928662" y="4000504"/>
            <a:chExt cx="6487146" cy="1928825"/>
          </a:xfrm>
        </p:grpSpPr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C4D17181-0E90-1C4D-BC80-31ABB34C0A5B}"/>
                </a:ext>
              </a:extLst>
            </p:cNvPr>
            <p:cNvSpPr txBox="1"/>
            <p:nvPr/>
          </p:nvSpPr>
          <p:spPr>
            <a:xfrm>
              <a:off x="6255726" y="4399485"/>
              <a:ext cx="116008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altLang="ko-KR" sz="1000" dirty="0">
                <a:solidFill>
                  <a:srgbClr val="FF0000"/>
                </a:solidFill>
              </a:endParaRPr>
            </a:p>
          </p:txBody>
        </p:sp>
        <p:grpSp>
          <p:nvGrpSpPr>
            <p:cNvPr id="21" name="그룹 32"/>
            <p:cNvGrpSpPr/>
            <p:nvPr/>
          </p:nvGrpSpPr>
          <p:grpSpPr>
            <a:xfrm>
              <a:off x="928662" y="4000504"/>
              <a:ext cx="1928827" cy="1928825"/>
              <a:chOff x="928662" y="4000504"/>
              <a:chExt cx="1928827" cy="1928825"/>
            </a:xfrm>
          </p:grpSpPr>
          <p:grpSp>
            <p:nvGrpSpPr>
              <p:cNvPr id="24" name="그룹 20"/>
              <p:cNvGrpSpPr/>
              <p:nvPr/>
            </p:nvGrpSpPr>
            <p:grpSpPr>
              <a:xfrm>
                <a:off x="928662" y="4000504"/>
                <a:ext cx="1928827" cy="1928825"/>
                <a:chOff x="3857619" y="2000240"/>
                <a:chExt cx="2143141" cy="2143139"/>
              </a:xfrm>
            </p:grpSpPr>
            <p:pic>
              <p:nvPicPr>
                <p:cNvPr id="27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r="66667" b="66667"/>
                <a:stretch>
                  <a:fillRect/>
                </a:stretch>
              </p:blipFill>
              <p:spPr bwMode="auto">
                <a:xfrm>
                  <a:off x="3857620" y="2000241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3" r="33334" b="66667"/>
                <a:stretch>
                  <a:fillRect/>
                </a:stretch>
              </p:blipFill>
              <p:spPr bwMode="auto">
                <a:xfrm>
                  <a:off x="457200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9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b="66667"/>
                <a:stretch>
                  <a:fillRect/>
                </a:stretch>
              </p:blipFill>
              <p:spPr bwMode="auto">
                <a:xfrm>
                  <a:off x="5286380" y="200024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0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t="66667" r="66667"/>
                <a:stretch>
                  <a:fillRect/>
                </a:stretch>
              </p:blipFill>
              <p:spPr bwMode="auto">
                <a:xfrm>
                  <a:off x="3857619" y="3429000"/>
                  <a:ext cx="714381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1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t="66666"/>
                <a:stretch>
                  <a:fillRect/>
                </a:stretch>
              </p:blipFill>
              <p:spPr bwMode="auto">
                <a:xfrm>
                  <a:off x="5286380" y="3429000"/>
                  <a:ext cx="714380" cy="714379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2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4" t="33333" r="33333" b="33333"/>
                <a:stretch>
                  <a:fillRect/>
                </a:stretch>
              </p:blipFill>
              <p:spPr bwMode="auto">
                <a:xfrm>
                  <a:off x="457200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3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66667" t="33334" b="33333"/>
                <a:stretch>
                  <a:fillRect/>
                </a:stretch>
              </p:blipFill>
              <p:spPr bwMode="auto">
                <a:xfrm>
                  <a:off x="5286380" y="2714620"/>
                  <a:ext cx="714380" cy="71438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33334" t="66667" r="33333"/>
                <a:stretch>
                  <a:fillRect/>
                </a:stretch>
              </p:blipFill>
              <p:spPr bwMode="auto">
                <a:xfrm>
                  <a:off x="4572000" y="3429000"/>
                  <a:ext cx="714380" cy="71437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35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t="33333" r="66667" b="33333"/>
                <a:stretch>
                  <a:fillRect/>
                </a:stretch>
              </p:blipFill>
              <p:spPr bwMode="auto">
                <a:xfrm>
                  <a:off x="3857619" y="2714620"/>
                  <a:ext cx="714381" cy="7143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</p:pic>
          </p:grpSp>
          <p:sp>
            <p:nvSpPr>
              <p:cNvPr id="25" name="순서도: 연결자 24"/>
              <p:cNvSpPr/>
              <p:nvPr/>
            </p:nvSpPr>
            <p:spPr bwMode="auto">
              <a:xfrm>
                <a:off x="1857356" y="5580419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6" name="순서도: 연결자 25"/>
              <p:cNvSpPr/>
              <p:nvPr/>
            </p:nvSpPr>
            <p:spPr bwMode="auto">
              <a:xfrm>
                <a:off x="1215282" y="4929198"/>
                <a:ext cx="70570" cy="63159"/>
              </a:xfrm>
              <a:prstGeom prst="flowChartConnector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22" name="직선 화살표 연결선 21"/>
            <p:cNvCxnSpPr>
              <a:cxnSpLocks/>
              <a:stCxn id="26" idx="3"/>
            </p:cNvCxnSpPr>
            <p:nvPr/>
          </p:nvCxnSpPr>
          <p:spPr bwMode="auto">
            <a:xfrm flipV="1">
              <a:off x="1225617" y="4238230"/>
              <a:ext cx="3761299" cy="74487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23" name="직선 화살표 연결선 22"/>
            <p:cNvCxnSpPr>
              <a:cxnSpLocks/>
              <a:stCxn id="25" idx="5"/>
            </p:cNvCxnSpPr>
            <p:nvPr/>
          </p:nvCxnSpPr>
          <p:spPr bwMode="auto">
            <a:xfrm flipV="1">
              <a:off x="1917591" y="4798291"/>
              <a:ext cx="5085549" cy="8360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</p:grp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395799"/>
              </p:ext>
            </p:extLst>
          </p:nvPr>
        </p:nvGraphicFramePr>
        <p:xfrm>
          <a:off x="5922189" y="2252076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83892"/>
              </p:ext>
            </p:extLst>
          </p:nvPr>
        </p:nvGraphicFramePr>
        <p:xfrm>
          <a:off x="7555918" y="2740686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381766"/>
              </p:ext>
            </p:extLst>
          </p:nvPr>
        </p:nvGraphicFramePr>
        <p:xfrm>
          <a:off x="3224636" y="4325914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210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825437"/>
              </p:ext>
            </p:extLst>
          </p:nvPr>
        </p:nvGraphicFramePr>
        <p:xfrm>
          <a:off x="3212097" y="5609482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150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190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50459"/>
              </p:ext>
            </p:extLst>
          </p:nvPr>
        </p:nvGraphicFramePr>
        <p:xfrm>
          <a:off x="5876393" y="5609482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0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0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0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+1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/>
                        <a:t>0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-1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/>
                        <a:t>0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0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0</a:t>
                      </a:r>
                      <a:endParaRPr lang="ko-KR" altLang="en-US" sz="1300" dirty="0"/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="" xmlns:a16="http://schemas.microsoft.com/office/drawing/2014/main" id="{2869D0A7-50C8-4AE4-9A04-68C1FA8E2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067306"/>
              </p:ext>
            </p:extLst>
          </p:nvPr>
        </p:nvGraphicFramePr>
        <p:xfrm>
          <a:off x="5888932" y="4325914"/>
          <a:ext cx="1382997" cy="119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9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+1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-1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5" marR="80465" marT="40233" marB="40233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밝기차이를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인코딩하는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필터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3826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2D </a:t>
            </a:r>
            <a:r>
              <a:rPr lang="ko-KR" altLang="en-US" dirty="0" err="1" smtClean="0"/>
              <a:t>컨볼루션을</a:t>
            </a:r>
            <a:r>
              <a:rPr lang="ko-KR" altLang="en-US" dirty="0" smtClean="0"/>
              <a:t> 이용한 특징 검출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다수의 필터를 정의해 입력 영상의 기하학적 특징 파악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4" name="그룹 14"/>
          <p:cNvGrpSpPr/>
          <p:nvPr/>
        </p:nvGrpSpPr>
        <p:grpSpPr>
          <a:xfrm>
            <a:off x="1759238" y="3731891"/>
            <a:ext cx="1714512" cy="1714512"/>
            <a:chOff x="428596" y="3000372"/>
            <a:chExt cx="1714512" cy="1714512"/>
          </a:xfrm>
        </p:grpSpPr>
        <p:sp>
          <p:nvSpPr>
            <p:cNvPr id="35" name="직사각형 34"/>
            <p:cNvSpPr/>
            <p:nvPr/>
          </p:nvSpPr>
          <p:spPr bwMode="auto">
            <a:xfrm>
              <a:off x="428596" y="3000372"/>
              <a:ext cx="1714512" cy="171451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 bwMode="auto">
            <a:xfrm>
              <a:off x="500034" y="3643314"/>
              <a:ext cx="1571636" cy="428628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softEdge rad="127000"/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902114" y="3231825"/>
            <a:ext cx="163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image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586546"/>
              </p:ext>
            </p:extLst>
          </p:nvPr>
        </p:nvGraphicFramePr>
        <p:xfrm>
          <a:off x="4545320" y="2588883"/>
          <a:ext cx="1643076" cy="157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069405"/>
              </p:ext>
            </p:extLst>
          </p:nvPr>
        </p:nvGraphicFramePr>
        <p:xfrm>
          <a:off x="4545320" y="5160651"/>
          <a:ext cx="1643076" cy="157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아래쪽 화살표 39"/>
          <p:cNvSpPr/>
          <p:nvPr/>
        </p:nvSpPr>
        <p:spPr bwMode="auto">
          <a:xfrm rot="16200000">
            <a:off x="6759242" y="3078604"/>
            <a:ext cx="369332" cy="508616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41211"/>
              </p:ext>
            </p:extLst>
          </p:nvPr>
        </p:nvGraphicFramePr>
        <p:xfrm>
          <a:off x="7688592" y="2588883"/>
          <a:ext cx="1643076" cy="157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725778"/>
              </p:ext>
            </p:extLst>
          </p:nvPr>
        </p:nvGraphicFramePr>
        <p:xfrm>
          <a:off x="7688592" y="5160651"/>
          <a:ext cx="1643076" cy="157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아래쪽 화살표 44"/>
          <p:cNvSpPr/>
          <p:nvPr/>
        </p:nvSpPr>
        <p:spPr bwMode="auto">
          <a:xfrm rot="16200000">
            <a:off x="6759242" y="5650373"/>
            <a:ext cx="369332" cy="508616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pSp>
        <p:nvGrpSpPr>
          <p:cNvPr id="73" name="그룹 39"/>
          <p:cNvGrpSpPr/>
          <p:nvPr/>
        </p:nvGrpSpPr>
        <p:grpSpPr>
          <a:xfrm>
            <a:off x="9617418" y="6098869"/>
            <a:ext cx="704856" cy="633419"/>
            <a:chOff x="428596" y="3000372"/>
            <a:chExt cx="1714512" cy="1714512"/>
          </a:xfrm>
        </p:grpSpPr>
        <p:sp>
          <p:nvSpPr>
            <p:cNvPr id="75" name="직사각형 74"/>
            <p:cNvSpPr/>
            <p:nvPr/>
          </p:nvSpPr>
          <p:spPr bwMode="auto">
            <a:xfrm>
              <a:off x="428596" y="3000372"/>
              <a:ext cx="1714512" cy="171451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6" name="직사각형 75"/>
            <p:cNvSpPr/>
            <p:nvPr/>
          </p:nvSpPr>
          <p:spPr bwMode="auto">
            <a:xfrm>
              <a:off x="1123667" y="3748054"/>
              <a:ext cx="347536" cy="323888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softEdge rad="31750"/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77" name="그룹 42"/>
          <p:cNvGrpSpPr/>
          <p:nvPr/>
        </p:nvGrpSpPr>
        <p:grpSpPr>
          <a:xfrm>
            <a:off x="9693618" y="3517579"/>
            <a:ext cx="704856" cy="633419"/>
            <a:chOff x="428596" y="3000372"/>
            <a:chExt cx="1714512" cy="1714512"/>
          </a:xfrm>
        </p:grpSpPr>
        <p:sp>
          <p:nvSpPr>
            <p:cNvPr id="78" name="직사각형 77"/>
            <p:cNvSpPr/>
            <p:nvPr/>
          </p:nvSpPr>
          <p:spPr bwMode="auto">
            <a:xfrm>
              <a:off x="428596" y="3000372"/>
              <a:ext cx="1714512" cy="171451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9" name="직사각형 78"/>
            <p:cNvSpPr/>
            <p:nvPr/>
          </p:nvSpPr>
          <p:spPr bwMode="auto">
            <a:xfrm>
              <a:off x="500034" y="3643314"/>
              <a:ext cx="1571636" cy="428628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softEdge rad="63500"/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</p:grpSp>
      <p:sp>
        <p:nvSpPr>
          <p:cNvPr id="80" name="타원 79"/>
          <p:cNvSpPr/>
          <p:nvPr/>
        </p:nvSpPr>
        <p:spPr bwMode="auto">
          <a:xfrm>
            <a:off x="3973816" y="3088950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1" name="타원 80"/>
          <p:cNvSpPr/>
          <p:nvPr/>
        </p:nvSpPr>
        <p:spPr bwMode="auto">
          <a:xfrm>
            <a:off x="3973816" y="5875032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116824" y="2160256"/>
            <a:ext cx="163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filter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688592" y="2148114"/>
            <a:ext cx="163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output image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5575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다층 신경망 학습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주변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9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점을 사용하기 때문에 가장자리 점을 제외하고 필터를 적용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실제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신경망에서는 학습 데이터를 통해 필터 계산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193333"/>
              </p:ext>
            </p:extLst>
          </p:nvPr>
        </p:nvGraphicFramePr>
        <p:xfrm>
          <a:off x="2085967" y="2634689"/>
          <a:ext cx="1714515" cy="164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타원 44"/>
          <p:cNvSpPr/>
          <p:nvPr/>
        </p:nvSpPr>
        <p:spPr bwMode="auto">
          <a:xfrm>
            <a:off x="4086231" y="3277632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2085967" y="2634690"/>
            <a:ext cx="1000132" cy="100013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652918"/>
              </p:ext>
            </p:extLst>
          </p:nvPr>
        </p:nvGraphicFramePr>
        <p:xfrm>
          <a:off x="4729173" y="2849004"/>
          <a:ext cx="1285884" cy="1285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2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4586297" y="4328429"/>
            <a:ext cx="6643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(1x1 + 10x1 +1x1 + 10x1 + 50x1 + 0x1 + 10x1+ 50x1 + 50x1)/9 =20.22222..= 20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오른쪽 화살표 48"/>
          <p:cNvSpPr/>
          <p:nvPr/>
        </p:nvSpPr>
        <p:spPr bwMode="auto">
          <a:xfrm>
            <a:off x="6657999" y="3206194"/>
            <a:ext cx="500066" cy="428628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247139"/>
              </p:ext>
            </p:extLst>
          </p:nvPr>
        </p:nvGraphicFramePr>
        <p:xfrm>
          <a:off x="7801007" y="2645167"/>
          <a:ext cx="1714515" cy="164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09426"/>
              </p:ext>
            </p:extLst>
          </p:nvPr>
        </p:nvGraphicFramePr>
        <p:xfrm>
          <a:off x="2085967" y="4799739"/>
          <a:ext cx="1714515" cy="164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타원 51"/>
          <p:cNvSpPr/>
          <p:nvPr/>
        </p:nvSpPr>
        <p:spPr bwMode="auto">
          <a:xfrm>
            <a:off x="4086231" y="5366482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2443157" y="4799740"/>
            <a:ext cx="1000132" cy="100013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93442"/>
              </p:ext>
            </p:extLst>
          </p:nvPr>
        </p:nvGraphicFramePr>
        <p:xfrm>
          <a:off x="4729173" y="4937854"/>
          <a:ext cx="1285884" cy="1285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2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1/9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4586297" y="6539199"/>
            <a:ext cx="6643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(10x1 + 1x1 +10x1 + 50x1 + 0x1 + 26x1 + 50x1+ 50x1 + 80x1)/9 =28.88888..= 28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오른쪽 화살표 55"/>
          <p:cNvSpPr/>
          <p:nvPr/>
        </p:nvSpPr>
        <p:spPr bwMode="auto">
          <a:xfrm>
            <a:off x="6657999" y="5295044"/>
            <a:ext cx="500066" cy="428628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747750"/>
              </p:ext>
            </p:extLst>
          </p:nvPr>
        </p:nvGraphicFramePr>
        <p:xfrm>
          <a:off x="7801007" y="4794977"/>
          <a:ext cx="1714515" cy="164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28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직사각형 57"/>
          <p:cNvSpPr/>
          <p:nvPr/>
        </p:nvSpPr>
        <p:spPr bwMode="auto">
          <a:xfrm>
            <a:off x="8515387" y="5152168"/>
            <a:ext cx="285752" cy="28575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8158197" y="3002358"/>
            <a:ext cx="285752" cy="28575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3255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2D </a:t>
            </a:r>
            <a:r>
              <a:rPr lang="ko-KR" altLang="en-US" dirty="0" err="1" smtClean="0"/>
              <a:t>컨볼루션을</a:t>
            </a:r>
            <a:r>
              <a:rPr lang="ko-KR" altLang="en-US" dirty="0" smtClean="0"/>
              <a:t> 이용한 영상 처리 </a:t>
            </a:r>
            <a:r>
              <a:rPr lang="en-US" altLang="ko-KR" dirty="0" smtClean="0"/>
              <a:t>#1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평균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필터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영상을 흐리게 하거나 단순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노이즈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제거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1857"/>
              </p:ext>
            </p:extLst>
          </p:nvPr>
        </p:nvGraphicFramePr>
        <p:xfrm>
          <a:off x="4920890" y="2730782"/>
          <a:ext cx="1423437" cy="13615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4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44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744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38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38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38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아래쪽 화살표 21">
            <a:extLst>
              <a:ext uri="{FF2B5EF4-FFF2-40B4-BE49-F238E27FC236}">
                <a16:creationId xmlns="" xmlns:a16="http://schemas.microsoft.com/office/drawing/2014/main" id="{5CD2426A-9F51-4BCE-9910-FA47FF3B83A5}"/>
              </a:ext>
            </a:extLst>
          </p:cNvPr>
          <p:cNvSpPr/>
          <p:nvPr/>
        </p:nvSpPr>
        <p:spPr bwMode="auto">
          <a:xfrm rot="16200000">
            <a:off x="7061172" y="3151584"/>
            <a:ext cx="346626" cy="51994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="" xmlns:a16="http://schemas.microsoft.com/office/drawing/2014/main" id="{01E52FB6-C29D-43BD-9030-E6BE4BECB1DE}"/>
              </a:ext>
            </a:extLst>
          </p:cNvPr>
          <p:cNvSpPr/>
          <p:nvPr/>
        </p:nvSpPr>
        <p:spPr bwMode="auto">
          <a:xfrm>
            <a:off x="3972913" y="3385222"/>
            <a:ext cx="247554" cy="247554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="" xmlns:a16="http://schemas.microsoft.com/office/drawing/2014/main" id="{2EAC22A6-52F1-4525-8E47-A2B4A5D2E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41431" y="2575896"/>
            <a:ext cx="1880362" cy="1794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타원 25">
            <a:extLst>
              <a:ext uri="{FF2B5EF4-FFF2-40B4-BE49-F238E27FC236}">
                <a16:creationId xmlns="" xmlns:a16="http://schemas.microsoft.com/office/drawing/2014/main" id="{1C296BF6-2BA9-426E-AAE7-31B350889B6C}"/>
              </a:ext>
            </a:extLst>
          </p:cNvPr>
          <p:cNvSpPr/>
          <p:nvPr/>
        </p:nvSpPr>
        <p:spPr bwMode="auto">
          <a:xfrm>
            <a:off x="3972913" y="3385222"/>
            <a:ext cx="247554" cy="247554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="" xmlns:a16="http://schemas.microsoft.com/office/drawing/2014/main" id="{D71EE655-4796-44C7-BE12-CA34EE9C41C3}"/>
              </a:ext>
            </a:extLst>
          </p:cNvPr>
          <p:cNvSpPr/>
          <p:nvPr/>
        </p:nvSpPr>
        <p:spPr bwMode="auto">
          <a:xfrm>
            <a:off x="4103819" y="5446035"/>
            <a:ext cx="247554" cy="247554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="" xmlns:a16="http://schemas.microsoft.com/office/drawing/2014/main" id="{B3570B28-2094-4F31-BBE5-7B13296E4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467088"/>
              </p:ext>
            </p:extLst>
          </p:nvPr>
        </p:nvGraphicFramePr>
        <p:xfrm>
          <a:off x="4853439" y="5025645"/>
          <a:ext cx="1423437" cy="13615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4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44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744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38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38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38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1/9</a:t>
                      </a:r>
                      <a:endParaRPr lang="ko-KR" altLang="en-US" sz="1600" dirty="0"/>
                    </a:p>
                  </a:txBody>
                  <a:tcPr marL="79217" marR="79217" marT="39608" marB="39608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9" name="그림 28">
            <a:extLst>
              <a:ext uri="{FF2B5EF4-FFF2-40B4-BE49-F238E27FC236}">
                <a16:creationId xmlns="" xmlns:a16="http://schemas.microsoft.com/office/drawing/2014/main" id="{65E079C4-2FDA-4800-AEF0-3929FDB6C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005" y="4744153"/>
            <a:ext cx="1893754" cy="193074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="" xmlns:a16="http://schemas.microsoft.com/office/drawing/2014/main" id="{38D0B8C3-C58C-428F-9102-25E8F34F7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466" y="4726399"/>
            <a:ext cx="1926601" cy="1948493"/>
          </a:xfrm>
          <a:prstGeom prst="rect">
            <a:avLst/>
          </a:prstGeom>
        </p:spPr>
      </p:pic>
      <p:sp>
        <p:nvSpPr>
          <p:cNvPr id="31" name="아래쪽 화살표 21">
            <a:extLst>
              <a:ext uri="{FF2B5EF4-FFF2-40B4-BE49-F238E27FC236}">
                <a16:creationId xmlns="" xmlns:a16="http://schemas.microsoft.com/office/drawing/2014/main" id="{3B178636-38D5-4F95-8B21-61D0EF53D72C}"/>
              </a:ext>
            </a:extLst>
          </p:cNvPr>
          <p:cNvSpPr/>
          <p:nvPr/>
        </p:nvSpPr>
        <p:spPr bwMode="auto">
          <a:xfrm rot="16200000">
            <a:off x="6976111" y="5309841"/>
            <a:ext cx="346626" cy="51994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731565" y="2496300"/>
            <a:ext cx="2160942" cy="213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558408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2D </a:t>
            </a:r>
            <a:r>
              <a:rPr lang="ko-KR" altLang="en-US" dirty="0" err="1" smtClean="0"/>
              <a:t>컨볼루션을</a:t>
            </a:r>
            <a:r>
              <a:rPr lang="ko-KR" altLang="en-US" dirty="0" smtClean="0"/>
              <a:t> 이용한 영상 처리 </a:t>
            </a:r>
            <a:r>
              <a:rPr lang="en-US" altLang="ko-KR" dirty="0" smtClean="0"/>
              <a:t>#2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엣지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필터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수평 및 수직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엣지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검출에 유용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9720" y="2315509"/>
            <a:ext cx="2170503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216767"/>
              </p:ext>
            </p:extLst>
          </p:nvPr>
        </p:nvGraphicFramePr>
        <p:xfrm>
          <a:off x="4738676" y="2601260"/>
          <a:ext cx="1643076" cy="157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아래쪽 화살표 17"/>
          <p:cNvSpPr/>
          <p:nvPr/>
        </p:nvSpPr>
        <p:spPr bwMode="auto">
          <a:xfrm rot="16200000">
            <a:off x="6988116" y="3093909"/>
            <a:ext cx="400111" cy="600167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67702" y="2315509"/>
            <a:ext cx="2143140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타원 19"/>
          <p:cNvSpPr/>
          <p:nvPr/>
        </p:nvSpPr>
        <p:spPr bwMode="auto">
          <a:xfrm>
            <a:off x="4167174" y="3244203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38282" y="4601525"/>
            <a:ext cx="2286016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676546"/>
              </p:ext>
            </p:extLst>
          </p:nvPr>
        </p:nvGraphicFramePr>
        <p:xfrm>
          <a:off x="4810114" y="4672963"/>
          <a:ext cx="1643076" cy="157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타원 33"/>
          <p:cNvSpPr/>
          <p:nvPr/>
        </p:nvSpPr>
        <p:spPr bwMode="auto">
          <a:xfrm>
            <a:off x="4238612" y="5315906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아래쪽 화살표 34"/>
          <p:cNvSpPr/>
          <p:nvPr/>
        </p:nvSpPr>
        <p:spPr bwMode="auto">
          <a:xfrm rot="16200000">
            <a:off x="6988116" y="5165612"/>
            <a:ext cx="400111" cy="600167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167702" y="4530087"/>
            <a:ext cx="2203541" cy="2171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977576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2D </a:t>
            </a:r>
            <a:r>
              <a:rPr lang="ko-KR" altLang="en-US" dirty="0" err="1" smtClean="0"/>
              <a:t>컨볼루션을</a:t>
            </a:r>
            <a:r>
              <a:rPr lang="ko-KR" altLang="en-US" dirty="0" smtClean="0"/>
              <a:t> 이용한 영상 처리 </a:t>
            </a:r>
            <a:r>
              <a:rPr lang="en-US" altLang="ko-KR" dirty="0" smtClean="0"/>
              <a:t>#3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샤프닝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필터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밝기의 경계 영역에서 값이 커짐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973" y="3095620"/>
            <a:ext cx="2170503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605694"/>
              </p:ext>
            </p:extLst>
          </p:nvPr>
        </p:nvGraphicFramePr>
        <p:xfrm>
          <a:off x="4786929" y="3381371"/>
          <a:ext cx="1643076" cy="1571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6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3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아래쪽 화살표 22"/>
          <p:cNvSpPr/>
          <p:nvPr/>
        </p:nvSpPr>
        <p:spPr bwMode="auto">
          <a:xfrm rot="16200000">
            <a:off x="6955393" y="3823922"/>
            <a:ext cx="533400" cy="72464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44517" y="3095620"/>
            <a:ext cx="217645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타원 24"/>
          <p:cNvSpPr/>
          <p:nvPr/>
        </p:nvSpPr>
        <p:spPr bwMode="auto">
          <a:xfrm>
            <a:off x="4215427" y="4024314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03059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영상을 위한 </a:t>
            </a:r>
            <a:r>
              <a:rPr lang="ko-KR" altLang="en-US" dirty="0" err="1" smtClean="0"/>
              <a:t>컨볼루션</a:t>
            </a:r>
            <a:r>
              <a:rPr lang="ko-KR" altLang="en-US" dirty="0" smtClean="0"/>
              <a:t> 필터 설계의 어려움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영상의 기하학적 변화에도 강인하도록 필터가 설계되어야 함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830002" y="2357845"/>
            <a:ext cx="5009198" cy="868260"/>
            <a:chOff x="1857356" y="2214554"/>
            <a:chExt cx="5357850" cy="928694"/>
          </a:xfrm>
        </p:grpSpPr>
        <p:sp>
          <p:nvSpPr>
            <p:cNvPr id="11" name="액자 10"/>
            <p:cNvSpPr/>
            <p:nvPr/>
          </p:nvSpPr>
          <p:spPr bwMode="auto">
            <a:xfrm>
              <a:off x="1857356" y="2214554"/>
              <a:ext cx="1000132" cy="928694"/>
            </a:xfrm>
            <a:prstGeom prst="frame">
              <a:avLst>
                <a:gd name="adj1" fmla="val 1366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 </a:t>
              </a:r>
              <a:endParaRPr kumimoji="1" lang="ko-KR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액자 11"/>
            <p:cNvSpPr/>
            <p:nvPr/>
          </p:nvSpPr>
          <p:spPr bwMode="auto">
            <a:xfrm>
              <a:off x="4071934" y="2214554"/>
              <a:ext cx="1000132" cy="928694"/>
            </a:xfrm>
            <a:prstGeom prst="frame">
              <a:avLst>
                <a:gd name="adj1" fmla="val 1366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3200" dirty="0">
                  <a:latin typeface="맑은 고딕" pitchFamily="50" charset="-127"/>
                  <a:ea typeface="맑은 고딕" pitchFamily="50" charset="-127"/>
                </a:rPr>
                <a:t>      </a:t>
              </a:r>
            </a:p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3200" dirty="0">
                  <a:latin typeface="맑은 고딕" pitchFamily="50" charset="-127"/>
                  <a:ea typeface="맑은 고딕" pitchFamily="50" charset="-127"/>
                </a:rPr>
                <a:t> </a:t>
              </a:r>
              <a:endParaRPr kumimoji="1" lang="ko-K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액자 12"/>
            <p:cNvSpPr/>
            <p:nvPr/>
          </p:nvSpPr>
          <p:spPr bwMode="auto">
            <a:xfrm>
              <a:off x="6215074" y="2214554"/>
              <a:ext cx="1000132" cy="928694"/>
            </a:xfrm>
            <a:prstGeom prst="frame">
              <a:avLst>
                <a:gd name="adj1" fmla="val 1366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            </a:t>
              </a:r>
            </a:p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800" dirty="0"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kumimoji="1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A</a:t>
              </a:r>
              <a:endPara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71670" y="2285992"/>
              <a:ext cx="857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dirty="0"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48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57686" y="2415597"/>
              <a:ext cx="6429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3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8442022" y="2528671"/>
            <a:ext cx="642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32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3834223" y="3373605"/>
            <a:ext cx="5130502" cy="868262"/>
            <a:chOff x="1857356" y="3143248"/>
            <a:chExt cx="5487596" cy="928694"/>
          </a:xfrm>
        </p:grpSpPr>
        <p:grpSp>
          <p:nvGrpSpPr>
            <p:cNvPr id="19" name="그룹 18"/>
            <p:cNvGrpSpPr/>
            <p:nvPr/>
          </p:nvGrpSpPr>
          <p:grpSpPr>
            <a:xfrm>
              <a:off x="1857356" y="3143248"/>
              <a:ext cx="1071570" cy="928694"/>
              <a:chOff x="1857356" y="3143248"/>
              <a:chExt cx="1071570" cy="928694"/>
            </a:xfrm>
          </p:grpSpPr>
          <p:sp>
            <p:nvSpPr>
              <p:cNvPr id="30" name="액자 29"/>
              <p:cNvSpPr/>
              <p:nvPr/>
            </p:nvSpPr>
            <p:spPr bwMode="auto">
              <a:xfrm>
                <a:off x="1857356" y="3143248"/>
                <a:ext cx="1000132" cy="928694"/>
              </a:xfrm>
              <a:prstGeom prst="frame">
                <a:avLst>
                  <a:gd name="adj1" fmla="val 1366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4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rPr>
                  <a:t> </a:t>
                </a:r>
                <a:endParaRPr kumimoji="1" lang="ko-KR" altLang="en-US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071670" y="3214686"/>
                <a:ext cx="8572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800" dirty="0"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4800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20" name="그룹 19"/>
            <p:cNvGrpSpPr/>
            <p:nvPr/>
          </p:nvGrpSpPr>
          <p:grpSpPr>
            <a:xfrm>
              <a:off x="4071934" y="3143248"/>
              <a:ext cx="1071570" cy="928694"/>
              <a:chOff x="1857356" y="3143248"/>
              <a:chExt cx="1071570" cy="928694"/>
            </a:xfrm>
          </p:grpSpPr>
          <p:sp>
            <p:nvSpPr>
              <p:cNvPr id="28" name="액자 27"/>
              <p:cNvSpPr/>
              <p:nvPr/>
            </p:nvSpPr>
            <p:spPr bwMode="auto">
              <a:xfrm>
                <a:off x="1857356" y="3143248"/>
                <a:ext cx="1000132" cy="928694"/>
              </a:xfrm>
              <a:prstGeom prst="frame">
                <a:avLst>
                  <a:gd name="adj1" fmla="val 1366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4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rPr>
                  <a:t> </a:t>
                </a:r>
                <a:endParaRPr kumimoji="1" lang="ko-KR" altLang="en-US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 rot="1100451">
                <a:off x="2071670" y="3214686"/>
                <a:ext cx="8572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800" dirty="0"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4800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6286512" y="3143248"/>
              <a:ext cx="1058440" cy="928694"/>
              <a:chOff x="1857356" y="3143248"/>
              <a:chExt cx="1058440" cy="928694"/>
            </a:xfrm>
          </p:grpSpPr>
          <p:sp>
            <p:nvSpPr>
              <p:cNvPr id="26" name="액자 25"/>
              <p:cNvSpPr/>
              <p:nvPr/>
            </p:nvSpPr>
            <p:spPr bwMode="auto">
              <a:xfrm>
                <a:off x="1857356" y="3143248"/>
                <a:ext cx="1000132" cy="928694"/>
              </a:xfrm>
              <a:prstGeom prst="frame">
                <a:avLst>
                  <a:gd name="adj1" fmla="val 1366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4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rPr>
                  <a:t> </a:t>
                </a:r>
                <a:endParaRPr kumimoji="1" lang="ko-KR" altLang="en-US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 rot="7600854">
                <a:off x="2071670" y="3214686"/>
                <a:ext cx="8572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800" dirty="0"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4800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32" name="그룹 31"/>
          <p:cNvGrpSpPr/>
          <p:nvPr/>
        </p:nvGrpSpPr>
        <p:grpSpPr>
          <a:xfrm>
            <a:off x="3832326" y="4502026"/>
            <a:ext cx="5075988" cy="868262"/>
            <a:chOff x="1857356" y="4357694"/>
            <a:chExt cx="5429288" cy="928694"/>
          </a:xfrm>
        </p:grpSpPr>
        <p:sp>
          <p:nvSpPr>
            <p:cNvPr id="33" name="액자 32"/>
            <p:cNvSpPr/>
            <p:nvPr/>
          </p:nvSpPr>
          <p:spPr bwMode="auto">
            <a:xfrm>
              <a:off x="1857356" y="4357694"/>
              <a:ext cx="1000132" cy="928694"/>
            </a:xfrm>
            <a:prstGeom prst="frame">
              <a:avLst>
                <a:gd name="adj1" fmla="val 1366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 </a:t>
              </a:r>
              <a:endParaRPr kumimoji="1" lang="ko-KR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071670" y="4429132"/>
              <a:ext cx="857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48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액자 34"/>
            <p:cNvSpPr/>
            <p:nvPr/>
          </p:nvSpPr>
          <p:spPr bwMode="auto">
            <a:xfrm>
              <a:off x="4071934" y="4357694"/>
              <a:ext cx="1000132" cy="928694"/>
            </a:xfrm>
            <a:prstGeom prst="frame">
              <a:avLst>
                <a:gd name="adj1" fmla="val 1366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 </a:t>
              </a:r>
              <a:endParaRPr kumimoji="1" lang="ko-KR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86248" y="4429132"/>
              <a:ext cx="857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4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액자 36"/>
            <p:cNvSpPr/>
            <p:nvPr/>
          </p:nvSpPr>
          <p:spPr bwMode="auto">
            <a:xfrm>
              <a:off x="6215074" y="4357694"/>
              <a:ext cx="1000132" cy="928694"/>
            </a:xfrm>
            <a:prstGeom prst="frame">
              <a:avLst>
                <a:gd name="adj1" fmla="val 1366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 </a:t>
              </a:r>
              <a:endParaRPr kumimoji="1" lang="ko-KR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429388" y="4429132"/>
              <a:ext cx="857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dirty="0">
                  <a:solidFill>
                    <a:srgbClr val="DDDDDD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4800" dirty="0">
                <a:solidFill>
                  <a:srgbClr val="DDDDDD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3830002" y="5630447"/>
            <a:ext cx="5009198" cy="1219896"/>
            <a:chOff x="1857356" y="5384085"/>
            <a:chExt cx="5357850" cy="1304804"/>
          </a:xfrm>
        </p:grpSpPr>
        <p:sp>
          <p:nvSpPr>
            <p:cNvPr id="40" name="액자 39"/>
            <p:cNvSpPr/>
            <p:nvPr/>
          </p:nvSpPr>
          <p:spPr bwMode="auto">
            <a:xfrm>
              <a:off x="1857356" y="5572140"/>
              <a:ext cx="1000132" cy="928694"/>
            </a:xfrm>
            <a:prstGeom prst="frame">
              <a:avLst>
                <a:gd name="adj1" fmla="val 1366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 </a:t>
              </a:r>
              <a:endParaRPr kumimoji="1" lang="ko-KR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071670" y="5643578"/>
              <a:ext cx="857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dirty="0"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48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2" name="액자 41"/>
            <p:cNvSpPr/>
            <p:nvPr/>
          </p:nvSpPr>
          <p:spPr bwMode="auto">
            <a:xfrm>
              <a:off x="4071934" y="5572140"/>
              <a:ext cx="1000132" cy="928694"/>
            </a:xfrm>
            <a:prstGeom prst="frame">
              <a:avLst>
                <a:gd name="adj1" fmla="val 1366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 </a:t>
              </a:r>
              <a:endParaRPr kumimoji="1" lang="ko-KR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286248" y="5857892"/>
              <a:ext cx="857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dirty="0">
                  <a:latin typeface="맑은 고딕" pitchFamily="50" charset="-127"/>
                  <a:ea typeface="맑은 고딕" pitchFamily="50" charset="-127"/>
                </a:rPr>
                <a:t> A</a:t>
              </a:r>
              <a:endParaRPr lang="ko-KR" altLang="en-US" sz="48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액자 43"/>
            <p:cNvSpPr/>
            <p:nvPr/>
          </p:nvSpPr>
          <p:spPr bwMode="auto">
            <a:xfrm>
              <a:off x="6215074" y="5572140"/>
              <a:ext cx="1000132" cy="928694"/>
            </a:xfrm>
            <a:prstGeom prst="frame">
              <a:avLst>
                <a:gd name="adj1" fmla="val 1366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4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 </a:t>
              </a:r>
              <a:endParaRPr kumimoji="1" lang="ko-KR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143636" y="5384085"/>
              <a:ext cx="857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dirty="0"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48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472817" y="2622164"/>
            <a:ext cx="1179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72817" y="3607681"/>
            <a:ext cx="1179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2817" y="4736102"/>
            <a:ext cx="1179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밝기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72817" y="6073422"/>
            <a:ext cx="1179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위치</a:t>
            </a:r>
          </a:p>
        </p:txBody>
      </p:sp>
    </p:spTree>
    <p:extLst>
      <p:ext uri="{BB962C8B-B14F-4D97-AF65-F5344CB8AC3E}">
        <p14:creationId xmlns:p14="http://schemas.microsoft.com/office/powerpoint/2010/main" val="2331546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영상을 위한 </a:t>
            </a:r>
            <a:r>
              <a:rPr lang="ko-KR" altLang="en-US" dirty="0" err="1" smtClean="0"/>
              <a:t>컨볼루션</a:t>
            </a:r>
            <a:r>
              <a:rPr lang="ko-KR" altLang="en-US" dirty="0" smtClean="0"/>
              <a:t> 필터 설계의 문제점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필터 수가 많아지면 차원 수가 늘어나 계산 복잡도가 급격히 높아짐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5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2730" y="2334989"/>
            <a:ext cx="5896950" cy="4258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14976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영상을 위한 </a:t>
            </a:r>
            <a:r>
              <a:rPr lang="ko-KR" altLang="en-US" dirty="0" err="1" smtClean="0"/>
              <a:t>컨볼루션</a:t>
            </a:r>
            <a:r>
              <a:rPr lang="ko-KR" altLang="en-US" dirty="0" smtClean="0"/>
              <a:t> 필터 설계의 문제점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신경망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학습을 통해 필터를 설계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6" name="Picture 2" descr="feature extraction filter bankì ëí ì´ë¯¸ì§ ê²ìê²°ê³¼"/>
          <p:cNvPicPr>
            <a:picLocks noChangeAspect="1" noChangeArrowheads="1"/>
          </p:cNvPicPr>
          <p:nvPr/>
        </p:nvPicPr>
        <p:blipFill>
          <a:blip r:embed="rId3"/>
          <a:srcRect r="51424" b="9060"/>
          <a:stretch>
            <a:fillRect/>
          </a:stretch>
        </p:blipFill>
        <p:spPr bwMode="auto">
          <a:xfrm>
            <a:off x="2264066" y="2416482"/>
            <a:ext cx="3500462" cy="3500462"/>
          </a:xfrm>
          <a:prstGeom prst="rect">
            <a:avLst/>
          </a:prstGeom>
          <a:noFill/>
        </p:spPr>
      </p:pic>
      <p:pic>
        <p:nvPicPr>
          <p:cNvPr id="8" name="Picture 2" descr="feature extraction filter bankì ëí ì´ë¯¸ì§ ê²ìê²°ê³¼"/>
          <p:cNvPicPr>
            <a:picLocks noChangeAspect="1" noChangeArrowheads="1"/>
          </p:cNvPicPr>
          <p:nvPr/>
        </p:nvPicPr>
        <p:blipFill>
          <a:blip r:embed="rId3"/>
          <a:srcRect l="64438" t="22051" r="11769" b="33407"/>
          <a:stretch>
            <a:fillRect/>
          </a:stretch>
        </p:blipFill>
        <p:spPr bwMode="auto">
          <a:xfrm>
            <a:off x="7550478" y="3202300"/>
            <a:ext cx="1928826" cy="1928826"/>
          </a:xfrm>
          <a:prstGeom prst="rect">
            <a:avLst/>
          </a:prstGeom>
          <a:noFill/>
        </p:spPr>
      </p:pic>
      <p:sp>
        <p:nvSpPr>
          <p:cNvPr id="9" name="직사각형 8"/>
          <p:cNvSpPr/>
          <p:nvPr/>
        </p:nvSpPr>
        <p:spPr>
          <a:xfrm>
            <a:off x="5604396" y="6217850"/>
            <a:ext cx="728664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R. </a:t>
            </a:r>
            <a:r>
              <a:rPr lang="en-US" sz="1200" dirty="0" err="1">
                <a:latin typeface="맑은 고딕" pitchFamily="50" charset="-127"/>
                <a:ea typeface="맑은 고딕" pitchFamily="50" charset="-127"/>
              </a:rPr>
              <a:t>Rigamonti</a:t>
            </a: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; V. </a:t>
            </a:r>
            <a:r>
              <a:rPr lang="en-US" sz="1200" dirty="0" err="1">
                <a:latin typeface="맑은 고딕" pitchFamily="50" charset="-127"/>
                <a:ea typeface="맑은 고딕" pitchFamily="50" charset="-127"/>
              </a:rPr>
              <a:t>Lepetit</a:t>
            </a: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; P. </a:t>
            </a:r>
            <a:r>
              <a:rPr lang="en-US" sz="1200" dirty="0" err="1">
                <a:latin typeface="맑은 고딕" pitchFamily="50" charset="-127"/>
                <a:ea typeface="맑은 고딕" pitchFamily="50" charset="-127"/>
              </a:rPr>
              <a:t>Fua</a:t>
            </a: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 : </a:t>
            </a:r>
            <a:r>
              <a:rPr lang="en-US" sz="1200" b="1" dirty="0">
                <a:latin typeface="맑은 고딕" pitchFamily="50" charset="-127"/>
                <a:ea typeface="맑은 고딕" pitchFamily="50" charset="-127"/>
              </a:rPr>
              <a:t>Learning Separable Filters</a:t>
            </a: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. 2012.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오른쪽 화살표 9"/>
          <p:cNvSpPr/>
          <p:nvPr/>
        </p:nvSpPr>
        <p:spPr bwMode="auto">
          <a:xfrm>
            <a:off x="6408040" y="4060696"/>
            <a:ext cx="578344" cy="427488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64066" y="5913555"/>
            <a:ext cx="300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Full- rank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1884" y="5202564"/>
            <a:ext cx="3000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Approximating</a:t>
            </a:r>
          </a:p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Separable filters</a:t>
            </a:r>
          </a:p>
        </p:txBody>
      </p:sp>
    </p:spTree>
    <p:extLst>
      <p:ext uri="{BB962C8B-B14F-4D97-AF65-F5344CB8AC3E}">
        <p14:creationId xmlns:p14="http://schemas.microsoft.com/office/powerpoint/2010/main" val="8480672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808679"/>
            <a:ext cx="91498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1D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필터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2D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필터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영상에 대한 이해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Python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영상 입출력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필터를 이용한 영상 처리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3083</TotalTime>
  <Words>1055</Words>
  <Application>Microsoft Office PowerPoint</Application>
  <PresentationFormat>와이드스크린</PresentationFormat>
  <Paragraphs>573</Paragraphs>
  <Slides>24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나눔바른고딕</vt:lpstr>
      <vt:lpstr>Cambria Math</vt:lpstr>
      <vt:lpstr>Impact</vt:lpstr>
      <vt:lpstr>나눔스퀘어 Bold</vt:lpstr>
      <vt:lpstr>휴먼모음T</vt:lpstr>
      <vt:lpstr>Times New Roman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다차원 데이터 표현</vt:lpstr>
      <vt:lpstr>위치 정보가 중요한 다차원 데이터 표현</vt:lpstr>
      <vt:lpstr>영상 데이터 표현</vt:lpstr>
      <vt:lpstr>주변 정보를 고려한 데이터 표현</vt:lpstr>
      <vt:lpstr>생물학적 영감</vt:lpstr>
      <vt:lpstr>공간 정보 인코딩</vt:lpstr>
      <vt:lpstr>선형 함수 조합의 한계</vt:lpstr>
      <vt:lpstr>효율적인 인코딩 #1</vt:lpstr>
      <vt:lpstr>효율적인 인코딩 #2</vt:lpstr>
      <vt:lpstr>효율적인 인코딩 #3</vt:lpstr>
      <vt:lpstr>2D 컨볼루션</vt:lpstr>
      <vt:lpstr>2D 컨볼루션</vt:lpstr>
      <vt:lpstr>2D 컨볼루션</vt:lpstr>
      <vt:lpstr>2D 컨볼루션을 이용한 특징 검출</vt:lpstr>
      <vt:lpstr>다층 신경망 학습</vt:lpstr>
      <vt:lpstr>2D 컨볼루션을 이용한 영상 처리 #1</vt:lpstr>
      <vt:lpstr>2D 컨볼루션을 이용한 영상 처리 #2</vt:lpstr>
      <vt:lpstr>2D 컨볼루션을 이용한 영상 처리 #3</vt:lpstr>
      <vt:lpstr>영상을 위한 컨볼루션 필터 설계의 어려움</vt:lpstr>
      <vt:lpstr>영상을 위한 컨볼루션 필터 설계의 문제점</vt:lpstr>
      <vt:lpstr>영상을 위한 컨볼루션 필터 설계의 문제점</vt:lpstr>
      <vt:lpstr>TensorFlow 실습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795</cp:revision>
  <dcterms:created xsi:type="dcterms:W3CDTF">2019-01-19T08:23:23Z</dcterms:created>
  <dcterms:modified xsi:type="dcterms:W3CDTF">2020-03-10T06:50:01Z</dcterms:modified>
</cp:coreProperties>
</file>