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18"/>
  </p:notesMasterIdLst>
  <p:handoutMasterIdLst>
    <p:handoutMasterId r:id="rId19"/>
  </p:handoutMasterIdLst>
  <p:sldIdLst>
    <p:sldId id="314" r:id="rId2"/>
    <p:sldId id="261" r:id="rId3"/>
    <p:sldId id="354" r:id="rId4"/>
    <p:sldId id="355" r:id="rId5"/>
    <p:sldId id="356" r:id="rId6"/>
    <p:sldId id="357" r:id="rId7"/>
    <p:sldId id="398" r:id="rId8"/>
    <p:sldId id="401" r:id="rId9"/>
    <p:sldId id="402" r:id="rId10"/>
    <p:sldId id="403" r:id="rId11"/>
    <p:sldId id="400" r:id="rId12"/>
    <p:sldId id="405" r:id="rId13"/>
    <p:sldId id="406" r:id="rId14"/>
    <p:sldId id="407" r:id="rId15"/>
    <p:sldId id="408" r:id="rId16"/>
    <p:sldId id="404" r:id="rId17"/>
  </p:sldIdLst>
  <p:sldSz cx="12192000" cy="6858000"/>
  <p:notesSz cx="6858000" cy="9144000"/>
  <p:embeddedFontLst>
    <p:embeddedFont>
      <p:font typeface="나눔바른고딕" panose="020B0603020101020101" pitchFamily="50" charset="-127"/>
      <p:regular r:id="rId20"/>
      <p:bold r:id="rId21"/>
    </p:embeddedFont>
    <p:embeddedFont>
      <p:font typeface="Impact" panose="020B0806030902050204" pitchFamily="34" charset="0"/>
      <p:regular r:id="rId22"/>
    </p:embeddedFont>
    <p:embeddedFont>
      <p:font typeface="나눔스퀘어 Bold" panose="020B0600000101010101" pitchFamily="50" charset="-127"/>
      <p:bold r:id="rId23"/>
    </p:embeddedFont>
    <p:embeddedFont>
      <p:font typeface="휴먼모음T" panose="02030504000101010101" pitchFamily="18" charset="-127"/>
      <p:regular r:id="rId24"/>
    </p:embeddedFont>
    <p:embeddedFont>
      <p:font typeface="스웨거 TTF" panose="020B0600000101010101" pitchFamily="50" charset="-127"/>
      <p:regular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173F95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453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470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471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818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008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nsorflow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43887" y="2852777"/>
            <a:ext cx="99005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3. </a:t>
            </a:r>
            <a:r>
              <a:rPr lang="en-US" altLang="ko-KR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Tensorflow</a:t>
            </a:r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개요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en-US" altLang="ko-KR" sz="28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동작 과정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0" y="2646054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5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en-US" altLang="ko-KR" sz="28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기본 연산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906001" y="3736085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7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en-US" altLang="ko-KR" sz="28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자료형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6" y="4856635"/>
              <a:ext cx="4892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11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xmlns="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en-US" altLang="ko-KR" sz="2800" dirty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실습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4" y="485663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16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4640910"/>
            <a:ext cx="9149833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data flow graphs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이용한 수치계산용 오픈 소프트웨어 라이브러리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딥러닝과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기계학습 분야를 쉽게 사용할 수 있는 기능 제공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1BB7689D-5E30-4B8D-9278-C2A141B8AAC8}"/>
              </a:ext>
            </a:extLst>
          </p:cNvPr>
          <p:cNvSpPr txBox="1"/>
          <p:nvPr/>
        </p:nvSpPr>
        <p:spPr>
          <a:xfrm>
            <a:off x="2349829" y="3047420"/>
            <a:ext cx="691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>
                <a:latin typeface="+mj-lt"/>
              </a:rPr>
              <a:t>TensorFlow is an open source software library for numerical computation using data flow graphs</a:t>
            </a:r>
            <a:endParaRPr lang="ko-KR" altLang="en-US" i="1" dirty="0">
              <a:latin typeface="+mj-lt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BF940C07-DF52-4C2E-B2E3-3971A80BC268}"/>
              </a:ext>
            </a:extLst>
          </p:cNvPr>
          <p:cNvSpPr/>
          <p:nvPr/>
        </p:nvSpPr>
        <p:spPr>
          <a:xfrm>
            <a:off x="7352388" y="3878417"/>
            <a:ext cx="20612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dirty="0"/>
              <a:t>www.tensorflow.org</a:t>
            </a:r>
            <a:endParaRPr lang="ko-KR" alt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646705"/>
            <a:ext cx="91498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2015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년 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11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월 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Google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에서 </a:t>
            </a:r>
            <a:r>
              <a:rPr lang="ko-KR" altLang="en-US" sz="32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오픈소스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공개</a:t>
            </a:r>
            <a:endParaRPr lang="en-US" altLang="ko-KR" sz="32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14288">
              <a:spcAft>
                <a:spcPts val="1800"/>
              </a:spcAft>
              <a:buSzPct val="80000"/>
            </a:pP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(</a:t>
            </a:r>
            <a:r>
              <a:rPr lang="en-US" altLang="ko-KR" sz="2400" u="sng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3">
                  <a:extLst>
                    <a:ext uri="{A12FA001-AC4F-418D-AE19-62706E023703}">
                      <ahyp:hlinkClr xmlns:lc="http://schemas.openxmlformats.org/drawingml/2006/lockedCanvas" xmlns:ahyp="http://schemas.microsoft.com/office/drawing/2018/hyperlinkcolor" xmlns="" val="tx"/>
                    </a:ext>
                  </a:extLst>
                </a:hlinkClick>
              </a:rPr>
              <a:t>https://github.com/tensorflow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Tensorflow</a:t>
            </a:r>
            <a:r>
              <a:rPr lang="en-US" altLang="ko-KR" dirty="0"/>
              <a:t> </a:t>
            </a:r>
            <a:r>
              <a:rPr lang="ko-KR" altLang="en-US" dirty="0"/>
              <a:t>개요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674190"/>
            <a:ext cx="914983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0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Tensor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는 형태를 가진 다차원 배열을 의미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유연한 아키텍처로 구성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lvl="1"/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&gt;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코드 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수정 없이 </a:t>
            </a: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CPU/GPU 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모드로 동작</a:t>
            </a:r>
            <a:endParaRPr lang="en-US" altLang="ko-KR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lvl="1">
              <a:spcAft>
                <a:spcPts val="1000"/>
              </a:spcAft>
            </a:pP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&gt;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계산 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구조와 목표 함수만 정의하면 자동으로 미분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계산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계산과정을 그래프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(graph)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로 표현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14288">
              <a:spcAft>
                <a:spcPts val="1000"/>
              </a:spcAft>
              <a:buSzPct val="80000"/>
            </a:pP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  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데이터 </a:t>
            </a:r>
            <a:r>
              <a:rPr lang="ko-KR" altLang="en-US" sz="2400" dirty="0" err="1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노드</a:t>
            </a:r>
            <a:r>
              <a:rPr lang="ko-KR" altLang="en-US" sz="24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4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/ </a:t>
            </a:r>
            <a:r>
              <a:rPr lang="ko-KR" altLang="en-US" sz="24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연산 </a:t>
            </a:r>
            <a:r>
              <a:rPr lang="ko-KR" altLang="en-US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노드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0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그래프에서 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Tensor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가 돌아다니는 것에서 유래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0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그래프는 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session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에 올려서 실행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0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실행 후 결과를 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python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배열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(list,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err="1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numpy</a:t>
            </a:r>
            <a:r>
              <a:rPr lang="en-US" altLang="ko-KR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r>
              <a:rPr lang="ko-KR" altLang="en-US" sz="32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로 </a:t>
            </a:r>
            <a:r>
              <a:rPr lang="ko-KR" altLang="en-US" sz="32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반환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C9CBD0A6-15A5-490F-8348-FEAE92B0EF47}"/>
              </a:ext>
            </a:extLst>
          </p:cNvPr>
          <p:cNvGrpSpPr/>
          <p:nvPr/>
        </p:nvGrpSpPr>
        <p:grpSpPr>
          <a:xfrm>
            <a:off x="8777586" y="3130505"/>
            <a:ext cx="1882296" cy="2853716"/>
            <a:chOff x="2378236" y="1132596"/>
            <a:chExt cx="3417900" cy="4656066"/>
          </a:xfrm>
        </p:grpSpPr>
        <p:sp>
          <p:nvSpPr>
            <p:cNvPr id="33" name="사각형: 둥근 모서리 4">
              <a:extLst>
                <a:ext uri="{FF2B5EF4-FFF2-40B4-BE49-F238E27FC236}">
                  <a16:creationId xmlns="" xmlns:a16="http://schemas.microsoft.com/office/drawing/2014/main" id="{44F9E8FA-DDE3-4FE9-AA12-65521C4423AC}"/>
                </a:ext>
              </a:extLst>
            </p:cNvPr>
            <p:cNvSpPr/>
            <p:nvPr/>
          </p:nvSpPr>
          <p:spPr>
            <a:xfrm>
              <a:off x="2555776" y="1222881"/>
              <a:ext cx="3240360" cy="305375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 algn="ctr">
              <a:solidFill>
                <a:schemeClr val="lt2"/>
              </a:solidFill>
              <a:prstDash val="sysDash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34" name="타원 33">
              <a:extLst>
                <a:ext uri="{FF2B5EF4-FFF2-40B4-BE49-F238E27FC236}">
                  <a16:creationId xmlns="" xmlns:a16="http://schemas.microsoft.com/office/drawing/2014/main" id="{B508B540-1BED-48B6-9074-E617E7271D7C}"/>
                </a:ext>
              </a:extLst>
            </p:cNvPr>
            <p:cNvSpPr/>
            <p:nvPr/>
          </p:nvSpPr>
          <p:spPr>
            <a:xfrm>
              <a:off x="2915816" y="1880861"/>
              <a:ext cx="936103" cy="648071"/>
            </a:xfrm>
            <a:prstGeom prst="ellipse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r>
                <a:rPr kumimoji="1" lang="en-US" altLang="ko-KR" sz="2400" b="0" i="0" u="none" strike="noStrike" cap="none" normalizeH="0" baseline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rPr>
                <a:t>  </a:t>
              </a:r>
            </a:p>
          </p:txBody>
        </p:sp>
        <p:sp>
          <p:nvSpPr>
            <p:cNvPr id="35" name="타원 34">
              <a:extLst>
                <a:ext uri="{FF2B5EF4-FFF2-40B4-BE49-F238E27FC236}">
                  <a16:creationId xmlns="" xmlns:a16="http://schemas.microsoft.com/office/drawing/2014/main" id="{C1149291-49FB-4934-AD99-9410A3B58C82}"/>
                </a:ext>
              </a:extLst>
            </p:cNvPr>
            <p:cNvSpPr/>
            <p:nvPr/>
          </p:nvSpPr>
          <p:spPr>
            <a:xfrm>
              <a:off x="4499992" y="1916865"/>
              <a:ext cx="936103" cy="648071"/>
            </a:xfrm>
            <a:prstGeom prst="ellipse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8059D9C4-E34D-4B15-A55A-B43C877F6D05}"/>
                </a:ext>
              </a:extLst>
            </p:cNvPr>
            <p:cNvSpPr txBox="1"/>
            <p:nvPr/>
          </p:nvSpPr>
          <p:spPr>
            <a:xfrm>
              <a:off x="3104146" y="1940566"/>
              <a:ext cx="920945" cy="303192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200" dirty="0">
                  <a:latin typeface="맑은 고딕"/>
                  <a:ea typeface="맑은 고딕"/>
                  <a:cs typeface="+mj-cs"/>
                </a:rPr>
                <a:t>3</a:t>
              </a:r>
            </a:p>
          </p:txBody>
        </p:sp>
        <p:sp>
          <p:nvSpPr>
            <p:cNvPr id="37" name="타원 36">
              <a:extLst>
                <a:ext uri="{FF2B5EF4-FFF2-40B4-BE49-F238E27FC236}">
                  <a16:creationId xmlns="" xmlns:a16="http://schemas.microsoft.com/office/drawing/2014/main" id="{AF705CA8-0AC9-41CD-A1E3-6BC4761AE873}"/>
                </a:ext>
              </a:extLst>
            </p:cNvPr>
            <p:cNvSpPr/>
            <p:nvPr/>
          </p:nvSpPr>
          <p:spPr>
            <a:xfrm>
              <a:off x="3707904" y="2948940"/>
              <a:ext cx="936105" cy="648072"/>
            </a:xfrm>
            <a:prstGeom prst="ellipse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ctr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r>
                <a:rPr kumimoji="1" lang="en-US" altLang="ko-KR" sz="2400" b="0" i="0" u="none" strike="noStrike" cap="none" normalizeH="0" baseline="0" dirty="0">
                  <a:solidFill>
                    <a:schemeClr val="tx1"/>
                  </a:solidFill>
                  <a:effectLst/>
                  <a:latin typeface="맑은 고딕"/>
                  <a:ea typeface="맑은 고딕"/>
                  <a:cs typeface="+mj-cs"/>
                </a:rPr>
                <a:t>  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="" xmlns:a16="http://schemas.microsoft.com/office/drawing/2014/main" id="{28C0E640-B1C3-4B32-960F-0F60D5E44176}"/>
                </a:ext>
              </a:extLst>
            </p:cNvPr>
            <p:cNvSpPr txBox="1"/>
            <p:nvPr/>
          </p:nvSpPr>
          <p:spPr>
            <a:xfrm>
              <a:off x="3926281" y="3011139"/>
              <a:ext cx="1174866" cy="388463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300" dirty="0">
                  <a:latin typeface="맑은 고딕"/>
                  <a:ea typeface="맑은 고딕"/>
                  <a:cs typeface="+mj-cs"/>
                </a:rPr>
                <a:t>+</a:t>
              </a:r>
              <a:endParaRPr lang="ko-KR" altLang="en-US" sz="1300" dirty="0">
                <a:latin typeface="맑은 고딕"/>
                <a:ea typeface="맑은 고딕"/>
                <a:cs typeface="+mj-cs"/>
              </a:endParaRPr>
            </a:p>
          </p:txBody>
        </p:sp>
        <p:cxnSp>
          <p:nvCxnSpPr>
            <p:cNvPr id="39" name="직선 화살표 연결선 38">
              <a:extLst>
                <a:ext uri="{FF2B5EF4-FFF2-40B4-BE49-F238E27FC236}">
                  <a16:creationId xmlns="" xmlns:a16="http://schemas.microsoft.com/office/drawing/2014/main" id="{D1A9377E-B090-42F3-A52A-F6AFE16C9C4B}"/>
                </a:ext>
              </a:extLst>
            </p:cNvPr>
            <p:cNvCxnSpPr/>
            <p:nvPr/>
          </p:nvCxnSpPr>
          <p:spPr>
            <a:xfrm>
              <a:off x="3376064" y="2533967"/>
              <a:ext cx="468053" cy="4680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arrow" w="med" len="med"/>
            </a:ln>
            <a:effectLst/>
          </p:spPr>
        </p:cxnSp>
        <p:cxnSp>
          <p:nvCxnSpPr>
            <p:cNvPr id="40" name="직선 화살표 연결선 39">
              <a:extLst>
                <a:ext uri="{FF2B5EF4-FFF2-40B4-BE49-F238E27FC236}">
                  <a16:creationId xmlns="" xmlns:a16="http://schemas.microsoft.com/office/drawing/2014/main" id="{C572CABA-7F21-4763-B731-9CC367DB74BB}"/>
                </a:ext>
              </a:extLst>
            </p:cNvPr>
            <p:cNvCxnSpPr/>
            <p:nvPr/>
          </p:nvCxnSpPr>
          <p:spPr>
            <a:xfrm rot="5400000">
              <a:off x="4605206" y="2606108"/>
              <a:ext cx="432049" cy="39604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arrow" w="med" len="med"/>
            </a:ln>
            <a:effectLst/>
          </p:spPr>
        </p:cxnSp>
        <p:cxnSp>
          <p:nvCxnSpPr>
            <p:cNvPr id="41" name="직선 화살표 연결선 40">
              <a:extLst>
                <a:ext uri="{FF2B5EF4-FFF2-40B4-BE49-F238E27FC236}">
                  <a16:creationId xmlns="" xmlns:a16="http://schemas.microsoft.com/office/drawing/2014/main" id="{FC0A1F66-5306-408F-A9F3-3474B71AF3D7}"/>
                </a:ext>
              </a:extLst>
            </p:cNvPr>
            <p:cNvCxnSpPr/>
            <p:nvPr/>
          </p:nvCxnSpPr>
          <p:spPr>
            <a:xfrm rot="16200000" flipH="1">
              <a:off x="3738158" y="4357714"/>
              <a:ext cx="882489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arrow" w="med" len="med"/>
            </a:ln>
            <a:effectLst/>
          </p:spPr>
        </p:cxnSp>
        <p:sp>
          <p:nvSpPr>
            <p:cNvPr id="42" name="타원 41">
              <a:extLst>
                <a:ext uri="{FF2B5EF4-FFF2-40B4-BE49-F238E27FC236}">
                  <a16:creationId xmlns="" xmlns:a16="http://schemas.microsoft.com/office/drawing/2014/main" id="{0EA71F88-676F-4A01-A41B-CA321071C5A3}"/>
                </a:ext>
              </a:extLst>
            </p:cNvPr>
            <p:cNvSpPr/>
            <p:nvPr/>
          </p:nvSpPr>
          <p:spPr>
            <a:xfrm>
              <a:off x="2943555" y="4996576"/>
              <a:ext cx="2565758" cy="792086"/>
            </a:xfrm>
            <a:prstGeom prst="ellipse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="" xmlns:a16="http://schemas.microsoft.com/office/drawing/2014/main" id="{D86162A4-57A5-4BD0-B05C-643DBA8D8068}"/>
                </a:ext>
              </a:extLst>
            </p:cNvPr>
            <p:cNvSpPr txBox="1"/>
            <p:nvPr/>
          </p:nvSpPr>
          <p:spPr>
            <a:xfrm>
              <a:off x="3667379" y="4996575"/>
              <a:ext cx="1433769" cy="421098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300" dirty="0">
                  <a:latin typeface="맑은 고딕"/>
                  <a:ea typeface="맑은 고딕"/>
                  <a:cs typeface="+mj-cs"/>
                </a:rPr>
                <a:t>   5</a:t>
              </a:r>
            </a:p>
            <a:p>
              <a:pPr>
                <a:defRPr/>
              </a:pPr>
              <a:r>
                <a:rPr lang="en-US" altLang="ko-KR" sz="1300" dirty="0">
                  <a:latin typeface="맑은 고딕"/>
                  <a:ea typeface="맑은 고딕"/>
                  <a:cs typeface="+mj-cs"/>
                </a:rPr>
                <a:t>Python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="" xmlns:a16="http://schemas.microsoft.com/office/drawing/2014/main" id="{B30EBC94-0931-4808-A7FD-3B8F618C946E}"/>
                </a:ext>
              </a:extLst>
            </p:cNvPr>
            <p:cNvSpPr txBox="1"/>
            <p:nvPr/>
          </p:nvSpPr>
          <p:spPr>
            <a:xfrm>
              <a:off x="2378236" y="4395195"/>
              <a:ext cx="1728651" cy="468053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300" dirty="0">
                  <a:latin typeface="맑은 고딕"/>
                  <a:ea typeface="맑은 고딕"/>
                  <a:cs typeface="+mj-cs"/>
                </a:rPr>
                <a:t>GPU/CPU</a:t>
              </a:r>
            </a:p>
          </p:txBody>
        </p:sp>
        <p:cxnSp>
          <p:nvCxnSpPr>
            <p:cNvPr id="45" name="직선 화살표 연결선 44">
              <a:extLst>
                <a:ext uri="{FF2B5EF4-FFF2-40B4-BE49-F238E27FC236}">
                  <a16:creationId xmlns="" xmlns:a16="http://schemas.microsoft.com/office/drawing/2014/main" id="{DCA21A8F-CDF7-4BE2-8DD3-8DA30731B3B9}"/>
                </a:ext>
              </a:extLst>
            </p:cNvPr>
            <p:cNvCxnSpPr/>
            <p:nvPr/>
          </p:nvCxnSpPr>
          <p:spPr>
            <a:xfrm rot="16200000" flipH="1">
              <a:off x="3028919" y="1366072"/>
              <a:ext cx="466952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arrow" w="med" len="med"/>
            </a:ln>
            <a:effectLst/>
          </p:spPr>
        </p:cxnSp>
      </p:grpSp>
      <p:grpSp>
        <p:nvGrpSpPr>
          <p:cNvPr id="46" name="그룹 45">
            <a:extLst>
              <a:ext uri="{FF2B5EF4-FFF2-40B4-BE49-F238E27FC236}">
                <a16:creationId xmlns="" xmlns:a16="http://schemas.microsoft.com/office/drawing/2014/main" id="{06E37F97-58D6-4E0A-AB45-99A0CD2EF4FD}"/>
              </a:ext>
            </a:extLst>
          </p:cNvPr>
          <p:cNvGrpSpPr/>
          <p:nvPr/>
        </p:nvGrpSpPr>
        <p:grpSpPr>
          <a:xfrm>
            <a:off x="8957245" y="2244275"/>
            <a:ext cx="1544679" cy="485473"/>
            <a:chOff x="694457" y="3611586"/>
            <a:chExt cx="910262" cy="485473"/>
          </a:xfrm>
        </p:grpSpPr>
        <p:sp>
          <p:nvSpPr>
            <p:cNvPr id="47" name="타원 46">
              <a:extLst>
                <a:ext uri="{FF2B5EF4-FFF2-40B4-BE49-F238E27FC236}">
                  <a16:creationId xmlns="" xmlns:a16="http://schemas.microsoft.com/office/drawing/2014/main" id="{941DEDD4-67D7-4BC0-8B7D-7BE658AE7D2E}"/>
                </a:ext>
              </a:extLst>
            </p:cNvPr>
            <p:cNvSpPr/>
            <p:nvPr/>
          </p:nvSpPr>
          <p:spPr>
            <a:xfrm>
              <a:off x="694457" y="3611586"/>
              <a:ext cx="910262" cy="485473"/>
            </a:xfrm>
            <a:prstGeom prst="ellipse">
              <a:avLst/>
            </a:prstGeom>
            <a:solidFill>
              <a:srgbClr val="D9D9D9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A7288B4A-93FA-4401-831C-42F7AC54689D}"/>
                </a:ext>
              </a:extLst>
            </p:cNvPr>
            <p:cNvSpPr txBox="1"/>
            <p:nvPr/>
          </p:nvSpPr>
          <p:spPr>
            <a:xfrm>
              <a:off x="928526" y="3706317"/>
              <a:ext cx="496875" cy="258092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300" dirty="0">
                  <a:latin typeface="맑은 고딕"/>
                  <a:ea typeface="맑은 고딕"/>
                  <a:cs typeface="+mj-cs"/>
                </a:rPr>
                <a:t>python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3C001DD7-A556-494A-ADA4-415F6AEFD45C}"/>
              </a:ext>
            </a:extLst>
          </p:cNvPr>
          <p:cNvSpPr txBox="1"/>
          <p:nvPr/>
        </p:nvSpPr>
        <p:spPr>
          <a:xfrm>
            <a:off x="10105713" y="5068257"/>
            <a:ext cx="877545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session</a:t>
            </a:r>
            <a:endParaRPr lang="ko-KR" altLang="en-US" sz="1600" dirty="0"/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FA7C6AAF-C9D6-4225-89F5-8B6959E78A25}"/>
              </a:ext>
            </a:extLst>
          </p:cNvPr>
          <p:cNvSpPr/>
          <p:nvPr/>
        </p:nvSpPr>
        <p:spPr>
          <a:xfrm>
            <a:off x="9117470" y="2786243"/>
            <a:ext cx="191661" cy="379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800" dirty="0">
                <a:latin typeface="맑은 고딕"/>
                <a:ea typeface="맑은 고딕"/>
              </a:rPr>
              <a:t>3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="" xmlns:a16="http://schemas.microsoft.com/office/drawing/2014/main" id="{D3CE738E-577C-4BB6-8223-4F9FD0BF77D0}"/>
              </a:ext>
            </a:extLst>
          </p:cNvPr>
          <p:cNvSpPr/>
          <p:nvPr/>
        </p:nvSpPr>
        <p:spPr>
          <a:xfrm>
            <a:off x="10013022" y="2776304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800" dirty="0">
                <a:latin typeface="맑은 고딕"/>
                <a:ea typeface="맑은 고딕"/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675E0F58-49E6-4320-9279-97A854342FBB}"/>
              </a:ext>
            </a:extLst>
          </p:cNvPr>
          <p:cNvSpPr txBox="1"/>
          <p:nvPr/>
        </p:nvSpPr>
        <p:spPr>
          <a:xfrm>
            <a:off x="10016088" y="4368474"/>
            <a:ext cx="522104" cy="238090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ko-KR" altLang="en-US" sz="1300" dirty="0">
                <a:latin typeface="맑은 고딕"/>
                <a:ea typeface="맑은 고딕"/>
                <a:cs typeface="+mj-cs"/>
              </a:rPr>
              <a:t>연산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="" xmlns:a16="http://schemas.microsoft.com/office/drawing/2014/main" id="{F528F8F6-CD7A-456E-A26D-8D8BA39B26F6}"/>
              </a:ext>
            </a:extLst>
          </p:cNvPr>
          <p:cNvSpPr/>
          <p:nvPr/>
        </p:nvSpPr>
        <p:spPr>
          <a:xfrm>
            <a:off x="9326628" y="3347128"/>
            <a:ext cx="516488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300" dirty="0"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8AB9CD26-A7DC-408C-A9AE-59A1A5B2B8B0}"/>
              </a:ext>
            </a:extLst>
          </p:cNvPr>
          <p:cNvSpPr txBox="1"/>
          <p:nvPr/>
        </p:nvSpPr>
        <p:spPr>
          <a:xfrm>
            <a:off x="10092816" y="3678586"/>
            <a:ext cx="507180" cy="185827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 sz="1200" dirty="0">
                <a:latin typeface="맑은 고딕"/>
                <a:ea typeface="맑은 고딕"/>
                <a:cs typeface="+mj-cs"/>
              </a:rPr>
              <a:t>4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D08B24EF-245A-40C1-8B83-F6AA16373747}"/>
              </a:ext>
            </a:extLst>
          </p:cNvPr>
          <p:cNvSpPr/>
          <p:nvPr/>
        </p:nvSpPr>
        <p:spPr>
          <a:xfrm>
            <a:off x="10105713" y="3336000"/>
            <a:ext cx="516488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300" dirty="0">
                <a:latin typeface="맑은 고딕"/>
                <a:ea typeface="맑은 고딕"/>
              </a:rPr>
              <a:t>data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="" xmlns:a16="http://schemas.microsoft.com/office/drawing/2014/main" id="{EFC34C4E-C265-49A5-B525-B612A77F8F0D}"/>
              </a:ext>
            </a:extLst>
          </p:cNvPr>
          <p:cNvCxnSpPr/>
          <p:nvPr/>
        </p:nvCxnSpPr>
        <p:spPr>
          <a:xfrm rot="16200000" flipH="1">
            <a:off x="10028406" y="3252005"/>
            <a:ext cx="28619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동작 과정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661160" y="1527540"/>
            <a:ext cx="9113520" cy="1718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30000"/>
              </a:lnSpc>
              <a:buAutoNum type="arabicPeriod"/>
              <a:defRPr/>
            </a:pP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데이터 </a:t>
            </a:r>
            <a:r>
              <a:rPr lang="ko-KR" altLang="en-US" sz="2800" dirty="0" err="1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플로우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그래프를 </a:t>
            </a:r>
            <a:r>
              <a:rPr lang="ko-KR" altLang="en-US" sz="2800" dirty="0" err="1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빌드</a:t>
            </a: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(build)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하는 단계</a:t>
            </a:r>
          </a:p>
          <a:p>
            <a:pPr marL="457200" indent="-457200">
              <a:lnSpc>
                <a:spcPct val="130000"/>
              </a:lnSpc>
              <a:buAutoNum type="arabicPeriod"/>
              <a:defRPr/>
            </a:pP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데이터를 입력하고 그래프를 실행</a:t>
            </a: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(run)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하는 단계</a:t>
            </a:r>
          </a:p>
          <a:p>
            <a:pPr marL="457200" indent="-457200">
              <a:lnSpc>
                <a:spcPct val="130000"/>
              </a:lnSpc>
              <a:buAutoNum type="arabicPeriod"/>
              <a:defRPr/>
            </a:pP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그래프 내부 변수들을 업데이트</a:t>
            </a: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(update)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하고 </a:t>
            </a:r>
            <a:r>
              <a:rPr lang="ko-KR" altLang="en-US" sz="2800" dirty="0" err="1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출력값을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err="1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리턴하는</a:t>
            </a:r>
            <a:r>
              <a:rPr lang="ko-KR" altLang="en-US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단계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4346716" y="3241544"/>
            <a:ext cx="3778108" cy="3479296"/>
            <a:chOff x="4346716" y="3378704"/>
            <a:chExt cx="3778108" cy="3479296"/>
          </a:xfrm>
        </p:grpSpPr>
        <p:sp>
          <p:nvSpPr>
            <p:cNvPr id="13" name="직사각형 12"/>
            <p:cNvSpPr/>
            <p:nvPr/>
          </p:nvSpPr>
          <p:spPr>
            <a:xfrm rot="19764928">
              <a:off x="4503651" y="5911907"/>
              <a:ext cx="46904" cy="293819"/>
            </a:xfrm>
            <a:prstGeom prst="rect">
              <a:avLst/>
            </a:prstGeom>
            <a:solidFill>
              <a:srgbClr val="A6A6A6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4511911" y="6032025"/>
              <a:ext cx="385454" cy="385454"/>
            </a:xfrm>
            <a:prstGeom prst="ellipse">
              <a:avLst/>
            </a:prstGeom>
            <a:solidFill>
              <a:schemeClr val="dk1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15" name="이등변 삼각형 14"/>
            <p:cNvSpPr/>
            <p:nvPr/>
          </p:nvSpPr>
          <p:spPr>
            <a:xfrm rot="10800000">
              <a:off x="4894028" y="4985792"/>
              <a:ext cx="825332" cy="425501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16" name="이등변 삼각형 15"/>
            <p:cNvSpPr/>
            <p:nvPr/>
          </p:nvSpPr>
          <p:spPr>
            <a:xfrm rot="16200000">
              <a:off x="6924446" y="6286181"/>
              <a:ext cx="624691" cy="43384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677106" y="5198543"/>
              <a:ext cx="2559685" cy="165945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079504" y="4985792"/>
              <a:ext cx="936104" cy="297851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100">
                  <a:solidFill>
                    <a:schemeClr val="accent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input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689608" y="6389948"/>
              <a:ext cx="694152" cy="297851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100">
                  <a:solidFill>
                    <a:schemeClr val="accent3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output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1085" y="4925474"/>
              <a:ext cx="1106690" cy="173474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3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GPU/CPU</a:t>
              </a: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4937416" y="5466936"/>
              <a:ext cx="954459" cy="1319055"/>
              <a:chOff x="2987824" y="1124744"/>
              <a:chExt cx="1944216" cy="2808312"/>
            </a:xfrm>
          </p:grpSpPr>
          <p:sp>
            <p:nvSpPr>
              <p:cNvPr id="22" name="사각형: 둥근 모서리 19"/>
              <p:cNvSpPr/>
              <p:nvPr/>
            </p:nvSpPr>
            <p:spPr>
              <a:xfrm>
                <a:off x="2987824" y="1124744"/>
                <a:ext cx="1944216" cy="2808312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50800" cap="flat" cmpd="sng" algn="ctr">
                <a:solidFill>
                  <a:schemeClr val="lt2"/>
                </a:solidFill>
                <a:prstDash val="sysDash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3131840" y="1484784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a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3851919" y="1484784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b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3491879" y="2348881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*</a:t>
                </a: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4283967" y="2348881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c</a:t>
                </a: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3923928" y="3212976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+</a:t>
                </a:r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 rot="16200000" flipH="1">
                <a:off x="3311860" y="1952836"/>
                <a:ext cx="432048" cy="36004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29" name="직선 연결선 28"/>
              <p:cNvCxnSpPr/>
              <p:nvPr/>
            </p:nvCxnSpPr>
            <p:spPr>
              <a:xfrm rot="5400000">
                <a:off x="3671903" y="1952834"/>
                <a:ext cx="432046" cy="36004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30" name="직선 연결선 29"/>
              <p:cNvCxnSpPr/>
              <p:nvPr/>
            </p:nvCxnSpPr>
            <p:spPr>
              <a:xfrm>
                <a:off x="3707904" y="2780928"/>
                <a:ext cx="432048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31" name="직선 연결선 30"/>
              <p:cNvCxnSpPr/>
              <p:nvPr/>
            </p:nvCxnSpPr>
            <p:spPr>
              <a:xfrm rot="5400000">
                <a:off x="4103948" y="2816932"/>
                <a:ext cx="432048" cy="36004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32" name="타원 31"/>
            <p:cNvSpPr/>
            <p:nvPr/>
          </p:nvSpPr>
          <p:spPr>
            <a:xfrm>
              <a:off x="4346716" y="5811766"/>
              <a:ext cx="165194" cy="165194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gradFill flip="xy" rotWithShape="1">
                <a:gsLst>
                  <a:gs pos="0">
                    <a:schemeClr val="accent1"/>
                  </a:gs>
                  <a:gs pos="100000">
                    <a:schemeClr val="bg1"/>
                  </a:gs>
                </a:gsLst>
                <a:lin ang="5400000" scaled="1"/>
                <a:tileRect/>
              </a:gra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grpSp>
          <p:nvGrpSpPr>
            <p:cNvPr id="33" name="그룹 32"/>
            <p:cNvGrpSpPr/>
            <p:nvPr/>
          </p:nvGrpSpPr>
          <p:grpSpPr>
            <a:xfrm>
              <a:off x="4773117" y="3378704"/>
              <a:ext cx="954459" cy="1319055"/>
              <a:chOff x="2987824" y="1124744"/>
              <a:chExt cx="1944216" cy="2808312"/>
            </a:xfrm>
          </p:grpSpPr>
          <p:sp>
            <p:nvSpPr>
              <p:cNvPr id="34" name="사각형: 둥근 모서리 47"/>
              <p:cNvSpPr/>
              <p:nvPr/>
            </p:nvSpPr>
            <p:spPr>
              <a:xfrm>
                <a:off x="2987824" y="1124744"/>
                <a:ext cx="1944216" cy="2808312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50800" cap="flat" cmpd="sng" algn="ctr">
                <a:solidFill>
                  <a:schemeClr val="lt2"/>
                </a:solidFill>
                <a:prstDash val="sysDash"/>
                <a:miter/>
                <a:headEnd w="med" len="med"/>
                <a:tailEnd w="med" len="med"/>
              </a:ln>
              <a:effectLst/>
            </p:spPr>
            <p:txBody>
              <a:bodyPr vert="horz" wrap="none" lIns="91440" tIns="45720" rIns="91440" bIns="45720" anchor="t" anchorCtr="0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FontTx/>
                  <a:buNone/>
                  <a:defRPr/>
                </a:pPr>
                <a:endParaRPr kumimoji="1" lang="en-US" sz="2400" b="0" i="0" u="none" strike="noStrike" cap="none" normalizeH="0" baseline="0">
                  <a:solidFill>
                    <a:schemeClr val="tx1"/>
                  </a:solidFill>
                  <a:effectLst/>
                  <a:latin typeface="Times New Roman"/>
                  <a:ea typeface="굴림"/>
                </a:endParaRP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3131840" y="1484784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a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3851919" y="1484784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b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3491879" y="2348881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*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4283967" y="2348881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c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923928" y="3212976"/>
                <a:ext cx="432048" cy="432048"/>
              </a:xfrm>
              <a:prstGeom prst="rect">
                <a:avLst/>
              </a:prstGeom>
              <a:solidFill>
                <a:srgbClr val="D9D9D9"/>
              </a:solidFill>
            </p:spPr>
            <p:txBody>
              <a:bodyPr wrap="square"/>
              <a:lstStyle/>
              <a:p>
                <a:pPr algn="ctr">
                  <a:defRPr/>
                </a:pPr>
                <a:r>
                  <a:rPr lang="en-US" altLang="ko-KR" sz="1300">
                    <a:latin typeface="맑은 고딕"/>
                    <a:ea typeface="맑은 고딕"/>
                    <a:cs typeface="+mj-cs"/>
                  </a:rPr>
                  <a:t>+</a:t>
                </a:r>
              </a:p>
            </p:txBody>
          </p:sp>
          <p:cxnSp>
            <p:nvCxnSpPr>
              <p:cNvPr id="40" name="직선 연결선 39"/>
              <p:cNvCxnSpPr/>
              <p:nvPr/>
            </p:nvCxnSpPr>
            <p:spPr>
              <a:xfrm rot="16200000" flipH="1">
                <a:off x="3311860" y="1952836"/>
                <a:ext cx="432048" cy="36004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41" name="직선 연결선 40"/>
              <p:cNvCxnSpPr/>
              <p:nvPr/>
            </p:nvCxnSpPr>
            <p:spPr>
              <a:xfrm rot="5400000">
                <a:off x="3671903" y="1952834"/>
                <a:ext cx="432046" cy="360045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42" name="직선 연결선 41"/>
              <p:cNvCxnSpPr/>
              <p:nvPr/>
            </p:nvCxnSpPr>
            <p:spPr>
              <a:xfrm>
                <a:off x="3707904" y="2780928"/>
                <a:ext cx="432048" cy="43204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  <p:cxnSp>
            <p:nvCxnSpPr>
              <p:cNvPr id="43" name="직선 연결선 42"/>
              <p:cNvCxnSpPr/>
              <p:nvPr/>
            </p:nvCxnSpPr>
            <p:spPr>
              <a:xfrm rot="5400000">
                <a:off x="4103948" y="2816932"/>
                <a:ext cx="432048" cy="36004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miter/>
                <a:headEnd w="med" len="med"/>
                <a:tailEnd w="med" len="med"/>
              </a:ln>
              <a:effectLst/>
            </p:spPr>
          </p:cxnSp>
        </p:grpSp>
        <p:sp>
          <p:nvSpPr>
            <p:cNvPr id="44" name="화살표: 아래쪽 60"/>
            <p:cNvSpPr/>
            <p:nvPr/>
          </p:nvSpPr>
          <p:spPr>
            <a:xfrm rot="5400000">
              <a:off x="5885670" y="3932760"/>
              <a:ext cx="108012" cy="14401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dk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45" name="화살표: 아래쪽 61"/>
            <p:cNvSpPr/>
            <p:nvPr/>
          </p:nvSpPr>
          <p:spPr>
            <a:xfrm>
              <a:off x="5259524" y="4769768"/>
              <a:ext cx="108012" cy="14401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dk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46" name="화살표: 아래쪽 62"/>
            <p:cNvSpPr/>
            <p:nvPr/>
          </p:nvSpPr>
          <p:spPr>
            <a:xfrm>
              <a:off x="5295528" y="5229264"/>
              <a:ext cx="108012" cy="14401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47" name="화살표: 아래쪽 63"/>
            <p:cNvSpPr/>
            <p:nvPr/>
          </p:nvSpPr>
          <p:spPr>
            <a:xfrm rot="16200000">
              <a:off x="7240333" y="6453417"/>
              <a:ext cx="150189" cy="144016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lt1"/>
            </a:solidFill>
            <a:ln w="9525" cap="flat" cmpd="sng" algn="ctr">
              <a:noFill/>
              <a:prstDash val="solid"/>
              <a:miter/>
              <a:headEnd w="med" len="med"/>
              <a:tailEnd w="med" len="med"/>
            </a:ln>
            <a:effectLst/>
          </p:spPr>
          <p:txBody>
            <a:bodyPr vert="horz" wrap="none" lIns="91440" tIns="45720" rIns="91440" bIns="45720" anchor="t" anchorCtr="0">
              <a:prstTxWarp prst="textNoShape">
                <a:avLst/>
              </a:prstTxWarp>
            </a:bodyPr>
            <a:lstStyle/>
            <a:p>
              <a:pPr marL="0" marR="0" indent="0" algn="l" defTabSz="914400" rtl="0" eaLnBrk="1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FontTx/>
                <a:buNone/>
                <a:defRPr/>
              </a:pPr>
              <a:endParaRPr kumimoji="1" lang="en-US" sz="2400" b="0" i="0" u="none" strike="noStrike" cap="none" normalizeH="0" baseline="0">
                <a:solidFill>
                  <a:schemeClr val="tx1"/>
                </a:solidFill>
                <a:effectLst/>
                <a:latin typeface="Times New Roman"/>
                <a:ea typeface="굴림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476752" y="6358853"/>
              <a:ext cx="648072" cy="360040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data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="" xmlns:a16="http://schemas.microsoft.com/office/drawing/2014/main" id="{66B32277-E290-4F6D-9943-59844B698C67}"/>
                </a:ext>
              </a:extLst>
            </p:cNvPr>
            <p:cNvSpPr txBox="1"/>
            <p:nvPr/>
          </p:nvSpPr>
          <p:spPr>
            <a:xfrm>
              <a:off x="6151776" y="3852210"/>
              <a:ext cx="648072" cy="360040"/>
            </a:xfrm>
            <a:prstGeom prst="rect">
              <a:avLst/>
            </a:prstGeom>
          </p:spPr>
          <p:txBody>
            <a:bodyPr wrap="square"/>
            <a:lstStyle/>
            <a:p>
              <a:pPr>
                <a:defRPr/>
              </a:pPr>
              <a:r>
                <a:rPr lang="en-US" altLang="ko-KR" sz="14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+mj-cs"/>
                </a:rPr>
                <a:t>data</a:t>
              </a:r>
            </a:p>
          </p:txBody>
        </p:sp>
      </p:grpSp>
      <p:sp>
        <p:nvSpPr>
          <p:cNvPr id="53" name="모서리가 둥근 직사각형 52"/>
          <p:cNvSpPr/>
          <p:nvPr/>
        </p:nvSpPr>
        <p:spPr>
          <a:xfrm>
            <a:off x="2779256" y="3766402"/>
            <a:ext cx="1781761" cy="366125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1. </a:t>
            </a:r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그래프 빌딩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2376892" y="5757203"/>
            <a:ext cx="1781761" cy="366125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2. </a:t>
            </a:r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그래프 실행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7810437" y="5701816"/>
            <a:ext cx="2468352" cy="366125"/>
          </a:xfrm>
          <a:prstGeom prst="roundRect">
            <a:avLst>
              <a:gd name="adj" fmla="val 50000"/>
            </a:avLst>
          </a:prstGeom>
          <a:solidFill>
            <a:srgbClr val="173F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3. </a:t>
            </a:r>
            <a:r>
              <a:rPr lang="ko-KR" altLang="en-US" sz="2400" dirty="0" smtClean="0">
                <a:latin typeface="스웨거 TTF" panose="020B0600000101010101" pitchFamily="50" charset="-127"/>
                <a:ea typeface="스웨거 TTF" panose="020B0600000101010101" pitchFamily="50" charset="-127"/>
              </a:rPr>
              <a:t>변수 업데이트 및 출력</a:t>
            </a:r>
            <a:endParaRPr lang="ko-KR" altLang="en-US" sz="240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1*2+3 </a:t>
            </a:r>
            <a:r>
              <a:rPr lang="en-US" altLang="ko-KR" dirty="0" err="1" smtClean="0"/>
              <a:t>TensorFlow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14" name="직사각형 7"/>
          <p:cNvSpPr/>
          <p:nvPr/>
        </p:nvSpPr>
        <p:spPr>
          <a:xfrm>
            <a:off x="1571624" y="1612750"/>
            <a:ext cx="9004935" cy="492616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2800" dirty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import </a:t>
            </a:r>
            <a:r>
              <a:rPr lang="en-US" altLang="ko-KR" sz="2800" dirty="0" err="1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tensorflow</a:t>
            </a:r>
            <a:r>
              <a:rPr lang="en-US" altLang="ko-KR" sz="2800" dirty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 as </a:t>
            </a:r>
            <a:r>
              <a:rPr lang="en-US" altLang="ko-KR" sz="2800" dirty="0" err="1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tf</a:t>
            </a:r>
            <a:endParaRPr lang="en-US" altLang="ko-KR" sz="2800" dirty="0" smtClean="0">
              <a:solidFill>
                <a:schemeClr val="tx1"/>
              </a:solidFill>
              <a:latin typeface="맑은 고딕"/>
              <a:ea typeface="맑은 고딕"/>
              <a:cs typeface="+mj-cs"/>
            </a:endParaRPr>
          </a:p>
          <a:p>
            <a:pPr lvl="0">
              <a:defRPr/>
            </a:pPr>
            <a:endParaRPr lang="en-US" altLang="ko-KR" sz="2800" dirty="0">
              <a:solidFill>
                <a:schemeClr val="tx1"/>
              </a:solidFill>
              <a:latin typeface="맑은 고딕"/>
              <a:ea typeface="맑은 고딕"/>
              <a:cs typeface="+mj-cs"/>
            </a:endParaRPr>
          </a:p>
          <a:p>
            <a:pPr lvl="0">
              <a:defRPr/>
            </a:pP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x = </a:t>
            </a:r>
            <a:r>
              <a:rPr lang="en-US" altLang="ko-KR" sz="2800" dirty="0" err="1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tf.constant</a:t>
            </a: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(1)</a:t>
            </a:r>
          </a:p>
          <a:p>
            <a:pPr>
              <a:defRPr/>
            </a:pPr>
            <a:r>
              <a:rPr lang="en-US" altLang="ko-KR" sz="2800" dirty="0" smtClean="0">
                <a:solidFill>
                  <a:schemeClr val="tx1"/>
                </a:solidFill>
                <a:ea typeface="맑은 고딕"/>
              </a:rPr>
              <a:t>y </a:t>
            </a:r>
            <a:r>
              <a:rPr lang="en-US" altLang="ko-KR" sz="2800" dirty="0">
                <a:solidFill>
                  <a:schemeClr val="tx1"/>
                </a:solidFill>
                <a:ea typeface="맑은 고딕"/>
              </a:rPr>
              <a:t>= </a:t>
            </a:r>
            <a:r>
              <a:rPr lang="en-US" altLang="ko-KR" sz="2800" dirty="0" err="1" smtClean="0">
                <a:solidFill>
                  <a:schemeClr val="tx1"/>
                </a:solidFill>
                <a:ea typeface="맑은 고딕"/>
              </a:rPr>
              <a:t>tf.constant</a:t>
            </a:r>
            <a:r>
              <a:rPr lang="en-US" altLang="ko-KR" sz="2800" dirty="0" smtClean="0">
                <a:solidFill>
                  <a:schemeClr val="tx1"/>
                </a:solidFill>
                <a:ea typeface="맑은 고딕"/>
              </a:rPr>
              <a:t>(2)</a:t>
            </a:r>
            <a:endParaRPr lang="en-US" altLang="ko-KR" sz="2800" dirty="0">
              <a:solidFill>
                <a:schemeClr val="tx1"/>
              </a:solidFill>
              <a:ea typeface="맑은 고딕"/>
            </a:endParaRPr>
          </a:p>
          <a:p>
            <a:pPr>
              <a:defRPr/>
            </a:pPr>
            <a:r>
              <a:rPr lang="en-US" altLang="ko-KR" sz="2800" dirty="0" smtClean="0">
                <a:solidFill>
                  <a:schemeClr val="tx1"/>
                </a:solidFill>
                <a:ea typeface="맑은 고딕"/>
              </a:rPr>
              <a:t>z </a:t>
            </a:r>
            <a:r>
              <a:rPr lang="en-US" altLang="ko-KR" sz="2800" dirty="0">
                <a:solidFill>
                  <a:schemeClr val="tx1"/>
                </a:solidFill>
                <a:ea typeface="맑은 고딕"/>
              </a:rPr>
              <a:t>= </a:t>
            </a:r>
            <a:r>
              <a:rPr lang="en-US" altLang="ko-KR" sz="2800" dirty="0" err="1" smtClean="0">
                <a:solidFill>
                  <a:schemeClr val="tx1"/>
                </a:solidFill>
                <a:ea typeface="맑은 고딕"/>
              </a:rPr>
              <a:t>tf.constant</a:t>
            </a:r>
            <a:r>
              <a:rPr lang="en-US" altLang="ko-KR" sz="2800" dirty="0" smtClean="0">
                <a:solidFill>
                  <a:schemeClr val="tx1"/>
                </a:solidFill>
                <a:ea typeface="맑은 고딕"/>
              </a:rPr>
              <a:t>(3)</a:t>
            </a:r>
            <a:endParaRPr lang="en-US" altLang="ko-KR" sz="2800" dirty="0">
              <a:solidFill>
                <a:schemeClr val="tx1"/>
              </a:solidFill>
              <a:ea typeface="맑은 고딕"/>
            </a:endParaRPr>
          </a:p>
          <a:p>
            <a:pPr lvl="0">
              <a:defRPr/>
            </a:pP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a = x * y + z</a:t>
            </a:r>
            <a:endParaRPr lang="en-US" altLang="ko-KR" sz="2800" dirty="0">
              <a:solidFill>
                <a:schemeClr val="tx1"/>
              </a:solidFill>
              <a:latin typeface="맑은 고딕"/>
              <a:ea typeface="맑은 고딕"/>
              <a:cs typeface="+mj-cs"/>
            </a:endParaRPr>
          </a:p>
          <a:p>
            <a:pPr lvl="0">
              <a:defRPr/>
            </a:pPr>
            <a:endParaRPr lang="en-US" altLang="ko-KR" sz="2800" dirty="0">
              <a:solidFill>
                <a:schemeClr val="tx1"/>
              </a:solidFill>
              <a:latin typeface="맑은 고딕"/>
              <a:ea typeface="맑은 고딕"/>
              <a:cs typeface="+mj-cs"/>
            </a:endParaRPr>
          </a:p>
          <a:p>
            <a:pPr lvl="0">
              <a:defRPr/>
            </a:pPr>
            <a:r>
              <a:rPr lang="en-US" altLang="ko-KR" sz="2800" dirty="0" err="1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Sess</a:t>
            </a: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 = </a:t>
            </a:r>
            <a:r>
              <a:rPr lang="en-US" altLang="ko-KR" sz="2800" dirty="0" err="1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tf.Session</a:t>
            </a: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()</a:t>
            </a:r>
          </a:p>
          <a:p>
            <a:pPr lvl="0">
              <a:defRPr/>
            </a:pP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b = </a:t>
            </a:r>
            <a:r>
              <a:rPr lang="en-US" altLang="ko-KR" sz="2800" dirty="0" err="1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sess.run</a:t>
            </a: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(a)</a:t>
            </a:r>
          </a:p>
          <a:p>
            <a:pPr lvl="0">
              <a:defRPr/>
            </a:pP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Print(b)   </a:t>
            </a:r>
            <a:r>
              <a:rPr lang="ko-KR" altLang="en-US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→    </a:t>
            </a:r>
            <a:r>
              <a:rPr lang="en-US" altLang="ko-KR" sz="28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5</a:t>
            </a:r>
            <a:endParaRPr lang="en-US" altLang="ko-KR" sz="2800" dirty="0">
              <a:solidFill>
                <a:schemeClr val="tx1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5" name="직사각형 7"/>
          <p:cNvSpPr/>
          <p:nvPr/>
        </p:nvSpPr>
        <p:spPr>
          <a:xfrm>
            <a:off x="8305799" y="1612750"/>
            <a:ext cx="2270760" cy="2180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24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# python </a:t>
            </a:r>
            <a:r>
              <a:rPr lang="ko-KR" altLang="en-US" sz="24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코드</a:t>
            </a:r>
            <a:endParaRPr lang="en-US" altLang="ko-KR" sz="2400" dirty="0" smtClean="0">
              <a:solidFill>
                <a:schemeClr val="tx1"/>
              </a:solidFill>
              <a:latin typeface="맑은 고딕"/>
              <a:ea typeface="맑은 고딕"/>
              <a:cs typeface="+mj-cs"/>
            </a:endParaRPr>
          </a:p>
          <a:p>
            <a:pPr lvl="0">
              <a:defRPr/>
            </a:pPr>
            <a:r>
              <a:rPr lang="en-US" altLang="ko-KR" sz="24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x = 1</a:t>
            </a:r>
          </a:p>
          <a:p>
            <a:pPr lvl="0">
              <a:defRPr/>
            </a:pPr>
            <a:r>
              <a:rPr lang="en-US" altLang="ko-KR" sz="24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y = 2</a:t>
            </a:r>
          </a:p>
          <a:p>
            <a:pPr lvl="0">
              <a:defRPr/>
            </a:pPr>
            <a:r>
              <a:rPr lang="en-US" altLang="ko-KR" sz="24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z = 3</a:t>
            </a:r>
          </a:p>
          <a:p>
            <a:pPr lvl="0">
              <a:defRPr/>
            </a:pPr>
            <a:r>
              <a:rPr lang="en-US" altLang="ko-KR" sz="2400" dirty="0" smtClean="0">
                <a:solidFill>
                  <a:schemeClr val="tx1"/>
                </a:solidFill>
                <a:latin typeface="맑은 고딕"/>
                <a:ea typeface="맑은 고딕"/>
                <a:cs typeface="+mj-cs"/>
              </a:rPr>
              <a:t>b = x * y + z</a:t>
            </a:r>
            <a:endParaRPr lang="en-US" altLang="ko-KR" sz="2400" dirty="0">
              <a:solidFill>
                <a:schemeClr val="tx1"/>
              </a:solidFill>
              <a:latin typeface="맑은 고딕"/>
              <a:ea typeface="맑은 고딕"/>
              <a:cs typeface="+mj-cs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877718" y="2816526"/>
            <a:ext cx="2286070" cy="74267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x,y,z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constant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타입으로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텐서를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만들어 대입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en-US" altLang="ko-KR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x,y,z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데이터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노드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877718" y="4233377"/>
            <a:ext cx="2286070" cy="50516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계산 가능한 그래프 빌딩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(a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연산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노드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009812" y="5017296"/>
            <a:ext cx="3332522" cy="31432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그래프 실행을 위한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session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개체 정의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21185" t="42756" r="45799" b="29267"/>
          <a:stretch/>
        </p:blipFill>
        <p:spPr>
          <a:xfrm>
            <a:off x="2104081" y="2536128"/>
            <a:ext cx="4912751" cy="2255032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텐서</a:t>
            </a:r>
            <a:r>
              <a:rPr lang="ko-KR" altLang="en-US" dirty="0" smtClean="0"/>
              <a:t> 생성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454475" y="2704911"/>
            <a:ext cx="2253196" cy="2756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열의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텐서를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정의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499519" y="4039229"/>
            <a:ext cx="2175692" cy="70974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텐서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자료형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int32</a:t>
            </a:r>
          </a:p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텐서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행렬크기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3,x2</a:t>
            </a:r>
          </a:p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텐서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차원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2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454475" y="3525815"/>
            <a:ext cx="2253196" cy="27565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열의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텐서를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정의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5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l="22125" t="41923" r="39875" b="25307"/>
          <a:stretch/>
        </p:blipFill>
        <p:spPr>
          <a:xfrm>
            <a:off x="2545080" y="2058359"/>
            <a:ext cx="6655802" cy="310896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텐서</a:t>
            </a:r>
            <a:r>
              <a:rPr lang="ko-KR" altLang="en-US" dirty="0" smtClean="0"/>
              <a:t> 재구성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5092078"/>
            <a:ext cx="9149833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0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reshape() 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다차원 배열의 구조로 변경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변경 전후 행렬의 원소의 개수가 같아야 함 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transpose() 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전치행렬 생성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6032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텐서</a:t>
            </a:r>
            <a:r>
              <a:rPr lang="ko-KR" altLang="en-US" dirty="0" smtClean="0"/>
              <a:t> 연산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4841011"/>
            <a:ext cx="9149833" cy="1697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0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두 벡터나 행렬의 사칙연산을 직관적으로 손쉽게 수행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변경 전후 행렬의 원소의 개수가 같아야 함 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2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*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연산자를 사용해 두 개의 벡터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a,b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원소 간 곱하기 수행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/>
          <a:srcRect l="24625" t="43769" r="46500" b="38923"/>
          <a:stretch/>
        </p:blipFill>
        <p:spPr>
          <a:xfrm>
            <a:off x="2899657" y="2385384"/>
            <a:ext cx="6389639" cy="207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5032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텐서</a:t>
            </a:r>
            <a:r>
              <a:rPr lang="ko-KR" altLang="en-US" dirty="0" smtClean="0"/>
              <a:t> 연산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4841011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0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관계연산 수행 함수 제공</a:t>
            </a:r>
            <a:endParaRPr lang="en-US" altLang="ko-KR" sz="32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25206" t="42042" r="46572" b="41828"/>
          <a:stretch/>
        </p:blipFill>
        <p:spPr>
          <a:xfrm>
            <a:off x="3073137" y="2488676"/>
            <a:ext cx="6028983" cy="1866507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5897754" y="3249694"/>
            <a:ext cx="2106378" cy="29004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벡터 원소 간 비교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887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자료형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780399"/>
            <a:ext cx="914983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tf.constant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변하지 않는 상수 저장을 위한 고정 크기 메모리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tf.placeholder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 데이터를 저장하기 위한 가변 크기 메모리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tf.Variable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파라미터를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저장하기 위한 고정 크기 메모리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5701635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계산 효율성을 위해 목적에 맞는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자료형을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사용해야 함 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524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tf.constant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610716"/>
            <a:ext cx="91498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CC0099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변하지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CC0099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CC0099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않는 상수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정의할 때 사용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초기화 되면서 메모리 크기와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type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 결정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세션 실행 시 자동으로 초기화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원형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tf.constant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(value, </a:t>
            </a: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dtype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shape)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직사각형 7"/>
          <p:cNvSpPr/>
          <p:nvPr/>
        </p:nvSpPr>
        <p:spPr>
          <a:xfrm>
            <a:off x="1571624" y="3874416"/>
            <a:ext cx="9004935" cy="2664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a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tf.constant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([5])</a:t>
            </a:r>
          </a:p>
          <a:p>
            <a:pPr lvl="0">
              <a:defRPr/>
            </a:pPr>
            <a:endParaRPr lang="en-US" altLang="ko-KR" sz="2000" dirty="0" smtClea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b=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tf.consant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([10.0, 20, 30])</a:t>
            </a:r>
          </a:p>
          <a:p>
            <a:pPr lvl="0">
              <a:defRPr/>
            </a:pPr>
            <a:endParaRPr lang="en-US" altLang="ko-KR" sz="2000" dirty="0" smtClea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c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tf.constant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([10, 20, 30]),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dtype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=tf.float32)</a:t>
            </a:r>
            <a:endParaRPr lang="en-US" altLang="ko-KR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742681" y="2162616"/>
            <a:ext cx="2990042" cy="30156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사전에 데이터의 개수와 타입 결정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42681" y="2591786"/>
            <a:ext cx="2990042" cy="30156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별도의 초기화 함수 호출 불필요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742681" y="4420586"/>
            <a:ext cx="2990042" cy="30156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두번째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세번째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파라미터는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생략 가능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208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tf.placeholder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610716"/>
            <a:ext cx="91498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CC0099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학습 및 테스트 데이터를 담는 그릇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역할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자료 구조만 정해주고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나중에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data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공급받음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반복적으로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feeding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가능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원형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tf.placeholder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</a:t>
            </a: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dtype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shape)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직사각형 7"/>
          <p:cNvSpPr/>
          <p:nvPr/>
        </p:nvSpPr>
        <p:spPr>
          <a:xfrm>
            <a:off x="1571624" y="3874416"/>
            <a:ext cx="9004935" cy="2664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x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tf.placeholder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dtype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=tf.float32)</a:t>
            </a:r>
          </a:p>
          <a:p>
            <a:pPr lvl="0">
              <a:defRPr/>
            </a:pPr>
            <a:endParaRPr lang="en-US" altLang="ko-KR" sz="2000" dirty="0" smtClea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input_data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=[1,2,3,4,5]</a:t>
            </a:r>
          </a:p>
          <a:p>
            <a:pPr lvl="0">
              <a:defRPr/>
            </a:pPr>
            <a:endParaRPr lang="en-US" altLang="ko-KR" sz="2000" dirty="0" smtClea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sess.run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(x,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feed_dict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={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x:input_data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})</a:t>
            </a:r>
            <a:endParaRPr lang="en-US" altLang="ko-KR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034177" y="1699175"/>
            <a:ext cx="1586920" cy="31888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가변크기 메모리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211972" y="2507739"/>
            <a:ext cx="2862168" cy="474996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시 학습 데이터를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테스트 시 테스트 데이터를 전달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806618" y="4411925"/>
            <a:ext cx="2862168" cy="31888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타입 생략 불가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834366" y="5637032"/>
            <a:ext cx="3061196" cy="46103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input_data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데이터 구조가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동일해야 함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7031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tf.Variable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610716"/>
            <a:ext cx="91498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Constant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처럼 고정된 크기의 메모리 공간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반복적으로 읽고 쓰기 가능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반드시 초기화 되어야 함</a:t>
            </a:r>
            <a:endParaRPr lang="en-US" altLang="ko-KR" sz="28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buSzPct val="80000"/>
              <a:buBlip>
                <a:blip r:embed="rId3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원형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tf.Variable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(value, </a:t>
            </a: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dtype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shape)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6" name="직사각형 7"/>
          <p:cNvSpPr/>
          <p:nvPr/>
        </p:nvSpPr>
        <p:spPr>
          <a:xfrm>
            <a:off x="1571624" y="3874416"/>
            <a:ext cx="9004935" cy="2664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input_data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=[1,2,3,4,5]</a:t>
            </a:r>
          </a:p>
          <a:p>
            <a:pPr lvl="0">
              <a:defRPr/>
            </a:pPr>
            <a:endParaRPr lang="en-US" altLang="ko-KR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w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tf.Variable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input_data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,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dtype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=tf.float32)</a:t>
            </a:r>
          </a:p>
          <a:p>
            <a:pPr lvl="0">
              <a:defRPr/>
            </a:pPr>
            <a:endParaRPr lang="en-US" altLang="ko-KR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init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tf.global_variables_initializer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()</a:t>
            </a:r>
          </a:p>
          <a:p>
            <a:pPr lvl="0">
              <a:defRPr/>
            </a:pPr>
            <a:endParaRPr lang="en-US" altLang="ko-KR" sz="2000" dirty="0" smtClea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sess.run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init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)</a:t>
            </a:r>
            <a:endParaRPr lang="en-US" altLang="ko-KR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512286" y="1687861"/>
            <a:ext cx="3877688" cy="34151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업데이트되는 학습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파라미터를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저장하기 위함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110423" y="2490886"/>
            <a:ext cx="3065266" cy="508702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시 학습 데이터를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</a:p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테스트 시 테스트 데이터를 전달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216313" y="5401784"/>
            <a:ext cx="3278416" cy="49375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초기화되지 않은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Variable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타입은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그래프 계산 시 오류 발생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7114194" y="4729675"/>
            <a:ext cx="3208554" cy="32359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두번째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세번째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파라미터는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생략 가능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857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텐서플로우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자료형</a:t>
            </a:r>
            <a:r>
              <a:rPr lang="ko-KR" altLang="en-US" dirty="0" smtClean="0"/>
              <a:t> 예제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6" name="직사각형 7"/>
          <p:cNvSpPr/>
          <p:nvPr/>
        </p:nvSpPr>
        <p:spPr>
          <a:xfrm>
            <a:off x="1571624" y="1951349"/>
            <a:ext cx="9004935" cy="4587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input_data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=[1,2,3,4,5]</a:t>
            </a:r>
          </a:p>
          <a:p>
            <a:pPr lvl="0">
              <a:defRPr/>
            </a:pPr>
            <a:endParaRPr lang="en-US" altLang="ko-KR" sz="2000" dirty="0" smtClea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x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tf.placeholder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dtype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=tf.float32)</a:t>
            </a: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w=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tf.Variable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([2.0])</a:t>
            </a: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b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tf.constant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([1.4])</a:t>
            </a: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y = w*x + b</a:t>
            </a:r>
          </a:p>
          <a:p>
            <a:pPr lvl="0">
              <a:defRPr/>
            </a:pPr>
            <a:endParaRPr lang="en-US" altLang="ko-KR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init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tf.global_variables_initializer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()</a:t>
            </a:r>
          </a:p>
          <a:p>
            <a:pPr lvl="0">
              <a:defRPr/>
            </a:pPr>
            <a:endParaRPr lang="en-US" altLang="ko-KR" sz="2000" dirty="0" smtClean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sess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tf.Sesstion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()</a:t>
            </a:r>
          </a:p>
          <a:p>
            <a:pPr lvl="0">
              <a:defRPr/>
            </a:pP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sess.run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init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)</a:t>
            </a:r>
          </a:p>
          <a:p>
            <a:pPr lvl="0">
              <a:defRPr/>
            </a:pPr>
            <a:endParaRPr lang="en-US" altLang="ko-KR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  <a:p>
            <a:pPr lvl="0"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out1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sess.run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(y,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feed_dict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={x:[1,2,3]})		# [3.4, 5.4, 7.4]</a:t>
            </a:r>
          </a:p>
          <a:p>
            <a:pPr>
              <a:defRPr/>
            </a:pP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out2 =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sess.run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(y, </a:t>
            </a:r>
            <a:r>
              <a:rPr lang="en-US" altLang="ko-KR" sz="2000" dirty="0" err="1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feed_dcit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={x:[-1.0,-2.0]})		</a:t>
            </a:r>
            <a:r>
              <a:rPr lang="en-US" altLang="ko-KR" sz="2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# </a:t>
            </a:r>
            <a:r>
              <a:rPr lang="en-US" altLang="ko-KR" sz="2000" dirty="0" smtClean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[-0.6, -2.6]</a:t>
            </a:r>
            <a:endParaRPr lang="en-US" altLang="ko-KR" sz="20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227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내용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텐서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생성 및 초기화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기본 사칙연산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constant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자료형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placeholder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자료형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variable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자료형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2568</TotalTime>
  <Words>680</Words>
  <Application>Microsoft Office PowerPoint</Application>
  <PresentationFormat>와이드스크린</PresentationFormat>
  <Paragraphs>203</Paragraphs>
  <Slides>16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나눔바른고딕</vt:lpstr>
      <vt:lpstr>굴림</vt:lpstr>
      <vt:lpstr>Impact</vt:lpstr>
      <vt:lpstr>나눔스퀘어 Bold</vt:lpstr>
      <vt:lpstr>휴먼모음T</vt:lpstr>
      <vt:lpstr>Times New Roman</vt:lpstr>
      <vt:lpstr>스웨거 TTF</vt:lpstr>
      <vt:lpstr>Arial</vt:lpstr>
      <vt:lpstr>맑은 고딕</vt:lpstr>
      <vt:lpstr>1_Office 테마</vt:lpstr>
      <vt:lpstr>PowerPoint 프레젠테이션</vt:lpstr>
      <vt:lpstr>PowerPoint 프레젠테이션</vt:lpstr>
      <vt:lpstr>Tensorflow 개요</vt:lpstr>
      <vt:lpstr>Tensorflow 개요</vt:lpstr>
      <vt:lpstr>TensorFlow 동작 과정</vt:lpstr>
      <vt:lpstr>1*2+3 TensorFlow</vt:lpstr>
      <vt:lpstr>텐서 생성</vt:lpstr>
      <vt:lpstr>텐서 재구성</vt:lpstr>
      <vt:lpstr>텐서 연산</vt:lpstr>
      <vt:lpstr>텐서 연산</vt:lpstr>
      <vt:lpstr>TensorFlow 자료형</vt:lpstr>
      <vt:lpstr>tf.constant</vt:lpstr>
      <vt:lpstr>tf.placeholder</vt:lpstr>
      <vt:lpstr>tf.Variable</vt:lpstr>
      <vt:lpstr>텐서플로우 자료형 예제</vt:lpstr>
      <vt:lpstr>실습 내용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612</cp:revision>
  <dcterms:created xsi:type="dcterms:W3CDTF">2019-01-19T08:23:23Z</dcterms:created>
  <dcterms:modified xsi:type="dcterms:W3CDTF">2020-03-10T06:47:32Z</dcterms:modified>
</cp:coreProperties>
</file>